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5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title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Contatos</c:v>
                </c:pt>
              </c:strCache>
            </c:strRef>
          </c:tx>
          <c:spPr>
            <a:solidFill>
              <a:srgbClr val="9FADA5"/>
            </a:solidFill>
          </c:spPr>
          <c:invertIfNegative val="1"/>
          <c:dPt>
            <c:idx val="7"/>
            <c:invertIfNegative val="1"/>
            <c:bubble3D val="0"/>
            <c:spPr>
              <a:solidFill>
                <a:srgbClr val="21AA61"/>
              </a:solidFill>
            </c:spPr>
          </c:dPt>
          <c:dPt>
            <c:idx val="8"/>
            <c:invertIfNegative val="1"/>
            <c:bubble3D val="0"/>
            <c:spPr>
              <a:solidFill>
                <a:srgbClr val="21AA61"/>
              </a:solidFill>
            </c:spPr>
          </c:dPt>
          <c:dPt>
            <c:idx val="9"/>
            <c:invertIfNegative val="1"/>
            <c:bubble3D val="0"/>
            <c:spPr>
              <a:solidFill>
                <a:srgbClr val="21AA61"/>
              </a:solidFill>
            </c:spPr>
          </c:dPt>
          <c:dPt>
            <c:idx val="10"/>
            <c:invertIfNegative val="1"/>
            <c:bubble3D val="0"/>
            <c:spPr>
              <a:solidFill>
                <a:srgbClr val="21AA61"/>
              </a:solidFill>
            </c:spPr>
          </c:dPt>
          <c:dPt>
            <c:idx val="11"/>
            <c:invertIfNegative val="1"/>
            <c:bubble3D val="0"/>
            <c:spPr>
              <a:solidFill>
                <a:srgbClr val="21AA61"/>
              </a:solidFill>
            </c:spPr>
          </c:dPt>
          <c:dPt>
            <c:idx val="12"/>
            <c:invertIfNegative val="1"/>
            <c:bubble3D val="0"/>
            <c:spPr>
              <a:solidFill>
                <a:srgbClr val="21AA61"/>
              </a:solidFill>
            </c:spPr>
          </c:dPt>
          <c:dPt>
            <c:idx val="13"/>
            <c:invertIfNegative val="1"/>
            <c:bubble3D val="0"/>
            <c:spPr>
              <a:solidFill>
                <a:srgbClr val="21AA61"/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>
                    <a:solidFill>
                      <a:srgbClr val="5A6670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Massa Motors</c:v>
                </c:pt>
                <c:pt idx="1">
                  <c:v>Speed</c:v>
                </c:pt>
                <c:pt idx="2">
                  <c:v>CWB Car</c:v>
                </c:pt>
                <c:pt idx="3">
                  <c:v>OZ</c:v>
                </c:pt>
                <c:pt idx="4">
                  <c:v>South Motors</c:v>
                </c:pt>
                <c:pt idx="5">
                  <c:v>GS Motors</c:v>
                </c:pt>
                <c:pt idx="6">
                  <c:v>Schafas</c:v>
                </c:pt>
                <c:pt idx="7">
                  <c:v>Atual</c:v>
                </c:pt>
                <c:pt idx="8">
                  <c:v>Way</c:v>
                </c:pt>
                <c:pt idx="9">
                  <c:v>D. Gongora</c:v>
                </c:pt>
                <c:pt idx="10">
                  <c:v>Sitima</c:v>
                </c:pt>
                <c:pt idx="11">
                  <c:v>Grantorino</c:v>
                </c:pt>
                <c:pt idx="12">
                  <c:v>Via Mais</c:v>
                </c:pt>
                <c:pt idx="13">
                  <c:v>Toyoto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11</c:v>
                </c:pt>
                <c:pt idx="1">
                  <c:v>13</c:v>
                </c:pt>
                <c:pt idx="2">
                  <c:v>28</c:v>
                </c:pt>
                <c:pt idx="3">
                  <c:v>32</c:v>
                </c:pt>
                <c:pt idx="4">
                  <c:v>35</c:v>
                </c:pt>
                <c:pt idx="5">
                  <c:v>37</c:v>
                </c:pt>
                <c:pt idx="6">
                  <c:v>46</c:v>
                </c:pt>
                <c:pt idx="7">
                  <c:v>14</c:v>
                </c:pt>
                <c:pt idx="8">
                  <c:v>15</c:v>
                </c:pt>
                <c:pt idx="9">
                  <c:v>17</c:v>
                </c:pt>
                <c:pt idx="10">
                  <c:v>18</c:v>
                </c:pt>
                <c:pt idx="11">
                  <c:v>18</c:v>
                </c:pt>
                <c:pt idx="12">
                  <c:v>20</c:v>
                </c:pt>
                <c:pt idx="13">
                  <c:v>32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91662544"/>
        <c:axId val="491667640"/>
      </c:barChart>
      <c:catAx>
        <c:axId val="49166254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solidFill>
                  <a:srgbClr val="4A5560"/>
                </a:solidFill>
              </a:defRPr>
            </a:pPr>
            <a:endParaRPr lang="pt-BR"/>
          </a:p>
        </c:txPr>
        <c:crossAx val="491667640"/>
        <c:crosses val="autoZero"/>
        <c:auto val="1"/>
        <c:lblAlgn val="ctr"/>
        <c:lblOffset val="100"/>
        <c:noMultiLvlLbl val="0"/>
      </c:catAx>
      <c:valAx>
        <c:axId val="4916676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91662544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title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Verba mensal</c:v>
                </c:pt>
              </c:strCache>
            </c:strRef>
          </c:tx>
          <c:spPr>
            <a:solidFill>
              <a:srgbClr val="21AA6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>
                    <a:solidFill>
                      <a:srgbClr val="5A6670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Turbinar + Reserva</c:v>
                </c:pt>
                <c:pt idx="1">
                  <c:v>Reconhecimento</c:v>
                </c:pt>
                <c:pt idx="2">
                  <c:v>Site / Ofertas</c:v>
                </c:pt>
                <c:pt idx="3">
                  <c:v>Lojistas (WhatsApp)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820</c:v>
                </c:pt>
                <c:pt idx="1">
                  <c:v>1560</c:v>
                </c:pt>
                <c:pt idx="2">
                  <c:v>6600</c:v>
                </c:pt>
                <c:pt idx="3">
                  <c:v>7020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91675088"/>
        <c:axId val="491674696"/>
      </c:barChart>
      <c:catAx>
        <c:axId val="491675088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4A5560"/>
                </a:solidFill>
              </a:defRPr>
            </a:pPr>
            <a:endParaRPr lang="pt-BR"/>
          </a:p>
        </c:txPr>
        <c:crossAx val="491674696"/>
        <c:crosses val="autoZero"/>
        <c:auto val="1"/>
        <c:lblAlgn val="ctr"/>
        <c:lblOffset val="100"/>
        <c:noMultiLvlLbl val="0"/>
      </c:catAx>
      <c:valAx>
        <c:axId val="4916746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91675088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pt-B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LINHA VERDE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803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0">
                <a:solidFill>
                  <a:srgbClr val="21AA61"/>
                </a:solidFill>
                <a:latin typeface="Arial"/>
              </a:rPr>
              <a:t>AUTOSHOPPING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611880"/>
            <a:ext cx="5120640" cy="548640"/>
          </a:xfrm>
          <a:prstGeom prst="roundRect">
            <a:avLst>
              <a:gd name="adj" fmla="val 3500"/>
            </a:avLst>
          </a:prstGeom>
          <a:solidFill>
            <a:srgbClr val="21A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61188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ALINHAMENTO DE MÍDIA PAGA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89120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dirty="0" err="1">
                <a:solidFill>
                  <a:srgbClr val="9FB8A8"/>
                </a:solidFill>
                <a:latin typeface="Calibri"/>
              </a:rPr>
              <a:t>Resultado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lang="pt-BR" sz="1400" b="0" dirty="0" smtClean="0">
                <a:solidFill>
                  <a:srgbClr val="9FB8A8"/>
                </a:solidFill>
                <a:latin typeface="Calibri"/>
              </a:rPr>
              <a:t>parcial </a:t>
            </a:r>
            <a:r>
              <a:rPr sz="1400" b="0" dirty="0" smtClean="0">
                <a:solidFill>
                  <a:srgbClr val="9FB8A8"/>
                </a:solidFill>
                <a:latin typeface="Calibri"/>
              </a:rPr>
              <a:t>de </a:t>
            </a:r>
            <a:r>
              <a:rPr lang="pt-BR" sz="1400" dirty="0" err="1">
                <a:solidFill>
                  <a:srgbClr val="9FB8A8"/>
                </a:solidFill>
                <a:latin typeface="Calibri"/>
              </a:rPr>
              <a:t>J</a:t>
            </a:r>
            <a:r>
              <a:rPr sz="1400" b="0" dirty="0" err="1" smtClean="0">
                <a:solidFill>
                  <a:srgbClr val="9FB8A8"/>
                </a:solidFill>
                <a:latin typeface="Calibri"/>
              </a:rPr>
              <a:t>ulho</a:t>
            </a:r>
            <a:r>
              <a:rPr sz="1400" b="0" dirty="0" smtClean="0">
                <a:solidFill>
                  <a:srgbClr val="9FB8A8"/>
                </a:solidFill>
                <a:latin typeface="Calibri"/>
              </a:rPr>
              <a:t>  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·  Agosto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em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plano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 · 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Planejamento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até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dezembro</a:t>
            </a:r>
            <a:endParaRPr sz="1400" b="0" dirty="0">
              <a:solidFill>
                <a:srgbClr val="9FB8A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FB8A8"/>
                </a:solidFill>
                <a:latin typeface="Calibri"/>
              </a:rPr>
              <a:t>Dados até 21/07/2026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>
                <a:solidFill>
                  <a:srgbClr val="094825"/>
                </a:solidFill>
                <a:latin typeface="Arial"/>
              </a:rPr>
              <a:t>A nova estrutura está funcionando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A6670"/>
                </a:solidFill>
                <a:latin typeface="Calibri"/>
              </a:rPr>
              <a:t>Campanha de lojistas: conversas iniciadas no WhatsApp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4480560" cy="251460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746504"/>
            <a:ext cx="39684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5A6670"/>
                </a:solidFill>
                <a:latin typeface="Arial"/>
              </a:rPr>
              <a:t>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566160"/>
            <a:ext cx="39684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JUNHO · 30 dias (fechado)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560320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A6670"/>
                </a:solidFill>
                <a:latin typeface="Calibri"/>
              </a:rPr>
              <a:t>contatos no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926080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R$ 14,02 por contato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2514600"/>
            <a:ext cx="45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1AA6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600200"/>
            <a:ext cx="4480560" cy="2514600"/>
          </a:xfrm>
          <a:prstGeom prst="roundRect">
            <a:avLst>
              <a:gd name="adj" fmla="val 35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25312" y="1746504"/>
            <a:ext cx="39684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094825"/>
                </a:solidFill>
                <a:latin typeface="Arial"/>
              </a:rPr>
              <a:t>337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3566160"/>
            <a:ext cx="39684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JULHO · 21 dias (em andamento)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2560320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094825"/>
                </a:solidFill>
                <a:latin typeface="Calibri"/>
              </a:rPr>
              <a:t>contatos no 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25312" y="2926080"/>
            <a:ext cx="396849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094825"/>
                </a:solidFill>
                <a:latin typeface="Calibri"/>
              </a:rPr>
              <a:t>R$ 17,82 por contato  ·  ritmo ~16/dia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11094415" cy="1554480"/>
          </a:xfrm>
          <a:prstGeom prst="roundRect">
            <a:avLst>
              <a:gd name="adj" fmla="val 3500"/>
            </a:avLst>
          </a:prstGeom>
          <a:solidFill>
            <a:srgbClr val="094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544568"/>
            <a:ext cx="1054577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Em 21 dias, julho já superou o volume total de junho, no mesmo ritmo diário.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FB8A8"/>
                </a:solidFill>
                <a:latin typeface="Calibri"/>
              </a:rPr>
              <a:t>O custo por contato subiu um pouco porque a verba está mais concentrada por lojista e a estrutura segue em fase de aprendizado do algoritmo.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 dirty="0" err="1">
                <a:solidFill>
                  <a:srgbClr val="094825"/>
                </a:solidFill>
                <a:latin typeface="Arial"/>
              </a:rPr>
              <a:t>Desempenho</a:t>
            </a:r>
            <a:r>
              <a:rPr sz="3300" b="1" dirty="0">
                <a:solidFill>
                  <a:srgbClr val="094825"/>
                </a:solidFill>
                <a:latin typeface="Arial"/>
              </a:rPr>
              <a:t> </a:t>
            </a:r>
            <a:r>
              <a:rPr sz="3300" b="1" dirty="0" err="1">
                <a:solidFill>
                  <a:srgbClr val="094825"/>
                </a:solidFill>
                <a:latin typeface="Arial"/>
              </a:rPr>
              <a:t>por</a:t>
            </a:r>
            <a:r>
              <a:rPr sz="3300" b="1" dirty="0">
                <a:solidFill>
                  <a:srgbClr val="094825"/>
                </a:solidFill>
                <a:latin typeface="Arial"/>
              </a:rPr>
              <a:t> </a:t>
            </a:r>
            <a:r>
              <a:rPr sz="3300" b="1" dirty="0" err="1" smtClean="0">
                <a:solidFill>
                  <a:srgbClr val="094825"/>
                </a:solidFill>
                <a:latin typeface="Arial"/>
              </a:rPr>
              <a:t>loja</a:t>
            </a:r>
            <a:r>
              <a:rPr lang="pt-BR" sz="3300" b="1" dirty="0">
                <a:solidFill>
                  <a:srgbClr val="094825"/>
                </a:solidFill>
                <a:latin typeface="Arial"/>
              </a:rPr>
              <a:t>:</a:t>
            </a:r>
            <a:r>
              <a:rPr sz="3300" b="1" dirty="0" smtClean="0">
                <a:solidFill>
                  <a:srgbClr val="094825"/>
                </a:solidFill>
                <a:latin typeface="Arial"/>
              </a:rPr>
              <a:t> </a:t>
            </a:r>
            <a:r>
              <a:rPr sz="3300" b="1" dirty="0" err="1">
                <a:solidFill>
                  <a:srgbClr val="094825"/>
                </a:solidFill>
                <a:latin typeface="Arial"/>
              </a:rPr>
              <a:t>os</a:t>
            </a:r>
            <a:r>
              <a:rPr sz="3300" b="1" dirty="0">
                <a:solidFill>
                  <a:srgbClr val="094825"/>
                </a:solidFill>
                <a:latin typeface="Arial"/>
              </a:rPr>
              <a:t> </a:t>
            </a:r>
            <a:r>
              <a:rPr sz="3300" b="1" dirty="0" err="1">
                <a:solidFill>
                  <a:srgbClr val="094825"/>
                </a:solidFill>
                <a:latin typeface="Arial"/>
              </a:rPr>
              <a:t>dois</a:t>
            </a:r>
            <a:r>
              <a:rPr sz="3300" b="1" dirty="0">
                <a:solidFill>
                  <a:srgbClr val="094825"/>
                </a:solidFill>
                <a:latin typeface="Arial"/>
              </a:rPr>
              <a:t> </a:t>
            </a:r>
            <a:r>
              <a:rPr sz="3300" b="1" dirty="0" err="1">
                <a:solidFill>
                  <a:srgbClr val="094825"/>
                </a:solidFill>
                <a:latin typeface="Arial"/>
              </a:rPr>
              <a:t>ciclos</a:t>
            </a:r>
            <a:endParaRPr sz="3300" b="1" dirty="0">
              <a:solidFill>
                <a:srgbClr val="094825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A6670"/>
                </a:solidFill>
                <a:latin typeface="Calibri"/>
              </a:rPr>
              <a:t>Ciclo 1 fechado (01–13/07) e Ciclo 2 em aberto (13–21/07) · 7 lojas por ciclo · R$ 39/dia 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01168" cy="201168"/>
          </a:xfrm>
          <a:prstGeom prst="rect">
            <a:avLst/>
          </a:prstGeom>
          <a:solidFill>
            <a:srgbClr val="9FA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389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Ciclo 1 · fechado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417320"/>
            <a:ext cx="201168" cy="201168"/>
          </a:xfrm>
          <a:prstGeom prst="rect">
            <a:avLst/>
          </a:prstGeom>
          <a:solidFill>
            <a:srgbClr val="21A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44368" y="13898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A6670"/>
                </a:solidFill>
                <a:latin typeface="Calibri"/>
              </a:rPr>
              <a:t>Ciclo 2 · em aberto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828800"/>
          <a:ext cx="67665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89520" y="1828800"/>
            <a:ext cx="4023360" cy="1874519"/>
          </a:xfrm>
          <a:prstGeom prst="roundRect">
            <a:avLst>
              <a:gd name="adj" fmla="val 35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99339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21AA61"/>
                </a:solidFill>
                <a:latin typeface="Arial"/>
              </a:rPr>
              <a:t>MELHOR CUSTO (nos 2 ciclos)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1343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94825"/>
                </a:solidFill>
                <a:latin typeface="Arial"/>
              </a:rPr>
              <a:t>Toyoto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7706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094825"/>
                </a:solidFill>
                <a:latin typeface="Calibri"/>
              </a:rPr>
              <a:t>32 contatos a R$ 9,93 cada · Ciclo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81528"/>
            <a:ext cx="34747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dirty="0" err="1">
                <a:solidFill>
                  <a:srgbClr val="5A6670"/>
                </a:solidFill>
                <a:latin typeface="Calibri"/>
              </a:rPr>
              <a:t>Ciclo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ainda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em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050" b="0" dirty="0" err="1" smtClean="0">
                <a:solidFill>
                  <a:srgbClr val="5A6670"/>
                </a:solidFill>
                <a:latin typeface="Calibri"/>
              </a:rPr>
              <a:t>abert</a:t>
            </a:r>
            <a:r>
              <a:rPr lang="pt-BR" sz="1050" b="0" dirty="0" smtClean="0">
                <a:solidFill>
                  <a:srgbClr val="5A6670"/>
                </a:solidFill>
                <a:latin typeface="Calibri"/>
              </a:rPr>
              <a:t>o,</a:t>
            </a:r>
            <a:r>
              <a:rPr sz="1050" b="0" dirty="0" smtClean="0">
                <a:solidFill>
                  <a:srgbClr val="5A6670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tendência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 a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confirmar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931920"/>
            <a:ext cx="4023360" cy="1920240"/>
          </a:xfrm>
          <a:prstGeom prst="roundRect">
            <a:avLst>
              <a:gd name="adj" fmla="val 3500"/>
            </a:avLst>
          </a:prstGeom>
          <a:solidFill>
            <a:srgbClr val="FB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409651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C0392B"/>
                </a:solidFill>
                <a:latin typeface="Arial"/>
              </a:rPr>
              <a:t>MAIOR CUSTO (nos 2 ciclos)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41655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C0392B"/>
                </a:solidFill>
                <a:latin typeface="Arial"/>
              </a:rPr>
              <a:t>Massa Motors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87375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B4A47"/>
                </a:solidFill>
                <a:latin typeface="Calibri"/>
              </a:rPr>
              <a:t>11 contatos a R$ 42,53 cada · Ciclo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5184648"/>
            <a:ext cx="34747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pt-BR" sz="1050" b="0" dirty="0" smtClean="0">
                <a:solidFill>
                  <a:srgbClr val="5A6670"/>
                </a:solidFill>
                <a:latin typeface="Calibri"/>
              </a:rPr>
              <a:t>Teve </a:t>
            </a:r>
            <a:r>
              <a:rPr sz="1050" b="0" dirty="0" smtClean="0">
                <a:solidFill>
                  <a:srgbClr val="5A6670"/>
                </a:solidFill>
                <a:latin typeface="Calibri"/>
              </a:rPr>
              <a:t>o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pior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050" b="0" dirty="0" err="1" smtClean="0">
                <a:solidFill>
                  <a:srgbClr val="5A6670"/>
                </a:solidFill>
                <a:latin typeface="Calibri"/>
              </a:rPr>
              <a:t>padrão</a:t>
            </a:r>
            <a:r>
              <a:rPr lang="pt-BR" sz="1050" dirty="0" smtClean="0">
                <a:solidFill>
                  <a:srgbClr val="5A6670"/>
                </a:solidFill>
                <a:latin typeface="Calibri"/>
              </a:rPr>
              <a:t>, aponta ser</a:t>
            </a:r>
            <a:r>
              <a:rPr sz="1050" b="0" dirty="0" smtClean="0">
                <a:solidFill>
                  <a:srgbClr val="5A6670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estrutural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,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não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ruído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109441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dirty="0" err="1">
                <a:solidFill>
                  <a:srgbClr val="5A6670"/>
                </a:solidFill>
                <a:latin typeface="Calibri"/>
              </a:rPr>
              <a:t>Média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geral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do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período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: R$ 17,82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por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contato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. A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diferença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entre a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melhor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e a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pior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loja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passa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de </a:t>
            </a:r>
            <a:r>
              <a:rPr sz="1200" b="0" dirty="0" smtClean="0">
                <a:solidFill>
                  <a:srgbClr val="5A6670"/>
                </a:solidFill>
                <a:latin typeface="Calibri"/>
              </a:rPr>
              <a:t>4x</a:t>
            </a:r>
            <a:r>
              <a:rPr lang="pt-BR" sz="1200" b="0" dirty="0" smtClean="0">
                <a:solidFill>
                  <a:srgbClr val="5A6670"/>
                </a:solidFill>
                <a:latin typeface="Calibri"/>
              </a:rPr>
              <a:t>, </a:t>
            </a:r>
            <a:r>
              <a:rPr sz="1200" b="0" dirty="0" smtClean="0">
                <a:solidFill>
                  <a:srgbClr val="5A6670"/>
                </a:solidFill>
                <a:latin typeface="Calibri"/>
              </a:rPr>
              <a:t>é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isso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que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sustenta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uma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estratégia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por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criativo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e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público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não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só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por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verba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>
                <a:solidFill>
                  <a:srgbClr val="094825"/>
                </a:solidFill>
                <a:latin typeface="Arial"/>
              </a:rPr>
              <a:t>A evolução da 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A6670"/>
                </a:solidFill>
                <a:latin typeface="Calibri"/>
              </a:rPr>
              <a:t>A conta cresceu junto com o Autoshopping, uma campanha por loja. Agora consolidamos para ganhar escala.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03520" cy="320040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5A6670"/>
                </a:solidFill>
                <a:latin typeface="Arial"/>
              </a:rPr>
              <a:t>COMO 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46634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4A5560"/>
                </a:solidFill>
                <a:latin typeface="Calibri"/>
              </a:rPr>
              <a:t>•  Uma campanha para cada loja, conforme a demanda surgia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4A5560"/>
                </a:solidFill>
                <a:latin typeface="Calibri"/>
              </a:rPr>
              <a:t>•  Verba dividida em partes pequenas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4A5560"/>
                </a:solidFill>
                <a:latin typeface="Calibri"/>
              </a:rPr>
              <a:t>•  Volume baixo por campanha para o algoritmo aprender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4A5560"/>
                </a:solidFill>
                <a:latin typeface="Calibri"/>
              </a:rPr>
              <a:t>•  Difícil comparar o resultado entre as lojas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3200400"/>
          </a:xfrm>
          <a:prstGeom prst="roundRect">
            <a:avLst>
              <a:gd name="adj" fmla="val 35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1AA61"/>
                </a:solidFill>
                <a:latin typeface="Arial"/>
              </a:rPr>
              <a:t>COMO ESTÁ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286000"/>
            <a:ext cx="46634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94825"/>
                </a:solidFill>
                <a:latin typeface="Calibri"/>
              </a:rPr>
              <a:t>•  Campanhas consolidadas por objetivo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94825"/>
                </a:solidFill>
                <a:latin typeface="Calibri"/>
              </a:rPr>
              <a:t>•  Rodízio de lojas por quinzena, ciclo em andamento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94825"/>
                </a:solidFill>
                <a:latin typeface="Calibri"/>
              </a:rPr>
              <a:t>•  Verba concentrada, algoritmo aprende mais rápido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94825"/>
                </a:solidFill>
                <a:latin typeface="Calibri"/>
              </a:rPr>
              <a:t>•  Comparação direta entre lojas e entre criativos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74920"/>
            <a:ext cx="11094415" cy="1188720"/>
          </a:xfrm>
          <a:prstGeom prst="roundRect">
            <a:avLst>
              <a:gd name="adj" fmla="val 3500"/>
            </a:avLst>
          </a:prstGeom>
          <a:solidFill>
            <a:srgbClr val="094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23036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1AA61"/>
                </a:solidFill>
                <a:latin typeface="Arial"/>
              </a:rPr>
              <a:t>Ponto de atenção sobre a verba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59552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As duas primeiras quinzenas rodaram com 7 lojas em vez das 6 previstas. Isso consome mais orçamento por lojista e reduz a fatia disponível para os outros formatos (Site e Reconhecimento).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>
                <a:solidFill>
                  <a:srgbClr val="094825"/>
                </a:solidFill>
                <a:latin typeface="Arial"/>
              </a:rPr>
              <a:t>Criativos: o panorama de julho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A6670"/>
                </a:solidFill>
                <a:latin typeface="Calibri"/>
              </a:rPr>
              <a:t>Testamos muito, medimos tudo, e mantemos no ar o que funciona.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383280" cy="137160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746504"/>
            <a:ext cx="2871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094825"/>
                </a:solidFill>
                <a:latin typeface="Arial"/>
              </a:rPr>
              <a:t>+140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2316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criativos com verba no mês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00200"/>
            <a:ext cx="3383280" cy="137160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746504"/>
            <a:ext cx="2871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21AA61"/>
                </a:solidFill>
                <a:latin typeface="Arial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42316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vídeos da Seleção ALV rodando, um por loja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00200"/>
            <a:ext cx="3383280" cy="137160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2" y="1746504"/>
            <a:ext cx="2871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094825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42316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lojas no rodízio da quinzena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094825"/>
                </a:solidFill>
                <a:latin typeface="Arial"/>
              </a:rPr>
              <a:t>Destaques por frente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11094415" cy="566928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749039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1AA61"/>
                </a:solidFill>
                <a:latin typeface="Calibri"/>
              </a:rPr>
              <a:t>Lojistas (WhatsApp)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749039"/>
            <a:ext cx="3474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94825"/>
                </a:solidFill>
                <a:latin typeface="Calibri"/>
              </a:rPr>
              <a:t>Schafas Institucional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940170"/>
            <a:ext cx="40233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dirty="0" smtClean="0">
                <a:solidFill>
                  <a:srgbClr val="5A6670"/>
                </a:solidFill>
                <a:latin typeface="Calibri"/>
              </a:rPr>
              <a:t>4</a:t>
            </a:r>
            <a:r>
              <a:rPr lang="pt-BR" sz="1200" b="0" dirty="0" smtClean="0">
                <a:solidFill>
                  <a:srgbClr val="5A6670"/>
                </a:solidFill>
                <a:latin typeface="Calibri"/>
              </a:rPr>
              <a:t>6</a:t>
            </a:r>
            <a:r>
              <a:rPr sz="1200" b="0" dirty="0" smtClean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contatos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· R$ 11,02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cada</a:t>
            </a:r>
            <a:endParaRPr sz="1200" b="0" dirty="0">
              <a:solidFill>
                <a:srgbClr val="5A6670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4379975"/>
            <a:ext cx="1109441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379975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1AA61"/>
                </a:solidFill>
                <a:latin typeface="Calibri"/>
              </a:rPr>
              <a:t>Ofertas (site)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379975"/>
            <a:ext cx="3474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94825"/>
                </a:solidFill>
                <a:latin typeface="Calibri"/>
              </a:rPr>
              <a:t>Tiggo OZ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379975"/>
            <a:ext cx="4023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1.767 visitas ao site · R$ 0,24 cada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10911"/>
            <a:ext cx="11094415" cy="566928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010911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1AA61"/>
                </a:solidFill>
                <a:latin typeface="Calibri"/>
              </a:rPr>
              <a:t>Seleção ALV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010911"/>
            <a:ext cx="3474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94825"/>
                </a:solidFill>
                <a:latin typeface="Calibri"/>
              </a:rPr>
              <a:t>City Motors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010911"/>
            <a:ext cx="4023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CTR de 7,6% · melhor engajamento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41847"/>
            <a:ext cx="11094415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641847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1AA61"/>
                </a:solidFill>
                <a:latin typeface="Calibri"/>
              </a:rPr>
              <a:t>Reconhecimento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825283"/>
            <a:ext cx="347472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dirty="0" err="1">
                <a:solidFill>
                  <a:srgbClr val="094825"/>
                </a:solidFill>
                <a:latin typeface="Calibri"/>
              </a:rPr>
              <a:t>Institucional</a:t>
            </a:r>
            <a:r>
              <a:rPr sz="1300" b="1" dirty="0">
                <a:solidFill>
                  <a:srgbClr val="094825"/>
                </a:solidFill>
                <a:latin typeface="Calibri"/>
              </a:rPr>
              <a:t> </a:t>
            </a:r>
            <a:r>
              <a:rPr lang="pt-BR" sz="1300" b="1" dirty="0" smtClean="0">
                <a:solidFill>
                  <a:srgbClr val="094825"/>
                </a:solidFill>
                <a:latin typeface="Calibri"/>
              </a:rPr>
              <a:t>por regiões</a:t>
            </a:r>
            <a:endParaRPr sz="1300" b="1" dirty="0">
              <a:solidFill>
                <a:srgbClr val="094825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23760" y="5832978"/>
            <a:ext cx="402336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pt-BR" sz="1200" b="0" dirty="0" smtClean="0">
                <a:solidFill>
                  <a:srgbClr val="5A6670"/>
                </a:solidFill>
                <a:latin typeface="Calibri"/>
              </a:rPr>
              <a:t>582</a:t>
            </a:r>
            <a:r>
              <a:rPr sz="1200" b="0" dirty="0" smtClean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mil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pessoas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alcançadas</a:t>
            </a:r>
            <a:endParaRPr sz="1200" b="0" dirty="0">
              <a:solidFill>
                <a:srgbClr val="5A667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6409943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dirty="0" err="1">
                <a:solidFill>
                  <a:srgbClr val="5A6670"/>
                </a:solidFill>
                <a:latin typeface="Calibri"/>
              </a:rPr>
              <a:t>Os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testes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seguem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em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andamento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em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várias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campanhas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.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Alguns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criativos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foram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pausados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por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baixa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performance, e o que </a:t>
            </a:r>
            <a:r>
              <a:rPr sz="1200" b="0" dirty="0" err="1">
                <a:solidFill>
                  <a:srgbClr val="5A6670"/>
                </a:solidFill>
                <a:latin typeface="Calibri"/>
              </a:rPr>
              <a:t>funciona</a:t>
            </a:r>
            <a:r>
              <a:rPr sz="1200" b="0" dirty="0">
                <a:solidFill>
                  <a:srgbClr val="5A6670"/>
                </a:solidFill>
                <a:latin typeface="Calibri"/>
              </a:rPr>
              <a:t> continua no 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Um ponto de atenção: pagamento da conta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dirty="0">
                <a:solidFill>
                  <a:srgbClr val="9FB8A8"/>
                </a:solidFill>
                <a:latin typeface="Calibri"/>
              </a:rPr>
              <a:t>A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conta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da Meta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está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com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dificuldade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para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adicionar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saldo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.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Boleto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lang="pt-BR" sz="1400" b="0" dirty="0" smtClean="0">
                <a:solidFill>
                  <a:srgbClr val="9FB8A8"/>
                </a:solidFill>
                <a:latin typeface="Calibri"/>
              </a:rPr>
              <a:t>(sempre) </a:t>
            </a:r>
            <a:r>
              <a:rPr sz="1400" b="0" dirty="0" smtClean="0">
                <a:solidFill>
                  <a:srgbClr val="9FB8A8"/>
                </a:solidFill>
                <a:latin typeface="Calibri"/>
              </a:rPr>
              <a:t>e 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Pix </a:t>
            </a:r>
            <a:r>
              <a:rPr lang="pt-BR" sz="1400" b="0" dirty="0" smtClean="0">
                <a:solidFill>
                  <a:srgbClr val="9FB8A8"/>
                </a:solidFill>
                <a:latin typeface="Calibri"/>
              </a:rPr>
              <a:t>(ocasionalmente) </a:t>
            </a:r>
            <a:r>
              <a:rPr sz="1400" b="0" dirty="0" err="1" smtClean="0">
                <a:solidFill>
                  <a:srgbClr val="9FB8A8"/>
                </a:solidFill>
                <a:latin typeface="Calibri"/>
              </a:rPr>
              <a:t>retornam</a:t>
            </a:r>
            <a:r>
              <a:rPr sz="1400" b="0" dirty="0" smtClean="0">
                <a:solidFill>
                  <a:srgbClr val="9FB8A8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erro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.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Em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aberto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desde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lang="pt-BR" sz="1400" b="0" dirty="0" smtClean="0">
                <a:solidFill>
                  <a:srgbClr val="9FB8A8"/>
                </a:solidFill>
                <a:latin typeface="Calibri"/>
              </a:rPr>
              <a:t>início de Junho</a:t>
            </a:r>
            <a:r>
              <a:rPr sz="1400" b="0" dirty="0" smtClean="0">
                <a:solidFill>
                  <a:srgbClr val="9FB8A8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mais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 de </a:t>
            </a:r>
            <a:r>
              <a:rPr lang="pt-BR" sz="1400" b="0" dirty="0" smtClean="0">
                <a:solidFill>
                  <a:srgbClr val="9FB8A8"/>
                </a:solidFill>
                <a:latin typeface="Calibri"/>
              </a:rPr>
              <a:t>4</a:t>
            </a:r>
            <a:r>
              <a:rPr sz="1400" b="0" dirty="0" smtClean="0">
                <a:solidFill>
                  <a:srgbClr val="9FB8A8"/>
                </a:solidFill>
                <a:latin typeface="Calibri"/>
              </a:rPr>
              <a:t>5 </a:t>
            </a:r>
            <a:r>
              <a:rPr sz="1400" b="0" dirty="0" err="1">
                <a:solidFill>
                  <a:srgbClr val="9FB8A8"/>
                </a:solidFill>
                <a:latin typeface="Calibri"/>
              </a:rPr>
              <a:t>dias</a:t>
            </a:r>
            <a:r>
              <a:rPr sz="1400" b="0" dirty="0">
                <a:solidFill>
                  <a:srgbClr val="9FB8A8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94415" cy="960120"/>
          </a:xfrm>
          <a:prstGeom prst="roundRect">
            <a:avLst>
              <a:gd name="adj" fmla="val 3500"/>
            </a:avLst>
          </a:prstGeom>
          <a:solidFill>
            <a:srgbClr val="0D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29384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1AA61"/>
                </a:solidFill>
                <a:latin typeface="Arial"/>
              </a:rPr>
              <a:t>O que fizemos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29384"/>
            <a:ext cx="83512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Contornamos via PIX manual em 17/07, com negociação direta junto ao financeiro e à diretoria, para a mídia não parar.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89504"/>
            <a:ext cx="11094415" cy="960120"/>
          </a:xfrm>
          <a:prstGeom prst="roundRect">
            <a:avLst>
              <a:gd name="adj" fmla="val 3500"/>
            </a:avLst>
          </a:prstGeom>
          <a:solidFill>
            <a:srgbClr val="0D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035808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1AA61"/>
                </a:solidFill>
                <a:latin typeface="Arial"/>
              </a:rPr>
              <a:t>Efeito disso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278680"/>
            <a:ext cx="835121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dirty="0">
                <a:solidFill>
                  <a:srgbClr val="FFFFFF"/>
                </a:solidFill>
                <a:latin typeface="Calibri"/>
              </a:rPr>
              <a:t>As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campanhas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voltaram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a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oscilar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durante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pt-BR" sz="1300" dirty="0" smtClean="0">
                <a:solidFill>
                  <a:srgbClr val="FFFFFF"/>
                </a:solidFill>
                <a:latin typeface="Calibri"/>
              </a:rPr>
              <a:t>o período</a:t>
            </a:r>
            <a:r>
              <a:rPr sz="1300" b="0" dirty="0" smtClean="0">
                <a:solidFill>
                  <a:srgbClr val="FFFFFF"/>
                </a:solidFill>
                <a:latin typeface="Calibri"/>
              </a:rPr>
              <a:t>, 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mas a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operação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não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parou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95928"/>
            <a:ext cx="11094415" cy="960120"/>
          </a:xfrm>
          <a:prstGeom prst="roundRect">
            <a:avLst>
              <a:gd name="adj" fmla="val 3500"/>
            </a:avLst>
          </a:prstGeom>
          <a:solidFill>
            <a:srgbClr val="0D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42232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1AA61"/>
                </a:solidFill>
                <a:latin typeface="Arial"/>
              </a:rPr>
              <a:t>Risco aberto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142232"/>
            <a:ext cx="83512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O mesmo bloqueio deve se repetir no pagamento de agosto, enquanto o backend da Meta não for corrigido.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02352"/>
            <a:ext cx="11094415" cy="960120"/>
          </a:xfrm>
          <a:prstGeom prst="roundRect">
            <a:avLst>
              <a:gd name="adj" fmla="val 3500"/>
            </a:avLst>
          </a:prstGeom>
          <a:solidFill>
            <a:srgbClr val="21A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248656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SUGESTÃO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487681"/>
            <a:ext cx="835121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dirty="0" err="1">
                <a:solidFill>
                  <a:srgbClr val="FFFFFF"/>
                </a:solidFill>
                <a:latin typeface="Calibri"/>
              </a:rPr>
              <a:t>Cadastrar</a:t>
            </a:r>
            <a:r>
              <a:rPr sz="135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Calibri"/>
              </a:rPr>
              <a:t>cartão</a:t>
            </a:r>
            <a:r>
              <a:rPr sz="1350" b="1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350" b="1" dirty="0" err="1">
                <a:solidFill>
                  <a:srgbClr val="FFFFFF"/>
                </a:solidFill>
                <a:latin typeface="Calibri"/>
              </a:rPr>
              <a:t>crédito</a:t>
            </a:r>
            <a:r>
              <a:rPr sz="135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Calibri"/>
              </a:rPr>
              <a:t>como</a:t>
            </a:r>
            <a:r>
              <a:rPr sz="135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Calibri"/>
              </a:rPr>
              <a:t>método</a:t>
            </a:r>
            <a:r>
              <a:rPr sz="1350" b="1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350" b="1" dirty="0" err="1">
                <a:solidFill>
                  <a:srgbClr val="FFFFFF"/>
                </a:solidFill>
                <a:latin typeface="Calibri"/>
              </a:rPr>
              <a:t>pagamento</a:t>
            </a:r>
            <a:r>
              <a:rPr sz="1350" b="1" dirty="0">
                <a:solidFill>
                  <a:srgbClr val="FFFFFF"/>
                </a:solidFill>
                <a:latin typeface="Calibri"/>
              </a:rPr>
              <a:t> da </a:t>
            </a:r>
            <a:r>
              <a:rPr sz="1350" b="1" dirty="0" err="1">
                <a:solidFill>
                  <a:srgbClr val="FFFFFF"/>
                </a:solidFill>
                <a:latin typeface="Calibri"/>
              </a:rPr>
              <a:t>conta</a:t>
            </a:r>
            <a:r>
              <a:rPr sz="1350" b="1" dirty="0">
                <a:solidFill>
                  <a:srgbClr val="FFFFFF"/>
                </a:solidFill>
                <a:latin typeface="Calibri"/>
              </a:rPr>
              <a:t> — segue </a:t>
            </a:r>
            <a:r>
              <a:rPr sz="1350" b="1" dirty="0" err="1">
                <a:solidFill>
                  <a:srgbClr val="FFFFFF"/>
                </a:solidFill>
                <a:latin typeface="Calibri"/>
              </a:rPr>
              <a:t>sendo</a:t>
            </a:r>
            <a:r>
              <a:rPr sz="135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pt-BR" sz="1350" b="1" dirty="0" smtClean="0">
                <a:solidFill>
                  <a:srgbClr val="FFFFFF"/>
                </a:solidFill>
                <a:latin typeface="Calibri"/>
              </a:rPr>
              <a:t>a </a:t>
            </a:r>
            <a:r>
              <a:rPr sz="1350" b="1" dirty="0" err="1" smtClean="0">
                <a:solidFill>
                  <a:srgbClr val="FFFFFF"/>
                </a:solidFill>
                <a:latin typeface="Calibri"/>
              </a:rPr>
              <a:t>recomendação</a:t>
            </a:r>
            <a:r>
              <a:rPr sz="1350" b="1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>
                <a:solidFill>
                  <a:srgbClr val="094825"/>
                </a:solidFill>
                <a:latin typeface="Arial"/>
              </a:rPr>
              <a:t>O dado que falta: o formulário das lojas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A6670"/>
                </a:solidFill>
                <a:latin typeface="Calibri"/>
              </a:rPr>
              <a:t>É o caminho para saber quais contatos viram visita e venda. Com ele, deixamos de otimizar por custo e passamos a otimizar por venda.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383280" cy="137160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746504"/>
            <a:ext cx="2871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094825"/>
                </a:solidFill>
                <a:latin typeface="Arial"/>
              </a:rPr>
              <a:t>5 de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2316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lojas registrando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600200"/>
            <a:ext cx="3383280" cy="137160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746504"/>
            <a:ext cx="2871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094825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42316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registros em 2 semanas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00200"/>
            <a:ext cx="3383280" cy="1371600"/>
          </a:xfrm>
          <a:prstGeom prst="roundRect">
            <a:avLst>
              <a:gd name="adj" fmla="val 3500"/>
            </a:avLst>
          </a:prstGeom>
          <a:solidFill>
            <a:srgbClr val="FB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2" y="1746504"/>
            <a:ext cx="2871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C0392B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42316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vendas registradas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11094415" cy="1234440"/>
          </a:xfrm>
          <a:prstGeom prst="roundRect">
            <a:avLst>
              <a:gd name="adj" fmla="val 35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40156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1AA61"/>
                </a:solidFill>
                <a:latin typeface="Arial"/>
              </a:rPr>
              <a:t>Zero venda registrada não significa zero venda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10545775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dirty="0">
                <a:solidFill>
                  <a:srgbClr val="094825"/>
                </a:solidFill>
                <a:latin typeface="Calibri"/>
              </a:rPr>
              <a:t>Na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visita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às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lojas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,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identificamos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que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os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lojistas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ainda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não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conseguem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distinguir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de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onde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vem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cada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 smtClean="0">
                <a:solidFill>
                  <a:srgbClr val="094825"/>
                </a:solidFill>
                <a:latin typeface="Calibri"/>
              </a:rPr>
              <a:t>contato</a:t>
            </a:r>
            <a:r>
              <a:rPr lang="pt-BR" sz="1300" dirty="0">
                <a:solidFill>
                  <a:srgbClr val="094825"/>
                </a:solidFill>
                <a:latin typeface="Calibri"/>
              </a:rPr>
              <a:t>.</a:t>
            </a:r>
            <a:r>
              <a:rPr sz="1300" b="0" dirty="0" smtClean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WhatsApp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pessoal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, Instagram,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indicação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ou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anúncio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se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misturam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no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dia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a dia.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94415" cy="1600200"/>
          </a:xfrm>
          <a:prstGeom prst="roundRect">
            <a:avLst>
              <a:gd name="adj" fmla="val 3500"/>
            </a:avLst>
          </a:prstGeom>
          <a:solidFill>
            <a:srgbClr val="094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86460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1AA61"/>
                </a:solidFill>
                <a:latin typeface="Arial"/>
              </a:rPr>
              <a:t>O plano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93792"/>
            <a:ext cx="10545775" cy="7540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0" dirty="0" smtClean="0">
                <a:solidFill>
                  <a:srgbClr val="FFFFFF"/>
                </a:solidFill>
                <a:latin typeface="Calibri"/>
              </a:rPr>
              <a:t>•  </a:t>
            </a:r>
            <a:r>
              <a:rPr lang="pt-BR" sz="1300" b="0" dirty="0" smtClean="0">
                <a:solidFill>
                  <a:srgbClr val="FFFFFF"/>
                </a:solidFill>
                <a:latin typeface="Calibri"/>
              </a:rPr>
              <a:t>Buscar formas paliativas de aplicação do método. Sem cooperação estamos trabalhando às cegas.</a:t>
            </a:r>
            <a:endParaRPr sz="1300" b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Formulário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pt-BR" sz="1300" b="0" dirty="0" smtClean="0">
                <a:solidFill>
                  <a:srgbClr val="FFFFFF"/>
                </a:solidFill>
                <a:latin typeface="Calibri"/>
              </a:rPr>
              <a:t>já está </a:t>
            </a:r>
            <a:r>
              <a:rPr sz="1300" b="0" dirty="0" err="1" smtClean="0">
                <a:solidFill>
                  <a:srgbClr val="FFFFFF"/>
                </a:solidFill>
                <a:latin typeface="Calibri"/>
              </a:rPr>
              <a:t>simplificado</a:t>
            </a:r>
            <a:r>
              <a:rPr sz="1300" b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ao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máximo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: leva </a:t>
            </a:r>
            <a:r>
              <a:rPr lang="pt-BR" sz="1300" b="0" dirty="0" smtClean="0">
                <a:solidFill>
                  <a:srgbClr val="FFFFFF"/>
                </a:solidFill>
                <a:latin typeface="Calibri"/>
              </a:rPr>
              <a:t>2</a:t>
            </a:r>
            <a:r>
              <a:rPr sz="1300" b="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minutos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por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semana</a:t>
            </a:r>
            <a:endParaRPr sz="1300" b="0" dirty="0">
              <a:solidFill>
                <a:srgbClr val="FFFFFF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300" b="0" dirty="0">
                <a:solidFill>
                  <a:srgbClr val="FFFFFF"/>
                </a:solidFill>
                <a:latin typeface="Calibri"/>
              </a:rPr>
              <a:t>• 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Apoio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da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gestão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para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manter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o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hábito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do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registro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nas</a:t>
            </a:r>
            <a:r>
              <a:rPr sz="13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Calibri"/>
              </a:rPr>
              <a:t>lojas</a:t>
            </a:r>
            <a:endParaRPr sz="1300" b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>
                <a:solidFill>
                  <a:srgbClr val="094825"/>
                </a:solidFill>
                <a:latin typeface="Arial"/>
              </a:rPr>
              <a:t>A verba não comporta tudo ao mesmo tempo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A6670"/>
                </a:solidFill>
                <a:latin typeface="Calibri"/>
              </a:rPr>
              <a:t>Comprando contato comercial, o orçamento sustenta um número limitado de criativos no ar de cada vez.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383280" cy="114300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2871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094825"/>
                </a:solidFill>
                <a:latin typeface="Arial"/>
              </a:rPr>
              <a:t>226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0574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criativos produzidos “na fila”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463040"/>
            <a:ext cx="3383280" cy="114300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609344"/>
            <a:ext cx="2871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094825"/>
                </a:solidFill>
                <a:latin typeface="Arial"/>
              </a:rPr>
              <a:t>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0574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ativos ao mesmo tempo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383280" cy="1143000"/>
          </a:xfrm>
          <a:prstGeom prst="roundRect">
            <a:avLst>
              <a:gd name="adj" fmla="val 3500"/>
            </a:avLst>
          </a:prstGeom>
          <a:solidFill>
            <a:srgbClr val="FB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2" y="1609344"/>
            <a:ext cx="287121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C0392B"/>
                </a:solidFill>
                <a:latin typeface="Arial"/>
              </a:rPr>
              <a:t>R$ 6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0574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por dia para cada 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11094415" cy="1051560"/>
          </a:xfrm>
          <a:prstGeom prst="roundRect">
            <a:avLst>
              <a:gd name="adj" fmla="val 35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7791F"/>
                </a:solidFill>
                <a:latin typeface="Arial"/>
              </a:rPr>
              <a:t>Por que R$ 6 por dia não funciona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105457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dirty="0">
                <a:solidFill>
                  <a:srgbClr val="6B5A2E"/>
                </a:solidFill>
                <a:latin typeface="Calibri"/>
              </a:rPr>
              <a:t>Para um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criativo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aprender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e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performar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, </a:t>
            </a:r>
            <a:r>
              <a:rPr sz="1200" b="0" dirty="0" err="1" smtClean="0">
                <a:solidFill>
                  <a:srgbClr val="6B5A2E"/>
                </a:solidFill>
                <a:latin typeface="Calibri"/>
              </a:rPr>
              <a:t>precisa</a:t>
            </a:r>
            <a:r>
              <a:rPr sz="1200" b="0" dirty="0" smtClean="0">
                <a:solidFill>
                  <a:srgbClr val="6B5A2E"/>
                </a:solidFill>
                <a:latin typeface="Calibri"/>
              </a:rPr>
              <a:t> 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de volume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constante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de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resultado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.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Cada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contato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no WhatsApp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custa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em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média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R$ 17. Com R$ 6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por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dia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, um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criativo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gera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menos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de um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contato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a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cada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3 </a:t>
            </a:r>
            <a:r>
              <a:rPr sz="1200" b="0" dirty="0" err="1" smtClean="0">
                <a:solidFill>
                  <a:srgbClr val="6B5A2E"/>
                </a:solidFill>
                <a:latin typeface="Calibri"/>
              </a:rPr>
              <a:t>dias</a:t>
            </a:r>
            <a:r>
              <a:rPr lang="pt-BR" sz="1200" dirty="0" smtClean="0">
                <a:solidFill>
                  <a:srgbClr val="6B5A2E"/>
                </a:solidFill>
                <a:latin typeface="Calibri"/>
              </a:rPr>
              <a:t>, </a:t>
            </a:r>
            <a:r>
              <a:rPr sz="1200" b="0" dirty="0" err="1" smtClean="0">
                <a:solidFill>
                  <a:srgbClr val="6B5A2E"/>
                </a:solidFill>
                <a:latin typeface="Calibri"/>
              </a:rPr>
              <a:t>sinal</a:t>
            </a:r>
            <a:r>
              <a:rPr sz="1200" b="0" dirty="0" smtClean="0">
                <a:solidFill>
                  <a:srgbClr val="6B5A2E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fraco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demais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para o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algoritmo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6B5A2E"/>
                </a:solidFill>
                <a:latin typeface="Calibri"/>
              </a:rPr>
              <a:t>otimizar</a:t>
            </a:r>
            <a:r>
              <a:rPr sz="1200" b="0" dirty="0">
                <a:solidFill>
                  <a:srgbClr val="6B5A2E"/>
                </a:solidFill>
                <a:latin typeface="Calibr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094825"/>
                </a:solidFill>
                <a:latin typeface="Arial"/>
              </a:rPr>
              <a:t>Três caminhos possíveis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34840"/>
            <a:ext cx="3520440" cy="2148840"/>
          </a:xfrm>
          <a:prstGeom prst="roundRect">
            <a:avLst>
              <a:gd name="adj" fmla="val 35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dirty="0">
                <a:solidFill>
                  <a:srgbClr val="21AA61"/>
                </a:solidFill>
                <a:latin typeface="Arial"/>
              </a:rPr>
              <a:t>CONCENTRAR (</a:t>
            </a:r>
            <a:r>
              <a:rPr sz="1250" b="1" dirty="0" err="1">
                <a:solidFill>
                  <a:srgbClr val="21AA61"/>
                </a:solidFill>
                <a:latin typeface="Arial"/>
              </a:rPr>
              <a:t>recomendação</a:t>
            </a:r>
            <a:r>
              <a:rPr sz="1250" b="1" dirty="0">
                <a:solidFill>
                  <a:srgbClr val="21AA61"/>
                </a:solidFill>
                <a:latin typeface="Arial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64608"/>
            <a:ext cx="306324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dirty="0" err="1">
                <a:solidFill>
                  <a:srgbClr val="5A6670"/>
                </a:solidFill>
                <a:latin typeface="Calibri"/>
              </a:rPr>
              <a:t>Poucos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criativos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,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verba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050" b="0" dirty="0" smtClean="0">
                <a:solidFill>
                  <a:srgbClr val="5A6670"/>
                </a:solidFill>
                <a:latin typeface="Calibri"/>
              </a:rPr>
              <a:t>real</a:t>
            </a:r>
            <a:r>
              <a:rPr lang="pt-BR" sz="1050" b="0" dirty="0" smtClean="0">
                <a:solidFill>
                  <a:srgbClr val="5A6670"/>
                </a:solidFill>
                <a:latin typeface="Calibri"/>
              </a:rPr>
              <a:t>, cada um com objetivo no funil, foco 100% no resultado.</a:t>
            </a:r>
            <a:endParaRPr sz="1050" b="0" dirty="0">
              <a:solidFill>
                <a:srgbClr val="5A6670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537210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dirty="0" err="1">
                <a:solidFill>
                  <a:srgbClr val="094825"/>
                </a:solidFill>
                <a:latin typeface="Calibri"/>
              </a:rPr>
              <a:t>Ganho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: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cada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um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recebe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verba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suficiente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para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aprender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e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performar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.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Melhor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custo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por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contato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83383"/>
            <a:ext cx="3063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dirty="0" err="1">
                <a:solidFill>
                  <a:srgbClr val="094825"/>
                </a:solidFill>
                <a:latin typeface="Calibri"/>
              </a:rPr>
              <a:t>Custo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: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menos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lang="pt-BR" sz="1000" b="0" dirty="0" smtClean="0">
                <a:solidFill>
                  <a:srgbClr val="094825"/>
                </a:solidFill>
                <a:latin typeface="Calibri"/>
              </a:rPr>
              <a:t>campanhas, criativos específicos, </a:t>
            </a:r>
            <a:r>
              <a:rPr sz="1000" b="0" dirty="0" err="1" smtClean="0">
                <a:solidFill>
                  <a:srgbClr val="094825"/>
                </a:solidFill>
                <a:latin typeface="Calibri"/>
              </a:rPr>
              <a:t>lojas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eventos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,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feirões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e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produtos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aparecem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simultaneamente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434840"/>
            <a:ext cx="3520440" cy="2148840"/>
          </a:xfrm>
          <a:prstGeom prst="roundRect">
            <a:avLst>
              <a:gd name="adj" fmla="val 35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80" y="457200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21AA61"/>
                </a:solidFill>
                <a:latin typeface="Arial"/>
              </a:rPr>
              <a:t>REVEZAR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864608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670"/>
                </a:solidFill>
                <a:latin typeface="Calibri"/>
              </a:rPr>
              <a:t>Todos entram, mas em ciclos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203949"/>
            <a:ext cx="306324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dirty="0" err="1">
                <a:solidFill>
                  <a:srgbClr val="094825"/>
                </a:solidFill>
                <a:latin typeface="Calibri"/>
              </a:rPr>
              <a:t>Ganho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: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todos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têm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sua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vez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com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verba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de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verdade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. É o que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já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fazemos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com as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lojas</a:t>
            </a:r>
            <a:r>
              <a:rPr sz="1000" b="0" dirty="0" smtClean="0">
                <a:solidFill>
                  <a:srgbClr val="094825"/>
                </a:solidFill>
                <a:latin typeface="Calibri"/>
              </a:rPr>
              <a:t>.</a:t>
            </a:r>
            <a:r>
              <a:rPr lang="pt-BR" sz="1000" b="0" dirty="0" smtClean="0">
                <a:solidFill>
                  <a:srgbClr val="094825"/>
                </a:solidFill>
                <a:latin typeface="Calibri"/>
              </a:rPr>
              <a:t> Mas algumas campanhas não comportam este modelo, como Institucional ou Tráfego para o site.</a:t>
            </a:r>
            <a:endParaRPr sz="1000" b="0" dirty="0">
              <a:solidFill>
                <a:srgbClr val="094825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26280" y="5883383"/>
            <a:ext cx="3063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dirty="0" err="1">
                <a:solidFill>
                  <a:srgbClr val="094825"/>
                </a:solidFill>
                <a:latin typeface="Calibri"/>
              </a:rPr>
              <a:t>Custo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: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ninguém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roda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o tempo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todo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.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Exige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planejar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a fila e </a:t>
            </a:r>
            <a:r>
              <a:rPr sz="1000" b="0" dirty="0" err="1">
                <a:solidFill>
                  <a:srgbClr val="094825"/>
                </a:solidFill>
                <a:latin typeface="Calibri"/>
              </a:rPr>
              <a:t>respeitar</a:t>
            </a:r>
            <a:r>
              <a:rPr sz="1000" b="0" dirty="0">
                <a:solidFill>
                  <a:srgbClr val="094825"/>
                </a:solidFill>
                <a:latin typeface="Calibri"/>
              </a:rPr>
              <a:t> o </a:t>
            </a:r>
            <a:r>
              <a:rPr sz="1000" b="0" dirty="0" err="1" smtClean="0">
                <a:solidFill>
                  <a:srgbClr val="094825"/>
                </a:solidFill>
                <a:latin typeface="Calibri"/>
              </a:rPr>
              <a:t>ciclo</a:t>
            </a:r>
            <a:r>
              <a:rPr lang="pt-BR" sz="1000" b="0" dirty="0" smtClean="0">
                <a:solidFill>
                  <a:srgbClr val="094825"/>
                </a:solidFill>
                <a:latin typeface="Calibri"/>
              </a:rPr>
              <a:t>, pouco espaço para improviso</a:t>
            </a:r>
            <a:r>
              <a:rPr sz="1000" b="0" dirty="0" smtClean="0">
                <a:solidFill>
                  <a:srgbClr val="094825"/>
                </a:solidFill>
                <a:latin typeface="Calibri"/>
              </a:rPr>
              <a:t>.</a:t>
            </a:r>
            <a:endParaRPr sz="1000" b="0" dirty="0">
              <a:solidFill>
                <a:srgbClr val="094825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46720" y="4434840"/>
            <a:ext cx="3520440" cy="2148840"/>
          </a:xfrm>
          <a:prstGeom prst="roundRect">
            <a:avLst>
              <a:gd name="adj" fmla="val 3500"/>
            </a:avLst>
          </a:prstGeom>
          <a:solidFill>
            <a:srgbClr val="FB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75320" y="457200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Arial"/>
              </a:rPr>
              <a:t>MANTER COMO ESTÁ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864608"/>
            <a:ext cx="3063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dirty="0" err="1">
                <a:solidFill>
                  <a:srgbClr val="5A6670"/>
                </a:solidFill>
                <a:latin typeface="Calibri"/>
              </a:rPr>
              <a:t>Tudo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 no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ar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ao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 </a:t>
            </a:r>
            <a:r>
              <a:rPr sz="1050" b="0" dirty="0" err="1">
                <a:solidFill>
                  <a:srgbClr val="5A6670"/>
                </a:solidFill>
                <a:latin typeface="Calibri"/>
              </a:rPr>
              <a:t>mesmo</a:t>
            </a:r>
            <a:r>
              <a:rPr sz="1050" b="0" dirty="0">
                <a:solidFill>
                  <a:srgbClr val="5A6670"/>
                </a:solidFill>
                <a:latin typeface="Calibri"/>
              </a:rPr>
              <a:t> tempo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370469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dirty="0" err="1">
                <a:solidFill>
                  <a:srgbClr val="C0392B"/>
                </a:solidFill>
                <a:latin typeface="Calibri"/>
              </a:rPr>
              <a:t>Ganho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: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todos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aparecem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na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conta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e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ninguém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fica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de fora.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883383"/>
            <a:ext cx="30632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dirty="0" err="1">
                <a:solidFill>
                  <a:srgbClr val="C0392B"/>
                </a:solidFill>
                <a:latin typeface="Calibri"/>
              </a:rPr>
              <a:t>Custo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: a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verba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se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pulveriza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. A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maioria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não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entrega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e o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custo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por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contato</a:t>
            </a:r>
            <a:r>
              <a:rPr sz="1000" b="0" dirty="0">
                <a:solidFill>
                  <a:srgbClr val="C0392B"/>
                </a:solidFill>
                <a:latin typeface="Calibri"/>
              </a:rPr>
              <a:t> </a:t>
            </a:r>
            <a:r>
              <a:rPr sz="1000" b="0" dirty="0" err="1">
                <a:solidFill>
                  <a:srgbClr val="C0392B"/>
                </a:solidFill>
                <a:latin typeface="Calibri"/>
              </a:rPr>
              <a:t>piora</a:t>
            </a:r>
            <a:r>
              <a:rPr sz="1000" b="0" dirty="0" smtClean="0">
                <a:solidFill>
                  <a:srgbClr val="C0392B"/>
                </a:solidFill>
                <a:latin typeface="Calibri"/>
              </a:rPr>
              <a:t>.</a:t>
            </a:r>
            <a:r>
              <a:rPr lang="pt-BR" sz="1000" b="0" dirty="0" smtClean="0">
                <a:solidFill>
                  <a:srgbClr val="C0392B"/>
                </a:solidFill>
                <a:latin typeface="Calibri"/>
              </a:rPr>
              <a:t> A conta não aprende e segue sem dados pra melhorar.</a:t>
            </a:r>
            <a:endParaRPr sz="1000" b="0" dirty="0">
              <a:solidFill>
                <a:srgbClr val="C0392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>
                <a:solidFill>
                  <a:srgbClr val="094825"/>
                </a:solidFill>
                <a:latin typeface="Arial"/>
              </a:rPr>
              <a:t>Como o tráfego pago performa melhor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A6670"/>
                </a:solidFill>
                <a:latin typeface="Calibri"/>
              </a:rPr>
              <a:t>Não é sobre ter mais criativo no ar. É funil completo, rastreamento e colaboração.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20440" cy="141732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1AA61"/>
                </a:solidFill>
                <a:latin typeface="Arial"/>
              </a:rPr>
              <a:t>FUNIL COMPLETO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306324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dirty="0" err="1">
                <a:solidFill>
                  <a:srgbClr val="4A5560"/>
                </a:solidFill>
                <a:latin typeface="Calibri"/>
              </a:rPr>
              <a:t>Alcance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→ clique →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contato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→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venda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lang="pt-BR" sz="1100" b="0" dirty="0" smtClean="0">
                <a:solidFill>
                  <a:srgbClr val="4A5560"/>
                </a:solidFill>
                <a:latin typeface="Calibri"/>
              </a:rPr>
              <a:t/>
            </a:r>
            <a:br>
              <a:rPr lang="pt-BR" sz="1100" b="0" dirty="0" smtClean="0">
                <a:solidFill>
                  <a:srgbClr val="4A5560"/>
                </a:solidFill>
                <a:latin typeface="Calibri"/>
              </a:rPr>
            </a:br>
            <a:r>
              <a:rPr lang="pt-BR" sz="1100" b="0" dirty="0" smtClean="0">
                <a:solidFill>
                  <a:srgbClr val="4A5560"/>
                </a:solidFill>
                <a:latin typeface="Calibri"/>
              </a:rPr>
              <a:t/>
            </a:r>
            <a:br>
              <a:rPr lang="pt-BR" sz="1100" b="0" dirty="0" smtClean="0">
                <a:solidFill>
                  <a:srgbClr val="4A5560"/>
                </a:solidFill>
                <a:latin typeface="Calibri"/>
              </a:rPr>
            </a:br>
            <a:r>
              <a:rPr lang="pt-BR" sz="1100" b="0" dirty="0" smtClean="0">
                <a:solidFill>
                  <a:srgbClr val="4A5560"/>
                </a:solidFill>
                <a:latin typeface="Calibri"/>
              </a:rPr>
              <a:t>P</a:t>
            </a:r>
            <a:r>
              <a:rPr sz="1100" b="0" dirty="0" err="1" smtClean="0">
                <a:solidFill>
                  <a:srgbClr val="4A5560"/>
                </a:solidFill>
                <a:latin typeface="Calibri"/>
              </a:rPr>
              <a:t>recisam</a:t>
            </a:r>
            <a:r>
              <a:rPr sz="1100" b="0" dirty="0" smtClean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ser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pensados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juntos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não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como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campanhas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soltas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competindo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pela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mesma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verba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554480"/>
            <a:ext cx="3520440" cy="141732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69164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1AA61"/>
                </a:solidFill>
                <a:latin typeface="Arial"/>
              </a:rPr>
              <a:t>RASTREAMENTO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76272"/>
            <a:ext cx="30632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dirty="0" err="1">
                <a:solidFill>
                  <a:srgbClr val="4A5560"/>
                </a:solidFill>
                <a:latin typeface="Calibri"/>
              </a:rPr>
              <a:t>Sem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saber o que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virou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venda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otimizamos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por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 smtClean="0">
                <a:solidFill>
                  <a:srgbClr val="4A5560"/>
                </a:solidFill>
                <a:latin typeface="Calibri"/>
              </a:rPr>
              <a:t>custo</a:t>
            </a:r>
            <a:r>
              <a:rPr lang="pt-BR" sz="1100" dirty="0" smtClean="0">
                <a:solidFill>
                  <a:srgbClr val="4A5560"/>
                </a:solidFill>
                <a:latin typeface="Calibri"/>
              </a:rPr>
              <a:t>, </a:t>
            </a:r>
            <a:r>
              <a:rPr sz="1100" b="0" dirty="0" err="1" smtClean="0">
                <a:solidFill>
                  <a:srgbClr val="4A5560"/>
                </a:solidFill>
                <a:latin typeface="Calibri"/>
              </a:rPr>
              <a:t>não</a:t>
            </a:r>
            <a:r>
              <a:rPr sz="1100" b="0" dirty="0" smtClean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por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resultado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. É a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maior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lacuna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aberta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hoje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520440" cy="141732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69164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1AA61"/>
                </a:solidFill>
                <a:latin typeface="Arial"/>
              </a:rPr>
              <a:t>COLABORAÇÃO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2176707"/>
            <a:ext cx="30632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dirty="0" err="1">
                <a:solidFill>
                  <a:srgbClr val="4A5560"/>
                </a:solidFill>
                <a:latin typeface="Calibri"/>
              </a:rPr>
              <a:t>Comercial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,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lojista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e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mídia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precisam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devolver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informação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uns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aos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outros.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Sem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isso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, o dado para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na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primeira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100" b="0" dirty="0" err="1">
                <a:solidFill>
                  <a:srgbClr val="4A5560"/>
                </a:solidFill>
                <a:latin typeface="Calibri"/>
              </a:rPr>
              <a:t>etapa</a:t>
            </a:r>
            <a:r>
              <a:rPr sz="1100" b="0" dirty="0">
                <a:solidFill>
                  <a:srgbClr val="4A5560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54680"/>
            <a:ext cx="11094415" cy="1508760"/>
          </a:xfrm>
          <a:prstGeom prst="roundRect">
            <a:avLst>
              <a:gd name="adj" fmla="val 35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1AA61"/>
                </a:solidFill>
                <a:latin typeface="Arial"/>
              </a:rPr>
              <a:t>O que os dois ciclos de julho já mostram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10545775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dirty="0">
                <a:solidFill>
                  <a:srgbClr val="094825"/>
                </a:solidFill>
                <a:latin typeface="Calibri"/>
              </a:rPr>
              <a:t>14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lojas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testadas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em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 2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quinzenas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: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custo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por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contato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variando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 de R$ 9,93 a R$ 42,53 —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mais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 de 4x de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diferença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dentro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 do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mesmo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 </a:t>
            </a:r>
            <a:r>
              <a:rPr sz="1250" b="1" dirty="0" err="1">
                <a:solidFill>
                  <a:srgbClr val="094825"/>
                </a:solidFill>
                <a:latin typeface="Calibri"/>
              </a:rPr>
              <a:t>formato</a:t>
            </a:r>
            <a:r>
              <a:rPr sz="1250" b="1" dirty="0">
                <a:solidFill>
                  <a:srgbClr val="094825"/>
                </a:solidFill>
                <a:latin typeface="Calibri"/>
              </a:rPr>
              <a:t> </a:t>
            </a:r>
            <a:r>
              <a:rPr lang="pt-BR" sz="1250" b="1" dirty="0" smtClean="0">
                <a:solidFill>
                  <a:srgbClr val="094825"/>
                </a:solidFill>
                <a:latin typeface="Calibri"/>
              </a:rPr>
              <a:t>de anúncio, com criativos semelhantes</a:t>
            </a:r>
            <a:r>
              <a:rPr sz="1250" b="1" dirty="0" smtClean="0">
                <a:solidFill>
                  <a:srgbClr val="094825"/>
                </a:solidFill>
                <a:latin typeface="Calibri"/>
              </a:rPr>
              <a:t>.</a:t>
            </a:r>
            <a:endParaRPr sz="1250" b="1" dirty="0">
              <a:solidFill>
                <a:srgbClr val="094825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105457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 dirty="0" err="1">
                <a:solidFill>
                  <a:srgbClr val="094825"/>
                </a:solidFill>
                <a:latin typeface="Calibri"/>
              </a:rPr>
              <a:t>Sugestão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a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validar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: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consolidar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 smtClean="0">
                <a:solidFill>
                  <a:srgbClr val="094825"/>
                </a:solidFill>
                <a:latin typeface="Calibri"/>
              </a:rPr>
              <a:t>oferta</a:t>
            </a:r>
            <a:r>
              <a:rPr lang="pt-BR" sz="1200" b="0" dirty="0" smtClean="0">
                <a:solidFill>
                  <a:srgbClr val="094825"/>
                </a:solidFill>
                <a:latin typeface="Calibri"/>
              </a:rPr>
              <a:t>s quinzenais</a:t>
            </a:r>
            <a:r>
              <a:rPr sz="1200" b="0" dirty="0" smtClean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 smtClean="0">
                <a:solidFill>
                  <a:srgbClr val="094825"/>
                </a:solidFill>
                <a:latin typeface="Calibri"/>
              </a:rPr>
              <a:t>por</a:t>
            </a:r>
            <a:r>
              <a:rPr sz="1200" b="0" dirty="0" smtClean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loja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em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um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formato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único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libera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verba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de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dois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grupos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de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campanha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concentra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o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criativo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no que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já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comprovou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conversão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, e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direciona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mais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verba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para o </a:t>
            </a:r>
            <a:r>
              <a:rPr sz="1200" b="0" dirty="0" smtClean="0">
                <a:solidFill>
                  <a:srgbClr val="094825"/>
                </a:solidFill>
                <a:latin typeface="Calibri"/>
              </a:rPr>
              <a:t>Site</a:t>
            </a:r>
            <a:r>
              <a:rPr lang="pt-BR" sz="1200" b="0" dirty="0" smtClean="0">
                <a:solidFill>
                  <a:srgbClr val="094825"/>
                </a:solidFill>
                <a:latin typeface="Calibri"/>
              </a:rPr>
              <a:t>, q</a:t>
            </a:r>
            <a:r>
              <a:rPr sz="1200" b="0" dirty="0" err="1" smtClean="0">
                <a:solidFill>
                  <a:srgbClr val="094825"/>
                </a:solidFill>
                <a:latin typeface="Calibri"/>
              </a:rPr>
              <a:t>ue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, com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rastreamento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fechado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gera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contato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mais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quente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e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não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depende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do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lojista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confirmar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a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venda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11094415" cy="1737360"/>
          </a:xfrm>
          <a:prstGeom prst="roundRect">
            <a:avLst>
              <a:gd name="adj" fmla="val 3500"/>
            </a:avLst>
          </a:prstGeom>
          <a:solidFill>
            <a:srgbClr val="094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1AA61"/>
                </a:solidFill>
                <a:latin typeface="Arial"/>
              </a:rPr>
              <a:t>Meta de 100 leads/mês: onde estamos de verdade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66944"/>
            <a:ext cx="105457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dirty="0">
                <a:solidFill>
                  <a:srgbClr val="FFFFFF"/>
                </a:solidFill>
                <a:latin typeface="Calibri"/>
              </a:rPr>
              <a:t>As 337 conversas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iniciadas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no WhatsApp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em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julho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são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um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bom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indicativo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intenção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smtClean="0">
                <a:solidFill>
                  <a:srgbClr val="FFFFFF"/>
                </a:solidFill>
                <a:latin typeface="Calibri"/>
              </a:rPr>
              <a:t>real</a:t>
            </a:r>
            <a:r>
              <a:rPr lang="pt-BR" sz="1200" b="0" dirty="0" smtClean="0">
                <a:solidFill>
                  <a:srgbClr val="FFFFFF"/>
                </a:solidFill>
                <a:latin typeface="Calibri"/>
              </a:rPr>
              <a:t>, </a:t>
            </a:r>
            <a:r>
              <a:rPr sz="1200" b="0" dirty="0" smtClean="0">
                <a:solidFill>
                  <a:srgbClr val="FFFFFF"/>
                </a:solidFill>
                <a:latin typeface="Calibri"/>
              </a:rPr>
              <a:t>mas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ainda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não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são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a </a:t>
            </a:r>
            <a:r>
              <a:rPr sz="1200" b="0" dirty="0" err="1">
                <a:solidFill>
                  <a:srgbClr val="FFFFFF"/>
                </a:solidFill>
                <a:latin typeface="Calibri"/>
              </a:rPr>
              <a:t>confirmação</a:t>
            </a:r>
            <a:r>
              <a:rPr sz="1200" b="0" dirty="0">
                <a:solidFill>
                  <a:srgbClr val="FFFFFF"/>
                </a:solidFill>
                <a:latin typeface="Calibri"/>
              </a:rPr>
              <a:t> final do lead.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545775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dirty="0">
                <a:solidFill>
                  <a:srgbClr val="9FB8A8"/>
                </a:solidFill>
                <a:latin typeface="Calibri"/>
              </a:rPr>
              <a:t>No site,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hoje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só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sabemos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quanto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custa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levar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alguém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até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a </a:t>
            </a:r>
            <a:r>
              <a:rPr sz="1150" b="0" dirty="0" err="1" smtClean="0">
                <a:solidFill>
                  <a:srgbClr val="9FB8A8"/>
                </a:solidFill>
                <a:latin typeface="Calibri"/>
              </a:rPr>
              <a:t>página</a:t>
            </a:r>
            <a:r>
              <a:rPr lang="pt-BR" sz="1150" dirty="0" smtClean="0">
                <a:solidFill>
                  <a:srgbClr val="9FB8A8"/>
                </a:solidFill>
                <a:latin typeface="Calibri"/>
              </a:rPr>
              <a:t>,</a:t>
            </a:r>
            <a:r>
              <a:rPr sz="1150" b="0" dirty="0" smtClean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não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quantos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viraram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contato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real. O pixel e as tags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estão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em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auditoria com a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Revenda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 smtClean="0">
                <a:solidFill>
                  <a:srgbClr val="9FB8A8"/>
                </a:solidFill>
                <a:latin typeface="Calibri"/>
              </a:rPr>
              <a:t>Mais</a:t>
            </a:r>
            <a:r>
              <a:rPr lang="pt-BR" sz="1150" b="0" dirty="0" smtClean="0">
                <a:solidFill>
                  <a:srgbClr val="9FB8A8"/>
                </a:solidFill>
                <a:latin typeface="Calibri"/>
              </a:rPr>
              <a:t> e responsável </a:t>
            </a:r>
            <a:r>
              <a:rPr sz="1150" b="0" dirty="0" smtClean="0">
                <a:solidFill>
                  <a:srgbClr val="9FB8A8"/>
                </a:solidFill>
                <a:latin typeface="Calibri"/>
              </a:rPr>
              <a:t>que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administra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nosso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domínio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: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esse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é o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ponto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que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precisa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ser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resolvido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em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 smtClean="0">
                <a:solidFill>
                  <a:srgbClr val="9FB8A8"/>
                </a:solidFill>
                <a:latin typeface="Calibri"/>
              </a:rPr>
              <a:t>definitivo</a:t>
            </a:r>
            <a:r>
              <a:rPr lang="pt-BR" sz="1150" b="0" dirty="0" smtClean="0">
                <a:solidFill>
                  <a:srgbClr val="9FB8A8"/>
                </a:solidFill>
                <a:latin typeface="Calibri"/>
              </a:rPr>
              <a:t>. Precisamos </a:t>
            </a:r>
            <a:r>
              <a:rPr sz="1150" b="0" dirty="0" err="1" smtClean="0">
                <a:solidFill>
                  <a:srgbClr val="9FB8A8"/>
                </a:solidFill>
                <a:latin typeface="Calibri"/>
              </a:rPr>
              <a:t>alinhar</a:t>
            </a:r>
            <a:r>
              <a:rPr sz="1150" b="0" dirty="0" smtClean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com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eles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o que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falta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e o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prazo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>
                <a:solidFill>
                  <a:srgbClr val="094825"/>
                </a:solidFill>
                <a:latin typeface="Arial"/>
              </a:rPr>
              <a:t>Onde a verba está sendo aplicada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A6670"/>
                </a:solidFill>
                <a:latin typeface="Calibri"/>
              </a:rPr>
              <a:t>Meta Ads · R$ 16.000/mês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00200"/>
          <a:ext cx="66751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600200"/>
            <a:ext cx="4023360" cy="274320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94825"/>
                </a:solidFill>
                <a:latin typeface="Arial"/>
              </a:rPr>
              <a:t>Reconhecimento por região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1945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Curitiba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219456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94825"/>
                </a:solidFill>
                <a:latin typeface="Calibri"/>
              </a:rPr>
              <a:t>R$ 12/dia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56032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São Paulo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256032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94825"/>
                </a:solidFill>
                <a:latin typeface="Calibri"/>
              </a:rPr>
              <a:t>R$ 10/dia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9260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Santa Catarina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9260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94825"/>
                </a:solidFill>
                <a:latin typeface="Calibri"/>
              </a:rPr>
              <a:t>R$ 10/dia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29184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Oeste do Paraná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29184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94825"/>
                </a:solidFill>
                <a:latin typeface="Calibri"/>
              </a:rPr>
              <a:t>R$ 10/dia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6576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Interior do Paraná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65760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94825"/>
                </a:solidFill>
                <a:latin typeface="Calibri"/>
              </a:rPr>
              <a:t>R$ 10/dia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17720"/>
            <a:ext cx="3931920" cy="1737360"/>
          </a:xfrm>
          <a:prstGeom prst="roundRect">
            <a:avLst>
              <a:gd name="adj" fmla="val 3500"/>
            </a:avLst>
          </a:prstGeom>
          <a:solidFill>
            <a:srgbClr val="FB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773168"/>
            <a:ext cx="3383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C0392B"/>
                </a:solidFill>
                <a:latin typeface="Arial"/>
              </a:rPr>
              <a:t>R$ 1.200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6B4A47"/>
                </a:solidFill>
                <a:latin typeface="Calibri"/>
              </a:rPr>
              <a:t>por mês investidos em reconhecimento fora de Curitiba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6B4A47"/>
                </a:solidFill>
                <a:latin typeface="Calibri"/>
              </a:rPr>
              <a:t>mesmo com julho projetando estourar a verba (~R$ 18.500 contra R$ 16.000)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4617720"/>
            <a:ext cx="6858000" cy="1737360"/>
          </a:xfrm>
          <a:prstGeom prst="roundRect">
            <a:avLst>
              <a:gd name="adj" fmla="val 35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4773168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1AA61"/>
                </a:solidFill>
                <a:latin typeface="Arial"/>
              </a:rPr>
              <a:t>O que o formulário mostrou até agora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5120640"/>
            <a:ext cx="6309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dirty="0">
                <a:solidFill>
                  <a:srgbClr val="094825"/>
                </a:solidFill>
                <a:latin typeface="Calibri"/>
              </a:rPr>
              <a:t>Uma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loja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registrou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contato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vindo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da Bahia. O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motivo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de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não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fechar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: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morava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longe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demais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. A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sugestão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é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reforçar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a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segmentação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geográfica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dentro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da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praça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 real de </a:t>
            </a:r>
            <a:r>
              <a:rPr sz="1200" b="0" dirty="0" err="1">
                <a:solidFill>
                  <a:srgbClr val="094825"/>
                </a:solidFill>
                <a:latin typeface="Calibri"/>
              </a:rPr>
              <a:t>venda</a:t>
            </a:r>
            <a:r>
              <a:rPr sz="1200" b="0" dirty="0">
                <a:solidFill>
                  <a:srgbClr val="09482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>
                <a:solidFill>
                  <a:srgbClr val="094825"/>
                </a:solidFill>
                <a:latin typeface="Arial"/>
              </a:rPr>
              <a:t>Por que antes tudo “rodava”, e agora não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A6670"/>
                </a:solidFill>
                <a:latin typeface="Calibri"/>
              </a:rPr>
              <a:t>A diferença não é a verba. É o que a verba está comprando.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120640" cy="228600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5A6670"/>
                </a:solidFill>
                <a:latin typeface="Arial"/>
              </a:rPr>
              <a:t>O QUE COMPRÁVAMOS 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A5560"/>
                </a:solidFill>
                <a:latin typeface="Calibri"/>
              </a:rPr>
              <a:t>Clique no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05740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A6670"/>
                </a:solidFill>
                <a:latin typeface="Calibri"/>
              </a:rPr>
              <a:t>R$ 0,15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4144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A5560"/>
                </a:solidFill>
                <a:latin typeface="Calibri"/>
              </a:rPr>
              <a:t>Visita ao perfil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44144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A6670"/>
                </a:solidFill>
                <a:latin typeface="Calibri"/>
              </a:rPr>
              <a:t>R$ 0,15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25496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4A5560"/>
                </a:solidFill>
                <a:latin typeface="Calibri"/>
              </a:rPr>
              <a:t>Visualização de página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825496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5A6670"/>
                </a:solidFill>
                <a:latin typeface="Calibri"/>
              </a:rPr>
              <a:t>R$ 0,37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Com R$ 10 por dia: 66 cliques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5120640" cy="2286000"/>
          </a:xfrm>
          <a:prstGeom prst="roundRect">
            <a:avLst>
              <a:gd name="adj" fmla="val 35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1AA61"/>
                </a:solidFill>
                <a:latin typeface="Arial"/>
              </a:rPr>
              <a:t>O QUE COMPRAMOS AGORA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94825"/>
                </a:solidFill>
                <a:latin typeface="Calibri"/>
              </a:rPr>
              <a:t>Conversa no 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01168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94825"/>
                </a:solidFill>
                <a:latin typeface="Arial"/>
              </a:rPr>
              <a:t>R$ 17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0604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094825"/>
                </a:solidFill>
                <a:latin typeface="Calibri"/>
              </a:rPr>
              <a:t>Contato comercial de verdade, com o cliente falando diretamente com a loja.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83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1AA61"/>
                </a:solidFill>
                <a:latin typeface="Calibri"/>
              </a:rPr>
              <a:t>Com R$ 10 por dia: meia conversa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11094415" cy="1234440"/>
          </a:xfrm>
          <a:prstGeom prst="roundRect">
            <a:avLst>
              <a:gd name="adj" fmla="val 35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1054577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dirty="0">
                <a:solidFill>
                  <a:srgbClr val="B7791F"/>
                </a:solidFill>
                <a:latin typeface="Arial"/>
              </a:rPr>
              <a:t>Uma conversa </a:t>
            </a:r>
            <a:r>
              <a:rPr sz="1600" b="1" dirty="0" err="1">
                <a:solidFill>
                  <a:srgbClr val="B7791F"/>
                </a:solidFill>
                <a:latin typeface="Arial"/>
              </a:rPr>
              <a:t>custa</a:t>
            </a:r>
            <a:r>
              <a:rPr sz="1600" b="1" dirty="0">
                <a:solidFill>
                  <a:srgbClr val="B7791F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B7791F"/>
                </a:solidFill>
                <a:latin typeface="Arial"/>
              </a:rPr>
              <a:t>mais</a:t>
            </a:r>
            <a:r>
              <a:rPr sz="1600" b="1" dirty="0">
                <a:solidFill>
                  <a:srgbClr val="B7791F"/>
                </a:solidFill>
                <a:latin typeface="Arial"/>
              </a:rPr>
              <a:t> de 100 </a:t>
            </a:r>
            <a:r>
              <a:rPr sz="1600" b="1" dirty="0" err="1">
                <a:solidFill>
                  <a:srgbClr val="B7791F"/>
                </a:solidFill>
                <a:latin typeface="Arial"/>
              </a:rPr>
              <a:t>vezes</a:t>
            </a:r>
            <a:r>
              <a:rPr sz="1600" b="1" dirty="0">
                <a:solidFill>
                  <a:srgbClr val="B7791F"/>
                </a:solidFill>
                <a:latin typeface="Arial"/>
              </a:rPr>
              <a:t> o </a:t>
            </a:r>
            <a:r>
              <a:rPr sz="1600" b="1" dirty="0" err="1">
                <a:solidFill>
                  <a:srgbClr val="B7791F"/>
                </a:solidFill>
                <a:latin typeface="Arial"/>
              </a:rPr>
              <a:t>preço</a:t>
            </a:r>
            <a:r>
              <a:rPr sz="1600" b="1" dirty="0">
                <a:solidFill>
                  <a:srgbClr val="B7791F"/>
                </a:solidFill>
                <a:latin typeface="Arial"/>
              </a:rPr>
              <a:t> de um clique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72000"/>
            <a:ext cx="1054577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dirty="0">
                <a:solidFill>
                  <a:srgbClr val="6B5A2E"/>
                </a:solidFill>
                <a:latin typeface="Calibri"/>
              </a:rPr>
              <a:t>As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campanhas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antigas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 de WhatsApp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estavam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configuradas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 para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gerar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 cliques (para IG),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não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 conversas.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Por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isso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pareciam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mais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50" b="0" dirty="0" err="1" smtClean="0">
                <a:solidFill>
                  <a:srgbClr val="6B5A2E"/>
                </a:solidFill>
                <a:latin typeface="Calibri"/>
              </a:rPr>
              <a:t>baratas</a:t>
            </a:r>
            <a:r>
              <a:rPr lang="pt-BR" sz="1250" b="0" dirty="0" smtClean="0">
                <a:solidFill>
                  <a:srgbClr val="6B5A2E"/>
                </a:solidFill>
                <a:latin typeface="Calibri"/>
              </a:rPr>
              <a:t>, </a:t>
            </a:r>
            <a:r>
              <a:rPr sz="1250" b="0" dirty="0" smtClean="0">
                <a:solidFill>
                  <a:srgbClr val="6B5A2E"/>
                </a:solidFill>
                <a:latin typeface="Calibri"/>
              </a:rPr>
              <a:t>mas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mediam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 a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coisa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6B5A2E"/>
                </a:solidFill>
                <a:latin typeface="Calibri"/>
              </a:rPr>
              <a:t>errada</a:t>
            </a:r>
            <a:r>
              <a:rPr sz="1250" b="0" dirty="0">
                <a:solidFill>
                  <a:srgbClr val="6B5A2E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40680"/>
            <a:ext cx="11094415" cy="1097280"/>
          </a:xfrm>
          <a:prstGeom prst="roundRect">
            <a:avLst>
              <a:gd name="adj" fmla="val 3500"/>
            </a:avLst>
          </a:prstGeom>
          <a:solidFill>
            <a:srgbClr val="094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559552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Trocamos volume por qualidade. E qualidade custa mais.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97880"/>
            <a:ext cx="1054577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dirty="0" err="1">
                <a:solidFill>
                  <a:srgbClr val="9FB8A8"/>
                </a:solidFill>
                <a:latin typeface="Calibri"/>
              </a:rPr>
              <a:t>Os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números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ficaram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menores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porque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paramos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de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contar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clique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como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resultado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.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Em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compensação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, </a:t>
            </a:r>
            <a:r>
              <a:rPr lang="pt-BR" sz="1200" b="0" dirty="0" smtClean="0">
                <a:solidFill>
                  <a:srgbClr val="9FB8A8"/>
                </a:solidFill>
                <a:latin typeface="Calibri"/>
              </a:rPr>
              <a:t>337 </a:t>
            </a:r>
            <a:r>
              <a:rPr sz="1200" b="0" dirty="0" err="1" smtClean="0">
                <a:solidFill>
                  <a:srgbClr val="9FB8A8"/>
                </a:solidFill>
                <a:latin typeface="Calibri"/>
              </a:rPr>
              <a:t>pessoas</a:t>
            </a:r>
            <a:r>
              <a:rPr sz="1200" b="0" dirty="0" smtClean="0">
                <a:solidFill>
                  <a:srgbClr val="9FB8A8"/>
                </a:solidFill>
                <a:latin typeface="Calibri"/>
              </a:rPr>
              <a:t> 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de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verdade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tiveram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uma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conversa </a:t>
            </a:r>
            <a:r>
              <a:rPr sz="1200" b="0" dirty="0" err="1">
                <a:solidFill>
                  <a:srgbClr val="9FB8A8"/>
                </a:solidFill>
                <a:latin typeface="Calibri"/>
              </a:rPr>
              <a:t>comercial</a:t>
            </a:r>
            <a:r>
              <a:rPr sz="1200" b="0" dirty="0">
                <a:solidFill>
                  <a:srgbClr val="9FB8A8"/>
                </a:solidFill>
                <a:latin typeface="Calibri"/>
              </a:rPr>
              <a:t> real com a </a:t>
            </a:r>
            <a:r>
              <a:rPr sz="1200" b="0" dirty="0" err="1" smtClean="0">
                <a:solidFill>
                  <a:srgbClr val="9FB8A8"/>
                </a:solidFill>
                <a:latin typeface="Calibri"/>
              </a:rPr>
              <a:t>loja</a:t>
            </a:r>
            <a:r>
              <a:rPr lang="pt-BR" sz="1200" dirty="0" smtClean="0">
                <a:solidFill>
                  <a:srgbClr val="9FB8A8"/>
                </a:solidFill>
                <a:latin typeface="Calibri"/>
              </a:rPr>
              <a:t>, sem contabilizar os cliques em anúncios direcionando para o site que até o momento não podemos traquear.</a:t>
            </a:r>
            <a:endParaRPr sz="1200" b="0" dirty="0">
              <a:solidFill>
                <a:srgbClr val="9FB8A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>
                <a:solidFill>
                  <a:srgbClr val="094825"/>
                </a:solidFill>
                <a:latin typeface="Arial"/>
              </a:rPr>
              <a:t>Google Ads: o que já ajustamos, e o que segue prioridade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11094415" cy="1234440"/>
          </a:xfrm>
          <a:prstGeom prst="roundRect">
            <a:avLst>
              <a:gd name="adj" fmla="val 35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1AA61"/>
                </a:solidFill>
                <a:latin typeface="Arial"/>
              </a:rPr>
              <a:t>O que já foi ajustado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094825"/>
                </a:solidFill>
                <a:latin typeface="Calibri"/>
              </a:rPr>
              <a:t>Rebaixamos a conversão de navegação (194 mil eventos) para secundária e cadastramos um evento real de conversa gerada no site. A conta não está mais otimizando para o sinal errado.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80360"/>
            <a:ext cx="457200" cy="457200"/>
          </a:xfrm>
          <a:prstGeom prst="roundRect">
            <a:avLst>
              <a:gd name="adj" fmla="val 3500"/>
            </a:avLst>
          </a:prstGeom>
          <a:solidFill>
            <a:srgbClr val="21A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52928"/>
            <a:ext cx="104086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94825"/>
                </a:solidFill>
                <a:latin typeface="Calibri"/>
              </a:rPr>
              <a:t>Conversões corrigidas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72968"/>
            <a:ext cx="104086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Feito: sinal de navegação rebaixado, evento de conversa real cadastrado.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40"/>
            <a:ext cx="457200" cy="457200"/>
          </a:xfrm>
          <a:prstGeom prst="roundRect">
            <a:avLst>
              <a:gd name="adj" fmla="val 3500"/>
            </a:avLst>
          </a:prstGeom>
          <a:solidFill>
            <a:srgbClr val="21A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721608"/>
            <a:ext cx="104086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94825"/>
                </a:solidFill>
                <a:latin typeface="Calibri"/>
              </a:rPr>
              <a:t>Reestruturar por intenção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041648"/>
            <a:ext cx="104086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Campanhas separadas por tipo de busca: modelo, categoria e financiamento.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457200" cy="457200"/>
          </a:xfrm>
          <a:prstGeom prst="roundRect">
            <a:avLst>
              <a:gd name="adj" fmla="val 3500"/>
            </a:avLst>
          </a:prstGeom>
          <a:solidFill>
            <a:srgbClr val="21A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590288"/>
            <a:ext cx="1040861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94825"/>
                </a:solidFill>
                <a:latin typeface="Calibri"/>
              </a:rPr>
              <a:t>Destinos corretos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910328"/>
            <a:ext cx="104086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670"/>
                </a:solidFill>
                <a:latin typeface="Calibri"/>
              </a:rPr>
              <a:t>Todo clique cai na página do veículo ou no catálogo filtrado.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77840"/>
            <a:ext cx="11094415" cy="960120"/>
          </a:xfrm>
          <a:prstGeom prst="roundRect">
            <a:avLst>
              <a:gd name="adj" fmla="val 3500"/>
            </a:avLst>
          </a:prstGeom>
          <a:solidFill>
            <a:srgbClr val="094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968466"/>
            <a:ext cx="1054577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dirty="0">
                <a:solidFill>
                  <a:srgbClr val="FFFFFF"/>
                </a:solidFill>
                <a:latin typeface="Calibri"/>
              </a:rPr>
              <a:t>O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número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conversões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antigo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vai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continuar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 smtClean="0">
                <a:solidFill>
                  <a:srgbClr val="FFFFFF"/>
                </a:solidFill>
                <a:latin typeface="Calibri"/>
              </a:rPr>
              <a:t>caindo</a:t>
            </a:r>
            <a:r>
              <a:rPr lang="pt-BR" sz="1400" b="1" dirty="0" smtClean="0">
                <a:solidFill>
                  <a:srgbClr val="FFFFFF"/>
                </a:solidFill>
                <a:latin typeface="Calibri"/>
              </a:rPr>
              <a:t>, </a:t>
            </a:r>
            <a:r>
              <a:rPr sz="1400" b="1" dirty="0" smtClean="0">
                <a:solidFill>
                  <a:srgbClr val="FFFFFF"/>
                </a:solidFill>
                <a:latin typeface="Calibri"/>
              </a:rPr>
              <a:t>é</a:t>
            </a:r>
            <a:r>
              <a:rPr lang="pt-BR" sz="1400" b="1" dirty="0" smtClean="0">
                <a:solidFill>
                  <a:srgbClr val="FFFFFF"/>
                </a:solidFill>
                <a:latin typeface="Calibri"/>
              </a:rPr>
              <a:t> ótimo </a:t>
            </a:r>
            <a:r>
              <a:rPr sz="1400" b="1" dirty="0" err="1" smtClean="0">
                <a:solidFill>
                  <a:srgbClr val="FFFFFF"/>
                </a:solidFill>
                <a:latin typeface="Calibri"/>
              </a:rPr>
              <a:t>sinal</a:t>
            </a:r>
            <a:r>
              <a:rPr sz="1400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de que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passamos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a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medir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certo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. A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prioridade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agosto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é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lançar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o 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8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Agosto: o plano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1094415" cy="841248"/>
          </a:xfrm>
          <a:prstGeom prst="roundRect">
            <a:avLst>
              <a:gd name="adj" fmla="val 3500"/>
            </a:avLst>
          </a:prstGeom>
          <a:solidFill>
            <a:srgbClr val="0D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4672" y="1426464"/>
            <a:ext cx="457200" cy="457200"/>
          </a:xfrm>
          <a:prstGeom prst="roundRect">
            <a:avLst>
              <a:gd name="adj" fmla="val 3500"/>
            </a:avLst>
          </a:prstGeom>
          <a:solidFill>
            <a:srgbClr val="21A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4264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344168"/>
            <a:ext cx="97685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Lançar o Search no Google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91640"/>
            <a:ext cx="9768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9FB8A8"/>
                </a:solidFill>
                <a:latin typeface="Calibri"/>
              </a:rPr>
              <a:t>Estrutura aprovada, meta de subida ainda em julho / início de agosto.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85416"/>
            <a:ext cx="11094415" cy="841248"/>
          </a:xfrm>
          <a:prstGeom prst="roundRect">
            <a:avLst>
              <a:gd name="adj" fmla="val 3500"/>
            </a:avLst>
          </a:prstGeom>
          <a:solidFill>
            <a:srgbClr val="0D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" y="2377440"/>
            <a:ext cx="457200" cy="457200"/>
          </a:xfrm>
          <a:prstGeom prst="roundRect">
            <a:avLst>
              <a:gd name="adj" fmla="val 3500"/>
            </a:avLst>
          </a:prstGeom>
          <a:solidFill>
            <a:srgbClr val="21A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2377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95144"/>
            <a:ext cx="97685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Resolver o pagamento Meta em definitivo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42616"/>
            <a:ext cx="9768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9FB8A8"/>
                </a:solidFill>
                <a:latin typeface="Calibri"/>
              </a:rPr>
              <a:t>Cadastrar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cartão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de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crédito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, para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não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repetir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o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bloqueio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de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boleto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/Pix.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36392"/>
            <a:ext cx="11094415" cy="841248"/>
          </a:xfrm>
          <a:prstGeom prst="roundRect">
            <a:avLst>
              <a:gd name="adj" fmla="val 3500"/>
            </a:avLst>
          </a:prstGeom>
          <a:solidFill>
            <a:srgbClr val="0D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" y="3328416"/>
            <a:ext cx="457200" cy="457200"/>
          </a:xfrm>
          <a:prstGeom prst="roundRect">
            <a:avLst>
              <a:gd name="adj" fmla="val 3500"/>
            </a:avLst>
          </a:prstGeom>
          <a:solidFill>
            <a:srgbClr val="21A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3284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46120"/>
            <a:ext cx="97685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Apoiar as lojas no formulário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93592"/>
            <a:ext cx="9768535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pt-BR" sz="1150" b="0" dirty="0" smtClean="0">
                <a:solidFill>
                  <a:srgbClr val="9FB8A8"/>
                </a:solidFill>
                <a:latin typeface="Calibri"/>
              </a:rPr>
              <a:t>Nova v</a:t>
            </a:r>
            <a:r>
              <a:rPr sz="1150" b="0" dirty="0" err="1" smtClean="0">
                <a:solidFill>
                  <a:srgbClr val="9FB8A8"/>
                </a:solidFill>
                <a:latin typeface="Calibri"/>
              </a:rPr>
              <a:t>isita</a:t>
            </a:r>
            <a:r>
              <a:rPr sz="1150" b="0" dirty="0" smtClean="0">
                <a:solidFill>
                  <a:srgbClr val="9FB8A8"/>
                </a:solidFill>
                <a:latin typeface="Calibri"/>
              </a:rPr>
              <a:t> </a:t>
            </a:r>
            <a:r>
              <a:rPr lang="pt-BR" sz="1150" b="0" dirty="0" smtClean="0">
                <a:solidFill>
                  <a:srgbClr val="9FB8A8"/>
                </a:solidFill>
                <a:latin typeface="Calibri"/>
              </a:rPr>
              <a:t>às lojas</a:t>
            </a:r>
            <a:r>
              <a:rPr sz="1150" b="0" dirty="0" smtClean="0">
                <a:solidFill>
                  <a:srgbClr val="9FB8A8"/>
                </a:solidFill>
                <a:latin typeface="Calibri"/>
              </a:rPr>
              <a:t> 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para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ensinar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a </a:t>
            </a:r>
            <a:r>
              <a:rPr sz="1150" b="0" dirty="0" err="1">
                <a:solidFill>
                  <a:srgbClr val="9FB8A8"/>
                </a:solidFill>
                <a:latin typeface="Calibri"/>
              </a:rPr>
              <a:t>identificar</a:t>
            </a:r>
            <a:r>
              <a:rPr sz="1150" b="0" dirty="0">
                <a:solidFill>
                  <a:srgbClr val="9FB8A8"/>
                </a:solidFill>
                <a:latin typeface="Calibri"/>
              </a:rPr>
              <a:t> a </a:t>
            </a:r>
            <a:r>
              <a:rPr sz="1150" b="0" dirty="0" err="1" smtClean="0">
                <a:solidFill>
                  <a:srgbClr val="9FB8A8"/>
                </a:solidFill>
                <a:latin typeface="Calibri"/>
              </a:rPr>
              <a:t>origem</a:t>
            </a:r>
            <a:r>
              <a:rPr lang="pt-BR" sz="1150" dirty="0" smtClean="0">
                <a:solidFill>
                  <a:srgbClr val="9FB8A8"/>
                </a:solidFill>
                <a:latin typeface="Calibri"/>
              </a:rPr>
              <a:t>. Caso permaneça baixa adesão, sugiro trabalhar apenas com quem participa para não queimar verba.</a:t>
            </a:r>
            <a:endParaRPr sz="1150" b="0" dirty="0">
              <a:solidFill>
                <a:srgbClr val="9FB8A8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4087368"/>
            <a:ext cx="11094415" cy="841248"/>
          </a:xfrm>
          <a:prstGeom prst="roundRect">
            <a:avLst>
              <a:gd name="adj" fmla="val 3500"/>
            </a:avLst>
          </a:prstGeom>
          <a:solidFill>
            <a:srgbClr val="0D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4279392"/>
            <a:ext cx="457200" cy="457200"/>
          </a:xfrm>
          <a:prstGeom prst="roundRect">
            <a:avLst>
              <a:gd name="adj" fmla="val 3500"/>
            </a:avLst>
          </a:prstGeom>
          <a:solidFill>
            <a:srgbClr val="21A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2793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97096"/>
            <a:ext cx="976853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Completar o ciclo do rodízio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544568"/>
            <a:ext cx="976853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9FB8A8"/>
                </a:solidFill>
                <a:latin typeface="Calibri"/>
              </a:rPr>
              <a:t>Passar pelas 23 lojas para comparar resultado com base real.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11496"/>
            <a:ext cx="11094415" cy="1143000"/>
          </a:xfrm>
          <a:prstGeom prst="roundRect">
            <a:avLst>
              <a:gd name="adj" fmla="val 3500"/>
            </a:avLst>
          </a:prstGeom>
          <a:solidFill>
            <a:srgbClr val="21A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4672" y="5454396"/>
            <a:ext cx="457200" cy="4572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54543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21AA61"/>
                </a:solidFill>
                <a:latin typeface="Arial"/>
              </a:rP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221224"/>
            <a:ext cx="976853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dirty="0">
                <a:solidFill>
                  <a:srgbClr val="FFFFFF"/>
                </a:solidFill>
                <a:latin typeface="Calibri"/>
              </a:rPr>
              <a:t>SUGESTÃO </a:t>
            </a:r>
            <a:r>
              <a:rPr sz="1500" b="1" dirty="0" smtClean="0">
                <a:solidFill>
                  <a:srgbClr val="FFFFFF"/>
                </a:solidFill>
                <a:latin typeface="Calibri"/>
              </a:rPr>
              <a:t>FORTE</a:t>
            </a:r>
            <a:r>
              <a:rPr lang="pt-BR" sz="1500" b="1" dirty="0" smtClean="0">
                <a:solidFill>
                  <a:srgbClr val="FFFFFF"/>
                </a:solidFill>
                <a:latin typeface="Calibri"/>
              </a:rPr>
              <a:t>:</a:t>
            </a:r>
            <a:r>
              <a:rPr sz="1500" b="1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Consolidar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lojistas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+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ofertas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5550408"/>
            <a:ext cx="9768535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Duas quinzenas já mostram que institucional isolado por loja não é o caminho mais eficiente. Unir oferta e institucional libera verba de 2 grupos e reforça o Site rastreado. Vamos validar esse caminho com vocês.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300" b="1">
                <a:solidFill>
                  <a:srgbClr val="094825"/>
                </a:solidFill>
                <a:latin typeface="Arial"/>
              </a:rPr>
              <a:t>Planejamento até o fim do 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A6670"/>
                </a:solidFill>
                <a:latin typeface="Calibri"/>
              </a:rPr>
              <a:t>Estamos organizando o semestre com antecedência, não mais reagindo.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11094415" cy="1371600"/>
          </a:xfrm>
          <a:prstGeom prst="roundRect">
            <a:avLst>
              <a:gd name="adj" fmla="val 35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55648"/>
            <a:ext cx="105457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pt-BR" sz="1600" b="1" dirty="0" smtClean="0">
                <a:solidFill>
                  <a:srgbClr val="21AA61"/>
                </a:solidFill>
                <a:latin typeface="Arial"/>
              </a:rPr>
              <a:t>Período da </a:t>
            </a:r>
            <a:r>
              <a:rPr sz="1600" b="1" dirty="0" smtClean="0">
                <a:solidFill>
                  <a:srgbClr val="21AA61"/>
                </a:solidFill>
                <a:latin typeface="Arial"/>
              </a:rPr>
              <a:t>Black Friday</a:t>
            </a:r>
            <a:r>
              <a:rPr lang="pt-BR" sz="1600" b="1" dirty="0" smtClean="0">
                <a:solidFill>
                  <a:srgbClr val="21AA61"/>
                </a:solidFill>
                <a:latin typeface="Arial"/>
              </a:rPr>
              <a:t> até Natal</a:t>
            </a:r>
            <a:r>
              <a:rPr sz="1600" b="1" dirty="0" smtClean="0">
                <a:solidFill>
                  <a:srgbClr val="21AA61"/>
                </a:solidFill>
                <a:latin typeface="Arial"/>
              </a:rPr>
              <a:t> </a:t>
            </a:r>
            <a:r>
              <a:rPr sz="1600" b="1" dirty="0">
                <a:solidFill>
                  <a:srgbClr val="21AA61"/>
                </a:solidFill>
                <a:latin typeface="Arial"/>
              </a:rPr>
              <a:t>é a </a:t>
            </a:r>
            <a:r>
              <a:rPr sz="1600" b="1" dirty="0" err="1">
                <a:solidFill>
                  <a:srgbClr val="21AA61"/>
                </a:solidFill>
                <a:latin typeface="Arial"/>
              </a:rPr>
              <a:t>prioridade</a:t>
            </a:r>
            <a:r>
              <a:rPr sz="1600" b="1" dirty="0">
                <a:solidFill>
                  <a:srgbClr val="21AA61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21AA61"/>
                </a:solidFill>
                <a:latin typeface="Arial"/>
              </a:rPr>
              <a:t>máxima</a:t>
            </a:r>
            <a:r>
              <a:rPr sz="1600" b="1" dirty="0">
                <a:solidFill>
                  <a:srgbClr val="21AA61"/>
                </a:solidFill>
                <a:latin typeface="Arial"/>
              </a:rPr>
              <a:t> do 2º </a:t>
            </a:r>
            <a:r>
              <a:rPr sz="1600" b="1" dirty="0" err="1">
                <a:solidFill>
                  <a:srgbClr val="21AA61"/>
                </a:solidFill>
                <a:latin typeface="Arial"/>
              </a:rPr>
              <a:t>semestre</a:t>
            </a:r>
            <a:endParaRPr sz="1600" b="1" dirty="0">
              <a:solidFill>
                <a:srgbClr val="21AA61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45775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dirty="0">
                <a:solidFill>
                  <a:srgbClr val="094825"/>
                </a:solidFill>
                <a:latin typeface="Calibri"/>
              </a:rPr>
              <a:t>É a data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mais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importante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do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ano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para o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tráfego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pago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.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Já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estamos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nos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preparando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para que a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campanha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esteja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pronta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 smtClean="0">
                <a:solidFill>
                  <a:srgbClr val="094825"/>
                </a:solidFill>
                <a:latin typeface="Calibri"/>
              </a:rPr>
              <a:t>desde</a:t>
            </a:r>
            <a:r>
              <a:rPr sz="1300" b="0" dirty="0" smtClean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o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início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de </a:t>
            </a:r>
            <a:r>
              <a:rPr sz="1300" b="0" dirty="0" err="1" smtClean="0">
                <a:solidFill>
                  <a:srgbClr val="094825"/>
                </a:solidFill>
                <a:latin typeface="Calibri"/>
              </a:rPr>
              <a:t>novembro</a:t>
            </a:r>
            <a:r>
              <a:rPr sz="1300" b="0" dirty="0" smtClean="0">
                <a:solidFill>
                  <a:srgbClr val="094825"/>
                </a:solidFill>
                <a:latin typeface="Calibri"/>
              </a:rPr>
              <a:t>. 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O Natal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também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está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no radar, com </a:t>
            </a:r>
            <a:r>
              <a:rPr sz="1300" b="0" dirty="0" err="1">
                <a:solidFill>
                  <a:srgbClr val="094825"/>
                </a:solidFill>
                <a:latin typeface="Calibri"/>
              </a:rPr>
              <a:t>preparação</a:t>
            </a:r>
            <a:r>
              <a:rPr sz="1300" b="0" dirty="0">
                <a:solidFill>
                  <a:srgbClr val="094825"/>
                </a:solidFill>
                <a:latin typeface="Calibri"/>
              </a:rPr>
              <a:t> </a:t>
            </a:r>
            <a:r>
              <a:rPr sz="1300" b="0" dirty="0" err="1" smtClean="0">
                <a:solidFill>
                  <a:srgbClr val="094825"/>
                </a:solidFill>
                <a:latin typeface="Calibri"/>
              </a:rPr>
              <a:t>antecipada</a:t>
            </a:r>
            <a:r>
              <a:rPr lang="pt-BR" sz="1300" dirty="0" smtClean="0">
                <a:solidFill>
                  <a:srgbClr val="094825"/>
                </a:solidFill>
                <a:latin typeface="Calibri"/>
              </a:rPr>
              <a:t>, ofertas de IPVA grátis e antecipação de Janeiro.</a:t>
            </a:r>
            <a:endParaRPr sz="1300" b="0" dirty="0">
              <a:solidFill>
                <a:srgbClr val="094825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11094415" cy="1965960"/>
          </a:xfrm>
          <a:prstGeom prst="roundRect">
            <a:avLst>
              <a:gd name="adj" fmla="val 3500"/>
            </a:avLst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45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dirty="0" err="1">
                <a:solidFill>
                  <a:srgbClr val="094825"/>
                </a:solidFill>
                <a:latin typeface="Arial"/>
              </a:rPr>
              <a:t>Objetivo</a:t>
            </a:r>
            <a:r>
              <a:rPr sz="1500" b="1" dirty="0">
                <a:solidFill>
                  <a:srgbClr val="094825"/>
                </a:solidFill>
                <a:latin typeface="Arial"/>
              </a:rPr>
              <a:t> do </a:t>
            </a:r>
            <a:r>
              <a:rPr sz="1500" b="1" dirty="0" err="1">
                <a:solidFill>
                  <a:srgbClr val="094825"/>
                </a:solidFill>
                <a:latin typeface="Arial"/>
              </a:rPr>
              <a:t>semestre</a:t>
            </a:r>
            <a:r>
              <a:rPr sz="1500" b="1" dirty="0">
                <a:solidFill>
                  <a:srgbClr val="094825"/>
                </a:solidFill>
                <a:latin typeface="Arial"/>
              </a:rPr>
              <a:t> </a:t>
            </a:r>
            <a:r>
              <a:rPr sz="1500" b="1" dirty="0" smtClean="0">
                <a:solidFill>
                  <a:srgbClr val="094825"/>
                </a:solidFill>
                <a:latin typeface="Arial"/>
              </a:rPr>
              <a:t>(</a:t>
            </a:r>
            <a:r>
              <a:rPr lang="pt-BR" sz="1500" b="1" dirty="0" err="1" smtClean="0">
                <a:solidFill>
                  <a:srgbClr val="094825"/>
                </a:solidFill>
                <a:latin typeface="Arial"/>
              </a:rPr>
              <a:t>ago</a:t>
            </a:r>
            <a:r>
              <a:rPr sz="1500" b="1" dirty="0" smtClean="0">
                <a:solidFill>
                  <a:srgbClr val="094825"/>
                </a:solidFill>
                <a:latin typeface="Arial"/>
              </a:rPr>
              <a:t>–</a:t>
            </a:r>
            <a:r>
              <a:rPr sz="1500" b="1" dirty="0" err="1" smtClean="0">
                <a:solidFill>
                  <a:srgbClr val="094825"/>
                </a:solidFill>
                <a:latin typeface="Arial"/>
              </a:rPr>
              <a:t>dez</a:t>
            </a:r>
            <a:r>
              <a:rPr sz="1500" b="1" dirty="0">
                <a:solidFill>
                  <a:srgbClr val="094825"/>
                </a:solidFill>
                <a:latin typeface="Arial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45775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0" dirty="0">
                <a:solidFill>
                  <a:srgbClr val="4A5560"/>
                </a:solidFill>
                <a:latin typeface="Calibri"/>
              </a:rPr>
              <a:t>•  </a:t>
            </a:r>
            <a:r>
              <a:rPr sz="1300" b="0" dirty="0" err="1">
                <a:solidFill>
                  <a:srgbClr val="4A5560"/>
                </a:solidFill>
                <a:latin typeface="Calibri"/>
              </a:rPr>
              <a:t>Rastreamento</a:t>
            </a:r>
            <a:r>
              <a:rPr sz="13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A5560"/>
                </a:solidFill>
                <a:latin typeface="Calibri"/>
              </a:rPr>
              <a:t>auditado</a:t>
            </a:r>
            <a:r>
              <a:rPr sz="13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A5560"/>
                </a:solidFill>
                <a:latin typeface="Calibri"/>
              </a:rPr>
              <a:t>em</a:t>
            </a:r>
            <a:r>
              <a:rPr sz="13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A5560"/>
                </a:solidFill>
                <a:latin typeface="Calibri"/>
              </a:rPr>
              <a:t>toda</a:t>
            </a:r>
            <a:r>
              <a:rPr sz="1300" b="0" dirty="0">
                <a:solidFill>
                  <a:srgbClr val="4A5560"/>
                </a:solidFill>
                <a:latin typeface="Calibri"/>
              </a:rPr>
              <a:t> a </a:t>
            </a:r>
            <a:r>
              <a:rPr sz="1300" b="0" dirty="0" err="1">
                <a:solidFill>
                  <a:srgbClr val="4A5560"/>
                </a:solidFill>
                <a:latin typeface="Calibri"/>
              </a:rPr>
              <a:t>conta</a:t>
            </a:r>
            <a:endParaRPr sz="1300" b="0" dirty="0">
              <a:solidFill>
                <a:srgbClr val="4A5560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 b="0" dirty="0">
                <a:solidFill>
                  <a:srgbClr val="4A5560"/>
                </a:solidFill>
                <a:latin typeface="Calibri"/>
              </a:rPr>
              <a:t>•  Conversa → </a:t>
            </a:r>
            <a:r>
              <a:rPr sz="1300" b="0" dirty="0" err="1">
                <a:solidFill>
                  <a:srgbClr val="4A5560"/>
                </a:solidFill>
                <a:latin typeface="Calibri"/>
              </a:rPr>
              <a:t>contato</a:t>
            </a:r>
            <a:r>
              <a:rPr sz="1300" b="0" dirty="0">
                <a:solidFill>
                  <a:srgbClr val="4A5560"/>
                </a:solidFill>
                <a:latin typeface="Calibri"/>
              </a:rPr>
              <a:t> real → </a:t>
            </a:r>
            <a:r>
              <a:rPr sz="1300" b="0" dirty="0" err="1">
                <a:solidFill>
                  <a:srgbClr val="4A5560"/>
                </a:solidFill>
                <a:latin typeface="Calibri"/>
              </a:rPr>
              <a:t>venda</a:t>
            </a:r>
            <a:r>
              <a:rPr sz="1300" b="0" dirty="0">
                <a:solidFill>
                  <a:srgbClr val="4A5560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4A5560"/>
                </a:solidFill>
                <a:latin typeface="Calibri"/>
              </a:rPr>
              <a:t>medido</a:t>
            </a:r>
            <a:r>
              <a:rPr sz="1300" b="0" dirty="0">
                <a:solidFill>
                  <a:srgbClr val="4A5560"/>
                </a:solidFill>
                <a:latin typeface="Calibri"/>
              </a:rPr>
              <a:t> de </a:t>
            </a:r>
            <a:r>
              <a:rPr sz="1300" b="0" dirty="0" err="1">
                <a:solidFill>
                  <a:srgbClr val="4A5560"/>
                </a:solidFill>
                <a:latin typeface="Calibri"/>
              </a:rPr>
              <a:t>ponta</a:t>
            </a:r>
            <a:r>
              <a:rPr sz="1300" b="0" dirty="0">
                <a:solidFill>
                  <a:srgbClr val="4A5560"/>
                </a:solidFill>
                <a:latin typeface="Calibri"/>
              </a:rPr>
              <a:t> a </a:t>
            </a:r>
            <a:r>
              <a:rPr sz="1300" b="0" dirty="0" err="1">
                <a:solidFill>
                  <a:srgbClr val="4A5560"/>
                </a:solidFill>
                <a:latin typeface="Calibri"/>
              </a:rPr>
              <a:t>ponta</a:t>
            </a:r>
            <a:endParaRPr sz="1300" b="0" dirty="0">
              <a:solidFill>
                <a:srgbClr val="4A5560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 b="0" dirty="0">
                <a:solidFill>
                  <a:srgbClr val="4A5560"/>
                </a:solidFill>
                <a:latin typeface="Calibri"/>
              </a:rPr>
              <a:t>•  </a:t>
            </a:r>
            <a:r>
              <a:rPr sz="1300" b="0" dirty="0" err="1">
                <a:solidFill>
                  <a:srgbClr val="4A5560"/>
                </a:solidFill>
                <a:latin typeface="Calibri"/>
              </a:rPr>
              <a:t>Relatório</a:t>
            </a:r>
            <a:r>
              <a:rPr sz="1300" b="0" dirty="0">
                <a:solidFill>
                  <a:srgbClr val="4A5560"/>
                </a:solidFill>
                <a:latin typeface="Calibri"/>
              </a:rPr>
              <a:t> mensal </a:t>
            </a:r>
            <a:r>
              <a:rPr sz="1300" b="0" dirty="0" err="1">
                <a:solidFill>
                  <a:srgbClr val="4A5560"/>
                </a:solidFill>
                <a:latin typeface="Calibri"/>
              </a:rPr>
              <a:t>direto</a:t>
            </a:r>
            <a:r>
              <a:rPr sz="1300" b="0" dirty="0">
                <a:solidFill>
                  <a:srgbClr val="4A5560"/>
                </a:solidFill>
                <a:latin typeface="Calibri"/>
              </a:rPr>
              <a:t> dos </a:t>
            </a:r>
            <a:r>
              <a:rPr sz="1300" b="0" dirty="0" smtClean="0">
                <a:solidFill>
                  <a:srgbClr val="4A5560"/>
                </a:solidFill>
                <a:latin typeface="Calibri"/>
              </a:rPr>
              <a:t>dados</a:t>
            </a:r>
            <a:r>
              <a:rPr lang="pt-BR" sz="1300" b="0" dirty="0" smtClean="0">
                <a:solidFill>
                  <a:srgbClr val="4A5560"/>
                </a:solidFill>
                <a:latin typeface="Calibri"/>
              </a:rPr>
              <a:t> consolidados</a:t>
            </a:r>
            <a:endParaRPr sz="1300" b="0" dirty="0">
              <a:solidFill>
                <a:srgbClr val="4A5560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300" b="0" dirty="0">
                <a:solidFill>
                  <a:srgbClr val="4A5560"/>
                </a:solidFill>
                <a:latin typeface="Calibri"/>
              </a:rPr>
              <a:t>•  </a:t>
            </a:r>
            <a:r>
              <a:rPr lang="pt-BR" sz="1300" b="0" dirty="0" smtClean="0">
                <a:solidFill>
                  <a:srgbClr val="4A5560"/>
                </a:solidFill>
                <a:latin typeface="Calibri"/>
              </a:rPr>
              <a:t>Poucos pontos de </a:t>
            </a:r>
            <a:r>
              <a:rPr sz="1300" b="0" dirty="0" err="1" smtClean="0">
                <a:solidFill>
                  <a:srgbClr val="4A5560"/>
                </a:solidFill>
                <a:latin typeface="Calibri"/>
              </a:rPr>
              <a:t>sazonalidade</a:t>
            </a:r>
            <a:r>
              <a:rPr sz="1300" b="0" dirty="0" smtClean="0">
                <a:solidFill>
                  <a:srgbClr val="4A5560"/>
                </a:solidFill>
                <a:latin typeface="Calibri"/>
              </a:rPr>
              <a:t> </a:t>
            </a:r>
            <a:r>
              <a:rPr sz="1300" b="0" dirty="0" err="1" smtClean="0">
                <a:solidFill>
                  <a:srgbClr val="4A5560"/>
                </a:solidFill>
                <a:latin typeface="Calibri"/>
              </a:rPr>
              <a:t>pedida</a:t>
            </a:r>
            <a:r>
              <a:rPr lang="pt-BR" sz="1300" b="0" dirty="0" smtClean="0">
                <a:solidFill>
                  <a:srgbClr val="4A5560"/>
                </a:solidFill>
                <a:latin typeface="Calibri"/>
              </a:rPr>
              <a:t>s com curto prazo ou fora do plano.</a:t>
            </a:r>
            <a:endParaRPr sz="1300" b="0" dirty="0">
              <a:solidFill>
                <a:srgbClr val="4A5560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5349240"/>
            <a:ext cx="11094415" cy="1051560"/>
          </a:xfrm>
          <a:prstGeom prst="roundRect">
            <a:avLst>
              <a:gd name="adj" fmla="val 3500"/>
            </a:avLst>
          </a:prstGeom>
          <a:solidFill>
            <a:srgbClr val="094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1AA61"/>
                </a:solidFill>
                <a:latin typeface="Arial"/>
              </a:rPr>
              <a:t>O que precisamos de vocês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54577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dirty="0">
                <a:solidFill>
                  <a:srgbClr val="FFFFFF"/>
                </a:solidFill>
                <a:latin typeface="Calibri"/>
              </a:rPr>
              <a:t>Para </a:t>
            </a:r>
            <a:r>
              <a:rPr sz="1250" b="0" dirty="0" err="1">
                <a:solidFill>
                  <a:srgbClr val="FFFFFF"/>
                </a:solidFill>
                <a:latin typeface="Calibri"/>
              </a:rPr>
              <a:t>fechar</a:t>
            </a:r>
            <a:r>
              <a:rPr sz="1250" b="0" dirty="0">
                <a:solidFill>
                  <a:srgbClr val="FFFFFF"/>
                </a:solidFill>
                <a:latin typeface="Calibri"/>
              </a:rPr>
              <a:t> o restante do </a:t>
            </a:r>
            <a:r>
              <a:rPr sz="1250" b="0" dirty="0" err="1">
                <a:solidFill>
                  <a:srgbClr val="FFFFFF"/>
                </a:solidFill>
                <a:latin typeface="Calibri"/>
              </a:rPr>
              <a:t>calendário</a:t>
            </a:r>
            <a:r>
              <a:rPr sz="1250" b="0" dirty="0">
                <a:solidFill>
                  <a:srgbClr val="FFFFFF"/>
                </a:solidFill>
                <a:latin typeface="Calibri"/>
              </a:rPr>
              <a:t> (</a:t>
            </a:r>
            <a:r>
              <a:rPr sz="1250" b="0" dirty="0" err="1">
                <a:solidFill>
                  <a:srgbClr val="FFFFFF"/>
                </a:solidFill>
                <a:latin typeface="Calibri"/>
              </a:rPr>
              <a:t>feirões</a:t>
            </a:r>
            <a:r>
              <a:rPr sz="1250" b="0" dirty="0">
                <a:solidFill>
                  <a:srgbClr val="FFFFFF"/>
                </a:solidFill>
                <a:latin typeface="Calibri"/>
              </a:rPr>
              <a:t> e </a:t>
            </a:r>
            <a:r>
              <a:rPr sz="1250" b="0" dirty="0" err="1">
                <a:solidFill>
                  <a:srgbClr val="FFFFFF"/>
                </a:solidFill>
                <a:latin typeface="Calibri"/>
              </a:rPr>
              <a:t>ações</a:t>
            </a:r>
            <a:r>
              <a:rPr sz="125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b="0" dirty="0" err="1">
                <a:solidFill>
                  <a:srgbClr val="FFFFFF"/>
                </a:solidFill>
                <a:latin typeface="Calibri"/>
              </a:rPr>
              <a:t>específicas</a:t>
            </a:r>
            <a:r>
              <a:rPr sz="1250" b="0" dirty="0">
                <a:solidFill>
                  <a:srgbClr val="FFFFFF"/>
                </a:solidFill>
                <a:latin typeface="Calibri"/>
              </a:rPr>
              <a:t>), </a:t>
            </a:r>
            <a:r>
              <a:rPr sz="1250" b="0" dirty="0" err="1">
                <a:solidFill>
                  <a:srgbClr val="FFFFFF"/>
                </a:solidFill>
                <a:latin typeface="Calibri"/>
              </a:rPr>
              <a:t>precisamos</a:t>
            </a:r>
            <a:r>
              <a:rPr sz="1250" b="0" dirty="0">
                <a:solidFill>
                  <a:srgbClr val="FFFFFF"/>
                </a:solidFill>
                <a:latin typeface="Calibri"/>
              </a:rPr>
              <a:t> do </a:t>
            </a:r>
            <a:r>
              <a:rPr sz="1250" b="0" dirty="0" err="1">
                <a:solidFill>
                  <a:srgbClr val="FFFFFF"/>
                </a:solidFill>
                <a:latin typeface="Calibri"/>
              </a:rPr>
              <a:t>calendário</a:t>
            </a:r>
            <a:r>
              <a:rPr sz="1250" b="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250" b="0" dirty="0" err="1" smtClean="0">
                <a:solidFill>
                  <a:srgbClr val="FFFFFF"/>
                </a:solidFill>
                <a:latin typeface="Calibri"/>
              </a:rPr>
              <a:t>vocês</a:t>
            </a:r>
            <a:r>
              <a:rPr lang="pt-BR" sz="1250" b="0" smtClean="0">
                <a:solidFill>
                  <a:srgbClr val="FFFFFF"/>
                </a:solidFill>
                <a:latin typeface="Calibri"/>
              </a:rPr>
              <a:t>. </a:t>
            </a:r>
            <a:endParaRPr sz="1250" b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2042</Words>
  <Application>Microsoft Office PowerPoint</Application>
  <PresentationFormat>Widescreen</PresentationFormat>
  <Paragraphs>207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Gabriel Pauletto Reszka</cp:lastModifiedBy>
  <cp:revision>4</cp:revision>
  <dcterms:created xsi:type="dcterms:W3CDTF">2013-01-27T09:14:16Z</dcterms:created>
  <dcterms:modified xsi:type="dcterms:W3CDTF">2026-07-22T13:50:45Z</dcterms:modified>
  <cp:category/>
</cp:coreProperties>
</file>