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2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3" r:id="rId7"/>
    <p:sldId id="264" r:id="rId8"/>
    <p:sldId id="267" r:id="rId9"/>
    <p:sldId id="265" r:id="rId10"/>
    <p:sldId id="268" r:id="rId11"/>
    <p:sldId id="262" r:id="rId12"/>
    <p:sldId id="266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59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Planilha_do_Microsoft_Excel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Planilha_do_Microsoft_Excel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Contatos</c:v>
                </c:pt>
              </c:strCache>
            </c:strRef>
          </c:tx>
          <c:spPr>
            <a:solidFill>
              <a:srgbClr val="21AA6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94825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Massa Motors</c:v>
                </c:pt>
                <c:pt idx="1">
                  <c:v>Speed</c:v>
                </c:pt>
                <c:pt idx="2">
                  <c:v>CWB Car</c:v>
                </c:pt>
                <c:pt idx="3">
                  <c:v>OZ</c:v>
                </c:pt>
                <c:pt idx="4">
                  <c:v>South Motors</c:v>
                </c:pt>
                <c:pt idx="5">
                  <c:v>GS Motors</c:v>
                </c:pt>
                <c:pt idx="6">
                  <c:v>Schafas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11</c:v>
                </c:pt>
                <c:pt idx="1">
                  <c:v>13</c:v>
                </c:pt>
                <c:pt idx="2">
                  <c:v>28</c:v>
                </c:pt>
                <c:pt idx="3">
                  <c:v>32</c:v>
                </c:pt>
                <c:pt idx="4">
                  <c:v>35</c:v>
                </c:pt>
                <c:pt idx="5">
                  <c:v>37</c:v>
                </c:pt>
                <c:pt idx="6">
                  <c:v>44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415506408"/>
        <c:axId val="415507584"/>
      </c:barChart>
      <c:catAx>
        <c:axId val="415506408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670"/>
                </a:solidFill>
                <a:latin typeface="Arial"/>
              </a:defRPr>
            </a:pPr>
            <a:endParaRPr lang="pt-BR"/>
          </a:p>
        </c:txPr>
        <c:crossAx val="415507584"/>
        <c:crosses val="autoZero"/>
        <c:auto val="1"/>
        <c:lblAlgn val="ctr"/>
        <c:lblOffset val="100"/>
        <c:noMultiLvlLbl val="1"/>
      </c:catAx>
      <c:valAx>
        <c:axId val="415507584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4155064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Verba mensal</c:v>
                </c:pt>
              </c:strCache>
            </c:strRef>
          </c:tx>
          <c:spPr>
            <a:solidFill>
              <a:srgbClr val="21AA61"/>
            </a:solidFill>
            <a:effectLst/>
          </c:spPr>
          <c:invertIfNegative val="0"/>
          <c:dLbls>
            <c:numFmt formatCode="\R\$\ 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094825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Turbinar + Reserva</c:v>
                </c:pt>
                <c:pt idx="1">
                  <c:v>Reconhecimento</c:v>
                </c:pt>
                <c:pt idx="2">
                  <c:v>Site / Ofertas</c:v>
                </c:pt>
                <c:pt idx="3">
                  <c:v>Lojistas (WhatsApp)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820</c:v>
                </c:pt>
                <c:pt idx="1">
                  <c:v>1560</c:v>
                </c:pt>
                <c:pt idx="2">
                  <c:v>6600</c:v>
                </c:pt>
                <c:pt idx="3">
                  <c:v>7020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415509544"/>
        <c:axId val="415511112"/>
      </c:barChart>
      <c:catAx>
        <c:axId val="41550954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670"/>
                </a:solidFill>
                <a:latin typeface="Arial"/>
              </a:defRPr>
            </a:pPr>
            <a:endParaRPr lang="pt-BR"/>
          </a:p>
        </c:txPr>
        <c:crossAx val="415511112"/>
        <c:crosses val="autoZero"/>
        <c:auto val="1"/>
        <c:lblAlgn val="ctr"/>
        <c:lblOffset val="100"/>
        <c:noMultiLvlLbl val="1"/>
      </c:catAx>
      <c:valAx>
        <c:axId val="41551111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41550954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79118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Todos os números vêm direto do Gerenciador de Anúncios.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Dado do Gerenciador. Junho: 219 conversas, R$3.071 gastos. Julho 1-13: 200 conversas, R$3.369 gastos.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Rodamos 7 lojas nesta quinzena, acima das 6 acordadas. Isso consome a reserva.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Seleção ALV ESTÁ RODANDO. Feirão Bradesco e Santander </a:t>
            </a:r>
            <a:r>
              <a:rPr lang="en-US" dirty="0" err="1" smtClean="0"/>
              <a:t>encerraram</a:t>
            </a:r>
            <a:r>
              <a:rPr lang="en-US" dirty="0" smtClean="0"/>
              <a:t> </a:t>
            </a:r>
            <a:r>
              <a:rPr lang="en-US" dirty="0"/>
              <a:t>conforme planejado.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Suporte acionado, sem previsão. Cartão como alternativa.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Foco: falta de registro, não falta de venda.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Contexto: em mar/abr a conta tinha 573 anúncios e R$25 mil em 2 meses. Isso dá R$0,73/dia por anúncio. Não rodavam, apenas </a:t>
            </a:r>
            <a:r>
              <a:rPr lang="en-US" dirty="0" err="1"/>
              <a:t>existiam</a:t>
            </a:r>
            <a:r>
              <a:rPr lang="en-US" dirty="0" smtClean="0"/>
              <a:t>. </a:t>
            </a:r>
            <a:r>
              <a:rPr lang="en-US" dirty="0" err="1" smtClean="0"/>
              <a:t>Hoje</a:t>
            </a:r>
            <a:r>
              <a:rPr lang="en-US" dirty="0"/>
              <a:t>: 89 ativos com R$16 mil/mês = R$6/dia cada. Mesma </a:t>
            </a:r>
            <a:r>
              <a:rPr lang="en-US" dirty="0" err="1"/>
              <a:t>armadilha</a:t>
            </a:r>
            <a:r>
              <a:rPr lang="en-US" dirty="0" smtClean="0"/>
              <a:t>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9137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PROVA: </a:t>
            </a:r>
            <a:r>
              <a:rPr lang="en-US" dirty="0" smtClean="0"/>
              <a:t>mar/</a:t>
            </a:r>
            <a:r>
              <a:rPr lang="en-US" dirty="0" err="1" smtClean="0"/>
              <a:t>abr</a:t>
            </a:r>
            <a:r>
              <a:rPr lang="en-US" dirty="0"/>
              <a:t>, as campanhas 'CA [Dgongora - whatsapp]', 'CA [Speed - whatsapp]', 'CA [Sitima - whatsapp]' e </a:t>
            </a:r>
            <a:r>
              <a:rPr lang="en-US" dirty="0" smtClean="0"/>
              <a:t>as </a:t>
            </a:r>
            <a:r>
              <a:rPr lang="en-US" dirty="0" err="1" smtClean="0"/>
              <a:t>demais</a:t>
            </a:r>
            <a:r>
              <a:rPr lang="en-US" dirty="0" smtClean="0"/>
              <a:t> de </a:t>
            </a:r>
            <a:r>
              <a:rPr lang="en-US" dirty="0" err="1" smtClean="0"/>
              <a:t>lojistas</a:t>
            </a:r>
            <a:r>
              <a:rPr lang="en-US" baseline="0" dirty="0" smtClean="0"/>
              <a:t> </a:t>
            </a:r>
            <a:r>
              <a:rPr lang="en-US" dirty="0" err="1" smtClean="0"/>
              <a:t>têm</a:t>
            </a:r>
            <a:r>
              <a:rPr lang="en-US" dirty="0" smtClean="0"/>
              <a:t> </a:t>
            </a:r>
            <a:r>
              <a:rPr lang="en-US" dirty="0"/>
              <a:t>indicador de resultado = CLIQUES NO LINK, </a:t>
            </a:r>
            <a:r>
              <a:rPr lang="en-US" dirty="0" err="1"/>
              <a:t>não</a:t>
            </a:r>
            <a:r>
              <a:rPr lang="en-US" dirty="0"/>
              <a:t> </a:t>
            </a:r>
            <a:r>
              <a:rPr lang="en-US" dirty="0" smtClean="0"/>
              <a:t>conversas. </a:t>
            </a:r>
            <a:r>
              <a:rPr lang="en-US" dirty="0" err="1" smtClean="0"/>
              <a:t>Junho</a:t>
            </a:r>
            <a:r>
              <a:rPr lang="en-US" dirty="0" smtClean="0"/>
              <a:t> </a:t>
            </a:r>
            <a:r>
              <a:rPr lang="en-US" dirty="0"/>
              <a:t>(dado real): 29.642 cliques a R$0,10 | 40.433 visitas ao perfil a R$0,15 | 219 conversas a </a:t>
            </a:r>
            <a:r>
              <a:rPr lang="en-US" dirty="0" smtClean="0"/>
              <a:t>R$14,02.</a:t>
            </a:r>
            <a:r>
              <a:rPr lang="en-US" baseline="0" dirty="0"/>
              <a:t>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48028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Preparar</a:t>
            </a:r>
            <a:r>
              <a:rPr lang="en-US" dirty="0"/>
              <a:t> </a:t>
            </a:r>
            <a:r>
              <a:rPr lang="en-US" dirty="0" smtClean="0"/>
              <a:t>para </a:t>
            </a:r>
            <a:r>
              <a:rPr lang="en-US" dirty="0"/>
              <a:t>a queda do número.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Fechar reforçando o pedido central: apoio ao registro nas lojas.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48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031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kern="0" spc="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LINHA VERDE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868680" y="28803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kern="0" spc="600" dirty="0">
                <a:solidFill>
                  <a:srgbClr val="21AA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AUTOSHOPPING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68680" y="3611880"/>
            <a:ext cx="5120640" cy="548640"/>
          </a:xfrm>
          <a:prstGeom prst="rect">
            <a:avLst/>
          </a:prstGeom>
          <a:solidFill>
            <a:srgbClr val="21AA61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36118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ALINHAMENTO DE MÍDIA PAGA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4389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FB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de junho  ·  Julho em andamento  ·  Prioridades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948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nova estrutura está funcionando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Campanha de lojistas: contatos iniciados no WhatsApp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4937760" cy="2651760"/>
          </a:xfrm>
          <a:prstGeom prst="roundRect">
            <a:avLst>
              <a:gd name="adj" fmla="val 3448"/>
            </a:avLst>
          </a:prstGeom>
          <a:solidFill>
            <a:srgbClr val="F2F5F3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874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5A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JUNHO  ·  30 dias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228600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5A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219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868680" y="32004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contatos no WhatsApp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361188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R$ 14,02 por contato  ·  estrutura antiga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623560" y="265176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21AA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4000" dirty="0"/>
          </a:p>
        </p:txBody>
      </p:sp>
      <p:sp>
        <p:nvSpPr>
          <p:cNvPr id="10" name="Shape 8"/>
          <p:cNvSpPr/>
          <p:nvPr/>
        </p:nvSpPr>
        <p:spPr>
          <a:xfrm>
            <a:off x="6675120" y="1645920"/>
            <a:ext cx="4937760" cy="2651760"/>
          </a:xfrm>
          <a:prstGeom prst="roundRect">
            <a:avLst>
              <a:gd name="adj" fmla="val 3448"/>
            </a:avLst>
          </a:prstGeom>
          <a:solidFill>
            <a:srgbClr val="E8F5EE"/>
          </a:solidFill>
          <a:ln/>
        </p:spPr>
      </p:sp>
      <p:sp>
        <p:nvSpPr>
          <p:cNvPr id="11" name="Text 9"/>
          <p:cNvSpPr/>
          <p:nvPr/>
        </p:nvSpPr>
        <p:spPr>
          <a:xfrm>
            <a:off x="6995160" y="1874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21AA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JULHO  ·  apenas 13 dias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995160" y="228600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0948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</a:t>
            </a:r>
            <a:endParaRPr lang="en-US" sz="6000" dirty="0"/>
          </a:p>
        </p:txBody>
      </p:sp>
      <p:sp>
        <p:nvSpPr>
          <p:cNvPr id="13" name="Text 11"/>
          <p:cNvSpPr/>
          <p:nvPr/>
        </p:nvSpPr>
        <p:spPr>
          <a:xfrm>
            <a:off x="6995160" y="32004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94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contatos no WhatsApp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995160" y="361188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94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R$ 16,85 por contato  ·  estrutura nova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4617720"/>
            <a:ext cx="11064240" cy="1691640"/>
          </a:xfrm>
          <a:prstGeom prst="roundRect">
            <a:avLst>
              <a:gd name="adj" fmla="val 4324"/>
            </a:avLst>
          </a:prstGeom>
          <a:solidFill>
            <a:srgbClr val="094825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84632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13 dias, a nova estrutura já entregou praticamente o mesmo volume que os 30 dias anteriores.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914400" y="534924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9FB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custo por contato subiu um pouco porque a campanha ainda está em fase de aprendizado do algoritmo. É esperado e tende a melhorar conforme o sistema acumula dados. Ritmo atual: mais de 15 contatos </a:t>
            </a:r>
            <a:r>
              <a:rPr lang="en-US" sz="1300" dirty="0" err="1">
                <a:solidFill>
                  <a:srgbClr val="9FB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</a:t>
            </a:r>
            <a:r>
              <a:rPr lang="en-US" sz="1300" dirty="0">
                <a:solidFill>
                  <a:srgbClr val="9FB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 smtClean="0">
                <a:solidFill>
                  <a:srgbClr val="9FB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</a:t>
            </a:r>
            <a:r>
              <a:rPr lang="en-US" sz="1300" dirty="0" smtClean="0">
                <a:solidFill>
                  <a:srgbClr val="9FB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e </a:t>
            </a:r>
            <a:r>
              <a:rPr lang="en-US" sz="1300" dirty="0" err="1" smtClean="0">
                <a:solidFill>
                  <a:srgbClr val="9FB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ainda</a:t>
            </a:r>
            <a:r>
              <a:rPr lang="en-US" sz="1300" dirty="0" smtClean="0">
                <a:solidFill>
                  <a:srgbClr val="9FB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é </a:t>
            </a:r>
            <a:r>
              <a:rPr lang="en-US" sz="1300" dirty="0" err="1" smtClean="0">
                <a:solidFill>
                  <a:srgbClr val="9FB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apenas</a:t>
            </a:r>
            <a:r>
              <a:rPr lang="en-US" sz="1300" dirty="0" smtClean="0">
                <a:solidFill>
                  <a:srgbClr val="9FB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 </a:t>
            </a:r>
            <a:r>
              <a:rPr lang="en-US" sz="1300" dirty="0" err="1" smtClean="0">
                <a:solidFill>
                  <a:srgbClr val="9FB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primeiro</a:t>
            </a:r>
            <a:r>
              <a:rPr lang="en-US" sz="1300" dirty="0" smtClean="0">
                <a:solidFill>
                  <a:srgbClr val="9FB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 smtClean="0">
                <a:solidFill>
                  <a:srgbClr val="9FB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</a:t>
            </a:r>
            <a:r>
              <a:rPr lang="en-US" sz="1300" dirty="0" smtClean="0">
                <a:solidFill>
                  <a:srgbClr val="9FB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 </a:t>
            </a:r>
            <a:r>
              <a:rPr lang="en-US" sz="1300" dirty="0" err="1" smtClean="0">
                <a:solidFill>
                  <a:srgbClr val="9FB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rodízio</a:t>
            </a:r>
            <a:r>
              <a:rPr lang="en-US" sz="1300" dirty="0" smtClean="0">
                <a:solidFill>
                  <a:srgbClr val="9FB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948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Desempenho por loja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Primeira quinzena de julho · 7 lojas em rodízio · R$ 39/dia cada</a:t>
            </a:r>
            <a:endParaRPr lang="en-US" sz="1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600200"/>
          <a:ext cx="676656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589520" y="1600200"/>
            <a:ext cx="4023360" cy="1920240"/>
          </a:xfrm>
          <a:prstGeom prst="roundRect">
            <a:avLst>
              <a:gd name="adj" fmla="val 3810"/>
            </a:avLst>
          </a:prstGeom>
          <a:solidFill>
            <a:srgbClr val="E8F5EE"/>
          </a:solidFill>
          <a:ln/>
        </p:spPr>
      </p:sp>
      <p:sp>
        <p:nvSpPr>
          <p:cNvPr id="6" name="Text 3"/>
          <p:cNvSpPr/>
          <p:nvPr/>
        </p:nvSpPr>
        <p:spPr>
          <a:xfrm>
            <a:off x="7863840" y="1783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AA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Melhor custo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863840" y="2103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948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Schafas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7863840" y="2542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94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 contatos a R$ 11,02 cada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863840" y="28803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Maior volume e menor custo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quinzena.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589520" y="3703320"/>
            <a:ext cx="4023360" cy="1920240"/>
          </a:xfrm>
          <a:prstGeom prst="roundRect">
            <a:avLst>
              <a:gd name="adj" fmla="val 3810"/>
            </a:avLst>
          </a:prstGeom>
          <a:solidFill>
            <a:srgbClr val="FBEDEC"/>
          </a:solidFill>
          <a:ln/>
        </p:spPr>
      </p:sp>
      <p:sp>
        <p:nvSpPr>
          <p:cNvPr id="11" name="Text 8"/>
          <p:cNvSpPr/>
          <p:nvPr/>
        </p:nvSpPr>
        <p:spPr>
          <a:xfrm>
            <a:off x="7863840" y="3886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Maior custo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863840" y="4206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Massa Motors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7863840" y="46451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contatos a R$ 42,49 cada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863840" y="49834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Investigar criativo e público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do próximo ciclo.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 geral: R$ 16,85 por contato. A diferença entre a melhor e a pior loja é de quase 4x, e é isso que o rodízio nos permite </a:t>
            </a:r>
            <a:r>
              <a:rPr lang="en-US" sz="1200" i="1" dirty="0" err="1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enxergar</a:t>
            </a:r>
            <a:r>
              <a:rPr lang="en-US" sz="1200" i="1" dirty="0" smtClean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No </a:t>
            </a:r>
            <a:r>
              <a:rPr lang="en-US" sz="1200" i="1" dirty="0" err="1" smtClean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entanto</a:t>
            </a:r>
            <a:r>
              <a:rPr lang="en-US" sz="1200" i="1" dirty="0" smtClean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</a:t>
            </a:r>
            <a:r>
              <a:rPr lang="en-US" sz="1200" i="1" dirty="0" err="1" smtClean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amostragem</a:t>
            </a:r>
            <a:r>
              <a:rPr lang="en-US" sz="1200" i="1" dirty="0" smtClean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i="1" dirty="0" err="1" smtClean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ainda</a:t>
            </a:r>
            <a:r>
              <a:rPr lang="en-US" sz="1200" i="1" dirty="0" smtClean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é </a:t>
            </a:r>
            <a:r>
              <a:rPr lang="en-US" sz="1200" i="1" dirty="0" err="1" smtClean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muito</a:t>
            </a:r>
            <a:r>
              <a:rPr lang="en-US" sz="1200" i="1" dirty="0" smtClean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i="1" dirty="0" err="1" smtClean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pequena</a:t>
            </a:r>
            <a:r>
              <a:rPr lang="en-US" sz="1200" i="1" dirty="0" smtClean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 </a:t>
            </a:r>
            <a:r>
              <a:rPr lang="en-US" sz="1200" i="1" dirty="0" err="1" smtClean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conclusões</a:t>
            </a:r>
            <a:r>
              <a:rPr lang="en-US" sz="1200" i="1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948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evolução da estrutura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conta cresceu junto com o Autoshopping, uma campanha por loja. Agora consolidamos para ganhar escala e comparação.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03520" cy="3200400"/>
          </a:xfrm>
          <a:prstGeom prst="roundRect">
            <a:avLst>
              <a:gd name="adj" fmla="val 2286"/>
            </a:avLst>
          </a:prstGeom>
          <a:solidFill>
            <a:srgbClr val="F2F5F3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828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5A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ERA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2286000"/>
            <a:ext cx="4663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campanha para cada loja, conforme a demanda surgia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Verba dividida em partes pequenas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baixo por campanha para o algoritmo aprender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Difícil comparar o resultado entre as lojas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09360" y="1645920"/>
            <a:ext cx="5303520" cy="3200400"/>
          </a:xfrm>
          <a:prstGeom prst="roundRect">
            <a:avLst>
              <a:gd name="adj" fmla="val 2286"/>
            </a:avLst>
          </a:prstGeom>
          <a:solidFill>
            <a:srgbClr val="E8F5EE"/>
          </a:solidFill>
          <a:ln/>
        </p:spPr>
      </p:sp>
      <p:sp>
        <p:nvSpPr>
          <p:cNvPr id="8" name="Text 6"/>
          <p:cNvSpPr/>
          <p:nvPr/>
        </p:nvSpPr>
        <p:spPr>
          <a:xfrm>
            <a:off x="6629400" y="1828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21AA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ESTÁ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629400" y="2286000"/>
            <a:ext cx="4663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094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Campanhas consolidadas por objetivo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094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Rodízio de lojas por quinzena, ciclo em andamento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094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Verba concentrada, algoritmo aprende mais rápido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094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Comparação direta entre lojas e entre criativos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5120640"/>
            <a:ext cx="11064240" cy="1188720"/>
          </a:xfrm>
          <a:prstGeom prst="roundRect">
            <a:avLst>
              <a:gd name="adj" fmla="val 6154"/>
            </a:avLst>
          </a:prstGeom>
          <a:solidFill>
            <a:srgbClr val="094825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5257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AA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Ponto de atenção sobre a verba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562356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duas primeiras quinzenas rodaram com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lojas em vez das 6 previstas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Isso </a:t>
            </a:r>
            <a:r>
              <a:rPr lang="en-US" sz="13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consome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</a:t>
            </a:r>
            <a:r>
              <a:rPr lang="en-US" sz="13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orçamento</a:t>
            </a:r>
            <a:r>
              <a:rPr lang="en-US" sz="13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que o </a:t>
            </a:r>
            <a:r>
              <a:rPr lang="en-US" sz="13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previsto</a:t>
            </a:r>
            <a:r>
              <a:rPr lang="en-US" sz="13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e a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 do mês, que existe para cobrir imprevistos e </a:t>
            </a:r>
            <a:r>
              <a:rPr lang="en-US" sz="13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impulsionamentos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pontuais</a:t>
            </a:r>
            <a:r>
              <a:rPr lang="en-US" sz="13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3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bem</a:t>
            </a:r>
            <a:r>
              <a:rPr lang="en-US" sz="13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</a:t>
            </a:r>
            <a:r>
              <a:rPr lang="en-US" sz="13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</a:t>
            </a:r>
            <a:r>
              <a:rPr lang="en-US" sz="13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testes e </a:t>
            </a:r>
            <a:r>
              <a:rPr lang="en-US" sz="13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análises</a:t>
            </a:r>
            <a:r>
              <a:rPr lang="en-US" sz="13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estratégicas</a:t>
            </a:r>
            <a:r>
              <a:rPr lang="en-US" sz="13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948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Criativos: o panorama de julho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Testamos muito, medimos tudo, e mantemos no ar o que funciona.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66160" cy="1463040"/>
          </a:xfrm>
          <a:prstGeom prst="roundRect">
            <a:avLst>
              <a:gd name="adj" fmla="val 5000"/>
            </a:avLst>
          </a:prstGeom>
          <a:solidFill>
            <a:srgbClr val="F2F5F3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19072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948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+140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22960" y="245059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criativos com verba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mês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297680" y="1600200"/>
            <a:ext cx="3566160" cy="1463040"/>
          </a:xfrm>
          <a:prstGeom prst="roundRect">
            <a:avLst>
              <a:gd name="adj" fmla="val 5000"/>
            </a:avLst>
          </a:prstGeom>
          <a:solidFill>
            <a:srgbClr val="F2F5F3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0" y="1719072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21AA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4572000" y="245059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vídeos da Seleção ALV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rodando, um por loja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046720" y="1600200"/>
            <a:ext cx="3566160" cy="1463040"/>
          </a:xfrm>
          <a:prstGeom prst="roundRect">
            <a:avLst>
              <a:gd name="adj" fmla="val 5000"/>
            </a:avLst>
          </a:prstGeom>
          <a:solidFill>
            <a:srgbClr val="F2F5F3"/>
          </a:solidFill>
          <a:ln/>
        </p:spPr>
      </p:sp>
      <p:sp>
        <p:nvSpPr>
          <p:cNvPr id="11" name="Text 9"/>
          <p:cNvSpPr/>
          <p:nvPr/>
        </p:nvSpPr>
        <p:spPr>
          <a:xfrm>
            <a:off x="8321040" y="1719072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948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8321040" y="245059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lojas no rodízio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quinzena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33832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948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Destaques por frente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57200" y="3840480"/>
            <a:ext cx="11247120" cy="566928"/>
          </a:xfrm>
          <a:prstGeom prst="rect">
            <a:avLst/>
          </a:prstGeom>
          <a:solidFill>
            <a:srgbClr val="F2F5F3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38862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A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Lojistas (WhatsApp)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566160" y="38862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94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Schafas Institucional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223760" y="38862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 contatos · R$ 11,02 cada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85800" y="448970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A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Ofertas (site)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566160" y="4489704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94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Tiggo OZ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223760" y="4489704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1.767 visitas ao site · R$ 0,24 cada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5047488"/>
            <a:ext cx="11247120" cy="566928"/>
          </a:xfrm>
          <a:prstGeom prst="rect">
            <a:avLst/>
          </a:prstGeom>
          <a:solidFill>
            <a:srgbClr val="F2F5F3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509320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A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Seleção ALV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566160" y="509320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94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Motors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223760" y="509320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 de 7,6% · melhor engajamento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85800" y="569671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A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Reconhecimento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566160" y="569671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94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Institucional regional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223760" y="569671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411 mil pessoas alcançadas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testes seguem em andamento em várias campanhas. Alguns criativos foram pausados por baixa performance, outros ainda vão ter sua vez de rodar.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948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ponto de atenção: pagamento da conta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FB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conta da Meta está com dificuldade para adicionar saldo. Boleto e Pix retornam erro. Ocorreu em junho, foi resolvido pelo suporte, e voltou a ocorrer em julho.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11064240" cy="868680"/>
          </a:xfrm>
          <a:prstGeom prst="roundRect">
            <a:avLst>
              <a:gd name="adj" fmla="val 6316"/>
            </a:avLst>
          </a:prstGeom>
          <a:solidFill>
            <a:srgbClr val="0D5C33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24028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AA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fizemos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383280" y="2240280"/>
            <a:ext cx="7955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Reduzimos o orçamento diversas vezes para garantir que a mídia não parasse.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172968"/>
            <a:ext cx="11064240" cy="868680"/>
          </a:xfrm>
          <a:prstGeom prst="roundRect">
            <a:avLst>
              <a:gd name="adj" fmla="val 6316"/>
            </a:avLst>
          </a:prstGeom>
          <a:solidFill>
            <a:srgbClr val="0D5C33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3264408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AA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Efeito disso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383280" y="3264408"/>
            <a:ext cx="7955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campanhas voltaram ao aprendizado, e a entrega oscilou.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4197096"/>
            <a:ext cx="11064240" cy="868680"/>
          </a:xfrm>
          <a:prstGeom prst="roundRect">
            <a:avLst>
              <a:gd name="adj" fmla="val 6316"/>
            </a:avLst>
          </a:prstGeom>
          <a:solidFill>
            <a:srgbClr val="0D5C33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4288536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AA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Mesmo assim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83280" y="4288536"/>
            <a:ext cx="7955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resultados seguem crescendo. Com a conta estável, o potencial é maior.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5349240"/>
            <a:ext cx="11064240" cy="868680"/>
          </a:xfrm>
          <a:prstGeom prst="roundRect">
            <a:avLst>
              <a:gd name="adj" fmla="val 6316"/>
            </a:avLst>
          </a:prstGeom>
          <a:solidFill>
            <a:srgbClr val="21AA61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544068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SUGESTÃO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383280" y="5440680"/>
            <a:ext cx="7955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Cadastrar cartão de crédito como método de pagamento da conta.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0948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dado que falta: o formulário das lojas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 caminho para saber quais contatos viram visita e venda. Com ele, deixamos de otimizar por custo e passamos a otimizar por venda.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2F5F3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8308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948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de 23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22960" y="24688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lojas registrando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297680" y="164592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2F5F3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0" y="178308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948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4572000" y="24688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em 2 semanas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046720" y="164592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BEDEC"/>
          </a:solidFill>
          <a:ln/>
        </p:spPr>
      </p:sp>
      <p:sp>
        <p:nvSpPr>
          <p:cNvPr id="11" name="Text 9"/>
          <p:cNvSpPr/>
          <p:nvPr/>
        </p:nvSpPr>
        <p:spPr>
          <a:xfrm>
            <a:off x="8321040" y="178308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8321040" y="24688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vendas registradas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E8F5EE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429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AA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venda registrada não significa zero venda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14400" y="3822192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094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visita às lojas, identificamos que os lojistas ainda não conseguem distinguir de onde vem cada contato. Um deles confirmou pessoalmente que fechou uma venda por anúncio, mas não registrou. O desafio hoje não é o resultado: é o registro do resultado.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892040"/>
            <a:ext cx="11064240" cy="1600200"/>
          </a:xfrm>
          <a:prstGeom prst="roundRect">
            <a:avLst>
              <a:gd name="adj" fmla="val 4571"/>
            </a:avLst>
          </a:prstGeom>
          <a:solidFill>
            <a:srgbClr val="094825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5074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AA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plano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14400" y="544068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Visita presencial a cada loja para ensinar a identificar a origem do contato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Formulário simplificado ao máximo: leva 3 minutos por semana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Apoio da gestão para manter o hábito do registro nas lojas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300" b="1" dirty="0">
                <a:solidFill>
                  <a:srgbClr val="0948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</a:t>
            </a:r>
            <a:r>
              <a:rPr lang="en-US" sz="3300" b="1" dirty="0" err="1">
                <a:solidFill>
                  <a:srgbClr val="0948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verba</a:t>
            </a:r>
            <a:r>
              <a:rPr lang="en-US" sz="3300" b="1" dirty="0">
                <a:solidFill>
                  <a:srgbClr val="0948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3300" b="1" dirty="0" err="1">
                <a:solidFill>
                  <a:srgbClr val="0948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</a:t>
            </a:r>
            <a:r>
              <a:rPr lang="en-US" sz="3300" b="1" dirty="0">
                <a:solidFill>
                  <a:srgbClr val="0948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3300" b="1" dirty="0" err="1">
                <a:solidFill>
                  <a:srgbClr val="0948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comporta</a:t>
            </a:r>
            <a:r>
              <a:rPr lang="en-US" sz="3300" b="1" dirty="0">
                <a:solidFill>
                  <a:srgbClr val="0948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3300" b="1" dirty="0" err="1">
                <a:solidFill>
                  <a:srgbClr val="0948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tudo</a:t>
            </a:r>
            <a:r>
              <a:rPr lang="en-US" sz="3300" b="1" dirty="0">
                <a:solidFill>
                  <a:srgbClr val="0948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3300" b="1" dirty="0" err="1">
                <a:solidFill>
                  <a:srgbClr val="0948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</a:t>
            </a:r>
            <a:r>
              <a:rPr lang="en-US" sz="3300" b="1" dirty="0">
                <a:solidFill>
                  <a:srgbClr val="0948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3300" b="1" dirty="0" err="1">
                <a:solidFill>
                  <a:srgbClr val="0948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mesmo</a:t>
            </a:r>
            <a:r>
              <a:rPr lang="en-US" sz="3300" b="1" dirty="0">
                <a:solidFill>
                  <a:srgbClr val="0948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tempo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dirty="0" err="1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Comprando</a:t>
            </a:r>
            <a:r>
              <a:rPr lang="en-US" sz="13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contato</a:t>
            </a:r>
            <a:r>
              <a:rPr lang="en-US" sz="13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comercial</a:t>
            </a:r>
            <a:r>
              <a:rPr lang="en-US" sz="13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o </a:t>
            </a:r>
            <a:r>
              <a:rPr lang="en-US" sz="1300" dirty="0" err="1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orçamento</a:t>
            </a:r>
            <a:r>
              <a:rPr lang="en-US" sz="13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sustenta</a:t>
            </a:r>
            <a:r>
              <a:rPr lang="en-US" sz="13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um </a:t>
            </a:r>
            <a:r>
              <a:rPr lang="en-US" sz="1300" dirty="0" err="1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</a:t>
            </a:r>
            <a:r>
              <a:rPr lang="en-US" sz="13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limitado</a:t>
            </a:r>
            <a:r>
              <a:rPr lang="en-US" sz="13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300" dirty="0" err="1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criativos</a:t>
            </a:r>
            <a:r>
              <a:rPr lang="en-US" sz="13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 </a:t>
            </a:r>
            <a:r>
              <a:rPr lang="en-US" sz="1300" dirty="0" err="1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</a:t>
            </a:r>
            <a:r>
              <a:rPr lang="en-US" sz="13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300" dirty="0" err="1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</a:t>
            </a:r>
            <a:r>
              <a:rPr lang="en-US" sz="13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vez</a:t>
            </a:r>
            <a:r>
              <a:rPr lang="en-US" sz="13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566160" cy="1143000"/>
          </a:xfrm>
          <a:prstGeom prst="roundRect">
            <a:avLst>
              <a:gd name="adj" fmla="val 6400"/>
            </a:avLst>
          </a:prstGeom>
          <a:solidFill>
            <a:srgbClr val="F2F5F3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1572768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948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226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804672" y="21488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criativos</a:t>
            </a:r>
            <a:r>
              <a:rPr lang="en-US" sz="12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 smtClean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produzidos</a:t>
            </a:r>
            <a:r>
              <a:rPr lang="en-US" sz="1200" dirty="0" smtClean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“</a:t>
            </a:r>
            <a:r>
              <a:rPr lang="en-US" sz="1200" dirty="0" err="1" smtClean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</a:t>
            </a:r>
            <a:r>
              <a:rPr lang="en-US" sz="1200" dirty="0" smtClean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fila”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297680" y="1463040"/>
            <a:ext cx="3566160" cy="1143000"/>
          </a:xfrm>
          <a:prstGeom prst="roundRect">
            <a:avLst>
              <a:gd name="adj" fmla="val 6400"/>
            </a:avLst>
          </a:prstGeom>
          <a:solidFill>
            <a:srgbClr val="F2F5F3"/>
          </a:solidFill>
          <a:ln/>
        </p:spPr>
      </p:sp>
      <p:sp>
        <p:nvSpPr>
          <p:cNvPr id="8" name="Text 6"/>
          <p:cNvSpPr/>
          <p:nvPr/>
        </p:nvSpPr>
        <p:spPr>
          <a:xfrm>
            <a:off x="4553712" y="1572768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948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4553712" y="21488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ativos ao mesmo tempo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046720" y="1463040"/>
            <a:ext cx="3566160" cy="1143000"/>
          </a:xfrm>
          <a:prstGeom prst="roundRect">
            <a:avLst>
              <a:gd name="adj" fmla="val 6400"/>
            </a:avLst>
          </a:prstGeom>
          <a:solidFill>
            <a:srgbClr val="FBEDEC"/>
          </a:solidFill>
          <a:ln/>
        </p:spPr>
      </p:sp>
      <p:sp>
        <p:nvSpPr>
          <p:cNvPr id="11" name="Text 9"/>
          <p:cNvSpPr/>
          <p:nvPr/>
        </p:nvSpPr>
        <p:spPr>
          <a:xfrm>
            <a:off x="8302752" y="1572768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R$ 6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8302752" y="21488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dia para cada um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278892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DF6E3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2926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77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que R$ 6 por dia não funciona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4400" y="324612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500"/>
              </a:lnSpc>
            </a:pPr>
            <a:r>
              <a:rPr lang="en-US" sz="1200" dirty="0">
                <a:solidFill>
                  <a:srgbClr val="6B5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um </a:t>
            </a:r>
            <a:r>
              <a:rPr lang="en-US" sz="1200" dirty="0" err="1">
                <a:solidFill>
                  <a:srgbClr val="6B5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criativo</a:t>
            </a:r>
            <a:r>
              <a:rPr lang="en-US" sz="1200" dirty="0">
                <a:solidFill>
                  <a:srgbClr val="6B5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6B5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aprender</a:t>
            </a:r>
            <a:r>
              <a:rPr lang="en-US" sz="1200" dirty="0">
                <a:solidFill>
                  <a:srgbClr val="6B5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1200" dirty="0" err="1">
                <a:solidFill>
                  <a:srgbClr val="6B5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performar</a:t>
            </a:r>
            <a:r>
              <a:rPr lang="en-US" sz="1200" dirty="0">
                <a:solidFill>
                  <a:srgbClr val="6B5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o Meta </a:t>
            </a:r>
            <a:r>
              <a:rPr lang="en-US" sz="1200" dirty="0" err="1">
                <a:solidFill>
                  <a:srgbClr val="6B5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precisa</a:t>
            </a:r>
            <a:r>
              <a:rPr lang="en-US" sz="1200" dirty="0">
                <a:solidFill>
                  <a:srgbClr val="6B5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volume </a:t>
            </a:r>
            <a:r>
              <a:rPr lang="en-US" sz="1200" dirty="0" err="1">
                <a:solidFill>
                  <a:srgbClr val="6B5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constante</a:t>
            </a:r>
            <a:r>
              <a:rPr lang="en-US" sz="1200" dirty="0">
                <a:solidFill>
                  <a:srgbClr val="6B5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200" dirty="0" err="1">
                <a:solidFill>
                  <a:srgbClr val="6B5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</a:t>
            </a:r>
            <a:r>
              <a:rPr lang="en-US" sz="1200" dirty="0">
                <a:solidFill>
                  <a:srgbClr val="6B5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n-US" sz="1200" dirty="0" err="1">
                <a:solidFill>
                  <a:srgbClr val="6B5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Espalhando</a:t>
            </a:r>
            <a:r>
              <a:rPr lang="en-US" sz="1200" dirty="0">
                <a:solidFill>
                  <a:srgbClr val="6B5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</a:t>
            </a:r>
            <a:r>
              <a:rPr lang="en-US" sz="1200" dirty="0" err="1">
                <a:solidFill>
                  <a:srgbClr val="6B5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verba</a:t>
            </a:r>
            <a:r>
              <a:rPr lang="en-US" sz="1200" dirty="0">
                <a:solidFill>
                  <a:srgbClr val="6B5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entre 89 </a:t>
            </a:r>
            <a:r>
              <a:rPr lang="en-US" sz="1200" dirty="0" err="1">
                <a:solidFill>
                  <a:srgbClr val="6B5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anúncios</a:t>
            </a:r>
            <a:r>
              <a:rPr lang="en-US" sz="1200" dirty="0">
                <a:solidFill>
                  <a:srgbClr val="6B5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00" dirty="0" err="1">
                <a:solidFill>
                  <a:srgbClr val="6B5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</a:t>
            </a:r>
            <a:r>
              <a:rPr lang="en-US" sz="1200" dirty="0">
                <a:solidFill>
                  <a:srgbClr val="6B5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6B5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atinge</a:t>
            </a:r>
            <a:r>
              <a:rPr lang="en-US" sz="1200" dirty="0">
                <a:solidFill>
                  <a:srgbClr val="6B5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6B5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</a:t>
            </a:r>
            <a:r>
              <a:rPr lang="en-US" sz="1200" dirty="0">
                <a:solidFill>
                  <a:srgbClr val="6B5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volume.</a:t>
            </a:r>
            <a:endParaRPr lang="en-US" sz="12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200" dirty="0" err="1" smtClean="0">
                <a:solidFill>
                  <a:srgbClr val="6B5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</a:t>
            </a:r>
            <a:r>
              <a:rPr lang="en-US" sz="1200" dirty="0" smtClean="0">
                <a:solidFill>
                  <a:srgbClr val="6B5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>
                <a:solidFill>
                  <a:srgbClr val="6B5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contato no WhatsApp custa em média R$ 17. Com R$ 6 por dia, um criativo gera menos de um contato a cada três dias. </a:t>
            </a:r>
            <a:r>
              <a:rPr lang="en-US" sz="1200" dirty="0" smtClean="0">
                <a:solidFill>
                  <a:srgbClr val="6B5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</a:t>
            </a:r>
            <a:r>
              <a:rPr lang="en-US" sz="1200" dirty="0">
                <a:solidFill>
                  <a:srgbClr val="6B5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criativo fica no ar, mas não performa.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40233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948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caminhos possíveis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548640" y="443484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E8F5EE"/>
          </a:solidFill>
          <a:ln/>
        </p:spPr>
      </p:sp>
      <p:sp>
        <p:nvSpPr>
          <p:cNvPr id="18" name="Text 16"/>
          <p:cNvSpPr/>
          <p:nvPr/>
        </p:nvSpPr>
        <p:spPr>
          <a:xfrm>
            <a:off x="804672" y="455371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 smtClean="0">
                <a:solidFill>
                  <a:srgbClr val="21AA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CONCENTRAR (</a:t>
            </a:r>
            <a:r>
              <a:rPr lang="en-US" sz="1300" b="1" kern="0" spc="100" dirty="0" err="1" smtClean="0">
                <a:solidFill>
                  <a:srgbClr val="21AA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recomendação</a:t>
            </a:r>
            <a:r>
              <a:rPr lang="en-US" sz="1300" b="1" kern="0" spc="100" dirty="0" smtClean="0">
                <a:solidFill>
                  <a:srgbClr val="21AA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04672" y="482803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Poucos criativos, verba real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04672" y="5138928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094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Ganho:  </a:t>
            </a:r>
            <a:r>
              <a:rPr lang="en-US" sz="1050" dirty="0">
                <a:solidFill>
                  <a:srgbClr val="094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um recebe verba suficiente para aprender e performar. Melhor custo </a:t>
            </a:r>
            <a:r>
              <a:rPr lang="en-US" sz="1050" dirty="0" err="1">
                <a:solidFill>
                  <a:srgbClr val="094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</a:t>
            </a:r>
            <a:r>
              <a:rPr lang="en-US" sz="1050" dirty="0">
                <a:solidFill>
                  <a:srgbClr val="094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 smtClean="0">
                <a:solidFill>
                  <a:srgbClr val="094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contato</a:t>
            </a:r>
            <a:r>
              <a:rPr lang="en-US" sz="1050" dirty="0" smtClean="0">
                <a:solidFill>
                  <a:srgbClr val="094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050" dirty="0" err="1" smtClean="0">
                <a:solidFill>
                  <a:srgbClr val="094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</a:t>
            </a:r>
            <a:r>
              <a:rPr lang="en-US" sz="1050" dirty="0" smtClean="0">
                <a:solidFill>
                  <a:srgbClr val="094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 smtClean="0">
                <a:solidFill>
                  <a:srgbClr val="094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aprendizado</a:t>
            </a:r>
            <a:r>
              <a:rPr lang="en-US" sz="1050" dirty="0" smtClean="0">
                <a:solidFill>
                  <a:srgbClr val="094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e </a:t>
            </a:r>
            <a:r>
              <a:rPr lang="en-US" sz="1050" dirty="0" err="1" smtClean="0">
                <a:solidFill>
                  <a:srgbClr val="094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melhores</a:t>
            </a:r>
            <a:r>
              <a:rPr lang="en-US" sz="1050" dirty="0" smtClean="0">
                <a:solidFill>
                  <a:srgbClr val="094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 smtClean="0">
                <a:solidFill>
                  <a:srgbClr val="094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</a:t>
            </a:r>
            <a:r>
              <a:rPr lang="en-US" sz="1050" dirty="0" smtClean="0">
                <a:solidFill>
                  <a:srgbClr val="094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 </a:t>
            </a:r>
            <a:r>
              <a:rPr lang="en-US" sz="1050" dirty="0" err="1" smtClean="0">
                <a:solidFill>
                  <a:srgbClr val="094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médio</a:t>
            </a:r>
            <a:r>
              <a:rPr lang="en-US" sz="1050" dirty="0" smtClean="0">
                <a:solidFill>
                  <a:srgbClr val="094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 smtClean="0">
                <a:solidFill>
                  <a:srgbClr val="094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prazo</a:t>
            </a:r>
            <a:r>
              <a:rPr lang="en-US" sz="1050" dirty="0" smtClean="0">
                <a:solidFill>
                  <a:srgbClr val="094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04672" y="5732052"/>
            <a:ext cx="3108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094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Custo:  </a:t>
            </a:r>
            <a:r>
              <a:rPr lang="en-US" sz="1050" dirty="0" err="1">
                <a:solidFill>
                  <a:srgbClr val="094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</a:t>
            </a:r>
            <a:r>
              <a:rPr lang="en-US" sz="1050" dirty="0">
                <a:solidFill>
                  <a:srgbClr val="094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 smtClean="0">
                <a:solidFill>
                  <a:srgbClr val="094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lojas</a:t>
            </a:r>
            <a:r>
              <a:rPr lang="en-US" sz="1050" dirty="0" smtClean="0">
                <a:solidFill>
                  <a:srgbClr val="094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050" dirty="0" err="1" smtClean="0">
                <a:solidFill>
                  <a:srgbClr val="094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eventos</a:t>
            </a:r>
            <a:r>
              <a:rPr lang="en-US" sz="1050" dirty="0" smtClean="0">
                <a:solidFill>
                  <a:srgbClr val="094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050" dirty="0" err="1" smtClean="0">
                <a:solidFill>
                  <a:srgbClr val="094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feirões</a:t>
            </a:r>
            <a:r>
              <a:rPr lang="en-US" sz="1050" dirty="0" smtClean="0">
                <a:solidFill>
                  <a:srgbClr val="094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1050" dirty="0" err="1" smtClean="0">
                <a:solidFill>
                  <a:srgbClr val="094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produtos</a:t>
            </a:r>
            <a:r>
              <a:rPr lang="en-US" sz="1050" dirty="0" smtClean="0">
                <a:solidFill>
                  <a:srgbClr val="094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>
                <a:solidFill>
                  <a:srgbClr val="094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aparecem simultaneamente.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297680" y="443484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E8F5EE"/>
          </a:solidFill>
          <a:ln/>
        </p:spPr>
      </p:sp>
      <p:sp>
        <p:nvSpPr>
          <p:cNvPr id="23" name="Text 21"/>
          <p:cNvSpPr/>
          <p:nvPr/>
        </p:nvSpPr>
        <p:spPr>
          <a:xfrm>
            <a:off x="4553712" y="455371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21AA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REVEZAR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53712" y="482803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entram, mas em ciclos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53712" y="5138928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094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Ganho:  </a:t>
            </a:r>
            <a:r>
              <a:rPr lang="en-US" sz="1050" dirty="0">
                <a:solidFill>
                  <a:srgbClr val="094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têm sua vez com verba de verdade. É o que já fazemos com as </a:t>
            </a:r>
            <a:r>
              <a:rPr lang="en-US" sz="1050" dirty="0" err="1">
                <a:solidFill>
                  <a:srgbClr val="094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lojas</a:t>
            </a:r>
            <a:r>
              <a:rPr lang="en-US" sz="1050" dirty="0" smtClean="0">
                <a:solidFill>
                  <a:srgbClr val="094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Mas, para </a:t>
            </a:r>
            <a:r>
              <a:rPr lang="en-US" sz="1050" dirty="0" err="1" smtClean="0">
                <a:solidFill>
                  <a:srgbClr val="094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entrar</a:t>
            </a:r>
            <a:r>
              <a:rPr lang="en-US" sz="1050" dirty="0" smtClean="0">
                <a:solidFill>
                  <a:srgbClr val="094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 smtClean="0">
                <a:solidFill>
                  <a:srgbClr val="094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novos</a:t>
            </a:r>
            <a:r>
              <a:rPr lang="en-US" sz="1050" dirty="0" smtClean="0">
                <a:solidFill>
                  <a:srgbClr val="094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 smtClean="0">
                <a:solidFill>
                  <a:srgbClr val="094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criativos</a:t>
            </a:r>
            <a:r>
              <a:rPr lang="en-US" sz="1050" dirty="0" smtClean="0">
                <a:solidFill>
                  <a:srgbClr val="094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050" dirty="0" err="1" smtClean="0">
                <a:solidFill>
                  <a:srgbClr val="094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precisamos</a:t>
            </a:r>
            <a:r>
              <a:rPr lang="en-US" sz="1050" dirty="0" smtClean="0">
                <a:solidFill>
                  <a:srgbClr val="094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 smtClean="0">
                <a:solidFill>
                  <a:srgbClr val="094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pausar</a:t>
            </a:r>
            <a:r>
              <a:rPr lang="en-US" sz="1050" dirty="0" smtClean="0">
                <a:solidFill>
                  <a:srgbClr val="094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 smtClean="0">
                <a:solidFill>
                  <a:srgbClr val="094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algum</a:t>
            </a:r>
            <a:r>
              <a:rPr lang="en-US" sz="1050" dirty="0" smtClean="0">
                <a:solidFill>
                  <a:srgbClr val="094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 smtClean="0">
                <a:solidFill>
                  <a:srgbClr val="094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ativo</a:t>
            </a:r>
            <a:r>
              <a:rPr lang="en-US" sz="1050" dirty="0">
                <a:solidFill>
                  <a:srgbClr val="094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553712" y="5730816"/>
            <a:ext cx="3108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094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Custo:  </a:t>
            </a:r>
            <a:r>
              <a:rPr lang="en-US" sz="1050" dirty="0">
                <a:solidFill>
                  <a:srgbClr val="094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Ninguém roda o tempo todo. Exige planejar a fila e respeitar o </a:t>
            </a:r>
            <a:r>
              <a:rPr lang="en-US" sz="1050" dirty="0" err="1" smtClean="0">
                <a:solidFill>
                  <a:srgbClr val="094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</a:t>
            </a:r>
            <a:r>
              <a:rPr lang="en-US" sz="1050" dirty="0" smtClean="0">
                <a:solidFill>
                  <a:srgbClr val="094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e </a:t>
            </a:r>
            <a:r>
              <a:rPr lang="en-US" sz="1050" dirty="0" err="1" smtClean="0">
                <a:solidFill>
                  <a:srgbClr val="094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assumir</a:t>
            </a:r>
            <a:r>
              <a:rPr lang="en-US" sz="1050" dirty="0" smtClean="0">
                <a:solidFill>
                  <a:srgbClr val="094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 smtClean="0">
                <a:solidFill>
                  <a:srgbClr val="094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aprendizado</a:t>
            </a:r>
            <a:r>
              <a:rPr lang="en-US" sz="1050" dirty="0" smtClean="0">
                <a:solidFill>
                  <a:srgbClr val="094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 smtClean="0">
                <a:solidFill>
                  <a:srgbClr val="094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permanente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046720" y="443484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FBEDEC"/>
          </a:solidFill>
          <a:ln/>
        </p:spPr>
      </p:sp>
      <p:sp>
        <p:nvSpPr>
          <p:cNvPr id="28" name="Text 26"/>
          <p:cNvSpPr/>
          <p:nvPr/>
        </p:nvSpPr>
        <p:spPr>
          <a:xfrm>
            <a:off x="8302752" y="455371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MANTER COMO ESTÁ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302752" y="482803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 no ar ao mesmo tempo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302752" y="5138928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6B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Ganho:  </a:t>
            </a:r>
            <a:r>
              <a:rPr lang="en-US" sz="1050" dirty="0">
                <a:solidFill>
                  <a:srgbClr val="6B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aparecem na conta e ninguém fica de fora.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8302752" y="5732052"/>
            <a:ext cx="3108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6B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Custo:  </a:t>
            </a:r>
            <a:r>
              <a:rPr lang="en-US" sz="1050" dirty="0">
                <a:solidFill>
                  <a:srgbClr val="6B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verba se pulveriza. A maioria não entrega e o custo por contato piora.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31275772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948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 a verba está sendo aplicada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Ads · R$ 16.000/mês</a:t>
            </a:r>
            <a:endParaRPr lang="en-US" sz="1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600200"/>
          <a:ext cx="667512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589520" y="1600200"/>
            <a:ext cx="4023360" cy="2743200"/>
          </a:xfrm>
          <a:prstGeom prst="roundRect">
            <a:avLst>
              <a:gd name="adj" fmla="val 2667"/>
            </a:avLst>
          </a:prstGeom>
          <a:solidFill>
            <a:srgbClr val="F2F5F3"/>
          </a:solidFill>
          <a:ln/>
        </p:spPr>
      </p:sp>
      <p:sp>
        <p:nvSpPr>
          <p:cNvPr id="6" name="Text 3"/>
          <p:cNvSpPr/>
          <p:nvPr/>
        </p:nvSpPr>
        <p:spPr>
          <a:xfrm>
            <a:off x="7863840" y="17556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948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Reconhecimento por região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863840" y="219456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Curitiba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0058400" y="219456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94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R$ 12/dia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863840" y="256032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São Paulo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058400" y="25603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94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R$ 10/dia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863840" y="292608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Santa Catarina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0058400" y="292608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94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R$ 10/dia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863840" y="329184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Oeste do Paraná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0058400" y="32918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94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R$ 10/dia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863840" y="365760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Interior do Paraná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0058400" y="365760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94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R$ 10/dia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48640" y="4617720"/>
            <a:ext cx="3931920" cy="1737360"/>
          </a:xfrm>
          <a:prstGeom prst="roundRect">
            <a:avLst>
              <a:gd name="adj" fmla="val 4211"/>
            </a:avLst>
          </a:prstGeom>
          <a:solidFill>
            <a:srgbClr val="FBEDEC"/>
          </a:solidFill>
          <a:ln/>
        </p:spPr>
      </p:sp>
      <p:sp>
        <p:nvSpPr>
          <p:cNvPr id="18" name="Text 15"/>
          <p:cNvSpPr/>
          <p:nvPr/>
        </p:nvSpPr>
        <p:spPr>
          <a:xfrm>
            <a:off x="822960" y="480060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R$ 1.200</a:t>
            </a:r>
            <a:endParaRPr lang="en-US" sz="4000" dirty="0"/>
          </a:p>
        </p:txBody>
      </p:sp>
      <p:sp>
        <p:nvSpPr>
          <p:cNvPr id="19" name="Text 16"/>
          <p:cNvSpPr/>
          <p:nvPr/>
        </p:nvSpPr>
        <p:spPr>
          <a:xfrm>
            <a:off x="822960" y="553212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mês investidos em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B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reconhecimento fora de Curitiba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54880" y="4617720"/>
            <a:ext cx="6858000" cy="1737360"/>
          </a:xfrm>
          <a:prstGeom prst="roundRect">
            <a:avLst>
              <a:gd name="adj" fmla="val 4211"/>
            </a:avLst>
          </a:prstGeom>
          <a:solidFill>
            <a:srgbClr val="E8F5EE"/>
          </a:solidFill>
          <a:ln/>
        </p:spPr>
      </p:sp>
      <p:sp>
        <p:nvSpPr>
          <p:cNvPr id="21" name="Text 18"/>
          <p:cNvSpPr/>
          <p:nvPr/>
        </p:nvSpPr>
        <p:spPr>
          <a:xfrm>
            <a:off x="5074920" y="480060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AA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o formulário mostrou até agora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5074920" y="5193792"/>
            <a:ext cx="6309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094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loja registrou contato vindo da Bahia. O motivo de não fechar: morava longe demais. A sugestão espontânea da própria loja foi concentrar a campanha em Curitiba e região. Nenhuma venda registrada de fora do estado até aqui.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0948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que antes </a:t>
            </a:r>
            <a:r>
              <a:rPr lang="en-US" sz="3300" b="1" dirty="0" err="1">
                <a:solidFill>
                  <a:srgbClr val="0948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tudo</a:t>
            </a:r>
            <a:r>
              <a:rPr lang="en-US" sz="3300" b="1" dirty="0">
                <a:solidFill>
                  <a:srgbClr val="0948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3300" b="1" dirty="0" smtClean="0">
                <a:solidFill>
                  <a:srgbClr val="0948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</a:t>
            </a:r>
            <a:r>
              <a:rPr lang="en-US" sz="3300" b="1" dirty="0" err="1" smtClean="0">
                <a:solidFill>
                  <a:srgbClr val="0948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rodava</a:t>
            </a:r>
            <a:r>
              <a:rPr lang="en-US" sz="3300" b="1" dirty="0" smtClean="0">
                <a:solidFill>
                  <a:srgbClr val="0948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”, </a:t>
            </a:r>
            <a:r>
              <a:rPr lang="en-US" sz="3300" b="1" dirty="0">
                <a:solidFill>
                  <a:srgbClr val="0948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agora não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diferença não é a verba. É o que a verba está comprando.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94960" cy="2286000"/>
          </a:xfrm>
          <a:prstGeom prst="roundRect">
            <a:avLst>
              <a:gd name="adj" fmla="val 4000"/>
            </a:avLst>
          </a:prstGeom>
          <a:solidFill>
            <a:srgbClr val="F2F5F3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6916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5A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COMPRÁVAMOS ANTES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8680" y="21031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 no link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0" y="21031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R$ 0,15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25146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Visita ao perfil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0" y="25146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R$ 0,15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68680" y="29260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Visualização de página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0" y="29260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R$ 0,37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68680" y="33832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R$ 10 por dia: 66 cliques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1508760"/>
            <a:ext cx="5394960" cy="2286000"/>
          </a:xfrm>
          <a:prstGeom prst="roundRect">
            <a:avLst>
              <a:gd name="adj" fmla="val 4000"/>
            </a:avLst>
          </a:prstGeom>
          <a:solidFill>
            <a:srgbClr val="E8F5EE"/>
          </a:solidFill>
          <a:ln/>
        </p:spPr>
      </p:sp>
      <p:sp>
        <p:nvSpPr>
          <p:cNvPr id="14" name="Text 12"/>
          <p:cNvSpPr/>
          <p:nvPr/>
        </p:nvSpPr>
        <p:spPr>
          <a:xfrm>
            <a:off x="6537960" y="16916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1AA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COMPRAMOS AGORA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37960" y="21488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94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 no WhatsApp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875520" y="21031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0948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R$ 17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537960" y="265176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094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Contato comercial de verdade, com o </a:t>
            </a:r>
            <a:r>
              <a:rPr lang="en-US" sz="1200" dirty="0" err="1" smtClean="0">
                <a:solidFill>
                  <a:srgbClr val="094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r>
              <a:rPr lang="en-US" sz="1200" dirty="0" smtClean="0">
                <a:solidFill>
                  <a:srgbClr val="094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 smtClean="0">
                <a:solidFill>
                  <a:srgbClr val="094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falando</a:t>
            </a:r>
            <a:r>
              <a:rPr lang="en-US" sz="1200" dirty="0" smtClean="0">
                <a:solidFill>
                  <a:srgbClr val="094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>
                <a:solidFill>
                  <a:srgbClr val="094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diretamente com a loja.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537960" y="32004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21A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R$ 10 por dia: meia conversa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97764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FDF6E3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4114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77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conversa custa mais de 100 vezes o preço de um clique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14400" y="4462272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6B5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campanhas antigas de WhatsApp estavam configuradas para </a:t>
            </a:r>
            <a:r>
              <a:rPr lang="en-US" sz="1300" dirty="0" err="1">
                <a:solidFill>
                  <a:srgbClr val="6B5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gerar</a:t>
            </a:r>
            <a:r>
              <a:rPr lang="en-US" sz="1300" dirty="0">
                <a:solidFill>
                  <a:srgbClr val="6B5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smtClean="0">
                <a:solidFill>
                  <a:srgbClr val="6B5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cliques (para IG), </a:t>
            </a:r>
            <a:r>
              <a:rPr lang="en-US" sz="1300" dirty="0">
                <a:solidFill>
                  <a:srgbClr val="6B5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conversas. Por isso todas entregavam volume alto com pouca verba: clique é barato e abundante. Só que clique não fala com a loja, não marca visita e não compra carro.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5394960"/>
            <a:ext cx="11064240" cy="1143000"/>
          </a:xfrm>
          <a:prstGeom prst="roundRect">
            <a:avLst>
              <a:gd name="adj" fmla="val 6400"/>
            </a:avLst>
          </a:prstGeom>
          <a:solidFill>
            <a:srgbClr val="094825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" y="553212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Trocamos volume por qualidade. E qualidade custa mais.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14400" y="589788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9FB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números ficaram menores porque paramos de contar clique como resultado. Em compensação, 219 pessoas conversaram com as lojas em junho, e 200 já conversaram nos primeiros 13 dias de julho.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30631746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0948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Ads: a prioridade de julho e agosto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FBEDEC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4630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precisa ser ajustado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1847088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6B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 a conta registra como conversão eventos simples de navegação no site, e não contatos comerciais. Com isso, o sistema de lances vem sendo orientado por um sinal que não representa oportunidade de venda.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971800"/>
            <a:ext cx="502920" cy="502920"/>
          </a:xfrm>
          <a:prstGeom prst="ellipse">
            <a:avLst/>
          </a:prstGeom>
          <a:solidFill>
            <a:srgbClr val="21AA61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971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71600" y="2926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94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Ajustar as conversões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71600" y="324612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Passar a contar apenas contato comercial real: WhatsApp e formulário.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3931920"/>
            <a:ext cx="502920" cy="502920"/>
          </a:xfrm>
          <a:prstGeom prst="ellipse">
            <a:avLst/>
          </a:prstGeom>
          <a:solidFill>
            <a:srgbClr val="21AA61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931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71600" y="3886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94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Reestruturar por intenção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371600" y="420624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Campanhas separadas por tipo de busca: modelo, categoria e financiamento.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4892040"/>
            <a:ext cx="502920" cy="502920"/>
          </a:xfrm>
          <a:prstGeom prst="ellipse">
            <a:avLst/>
          </a:prstGeom>
          <a:solidFill>
            <a:srgbClr val="21AA61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892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371600" y="4846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94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Destinos corretos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371600" y="516636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clique cai na página do veículo ou no catálogo filtrado.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5852160"/>
            <a:ext cx="11064240" cy="731520"/>
          </a:xfrm>
          <a:prstGeom prst="roundRect">
            <a:avLst>
              <a:gd name="adj" fmla="val 7500"/>
            </a:avLst>
          </a:prstGeom>
          <a:solidFill>
            <a:srgbClr val="094825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585216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número de conversões vai cair bastante. Isso é o sinal de que passamos a medir o que realmente importa.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948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Próximos 30 dias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0D5C33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600200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1AA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737360" y="162763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Reestruturar o Google Ads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737360" y="1993392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Ajustar as conversões e montar as campanhas por intenção de busca. Prioridade absoluta.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651760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0D5C33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788920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1AA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737360" y="281635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Normalizar o pagamento da Meta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737360" y="3182112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Suporte acionado. Sugestão: cadastrar cartão de crédito.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840480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0D5C33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977640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1AA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737360" y="400507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Apoiar as lojas no formulário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737360" y="4370832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Visita loja a loja para ensinar a identificar a origem do contato.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5029200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0D5C33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5166360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1AA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737360" y="519379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Completar o ciclo do rodízio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737360" y="5559552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Passar por todas as 23 lojas para comparar resultado com base real.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617220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21A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o registro das lojas, deixamos de otimizar por custo e passamos a otimizar por venda.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1733</Words>
  <Application>Microsoft Office PowerPoint</Application>
  <PresentationFormat>Widescreen</PresentationFormat>
  <Paragraphs>203</Paragraphs>
  <Slides>12</Slides>
  <Notes>12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Gabriel Pauletto Reszka</cp:lastModifiedBy>
  <cp:revision>6</cp:revision>
  <dcterms:created xsi:type="dcterms:W3CDTF">2026-07-13T21:53:39Z</dcterms:created>
  <dcterms:modified xsi:type="dcterms:W3CDTF">2026-07-14T18:18:08Z</dcterms:modified>
</cp:coreProperties>
</file>