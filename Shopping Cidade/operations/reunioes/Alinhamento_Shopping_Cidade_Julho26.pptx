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509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87041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Capa. Junho x Julho, plano de agosto e o calendario ate dezembro. Duas frentes na mesma leitura, sem misturar reguas.</a:t>
            </a:r>
          </a:p>
        </p:txBody>
      </p:sp>
    </p:spTree>
    <p:extLst>
      <p:ext uri="{BB962C8B-B14F-4D97-AF65-F5344CB8AC3E}">
        <p14:creationId xmlns:p14="http://schemas.microsoft.com/office/powerpoint/2010/main" val="22628209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de contexto. As duas frentes vivem na mesma conta mas nao se comparam. Verbas nominais. B2C e principal por verba, B2B e critico por resultado.</a:t>
            </a:r>
          </a:p>
        </p:txBody>
      </p:sp>
    </p:spTree>
    <p:extLst>
      <p:ext uri="{BB962C8B-B14F-4D97-AF65-F5344CB8AC3E}">
        <p14:creationId xmlns:p14="http://schemas.microsoft.com/office/powerpoint/2010/main" val="38464795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B2C. Julho em 21 dias ja superou o alcance do mes fechado de junho, a um custo por mil 19% menor. Google B2C zerado por decisao.</a:t>
            </a:r>
          </a:p>
        </p:txBody>
      </p:sp>
    </p:spTree>
    <p:extLst>
      <p:ext uri="{BB962C8B-B14F-4D97-AF65-F5344CB8AC3E}">
        <p14:creationId xmlns:p14="http://schemas.microsoft.com/office/powerpoint/2010/main" val="1814675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B2B. CPL caiu tres meses seguidos: 58,69 mai, 47,90 jun, 33,41 jul. Ressalva: CPL mede custo, nao qualidade. Falta retorno do comercial.</a:t>
            </a:r>
          </a:p>
        </p:txBody>
      </p:sp>
    </p:spTree>
    <p:extLst>
      <p:ext uri="{BB962C8B-B14F-4D97-AF65-F5344CB8AC3E}">
        <p14:creationId xmlns:p14="http://schemas.microsoft.com/office/powerpoint/2010/main" val="256612072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Slide didatico, mesma logica do Autoshopping. Funil completo, plano e medicao. E a virada de regua: alcance hoje, algo palpavel depois.</a:t>
            </a:r>
          </a:p>
        </p:txBody>
      </p:sp>
    </p:spTree>
    <p:extLst>
      <p:ext uri="{BB962C8B-B14F-4D97-AF65-F5344CB8AC3E}">
        <p14:creationId xmlns:p14="http://schemas.microsoft.com/office/powerpoint/2010/main" val="2338953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Agosto B2C. A verba vigente e residuo do corte emergencial de julho, nao decisao. Agosto redesenha. Setembro migra o objetivo para alcance de verdade.</a:t>
            </a:r>
          </a:p>
        </p:txBody>
      </p:sp>
    </p:spTree>
    <p:extLst>
      <p:ext uri="{BB962C8B-B14F-4D97-AF65-F5344CB8AC3E}">
        <p14:creationId xmlns:p14="http://schemas.microsoft.com/office/powerpoint/2010/main" val="34331916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Agosto B2B. Um entregavel dominante por semana. Nao mexer no CBO que esta no melhor CPL. Google gasta pouco de proposito; setembro e o mes de medir.</a:t>
            </a:r>
          </a:p>
        </p:txBody>
      </p:sp>
    </p:spTree>
    <p:extLst>
      <p:ext uri="{BB962C8B-B14F-4D97-AF65-F5344CB8AC3E}">
        <p14:creationId xmlns:p14="http://schemas.microsoft.com/office/powerpoint/2010/main" val="92207600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Calendario ja fechado ate fev/27. Briefings antecipados. Aviso de novembro sai em outubro. Proposta de realocar verba do B2B para o B2C em dezembro e decisao de gestao.</a:t>
            </a:r>
          </a:p>
        </p:txBody>
      </p:sp>
    </p:spTree>
    <p:extLst>
      <p:ext uri="{BB962C8B-B14F-4D97-AF65-F5344CB8AC3E}">
        <p14:creationId xmlns:p14="http://schemas.microsoft.com/office/powerpoint/2010/main" val="157592353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Fecho. Tres numeros, quatro pedidos. Abrir pelo resultado e pelo pedido, nao pelo diagnostico.</a:t>
            </a:r>
          </a:p>
        </p:txBody>
      </p:sp>
    </p:spTree>
    <p:extLst>
      <p:ext uri="{BB962C8B-B14F-4D97-AF65-F5344CB8AC3E}">
        <p14:creationId xmlns:p14="http://schemas.microsoft.com/office/powerpoint/2010/main" val="1263634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Subtitle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ColTx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  <p:sp>
        <p:nvSpPr>
          <p:cNvPr id="3" name="Content Left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Content Right"/>
          <p:cNvSpPr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6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extBox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001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 spc="300">
                <a:solidFill>
                  <a:srgbClr val="1DAFE0"/>
                </a:solidFill>
                <a:latin typeface="Poppins"/>
                <a:ea typeface="Poppins"/>
              </a:rPr>
              <a:t>SHOPPING CIDADE</a:t>
            </a:r>
          </a:p>
        </p:txBody>
      </p:sp>
      <p:sp>
        <p:nvSpPr>
          <p:cNvPr id="100002" name="TextBox 3"/>
          <p:cNvSpPr txBox="1"/>
          <p:nvPr/>
        </p:nvSpPr>
        <p:spPr>
          <a:xfrm>
            <a:off x="822960" y="1905000"/>
            <a:ext cx="10515600" cy="736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4000" b="1">
                <a:solidFill>
                  <a:srgbClr val="FFFFFF"/>
                </a:solidFill>
                <a:latin typeface="Poppins"/>
                <a:ea typeface="Poppins"/>
              </a:rPr>
              <a:t>ALINHAMENTO DE MÍDIA PAGA</a:t>
            </a:r>
          </a:p>
        </p:txBody>
      </p:sp>
      <p:sp>
        <p:nvSpPr>
          <p:cNvPr id="100003" name="TextBox 4"/>
          <p:cNvSpPr txBox="1"/>
          <p:nvPr/>
        </p:nvSpPr>
        <p:spPr>
          <a:xfrm>
            <a:off x="822960" y="2743200"/>
            <a:ext cx="105156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000">
                <a:solidFill>
                  <a:srgbClr val="E6E7E7"/>
                </a:solidFill>
                <a:latin typeface="Poppins"/>
                <a:ea typeface="Poppins"/>
              </a:rPr>
              <a:t>Junho × Julho  ·  Agosto em plano  ·  Planejamento até dezembro</a:t>
            </a:r>
          </a:p>
        </p:txBody>
      </p:sp>
      <p:sp>
        <p:nvSpPr>
          <p:cNvPr id="100004" name="TextBox 5"/>
          <p:cNvSpPr txBox="1"/>
          <p:nvPr/>
        </p:nvSpPr>
        <p:spPr>
          <a:xfrm>
            <a:off x="822960" y="5303520"/>
            <a:ext cx="1051560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500" b="1" dirty="0">
                <a:solidFill>
                  <a:srgbClr val="FC496C"/>
                </a:solidFill>
                <a:latin typeface="Poppins"/>
                <a:ea typeface="Poppins"/>
              </a:rPr>
              <a:t>B2C </a:t>
            </a:r>
            <a:r>
              <a:rPr lang="en-US" sz="1500" b="1" dirty="0" smtClean="0">
                <a:solidFill>
                  <a:srgbClr val="FC496C"/>
                </a:solidFill>
                <a:latin typeface="Poppins"/>
                <a:ea typeface="Poppins"/>
              </a:rPr>
              <a:t>(</a:t>
            </a:r>
            <a:r>
              <a:rPr lang="en-US" sz="1500" b="1" dirty="0" err="1" smtClean="0">
                <a:solidFill>
                  <a:srgbClr val="FC496C"/>
                </a:solidFill>
                <a:latin typeface="Poppins"/>
                <a:ea typeface="Poppins"/>
              </a:rPr>
              <a:t>fluxo</a:t>
            </a:r>
            <a:r>
              <a:rPr lang="en-US" sz="1500" b="1" dirty="0" smtClean="0">
                <a:solidFill>
                  <a:srgbClr val="FC496C"/>
                </a:solidFill>
                <a:latin typeface="Poppins"/>
                <a:ea typeface="Poppins"/>
              </a:rPr>
              <a:t>)  </a:t>
            </a:r>
            <a:r>
              <a:rPr lang="en-US" sz="1500" b="1" dirty="0">
                <a:solidFill>
                  <a:srgbClr val="FC496C"/>
                </a:solidFill>
                <a:latin typeface="Poppins"/>
                <a:ea typeface="Poppins"/>
              </a:rPr>
              <a:t>·  B2B </a:t>
            </a:r>
            <a:r>
              <a:rPr lang="en-US" sz="1500" b="1" dirty="0" smtClean="0">
                <a:solidFill>
                  <a:srgbClr val="FC496C"/>
                </a:solidFill>
                <a:latin typeface="Poppins"/>
                <a:ea typeface="Poppins"/>
              </a:rPr>
              <a:t>(leads)</a:t>
            </a:r>
            <a:endParaRPr lang="en-US" sz="1500" b="1" dirty="0">
              <a:solidFill>
                <a:srgbClr val="FC496C"/>
              </a:solidFill>
              <a:latin typeface="Poppins"/>
              <a:ea typeface="Poppins"/>
            </a:endParaRPr>
          </a:p>
        </p:txBody>
      </p:sp>
      <p:sp>
        <p:nvSpPr>
          <p:cNvPr id="100005" name="TextBox 6"/>
          <p:cNvSpPr txBox="1"/>
          <p:nvPr/>
        </p:nvSpPr>
        <p:spPr>
          <a:xfrm>
            <a:off x="822960" y="5740400"/>
            <a:ext cx="10515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>
                <a:solidFill>
                  <a:srgbClr val="8FA6B5"/>
                </a:solidFill>
                <a:latin typeface="Poppins"/>
                <a:ea typeface="Poppins"/>
              </a:rPr>
              <a:t>Meta Ads e Google Ads · dados até 21/07/2026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6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AS DUAS FRENTES</a:t>
            </a:r>
          </a:p>
        </p:txBody>
      </p:sp>
      <p:sp>
        <p:nvSpPr>
          <p:cNvPr id="100007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Duas operações na mesma conta, com réguas diferentes</a:t>
            </a:r>
          </a:p>
        </p:txBody>
      </p:sp>
      <p:sp>
        <p:nvSpPr>
          <p:cNvPr id="100008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Por verba, a frente principal é o B2C. Por criticidade de resultado, é o B2B.</a:t>
            </a:r>
          </a:p>
        </p:txBody>
      </p:sp>
      <p:sp>
        <p:nvSpPr>
          <p:cNvPr id="100009" name="TextBox 4"/>
          <p:cNvSpPr/>
          <p:nvPr/>
        </p:nvSpPr>
        <p:spPr>
          <a:xfrm>
            <a:off x="640080" y="1905000"/>
            <a:ext cx="5323840" cy="3657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010" name="TextBox 5"/>
          <p:cNvSpPr txBox="1"/>
          <p:nvPr/>
        </p:nvSpPr>
        <p:spPr>
          <a:xfrm>
            <a:off x="970280" y="2133600"/>
            <a:ext cx="457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 spc="200">
                <a:solidFill>
                  <a:srgbClr val="157DBF"/>
                </a:solidFill>
                <a:latin typeface="Poppins"/>
                <a:ea typeface="Poppins"/>
              </a:rPr>
              <a:t>B2C  ·  CONSUMIDOR</a:t>
            </a:r>
          </a:p>
        </p:txBody>
      </p:sp>
      <p:sp>
        <p:nvSpPr>
          <p:cNvPr id="100011" name="TextBox 6"/>
          <p:cNvSpPr txBox="1"/>
          <p:nvPr/>
        </p:nvSpPr>
        <p:spPr>
          <a:xfrm>
            <a:off x="970280" y="25654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 dirty="0" err="1" smtClean="0">
                <a:solidFill>
                  <a:srgbClr val="6B7280"/>
                </a:solidFill>
                <a:latin typeface="Poppins"/>
                <a:ea typeface="Poppins"/>
              </a:rPr>
              <a:t>Objetivo</a:t>
            </a:r>
            <a:endParaRPr lang="en-US" sz="1000" b="1" spc="100" dirty="0">
              <a:solidFill>
                <a:srgbClr val="6B7280"/>
              </a:solidFill>
              <a:latin typeface="Poppins"/>
              <a:ea typeface="Poppins"/>
            </a:endParaRPr>
          </a:p>
        </p:txBody>
      </p:sp>
      <p:sp>
        <p:nvSpPr>
          <p:cNvPr id="100012" name="TextBox 7"/>
          <p:cNvSpPr txBox="1"/>
          <p:nvPr/>
        </p:nvSpPr>
        <p:spPr>
          <a:xfrm>
            <a:off x="970280" y="27686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 err="1" smtClean="0">
                <a:solidFill>
                  <a:srgbClr val="1A1A1A"/>
                </a:solidFill>
                <a:latin typeface="Poppins"/>
                <a:ea typeface="Poppins"/>
              </a:rPr>
              <a:t>Fluxo</a:t>
            </a:r>
            <a:r>
              <a:rPr lang="en-US" sz="1400" b="1" dirty="0" smtClean="0">
                <a:solidFill>
                  <a:srgbClr val="1A1A1A"/>
                </a:solidFill>
                <a:latin typeface="Poppins"/>
                <a:ea typeface="Poppins"/>
              </a:rPr>
              <a:t> de </a:t>
            </a:r>
            <a:r>
              <a:rPr lang="en-US" sz="1400" b="1" dirty="0" err="1" smtClean="0">
                <a:solidFill>
                  <a:srgbClr val="1A1A1A"/>
                </a:solidFill>
                <a:latin typeface="Poppins"/>
                <a:ea typeface="Poppins"/>
              </a:rPr>
              <a:t>pessoas</a:t>
            </a:r>
            <a:r>
              <a:rPr lang="en-US" sz="1400" b="1" dirty="0" smtClean="0">
                <a:solidFill>
                  <a:srgbClr val="1A1A1A"/>
                </a:solidFill>
                <a:latin typeface="Poppins"/>
                <a:ea typeface="Poppins"/>
              </a:rPr>
              <a:t> no shopping</a:t>
            </a:r>
            <a:endParaRPr lang="en-US" sz="1400" b="1" dirty="0">
              <a:solidFill>
                <a:srgbClr val="1A1A1A"/>
              </a:solidFill>
              <a:latin typeface="Poppins"/>
              <a:ea typeface="Poppins"/>
            </a:endParaRPr>
          </a:p>
        </p:txBody>
      </p:sp>
      <p:sp>
        <p:nvSpPr>
          <p:cNvPr id="100013" name="TextBox 8"/>
          <p:cNvSpPr txBox="1"/>
          <p:nvPr/>
        </p:nvSpPr>
        <p:spPr>
          <a:xfrm>
            <a:off x="970280" y="31750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Métrica de hoje</a:t>
            </a:r>
          </a:p>
        </p:txBody>
      </p:sp>
      <p:sp>
        <p:nvSpPr>
          <p:cNvPr id="100014" name="TextBox 9"/>
          <p:cNvSpPr txBox="1"/>
          <p:nvPr/>
        </p:nvSpPr>
        <p:spPr>
          <a:xfrm>
            <a:off x="970280" y="33782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 err="1">
                <a:solidFill>
                  <a:srgbClr val="1A1A1A"/>
                </a:solidFill>
                <a:latin typeface="Poppins"/>
                <a:ea typeface="Poppins"/>
              </a:rPr>
              <a:t>Alcance</a:t>
            </a:r>
            <a:r>
              <a:rPr lang="en-US" sz="1400" b="1" dirty="0">
                <a:solidFill>
                  <a:srgbClr val="1A1A1A"/>
                </a:solidFill>
                <a:latin typeface="Poppins"/>
                <a:ea typeface="Poppins"/>
              </a:rPr>
              <a:t> (</a:t>
            </a:r>
            <a:r>
              <a:rPr lang="en-US" sz="1400" b="1" dirty="0" err="1">
                <a:solidFill>
                  <a:srgbClr val="1A1A1A"/>
                </a:solidFill>
                <a:latin typeface="Poppins"/>
                <a:ea typeface="Poppins"/>
              </a:rPr>
              <a:t>régua</a:t>
            </a:r>
            <a:r>
              <a:rPr lang="en-US" sz="1400" b="1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400" b="1" dirty="0" err="1">
                <a:solidFill>
                  <a:srgbClr val="1A1A1A"/>
                </a:solidFill>
                <a:latin typeface="Poppins"/>
                <a:ea typeface="Poppins"/>
              </a:rPr>
              <a:t>definida</a:t>
            </a:r>
            <a:r>
              <a:rPr lang="en-US" sz="1400" b="1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400" b="1" dirty="0" err="1" smtClean="0">
                <a:solidFill>
                  <a:srgbClr val="1A1A1A"/>
                </a:solidFill>
                <a:latin typeface="Poppins"/>
                <a:ea typeface="Poppins"/>
              </a:rPr>
              <a:t>na</a:t>
            </a:r>
            <a:r>
              <a:rPr lang="en-US" sz="1400" b="1" dirty="0" smtClean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400" b="1" dirty="0" err="1" smtClean="0">
                <a:solidFill>
                  <a:srgbClr val="1A1A1A"/>
                </a:solidFill>
                <a:latin typeface="Poppins"/>
                <a:ea typeface="Poppins"/>
              </a:rPr>
              <a:t>última</a:t>
            </a:r>
            <a:r>
              <a:rPr lang="en-US" sz="1400" b="1" dirty="0" smtClean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400" b="1" dirty="0" err="1" smtClean="0">
                <a:solidFill>
                  <a:srgbClr val="1A1A1A"/>
                </a:solidFill>
                <a:latin typeface="Poppins"/>
                <a:ea typeface="Poppins"/>
              </a:rPr>
              <a:t>reunião</a:t>
            </a:r>
            <a:r>
              <a:rPr lang="en-US" sz="1400" b="1" dirty="0" smtClean="0">
                <a:solidFill>
                  <a:srgbClr val="1A1A1A"/>
                </a:solidFill>
                <a:latin typeface="Poppins"/>
                <a:ea typeface="Poppins"/>
              </a:rPr>
              <a:t>)</a:t>
            </a:r>
            <a:endParaRPr lang="en-US" sz="1400" b="1" dirty="0">
              <a:solidFill>
                <a:srgbClr val="1A1A1A"/>
              </a:solidFill>
              <a:latin typeface="Poppins"/>
              <a:ea typeface="Poppins"/>
            </a:endParaRPr>
          </a:p>
        </p:txBody>
      </p:sp>
      <p:sp>
        <p:nvSpPr>
          <p:cNvPr id="100015" name="TextBox 10"/>
          <p:cNvSpPr txBox="1"/>
          <p:nvPr/>
        </p:nvSpPr>
        <p:spPr>
          <a:xfrm>
            <a:off x="970280" y="37846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Meta</a:t>
            </a:r>
          </a:p>
        </p:txBody>
      </p:sp>
      <p:sp>
        <p:nvSpPr>
          <p:cNvPr id="100016" name="TextBox 11"/>
          <p:cNvSpPr txBox="1"/>
          <p:nvPr/>
        </p:nvSpPr>
        <p:spPr>
          <a:xfrm>
            <a:off x="970280" y="39878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R$ 20.000 / mês</a:t>
            </a:r>
          </a:p>
        </p:txBody>
      </p:sp>
      <p:sp>
        <p:nvSpPr>
          <p:cNvPr id="100017" name="TextBox 12"/>
          <p:cNvSpPr txBox="1"/>
          <p:nvPr/>
        </p:nvSpPr>
        <p:spPr>
          <a:xfrm>
            <a:off x="970280" y="43942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Google</a:t>
            </a:r>
          </a:p>
        </p:txBody>
      </p:sp>
      <p:sp>
        <p:nvSpPr>
          <p:cNvPr id="100018" name="TextBox 13"/>
          <p:cNvSpPr txBox="1"/>
          <p:nvPr/>
        </p:nvSpPr>
        <p:spPr>
          <a:xfrm>
            <a:off x="970280" y="45974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R$ 5.000 / mês</a:t>
            </a:r>
          </a:p>
        </p:txBody>
      </p:sp>
      <p:sp>
        <p:nvSpPr>
          <p:cNvPr id="100019" name="TextBox 14"/>
          <p:cNvSpPr txBox="1"/>
          <p:nvPr/>
        </p:nvSpPr>
        <p:spPr>
          <a:xfrm>
            <a:off x="970280" y="50038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Ciclo até o resultado</a:t>
            </a:r>
          </a:p>
        </p:txBody>
      </p:sp>
      <p:sp>
        <p:nvSpPr>
          <p:cNvPr id="100020" name="TextBox 15"/>
          <p:cNvSpPr txBox="1"/>
          <p:nvPr/>
        </p:nvSpPr>
        <p:spPr>
          <a:xfrm>
            <a:off x="970280" y="52070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Imediato</a:t>
            </a:r>
          </a:p>
        </p:txBody>
      </p:sp>
      <p:sp>
        <p:nvSpPr>
          <p:cNvPr id="100021" name="TextBox 16"/>
          <p:cNvSpPr/>
          <p:nvPr/>
        </p:nvSpPr>
        <p:spPr>
          <a:xfrm>
            <a:off x="6228080" y="1905000"/>
            <a:ext cx="5323840" cy="3657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022" name="TextBox 17"/>
          <p:cNvSpPr txBox="1"/>
          <p:nvPr/>
        </p:nvSpPr>
        <p:spPr>
          <a:xfrm>
            <a:off x="6558280" y="2133600"/>
            <a:ext cx="4572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 spc="200">
                <a:solidFill>
                  <a:srgbClr val="E01C4C"/>
                </a:solidFill>
                <a:latin typeface="Poppins"/>
                <a:ea typeface="Poppins"/>
              </a:rPr>
              <a:t>B2B  ·  LOJISTA</a:t>
            </a:r>
          </a:p>
        </p:txBody>
      </p:sp>
      <p:sp>
        <p:nvSpPr>
          <p:cNvPr id="100023" name="TextBox 18"/>
          <p:cNvSpPr txBox="1"/>
          <p:nvPr/>
        </p:nvSpPr>
        <p:spPr>
          <a:xfrm>
            <a:off x="6558280" y="25654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Objetivo</a:t>
            </a:r>
          </a:p>
        </p:txBody>
      </p:sp>
      <p:sp>
        <p:nvSpPr>
          <p:cNvPr id="100024" name="TextBox 19"/>
          <p:cNvSpPr txBox="1"/>
          <p:nvPr/>
        </p:nvSpPr>
        <p:spPr>
          <a:xfrm>
            <a:off x="6558280" y="27686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Leads qualificados de locação</a:t>
            </a:r>
          </a:p>
        </p:txBody>
      </p:sp>
      <p:sp>
        <p:nvSpPr>
          <p:cNvPr id="100025" name="TextBox 20"/>
          <p:cNvSpPr txBox="1"/>
          <p:nvPr/>
        </p:nvSpPr>
        <p:spPr>
          <a:xfrm>
            <a:off x="6558280" y="31750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Métrica de hoje</a:t>
            </a:r>
          </a:p>
        </p:txBody>
      </p:sp>
      <p:sp>
        <p:nvSpPr>
          <p:cNvPr id="100026" name="TextBox 21"/>
          <p:cNvSpPr txBox="1"/>
          <p:nvPr/>
        </p:nvSpPr>
        <p:spPr>
          <a:xfrm>
            <a:off x="6558280" y="33782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CPL, o custo por lead</a:t>
            </a:r>
          </a:p>
        </p:txBody>
      </p:sp>
      <p:sp>
        <p:nvSpPr>
          <p:cNvPr id="100027" name="TextBox 22"/>
          <p:cNvSpPr txBox="1"/>
          <p:nvPr/>
        </p:nvSpPr>
        <p:spPr>
          <a:xfrm>
            <a:off x="6558280" y="37846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Meta</a:t>
            </a:r>
          </a:p>
        </p:txBody>
      </p:sp>
      <p:sp>
        <p:nvSpPr>
          <p:cNvPr id="100028" name="TextBox 23"/>
          <p:cNvSpPr txBox="1"/>
          <p:nvPr/>
        </p:nvSpPr>
        <p:spPr>
          <a:xfrm>
            <a:off x="6558280" y="39878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R$ 10.000 / mês</a:t>
            </a:r>
          </a:p>
        </p:txBody>
      </p:sp>
      <p:sp>
        <p:nvSpPr>
          <p:cNvPr id="100029" name="TextBox 24"/>
          <p:cNvSpPr txBox="1"/>
          <p:nvPr/>
        </p:nvSpPr>
        <p:spPr>
          <a:xfrm>
            <a:off x="6558280" y="43942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Verba Google</a:t>
            </a:r>
          </a:p>
        </p:txBody>
      </p:sp>
      <p:sp>
        <p:nvSpPr>
          <p:cNvPr id="100030" name="TextBox 25"/>
          <p:cNvSpPr txBox="1"/>
          <p:nvPr/>
        </p:nvSpPr>
        <p:spPr>
          <a:xfrm>
            <a:off x="6558280" y="45974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>
                <a:solidFill>
                  <a:srgbClr val="1A1A1A"/>
                </a:solidFill>
                <a:latin typeface="Poppins"/>
                <a:ea typeface="Poppins"/>
              </a:rPr>
              <a:t>R$ 15.000 / mês</a:t>
            </a:r>
          </a:p>
        </p:txBody>
      </p:sp>
      <p:sp>
        <p:nvSpPr>
          <p:cNvPr id="100031" name="TextBox 26"/>
          <p:cNvSpPr txBox="1"/>
          <p:nvPr/>
        </p:nvSpPr>
        <p:spPr>
          <a:xfrm>
            <a:off x="6558280" y="5003800"/>
            <a:ext cx="4572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6B7280"/>
                </a:solidFill>
                <a:latin typeface="Poppins"/>
                <a:ea typeface="Poppins"/>
              </a:rPr>
              <a:t>Ciclo até o resultado</a:t>
            </a:r>
          </a:p>
        </p:txBody>
      </p:sp>
      <p:sp>
        <p:nvSpPr>
          <p:cNvPr id="100032" name="TextBox 27"/>
          <p:cNvSpPr txBox="1"/>
          <p:nvPr/>
        </p:nvSpPr>
        <p:spPr>
          <a:xfrm>
            <a:off x="6558280" y="5207000"/>
            <a:ext cx="46736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b="1" dirty="0">
                <a:solidFill>
                  <a:srgbClr val="1A1A1A"/>
                </a:solidFill>
                <a:latin typeface="Poppins"/>
                <a:ea typeface="Poppins"/>
              </a:rPr>
              <a:t>Longo, de </a:t>
            </a:r>
            <a:r>
              <a:rPr lang="en-US" sz="1400" b="1" dirty="0" err="1">
                <a:solidFill>
                  <a:srgbClr val="1A1A1A"/>
                </a:solidFill>
                <a:latin typeface="Poppins"/>
                <a:ea typeface="Poppins"/>
              </a:rPr>
              <a:t>semanas</a:t>
            </a:r>
            <a:r>
              <a:rPr lang="en-US" sz="1400" b="1" dirty="0">
                <a:solidFill>
                  <a:srgbClr val="1A1A1A"/>
                </a:solidFill>
                <a:latin typeface="Poppins"/>
                <a:ea typeface="Poppins"/>
              </a:rPr>
              <a:t> a </a:t>
            </a:r>
            <a:r>
              <a:rPr lang="en-US" sz="1400" b="1" dirty="0" err="1" smtClean="0">
                <a:solidFill>
                  <a:srgbClr val="1A1A1A"/>
                </a:solidFill>
                <a:latin typeface="Poppins"/>
                <a:ea typeface="Poppins"/>
              </a:rPr>
              <a:t>meses</a:t>
            </a:r>
            <a:endParaRPr lang="en-US" sz="1400" b="1" dirty="0">
              <a:solidFill>
                <a:srgbClr val="1A1A1A"/>
              </a:solidFill>
              <a:latin typeface="Poppins"/>
              <a:ea typeface="Poppins"/>
            </a:endParaRPr>
          </a:p>
        </p:txBody>
      </p:sp>
      <p:sp>
        <p:nvSpPr>
          <p:cNvPr id="100033" name="TextBox 28"/>
          <p:cNvSpPr/>
          <p:nvPr/>
        </p:nvSpPr>
        <p:spPr>
          <a:xfrm>
            <a:off x="640080" y="5791200"/>
            <a:ext cx="10911840" cy="7112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034" name="TextBox 29"/>
          <p:cNvSpPr txBox="1"/>
          <p:nvPr/>
        </p:nvSpPr>
        <p:spPr>
          <a:xfrm>
            <a:off x="970280" y="5918200"/>
            <a:ext cx="10251440" cy="482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250">
                <a:solidFill>
                  <a:srgbClr val="FFFFFF"/>
                </a:solidFill>
                <a:latin typeface="Poppins"/>
                <a:ea typeface="Poppins"/>
              </a:rPr>
              <a:t>As duas nunca entram na mesma conta. Custo por mil pessoas alcançadas e custo por lead de locação medem coisas diferentes, e misturar as duas é o caminho mais rápido para uma decisão errada.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35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RESULTADO · B2C (CONSUMIDOR)</a:t>
            </a:r>
          </a:p>
        </p:txBody>
      </p:sp>
      <p:sp>
        <p:nvSpPr>
          <p:cNvPr id="100036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Em 21 dias, julho já passou o alcance de junho</a:t>
            </a:r>
          </a:p>
        </p:txBody>
      </p:sp>
      <p:sp>
        <p:nvSpPr>
          <p:cNvPr id="100037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Apenas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 Meta 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Ads. Google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aparece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separado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,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embaixo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: as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duas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plataformas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nunca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são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somadas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.</a:t>
            </a:r>
          </a:p>
        </p:txBody>
      </p:sp>
      <p:sp>
        <p:nvSpPr>
          <p:cNvPr id="100038" name="TextBox 4"/>
          <p:cNvSpPr/>
          <p:nvPr/>
        </p:nvSpPr>
        <p:spPr>
          <a:xfrm>
            <a:off x="640080" y="1930400"/>
            <a:ext cx="4953000" cy="3175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</p:spPr>
        <p:txBody>
          <a:bodyPr/>
          <a:lstStyle/>
          <a:p>
            <a:endParaRPr/>
          </a:p>
        </p:txBody>
      </p:sp>
      <p:sp>
        <p:nvSpPr>
          <p:cNvPr id="100039" name="TextBox 5"/>
          <p:cNvSpPr txBox="1"/>
          <p:nvPr/>
        </p:nvSpPr>
        <p:spPr>
          <a:xfrm>
            <a:off x="970280" y="21336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100">
                <a:solidFill>
                  <a:srgbClr val="093652"/>
                </a:solidFill>
                <a:latin typeface="Poppins"/>
                <a:ea typeface="Poppins"/>
              </a:rPr>
              <a:t>JUNHO  ·  30 dias, mês fechado</a:t>
            </a:r>
          </a:p>
        </p:txBody>
      </p:sp>
      <p:sp>
        <p:nvSpPr>
          <p:cNvPr id="100040" name="TextBox 6"/>
          <p:cNvSpPr txBox="1"/>
          <p:nvPr/>
        </p:nvSpPr>
        <p:spPr>
          <a:xfrm>
            <a:off x="970280" y="25400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1,05 mi</a:t>
            </a:r>
          </a:p>
        </p:txBody>
      </p:sp>
      <p:sp>
        <p:nvSpPr>
          <p:cNvPr id="100041" name="TextBox 7"/>
          <p:cNvSpPr txBox="1"/>
          <p:nvPr/>
        </p:nvSpPr>
        <p:spPr>
          <a:xfrm>
            <a:off x="3586480" y="2590800"/>
            <a:ext cx="1778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pessoas alcançadas</a:t>
            </a:r>
          </a:p>
        </p:txBody>
      </p:sp>
      <p:sp>
        <p:nvSpPr>
          <p:cNvPr id="100042" name="TextBox 8"/>
          <p:cNvSpPr txBox="1"/>
          <p:nvPr/>
        </p:nvSpPr>
        <p:spPr>
          <a:xfrm>
            <a:off x="970280" y="33274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R$ 14,09</a:t>
            </a:r>
          </a:p>
        </p:txBody>
      </p:sp>
      <p:sp>
        <p:nvSpPr>
          <p:cNvPr id="100043" name="TextBox 9"/>
          <p:cNvSpPr txBox="1"/>
          <p:nvPr/>
        </p:nvSpPr>
        <p:spPr>
          <a:xfrm>
            <a:off x="3586480" y="3378200"/>
            <a:ext cx="1778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custo por mil pessoas alcançadas</a:t>
            </a:r>
          </a:p>
        </p:txBody>
      </p:sp>
      <p:sp>
        <p:nvSpPr>
          <p:cNvPr id="100044" name="TextBox 10"/>
          <p:cNvSpPr txBox="1"/>
          <p:nvPr/>
        </p:nvSpPr>
        <p:spPr>
          <a:xfrm>
            <a:off x="970280" y="41148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R$ 14.830</a:t>
            </a:r>
          </a:p>
        </p:txBody>
      </p:sp>
      <p:sp>
        <p:nvSpPr>
          <p:cNvPr id="100045" name="TextBox 11"/>
          <p:cNvSpPr txBox="1"/>
          <p:nvPr/>
        </p:nvSpPr>
        <p:spPr>
          <a:xfrm>
            <a:off x="3586480" y="4165600"/>
            <a:ext cx="1778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46" name="TextBox 12"/>
          <p:cNvSpPr/>
          <p:nvPr/>
        </p:nvSpPr>
        <p:spPr>
          <a:xfrm>
            <a:off x="6598920" y="1930400"/>
            <a:ext cx="4953000" cy="3175000"/>
          </a:xfrm>
          <a:prstGeom prst="roundRect">
            <a:avLst>
              <a:gd name="adj" fmla="val 4000"/>
            </a:avLst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047" name="TextBox 13"/>
          <p:cNvSpPr txBox="1"/>
          <p:nvPr/>
        </p:nvSpPr>
        <p:spPr>
          <a:xfrm>
            <a:off x="6929120" y="21336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100">
                <a:solidFill>
                  <a:srgbClr val="FFFFFF"/>
                </a:solidFill>
                <a:latin typeface="Poppins"/>
                <a:ea typeface="Poppins"/>
              </a:rPr>
              <a:t>JULHO  ·  1 a 21, mês em andamento</a:t>
            </a:r>
          </a:p>
        </p:txBody>
      </p:sp>
      <p:sp>
        <p:nvSpPr>
          <p:cNvPr id="100048" name="TextBox 14"/>
          <p:cNvSpPr txBox="1"/>
          <p:nvPr/>
        </p:nvSpPr>
        <p:spPr>
          <a:xfrm>
            <a:off x="6929120" y="25400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1,08 mi</a:t>
            </a:r>
          </a:p>
        </p:txBody>
      </p:sp>
      <p:sp>
        <p:nvSpPr>
          <p:cNvPr id="100049" name="TextBox 15"/>
          <p:cNvSpPr txBox="1"/>
          <p:nvPr/>
        </p:nvSpPr>
        <p:spPr>
          <a:xfrm>
            <a:off x="9545320" y="2590800"/>
            <a:ext cx="1778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pessoas alcançadas</a:t>
            </a:r>
          </a:p>
        </p:txBody>
      </p:sp>
      <p:sp>
        <p:nvSpPr>
          <p:cNvPr id="100050" name="TextBox 16"/>
          <p:cNvSpPr txBox="1"/>
          <p:nvPr/>
        </p:nvSpPr>
        <p:spPr>
          <a:xfrm>
            <a:off x="6929120" y="33274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R$ 11,41</a:t>
            </a:r>
          </a:p>
        </p:txBody>
      </p:sp>
      <p:sp>
        <p:nvSpPr>
          <p:cNvPr id="100051" name="TextBox 17"/>
          <p:cNvSpPr txBox="1"/>
          <p:nvPr/>
        </p:nvSpPr>
        <p:spPr>
          <a:xfrm>
            <a:off x="9545320" y="3378200"/>
            <a:ext cx="1778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 dirty="0" smtClean="0">
                <a:solidFill>
                  <a:srgbClr val="FFD7E0"/>
                </a:solidFill>
                <a:latin typeface="Poppins"/>
                <a:ea typeface="Poppins"/>
              </a:rPr>
              <a:t>CPM, </a:t>
            </a:r>
            <a:r>
              <a:rPr lang="en-US" sz="1200" b="1" dirty="0">
                <a:solidFill>
                  <a:srgbClr val="FFD7E0"/>
                </a:solidFill>
                <a:latin typeface="Poppins"/>
                <a:ea typeface="Poppins"/>
              </a:rPr>
              <a:t>19% </a:t>
            </a:r>
            <a:r>
              <a:rPr lang="en-US" sz="1200" b="1" dirty="0" err="1">
                <a:solidFill>
                  <a:srgbClr val="FFD7E0"/>
                </a:solidFill>
                <a:latin typeface="Poppins"/>
                <a:ea typeface="Poppins"/>
              </a:rPr>
              <a:t>mais</a:t>
            </a:r>
            <a:r>
              <a:rPr lang="en-US" sz="1200" b="1" dirty="0">
                <a:solidFill>
                  <a:srgbClr val="FFD7E0"/>
                </a:solidFill>
                <a:latin typeface="Poppins"/>
                <a:ea typeface="Poppins"/>
              </a:rPr>
              <a:t> </a:t>
            </a:r>
            <a:r>
              <a:rPr lang="en-US" sz="1200" b="1" dirty="0" err="1">
                <a:solidFill>
                  <a:srgbClr val="FFD7E0"/>
                </a:solidFill>
                <a:latin typeface="Poppins"/>
                <a:ea typeface="Poppins"/>
              </a:rPr>
              <a:t>barato</a:t>
            </a:r>
            <a:endParaRPr lang="en-US" sz="1050" b="1" dirty="0">
              <a:solidFill>
                <a:srgbClr val="FFD7E0"/>
              </a:solidFill>
              <a:latin typeface="Poppins"/>
              <a:ea typeface="Poppins"/>
            </a:endParaRPr>
          </a:p>
        </p:txBody>
      </p:sp>
      <p:sp>
        <p:nvSpPr>
          <p:cNvPr id="100052" name="TextBox 18"/>
          <p:cNvSpPr txBox="1"/>
          <p:nvPr/>
        </p:nvSpPr>
        <p:spPr>
          <a:xfrm>
            <a:off x="6929120" y="41148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R$ 12.324</a:t>
            </a:r>
          </a:p>
        </p:txBody>
      </p:sp>
      <p:sp>
        <p:nvSpPr>
          <p:cNvPr id="100053" name="TextBox 19"/>
          <p:cNvSpPr txBox="1"/>
          <p:nvPr/>
        </p:nvSpPr>
        <p:spPr>
          <a:xfrm>
            <a:off x="9545320" y="4165600"/>
            <a:ext cx="1778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54" name="TextBox 20"/>
          <p:cNvSpPr txBox="1"/>
          <p:nvPr/>
        </p:nvSpPr>
        <p:spPr>
          <a:xfrm>
            <a:off x="5669280" y="3238500"/>
            <a:ext cx="8534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800" b="1">
                <a:solidFill>
                  <a:srgbClr val="6B7280"/>
                </a:solidFill>
                <a:latin typeface="Poppins"/>
                <a:ea typeface="Poppins"/>
              </a:rPr>
              <a:t>→</a:t>
            </a:r>
          </a:p>
        </p:txBody>
      </p:sp>
      <p:sp>
        <p:nvSpPr>
          <p:cNvPr id="100055" name="TextBox 21"/>
          <p:cNvSpPr/>
          <p:nvPr/>
        </p:nvSpPr>
        <p:spPr>
          <a:xfrm>
            <a:off x="640080" y="5207000"/>
            <a:ext cx="10911840" cy="12954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056" name="TextBox 22"/>
          <p:cNvSpPr txBox="1"/>
          <p:nvPr/>
        </p:nvSpPr>
        <p:spPr>
          <a:xfrm>
            <a:off x="970280" y="5334000"/>
            <a:ext cx="1025144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No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ritmo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atual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,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julho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 smtClean="0">
                <a:solidFill>
                  <a:srgbClr val="093652"/>
                </a:solidFill>
                <a:latin typeface="Poppins"/>
                <a:ea typeface="Poppins"/>
              </a:rPr>
              <a:t>projet</a:t>
            </a:r>
            <a:r>
              <a:rPr lang="en-US" sz="1300" b="1" dirty="0" err="1" smtClean="0">
                <a:solidFill>
                  <a:srgbClr val="093652"/>
                </a:solidFill>
                <a:latin typeface="Poppins"/>
                <a:ea typeface="Poppins"/>
              </a:rPr>
              <a:t>a</a:t>
            </a:r>
            <a:r>
              <a:rPr lang="en-US" sz="1300" b="1" dirty="0" smtClean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 smtClean="0">
                <a:solidFill>
                  <a:srgbClr val="093652"/>
                </a:solidFill>
                <a:latin typeface="Poppins"/>
                <a:ea typeface="Poppins"/>
              </a:rPr>
              <a:t>cerca</a:t>
            </a:r>
            <a:r>
              <a:rPr lang="en-US" sz="1300" b="1" dirty="0" smtClean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de 1,59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milhão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de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pessoas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alcançadas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com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cerca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de R$ 18,2 mil.</a:t>
            </a:r>
          </a:p>
        </p:txBody>
      </p:sp>
      <p:sp>
        <p:nvSpPr>
          <p:cNvPr id="100057" name="TextBox 23"/>
          <p:cNvSpPr txBox="1"/>
          <p:nvPr/>
        </p:nvSpPr>
        <p:spPr>
          <a:xfrm>
            <a:off x="970280" y="5638800"/>
            <a:ext cx="1025144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Google B2C: a Performance Max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gastou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R$ 15.306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junho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e R$ 0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julho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,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pausada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propósito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. As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conversões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estão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ainda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contaminadas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, e 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que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não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servem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de base para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decidir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nada. 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verba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está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tratada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como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reserva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teste,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não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como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sobra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58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RESULTADO · B2B (LOCAÇÃO)</a:t>
            </a:r>
          </a:p>
        </p:txBody>
      </p:sp>
      <p:sp>
        <p:nvSpPr>
          <p:cNvPr id="100059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 dirty="0" err="1">
                <a:solidFill>
                  <a:srgbClr val="093652"/>
                </a:solidFill>
                <a:latin typeface="Poppins"/>
                <a:ea typeface="Poppins"/>
              </a:rPr>
              <a:t>Mais</a:t>
            </a:r>
            <a:r>
              <a:rPr lang="en-US" sz="3000" b="1" dirty="0">
                <a:solidFill>
                  <a:srgbClr val="093652"/>
                </a:solidFill>
                <a:latin typeface="Poppins"/>
                <a:ea typeface="Poppins"/>
              </a:rPr>
              <a:t> leads e </a:t>
            </a:r>
            <a:r>
              <a:rPr lang="en-US" sz="3000" b="1" dirty="0" err="1">
                <a:solidFill>
                  <a:srgbClr val="093652"/>
                </a:solidFill>
                <a:latin typeface="Poppins"/>
                <a:ea typeface="Poppins"/>
              </a:rPr>
              <a:t>custo</a:t>
            </a:r>
            <a:r>
              <a:rPr lang="en-US" sz="30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3000" b="1" dirty="0" err="1">
                <a:solidFill>
                  <a:srgbClr val="093652"/>
                </a:solidFill>
                <a:latin typeface="Poppins"/>
                <a:ea typeface="Poppins"/>
              </a:rPr>
              <a:t>menor</a:t>
            </a:r>
            <a:r>
              <a:rPr lang="en-US" sz="3000" b="1" dirty="0">
                <a:solidFill>
                  <a:srgbClr val="093652"/>
                </a:solidFill>
                <a:latin typeface="Poppins"/>
                <a:ea typeface="Poppins"/>
              </a:rPr>
              <a:t>, </a:t>
            </a:r>
            <a:r>
              <a:rPr lang="en-US" sz="3000" b="1" dirty="0" err="1">
                <a:solidFill>
                  <a:srgbClr val="093652"/>
                </a:solidFill>
                <a:latin typeface="Poppins"/>
                <a:ea typeface="Poppins"/>
              </a:rPr>
              <a:t>pelo</a:t>
            </a:r>
            <a:r>
              <a:rPr lang="en-US" sz="30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3000" b="1" dirty="0" err="1" smtClean="0">
                <a:solidFill>
                  <a:srgbClr val="093652"/>
                </a:solidFill>
                <a:latin typeface="Poppins"/>
                <a:ea typeface="Poppins"/>
              </a:rPr>
              <a:t>segundo</a:t>
            </a:r>
            <a:r>
              <a:rPr lang="en-US" sz="3000" b="1" dirty="0" smtClean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3000" b="1" dirty="0" err="1" smtClean="0">
                <a:solidFill>
                  <a:srgbClr val="093652"/>
                </a:solidFill>
                <a:latin typeface="Poppins"/>
                <a:ea typeface="Poppins"/>
              </a:rPr>
              <a:t>mês</a:t>
            </a:r>
            <a:r>
              <a:rPr lang="en-US" sz="3000" b="1" dirty="0" smtClean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3000" b="1" dirty="0" err="1">
                <a:solidFill>
                  <a:srgbClr val="093652"/>
                </a:solidFill>
                <a:latin typeface="Poppins"/>
                <a:ea typeface="Poppins"/>
              </a:rPr>
              <a:t>seguido</a:t>
            </a:r>
            <a:endParaRPr lang="en-US" sz="3000" b="1" dirty="0">
              <a:solidFill>
                <a:srgbClr val="093652"/>
              </a:solidFill>
              <a:latin typeface="Poppins"/>
              <a:ea typeface="Poppins"/>
            </a:endParaRPr>
          </a:p>
        </p:txBody>
      </p:sp>
      <p:sp>
        <p:nvSpPr>
          <p:cNvPr id="100060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Meta Ads, campanha de formulário. Google aparece separado, embaixo.</a:t>
            </a:r>
          </a:p>
        </p:txBody>
      </p:sp>
      <p:sp>
        <p:nvSpPr>
          <p:cNvPr id="100061" name="TextBox 4"/>
          <p:cNvSpPr/>
          <p:nvPr/>
        </p:nvSpPr>
        <p:spPr>
          <a:xfrm>
            <a:off x="640080" y="1930400"/>
            <a:ext cx="4953000" cy="3175000"/>
          </a:xfrm>
          <a:prstGeom prst="roundRect">
            <a:avLst>
              <a:gd name="adj" fmla="val 4000"/>
            </a:avLst>
          </a:prstGeom>
          <a:solidFill>
            <a:srgbClr val="F2F2F2"/>
          </a:solidFill>
        </p:spPr>
        <p:txBody>
          <a:bodyPr/>
          <a:lstStyle/>
          <a:p>
            <a:endParaRPr/>
          </a:p>
        </p:txBody>
      </p:sp>
      <p:sp>
        <p:nvSpPr>
          <p:cNvPr id="100062" name="TextBox 5"/>
          <p:cNvSpPr txBox="1"/>
          <p:nvPr/>
        </p:nvSpPr>
        <p:spPr>
          <a:xfrm>
            <a:off x="970280" y="21336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100">
                <a:solidFill>
                  <a:srgbClr val="093652"/>
                </a:solidFill>
                <a:latin typeface="Poppins"/>
                <a:ea typeface="Poppins"/>
              </a:rPr>
              <a:t>JUNHO  ·  30 dias, mês fechado</a:t>
            </a:r>
          </a:p>
        </p:txBody>
      </p:sp>
      <p:sp>
        <p:nvSpPr>
          <p:cNvPr id="100063" name="TextBox 6"/>
          <p:cNvSpPr txBox="1"/>
          <p:nvPr/>
        </p:nvSpPr>
        <p:spPr>
          <a:xfrm>
            <a:off x="970280" y="25400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161</a:t>
            </a:r>
          </a:p>
        </p:txBody>
      </p:sp>
      <p:sp>
        <p:nvSpPr>
          <p:cNvPr id="100064" name="TextBox 7"/>
          <p:cNvSpPr txBox="1"/>
          <p:nvPr/>
        </p:nvSpPr>
        <p:spPr>
          <a:xfrm>
            <a:off x="3586480" y="25654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leads de locação</a:t>
            </a:r>
          </a:p>
        </p:txBody>
      </p:sp>
      <p:sp>
        <p:nvSpPr>
          <p:cNvPr id="100065" name="TextBox 8"/>
          <p:cNvSpPr txBox="1"/>
          <p:nvPr/>
        </p:nvSpPr>
        <p:spPr>
          <a:xfrm>
            <a:off x="970280" y="33274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R$ 47,90</a:t>
            </a:r>
          </a:p>
        </p:txBody>
      </p:sp>
      <p:sp>
        <p:nvSpPr>
          <p:cNvPr id="100066" name="TextBox 9"/>
          <p:cNvSpPr txBox="1"/>
          <p:nvPr/>
        </p:nvSpPr>
        <p:spPr>
          <a:xfrm>
            <a:off x="3586480" y="33528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custo por lead</a:t>
            </a:r>
          </a:p>
        </p:txBody>
      </p:sp>
      <p:sp>
        <p:nvSpPr>
          <p:cNvPr id="100067" name="TextBox 10"/>
          <p:cNvSpPr txBox="1"/>
          <p:nvPr/>
        </p:nvSpPr>
        <p:spPr>
          <a:xfrm>
            <a:off x="970280" y="41148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1A1A1A"/>
                </a:solidFill>
                <a:latin typeface="Poppins"/>
                <a:ea typeface="Poppins"/>
              </a:rPr>
              <a:t>R$ 7.713</a:t>
            </a:r>
          </a:p>
        </p:txBody>
      </p:sp>
      <p:sp>
        <p:nvSpPr>
          <p:cNvPr id="100068" name="TextBox 11"/>
          <p:cNvSpPr txBox="1"/>
          <p:nvPr/>
        </p:nvSpPr>
        <p:spPr>
          <a:xfrm>
            <a:off x="3586480" y="41402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6B728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69" name="TextBox 12"/>
          <p:cNvSpPr/>
          <p:nvPr/>
        </p:nvSpPr>
        <p:spPr>
          <a:xfrm>
            <a:off x="6598920" y="1930400"/>
            <a:ext cx="4953000" cy="3175000"/>
          </a:xfrm>
          <a:prstGeom prst="roundRect">
            <a:avLst>
              <a:gd name="adj" fmla="val 4000"/>
            </a:avLst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070" name="TextBox 13"/>
          <p:cNvSpPr txBox="1"/>
          <p:nvPr/>
        </p:nvSpPr>
        <p:spPr>
          <a:xfrm>
            <a:off x="6929120" y="2133600"/>
            <a:ext cx="4318000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100">
                <a:solidFill>
                  <a:srgbClr val="FFFFFF"/>
                </a:solidFill>
                <a:latin typeface="Poppins"/>
                <a:ea typeface="Poppins"/>
              </a:rPr>
              <a:t>JULHO  ·  1 a 21, mês em andamento</a:t>
            </a:r>
          </a:p>
        </p:txBody>
      </p:sp>
      <p:sp>
        <p:nvSpPr>
          <p:cNvPr id="100071" name="TextBox 14"/>
          <p:cNvSpPr txBox="1"/>
          <p:nvPr/>
        </p:nvSpPr>
        <p:spPr>
          <a:xfrm>
            <a:off x="6929120" y="25400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121</a:t>
            </a:r>
          </a:p>
        </p:txBody>
      </p:sp>
      <p:sp>
        <p:nvSpPr>
          <p:cNvPr id="100072" name="TextBox 15"/>
          <p:cNvSpPr txBox="1"/>
          <p:nvPr/>
        </p:nvSpPr>
        <p:spPr>
          <a:xfrm>
            <a:off x="9545320" y="25654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leads em 21 dias, ritmo de ~178 no mês</a:t>
            </a:r>
          </a:p>
        </p:txBody>
      </p:sp>
      <p:sp>
        <p:nvSpPr>
          <p:cNvPr id="100073" name="TextBox 16"/>
          <p:cNvSpPr txBox="1"/>
          <p:nvPr/>
        </p:nvSpPr>
        <p:spPr>
          <a:xfrm>
            <a:off x="6929120" y="33274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R$ 33,41</a:t>
            </a:r>
          </a:p>
        </p:txBody>
      </p:sp>
      <p:sp>
        <p:nvSpPr>
          <p:cNvPr id="100074" name="TextBox 17"/>
          <p:cNvSpPr txBox="1"/>
          <p:nvPr/>
        </p:nvSpPr>
        <p:spPr>
          <a:xfrm>
            <a:off x="9545320" y="33528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 dirty="0" err="1">
                <a:solidFill>
                  <a:srgbClr val="FFD7E0"/>
                </a:solidFill>
                <a:latin typeface="Poppins"/>
                <a:ea typeface="Poppins"/>
              </a:rPr>
              <a:t>custo</a:t>
            </a:r>
            <a:r>
              <a:rPr lang="en-US" sz="1050" dirty="0">
                <a:solidFill>
                  <a:srgbClr val="FFD7E0"/>
                </a:solidFill>
                <a:latin typeface="Poppins"/>
                <a:ea typeface="Poppins"/>
              </a:rPr>
              <a:t> </a:t>
            </a:r>
            <a:r>
              <a:rPr lang="en-US" sz="1050" dirty="0" err="1">
                <a:solidFill>
                  <a:srgbClr val="FFD7E0"/>
                </a:solidFill>
                <a:latin typeface="Poppins"/>
                <a:ea typeface="Poppins"/>
              </a:rPr>
              <a:t>por</a:t>
            </a:r>
            <a:r>
              <a:rPr lang="en-US" sz="1050" dirty="0">
                <a:solidFill>
                  <a:srgbClr val="FFD7E0"/>
                </a:solidFill>
                <a:latin typeface="Poppins"/>
                <a:ea typeface="Poppins"/>
              </a:rPr>
              <a:t> lead, </a:t>
            </a:r>
            <a:r>
              <a:rPr lang="en-US" sz="1200" b="1" dirty="0">
                <a:solidFill>
                  <a:srgbClr val="FFD7E0"/>
                </a:solidFill>
                <a:latin typeface="Poppins"/>
                <a:ea typeface="Poppins"/>
              </a:rPr>
              <a:t>30% </a:t>
            </a:r>
            <a:r>
              <a:rPr lang="en-US" sz="1200" b="1" dirty="0" err="1">
                <a:solidFill>
                  <a:srgbClr val="FFD7E0"/>
                </a:solidFill>
                <a:latin typeface="Poppins"/>
                <a:ea typeface="Poppins"/>
              </a:rPr>
              <a:t>mais</a:t>
            </a:r>
            <a:r>
              <a:rPr lang="en-US" sz="1200" b="1" dirty="0">
                <a:solidFill>
                  <a:srgbClr val="FFD7E0"/>
                </a:solidFill>
                <a:latin typeface="Poppins"/>
                <a:ea typeface="Poppins"/>
              </a:rPr>
              <a:t> </a:t>
            </a:r>
            <a:r>
              <a:rPr lang="en-US" sz="1200" b="1" dirty="0" err="1">
                <a:solidFill>
                  <a:srgbClr val="FFD7E0"/>
                </a:solidFill>
                <a:latin typeface="Poppins"/>
                <a:ea typeface="Poppins"/>
              </a:rPr>
              <a:t>barato</a:t>
            </a:r>
            <a:endParaRPr lang="en-US" sz="1050" b="1" dirty="0">
              <a:solidFill>
                <a:srgbClr val="FFD7E0"/>
              </a:solidFill>
              <a:latin typeface="Poppins"/>
              <a:ea typeface="Poppins"/>
            </a:endParaRPr>
          </a:p>
        </p:txBody>
      </p:sp>
      <p:sp>
        <p:nvSpPr>
          <p:cNvPr id="100075" name="TextBox 18"/>
          <p:cNvSpPr txBox="1"/>
          <p:nvPr/>
        </p:nvSpPr>
        <p:spPr>
          <a:xfrm>
            <a:off x="6929120" y="4114800"/>
            <a:ext cx="2540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400" b="1">
                <a:solidFill>
                  <a:srgbClr val="FFFFFF"/>
                </a:solidFill>
                <a:latin typeface="Poppins"/>
                <a:ea typeface="Poppins"/>
              </a:rPr>
              <a:t>R$ 4.042</a:t>
            </a:r>
          </a:p>
        </p:txBody>
      </p:sp>
      <p:sp>
        <p:nvSpPr>
          <p:cNvPr id="100076" name="TextBox 19"/>
          <p:cNvSpPr txBox="1"/>
          <p:nvPr/>
        </p:nvSpPr>
        <p:spPr>
          <a:xfrm>
            <a:off x="9545320" y="4140200"/>
            <a:ext cx="177800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050">
                <a:solidFill>
                  <a:srgbClr val="FFD7E0"/>
                </a:solidFill>
                <a:latin typeface="Poppins"/>
                <a:ea typeface="Poppins"/>
              </a:rPr>
              <a:t>investidos no Meta</a:t>
            </a:r>
          </a:p>
        </p:txBody>
      </p:sp>
      <p:sp>
        <p:nvSpPr>
          <p:cNvPr id="100077" name="TextBox 20"/>
          <p:cNvSpPr txBox="1"/>
          <p:nvPr/>
        </p:nvSpPr>
        <p:spPr>
          <a:xfrm>
            <a:off x="5669280" y="3238500"/>
            <a:ext cx="8534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2800" b="1">
                <a:solidFill>
                  <a:srgbClr val="6B7280"/>
                </a:solidFill>
                <a:latin typeface="Poppins"/>
                <a:ea typeface="Poppins"/>
              </a:rPr>
              <a:t>→</a:t>
            </a:r>
          </a:p>
        </p:txBody>
      </p:sp>
      <p:sp>
        <p:nvSpPr>
          <p:cNvPr id="100078" name="TextBox 21"/>
          <p:cNvSpPr/>
          <p:nvPr/>
        </p:nvSpPr>
        <p:spPr>
          <a:xfrm>
            <a:off x="640080" y="5207000"/>
            <a:ext cx="10911840" cy="12954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079" name="TextBox 22"/>
          <p:cNvSpPr txBox="1"/>
          <p:nvPr/>
        </p:nvSpPr>
        <p:spPr>
          <a:xfrm>
            <a:off x="824552" y="5346700"/>
            <a:ext cx="10542896" cy="279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A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série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é </a:t>
            </a:r>
            <a:r>
              <a:rPr lang="en-US" sz="1300" b="1" dirty="0" smtClean="0">
                <a:solidFill>
                  <a:srgbClr val="093652"/>
                </a:solidFill>
                <a:latin typeface="Poppins"/>
                <a:ea typeface="Poppins"/>
              </a:rPr>
              <a:t>CPL R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$ 58,69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em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maio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, R$ 47,90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em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 smtClean="0">
                <a:solidFill>
                  <a:srgbClr val="093652"/>
                </a:solidFill>
                <a:latin typeface="Poppins"/>
                <a:ea typeface="Poppins"/>
              </a:rPr>
              <a:t>junho</a:t>
            </a:r>
            <a:r>
              <a:rPr lang="en-US" sz="1300" b="1" dirty="0" smtClean="0">
                <a:solidFill>
                  <a:srgbClr val="093652"/>
                </a:solidFill>
                <a:latin typeface="Poppins"/>
                <a:ea typeface="Poppins"/>
              </a:rPr>
              <a:t> (</a:t>
            </a:r>
            <a:r>
              <a:rPr lang="en-US" sz="1300" b="1" dirty="0" err="1" smtClean="0">
                <a:solidFill>
                  <a:srgbClr val="093652"/>
                </a:solidFill>
                <a:latin typeface="Poppins"/>
                <a:ea typeface="Poppins"/>
              </a:rPr>
              <a:t>primeira</a:t>
            </a:r>
            <a:r>
              <a:rPr lang="en-US" sz="1300" b="1" dirty="0" smtClean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 smtClean="0">
                <a:solidFill>
                  <a:srgbClr val="093652"/>
                </a:solidFill>
                <a:latin typeface="Poppins"/>
                <a:ea typeface="Poppins"/>
              </a:rPr>
              <a:t>otimização</a:t>
            </a:r>
            <a:r>
              <a:rPr lang="en-US" sz="1300" b="1" dirty="0" smtClean="0">
                <a:solidFill>
                  <a:srgbClr val="093652"/>
                </a:solidFill>
                <a:latin typeface="Poppins"/>
                <a:ea typeface="Poppins"/>
              </a:rPr>
              <a:t>) 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e R$ 33,41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em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julho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: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melhora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sustentada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,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não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um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mês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1300" b="1" dirty="0" err="1">
                <a:solidFill>
                  <a:srgbClr val="093652"/>
                </a:solidFill>
                <a:latin typeface="Poppins"/>
                <a:ea typeface="Poppins"/>
              </a:rPr>
              <a:t>bom</a:t>
            </a:r>
            <a:r>
              <a:rPr lang="en-US" sz="1300" b="1" dirty="0">
                <a:solidFill>
                  <a:srgbClr val="093652"/>
                </a:solidFill>
                <a:latin typeface="Poppins"/>
                <a:ea typeface="Poppins"/>
              </a:rPr>
              <a:t>.</a:t>
            </a:r>
          </a:p>
        </p:txBody>
      </p:sp>
      <p:sp>
        <p:nvSpPr>
          <p:cNvPr id="100080" name="TextBox 23"/>
          <p:cNvSpPr txBox="1"/>
          <p:nvPr/>
        </p:nvSpPr>
        <p:spPr>
          <a:xfrm>
            <a:off x="970280" y="5638800"/>
            <a:ext cx="10251440" cy="762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just">
              <a:lnSpc>
                <a:spcPct val="130000"/>
              </a:lnSpc>
            </a:pP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Google B2B: 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campanha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Pesquisa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gastou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R$ 4.571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junho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e R$ 1.746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julho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, 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foi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pausada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22/07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porque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mandava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tráfego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ruim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 para 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a landing page nova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ainda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configuração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.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Ressalva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que continua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valendo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: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custo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por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lead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mede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custo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,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não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qualidade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.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Quem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fecha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essa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conta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é o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retorno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do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comercial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81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COMO O TRÁFEGO PAGO PERFORMA MELHOR</a:t>
            </a:r>
          </a:p>
        </p:txBody>
      </p:sp>
      <p:sp>
        <p:nvSpPr>
          <p:cNvPr id="100082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 dirty="0" smtClean="0">
                <a:solidFill>
                  <a:srgbClr val="093652"/>
                </a:solidFill>
                <a:latin typeface="Poppins"/>
                <a:ea typeface="Poppins"/>
              </a:rPr>
              <a:t>É </a:t>
            </a:r>
            <a:r>
              <a:rPr lang="en-US" sz="3000" b="1" dirty="0" err="1" smtClean="0">
                <a:solidFill>
                  <a:srgbClr val="093652"/>
                </a:solidFill>
                <a:latin typeface="Poppins"/>
                <a:ea typeface="Poppins"/>
              </a:rPr>
              <a:t>funil</a:t>
            </a:r>
            <a:r>
              <a:rPr lang="en-US" sz="3000" b="1" dirty="0" smtClean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3000" b="1" dirty="0" err="1" smtClean="0">
                <a:solidFill>
                  <a:srgbClr val="093652"/>
                </a:solidFill>
                <a:latin typeface="Poppins"/>
                <a:ea typeface="Poppins"/>
              </a:rPr>
              <a:t>completo</a:t>
            </a:r>
            <a:r>
              <a:rPr lang="en-US" sz="3000" b="1" dirty="0" smtClean="0">
                <a:solidFill>
                  <a:srgbClr val="093652"/>
                </a:solidFill>
                <a:latin typeface="Poppins"/>
                <a:ea typeface="Poppins"/>
              </a:rPr>
              <a:t>, com </a:t>
            </a:r>
            <a:r>
              <a:rPr lang="en-US" sz="3000" b="1" dirty="0" err="1" smtClean="0">
                <a:solidFill>
                  <a:srgbClr val="093652"/>
                </a:solidFill>
                <a:latin typeface="Poppins"/>
                <a:ea typeface="Poppins"/>
              </a:rPr>
              <a:t>traqueamento</a:t>
            </a:r>
            <a:r>
              <a:rPr lang="en-US" sz="3000" b="1" dirty="0" smtClean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3000" b="1" dirty="0" err="1" smtClean="0">
                <a:solidFill>
                  <a:srgbClr val="093652"/>
                </a:solidFill>
                <a:latin typeface="Poppins"/>
                <a:ea typeface="Poppins"/>
              </a:rPr>
              <a:t>até</a:t>
            </a:r>
            <a:r>
              <a:rPr lang="en-US" sz="3000" b="1" dirty="0" smtClean="0">
                <a:solidFill>
                  <a:srgbClr val="093652"/>
                </a:solidFill>
                <a:latin typeface="Poppins"/>
                <a:ea typeface="Poppins"/>
              </a:rPr>
              <a:t> </a:t>
            </a:r>
            <a:r>
              <a:rPr lang="en-US" sz="3000" b="1" dirty="0" err="1" smtClean="0">
                <a:solidFill>
                  <a:srgbClr val="093652"/>
                </a:solidFill>
                <a:latin typeface="Poppins"/>
                <a:ea typeface="Poppins"/>
              </a:rPr>
              <a:t>conversão</a:t>
            </a:r>
            <a:endParaRPr lang="en-US" sz="3000" b="1" dirty="0">
              <a:solidFill>
                <a:srgbClr val="093652"/>
              </a:solidFill>
              <a:latin typeface="Poppins"/>
              <a:ea typeface="Poppins"/>
            </a:endParaRPr>
          </a:p>
        </p:txBody>
      </p:sp>
      <p:sp>
        <p:nvSpPr>
          <p:cNvPr id="100083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Não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 é </a:t>
            </a:r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mais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anúncios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rodando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. É um </a:t>
            </a:r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plano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seguido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 do </a:t>
            </a:r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começo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ao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fim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, e </a:t>
            </a:r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medição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 que </a:t>
            </a:r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chegue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até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 a </a:t>
            </a:r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venda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.</a:t>
            </a:r>
            <a:endParaRPr lang="en-US" sz="1400" dirty="0">
              <a:solidFill>
                <a:srgbClr val="4A5568"/>
              </a:solidFill>
              <a:latin typeface="Poppins"/>
              <a:ea typeface="Poppins"/>
            </a:endParaRPr>
          </a:p>
        </p:txBody>
      </p:sp>
      <p:sp>
        <p:nvSpPr>
          <p:cNvPr id="100084" name="TextBox 4"/>
          <p:cNvSpPr/>
          <p:nvPr/>
        </p:nvSpPr>
        <p:spPr>
          <a:xfrm>
            <a:off x="640080" y="1803400"/>
            <a:ext cx="3467100" cy="2133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085" name="TextBox 5"/>
          <p:cNvSpPr txBox="1"/>
          <p:nvPr/>
        </p:nvSpPr>
        <p:spPr>
          <a:xfrm>
            <a:off x="919480" y="2006600"/>
            <a:ext cx="29464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200" b="1" spc="100">
                <a:solidFill>
                  <a:srgbClr val="E01C4C"/>
                </a:solidFill>
                <a:latin typeface="Poppins"/>
                <a:ea typeface="Poppins"/>
              </a:rPr>
              <a:t>FUNIL COMPLETO</a:t>
            </a:r>
          </a:p>
        </p:txBody>
      </p:sp>
      <p:sp>
        <p:nvSpPr>
          <p:cNvPr id="100086" name="TextBox 6"/>
          <p:cNvSpPr txBox="1"/>
          <p:nvPr/>
        </p:nvSpPr>
        <p:spPr>
          <a:xfrm>
            <a:off x="919480" y="2489200"/>
            <a:ext cx="29464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just">
              <a:lnSpc>
                <a:spcPct val="135000"/>
              </a:lnSpc>
            </a:pP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Alcance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,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visita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,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contato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e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resultado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precisam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ser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pensados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juntos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, com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papel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definido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para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cada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 smtClean="0">
                <a:solidFill>
                  <a:srgbClr val="1A1A1A"/>
                </a:solidFill>
                <a:latin typeface="Poppins"/>
                <a:ea typeface="Poppins"/>
              </a:rPr>
              <a:t>campanha</a:t>
            </a:r>
            <a:r>
              <a:rPr lang="en-US" sz="1100" dirty="0" smtClean="0">
                <a:solidFill>
                  <a:srgbClr val="1A1A1A"/>
                </a:solidFill>
                <a:latin typeface="Poppins"/>
                <a:ea typeface="Poppins"/>
              </a:rPr>
              <a:t>/</a:t>
            </a:r>
            <a:r>
              <a:rPr lang="en-US" sz="1100" dirty="0" err="1" smtClean="0">
                <a:solidFill>
                  <a:srgbClr val="1A1A1A"/>
                </a:solidFill>
                <a:latin typeface="Poppins"/>
                <a:ea typeface="Poppins"/>
              </a:rPr>
              <a:t>objetivo</a:t>
            </a:r>
            <a:r>
              <a:rPr lang="en-US" sz="1100" dirty="0" smtClean="0">
                <a:solidFill>
                  <a:srgbClr val="1A1A1A"/>
                </a:solidFill>
                <a:latin typeface="Poppins"/>
                <a:ea typeface="Poppins"/>
              </a:rPr>
              <a:t>.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Anúncio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solto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disputa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verba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com o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próprio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vizinho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e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ninguém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aprende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.</a:t>
            </a:r>
          </a:p>
        </p:txBody>
      </p:sp>
      <p:sp>
        <p:nvSpPr>
          <p:cNvPr id="100087" name="TextBox 7"/>
          <p:cNvSpPr/>
          <p:nvPr/>
        </p:nvSpPr>
        <p:spPr>
          <a:xfrm>
            <a:off x="4362450" y="1803400"/>
            <a:ext cx="3467100" cy="2133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088" name="TextBox 8"/>
          <p:cNvSpPr txBox="1"/>
          <p:nvPr/>
        </p:nvSpPr>
        <p:spPr>
          <a:xfrm>
            <a:off x="4641850" y="2006600"/>
            <a:ext cx="29464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200" b="1" spc="100">
                <a:solidFill>
                  <a:srgbClr val="E01C4C"/>
                </a:solidFill>
                <a:latin typeface="Poppins"/>
                <a:ea typeface="Poppins"/>
              </a:rPr>
              <a:t>UM PLANO, E SEGUIR O PLANO</a:t>
            </a:r>
          </a:p>
        </p:txBody>
      </p:sp>
      <p:sp>
        <p:nvSpPr>
          <p:cNvPr id="100089" name="TextBox 9"/>
          <p:cNvSpPr txBox="1"/>
          <p:nvPr/>
        </p:nvSpPr>
        <p:spPr>
          <a:xfrm>
            <a:off x="4641850" y="2489200"/>
            <a:ext cx="29464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just">
              <a:lnSpc>
                <a:spcPct val="135000"/>
              </a:lnSpc>
            </a:pP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A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verba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é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desenhada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antes do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mês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começar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e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mantida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até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o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fim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dele.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Mudar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de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rota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no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meio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reinicia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o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aprendizado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do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algoritmo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e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joga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fora o que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já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foi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pago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para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ele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aprender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.</a:t>
            </a:r>
          </a:p>
        </p:txBody>
      </p:sp>
      <p:sp>
        <p:nvSpPr>
          <p:cNvPr id="100090" name="TextBox 10"/>
          <p:cNvSpPr/>
          <p:nvPr/>
        </p:nvSpPr>
        <p:spPr>
          <a:xfrm>
            <a:off x="8084820" y="1803400"/>
            <a:ext cx="3467100" cy="2133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091" name="TextBox 11"/>
          <p:cNvSpPr txBox="1"/>
          <p:nvPr/>
        </p:nvSpPr>
        <p:spPr>
          <a:xfrm>
            <a:off x="8364220" y="2006600"/>
            <a:ext cx="29464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15000"/>
              </a:lnSpc>
            </a:pPr>
            <a:r>
              <a:rPr lang="en-US" sz="1200" b="1" spc="100">
                <a:solidFill>
                  <a:srgbClr val="E01C4C"/>
                </a:solidFill>
                <a:latin typeface="Poppins"/>
                <a:ea typeface="Poppins"/>
              </a:rPr>
              <a:t>MEDIÇÃO E COLABORAÇÃO</a:t>
            </a:r>
          </a:p>
        </p:txBody>
      </p:sp>
      <p:sp>
        <p:nvSpPr>
          <p:cNvPr id="100092" name="TextBox 12"/>
          <p:cNvSpPr txBox="1"/>
          <p:nvPr/>
        </p:nvSpPr>
        <p:spPr>
          <a:xfrm>
            <a:off x="8364220" y="2489200"/>
            <a:ext cx="2946400" cy="127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just">
              <a:lnSpc>
                <a:spcPct val="135000"/>
              </a:lnSpc>
            </a:pP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Sem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saber o que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virou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visita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e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contrato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,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otimizamos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por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custo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,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não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por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resultado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.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Comercial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,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lojistas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e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mídia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precisam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devolver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informação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uns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1A1A1A"/>
                </a:solidFill>
                <a:latin typeface="Poppins"/>
                <a:ea typeface="Poppins"/>
              </a:rPr>
              <a:t>aos</a:t>
            </a:r>
            <a:r>
              <a:rPr lang="en-US" sz="1100" dirty="0">
                <a:solidFill>
                  <a:srgbClr val="1A1A1A"/>
                </a:solidFill>
                <a:latin typeface="Poppins"/>
                <a:ea typeface="Poppins"/>
              </a:rPr>
              <a:t> outros.</a:t>
            </a:r>
          </a:p>
        </p:txBody>
      </p:sp>
      <p:sp>
        <p:nvSpPr>
          <p:cNvPr id="100093" name="TextBox 13"/>
          <p:cNvSpPr/>
          <p:nvPr/>
        </p:nvSpPr>
        <p:spPr>
          <a:xfrm>
            <a:off x="640080" y="4140200"/>
            <a:ext cx="10911840" cy="23622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094" name="TextBox 14"/>
          <p:cNvSpPr txBox="1"/>
          <p:nvPr/>
        </p:nvSpPr>
        <p:spPr>
          <a:xfrm>
            <a:off x="995680" y="4292600"/>
            <a:ext cx="1020064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700" b="1">
                <a:solidFill>
                  <a:srgbClr val="FFFFFF"/>
                </a:solidFill>
                <a:latin typeface="Poppins"/>
                <a:ea typeface="Poppins"/>
              </a:rPr>
              <a:t>Hoje o que compramos é alcance. O objetivo tende a mudar para algo palpável.</a:t>
            </a:r>
          </a:p>
        </p:txBody>
      </p:sp>
      <p:sp>
        <p:nvSpPr>
          <p:cNvPr id="100095" name="TextBox 15"/>
          <p:cNvSpPr txBox="1"/>
          <p:nvPr/>
        </p:nvSpPr>
        <p:spPr>
          <a:xfrm>
            <a:off x="995680" y="4699000"/>
            <a:ext cx="1020064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Alcance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é um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bom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começo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de </a:t>
            </a:r>
            <a:r>
              <a:rPr lang="en-US" sz="1150" dirty="0" err="1" smtClean="0">
                <a:solidFill>
                  <a:srgbClr val="B9CBD6"/>
                </a:solidFill>
                <a:latin typeface="Poppins"/>
                <a:ea typeface="Poppins"/>
              </a:rPr>
              <a:t>régua</a:t>
            </a:r>
            <a:r>
              <a:rPr lang="en-US" sz="1150" dirty="0" smtClean="0">
                <a:solidFill>
                  <a:srgbClr val="B9CBD6"/>
                </a:solidFill>
                <a:latin typeface="Poppins"/>
                <a:ea typeface="Poppins"/>
              </a:rPr>
              <a:t>. 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As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duas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frentes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já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têm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o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caminho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desenhado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para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sair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de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métrica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de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esforço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e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chegar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métrica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 de </a:t>
            </a:r>
            <a:r>
              <a:rPr lang="en-US" sz="1150" dirty="0" err="1">
                <a:solidFill>
                  <a:srgbClr val="B9CBD6"/>
                </a:solidFill>
                <a:latin typeface="Poppins"/>
                <a:ea typeface="Poppins"/>
              </a:rPr>
              <a:t>negócio</a:t>
            </a:r>
            <a:r>
              <a:rPr lang="en-US" sz="1150" dirty="0">
                <a:solidFill>
                  <a:srgbClr val="B9CBD6"/>
                </a:solidFill>
                <a:latin typeface="Poppins"/>
                <a:ea typeface="Poppins"/>
              </a:rPr>
              <a:t>.</a:t>
            </a:r>
          </a:p>
        </p:txBody>
      </p:sp>
      <p:sp>
        <p:nvSpPr>
          <p:cNvPr id="100096" name="TextBox 16"/>
          <p:cNvSpPr/>
          <p:nvPr/>
        </p:nvSpPr>
        <p:spPr>
          <a:xfrm>
            <a:off x="970280" y="5308600"/>
            <a:ext cx="5080000" cy="990600"/>
          </a:xfrm>
          <a:prstGeom prst="roundRect">
            <a:avLst>
              <a:gd name="adj" fmla="val 4000"/>
            </a:avLst>
          </a:prstGeom>
          <a:solidFill>
            <a:srgbClr val="0C4767"/>
          </a:solidFill>
        </p:spPr>
        <p:txBody>
          <a:bodyPr/>
          <a:lstStyle/>
          <a:p>
            <a:endParaRPr/>
          </a:p>
        </p:txBody>
      </p:sp>
      <p:sp>
        <p:nvSpPr>
          <p:cNvPr id="100097" name="TextBox 17"/>
          <p:cNvSpPr txBox="1"/>
          <p:nvPr/>
        </p:nvSpPr>
        <p:spPr>
          <a:xfrm>
            <a:off x="1224280" y="54356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1DAFE0"/>
                </a:solidFill>
                <a:latin typeface="Poppins"/>
                <a:ea typeface="Poppins"/>
              </a:rPr>
              <a:t>B2C</a:t>
            </a:r>
          </a:p>
        </p:txBody>
      </p:sp>
      <p:sp>
        <p:nvSpPr>
          <p:cNvPr id="100098" name="TextBox 18"/>
          <p:cNvSpPr txBox="1"/>
          <p:nvPr/>
        </p:nvSpPr>
        <p:spPr>
          <a:xfrm>
            <a:off x="1224280" y="5715000"/>
            <a:ext cx="45720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050">
                <a:solidFill>
                  <a:srgbClr val="FFFFFF"/>
                </a:solidFill>
                <a:latin typeface="Poppins"/>
                <a:ea typeface="Poppins"/>
              </a:rPr>
              <a:t>alcance  →  fluxo de pessoas na porta, medido pelo contador do shopping e comparado com o mesmo mês do ano anterior</a:t>
            </a:r>
          </a:p>
        </p:txBody>
      </p:sp>
      <p:sp>
        <p:nvSpPr>
          <p:cNvPr id="100099" name="TextBox 19"/>
          <p:cNvSpPr/>
          <p:nvPr/>
        </p:nvSpPr>
        <p:spPr>
          <a:xfrm>
            <a:off x="6304280" y="5308600"/>
            <a:ext cx="4917440" cy="990600"/>
          </a:xfrm>
          <a:prstGeom prst="roundRect">
            <a:avLst>
              <a:gd name="adj" fmla="val 4000"/>
            </a:avLst>
          </a:prstGeom>
          <a:solidFill>
            <a:srgbClr val="0C4767"/>
          </a:solidFill>
        </p:spPr>
        <p:txBody>
          <a:bodyPr/>
          <a:lstStyle/>
          <a:p>
            <a:endParaRPr/>
          </a:p>
        </p:txBody>
      </p:sp>
      <p:sp>
        <p:nvSpPr>
          <p:cNvPr id="100100" name="TextBox 20"/>
          <p:cNvSpPr txBox="1"/>
          <p:nvPr/>
        </p:nvSpPr>
        <p:spPr>
          <a:xfrm>
            <a:off x="6558280" y="5435600"/>
            <a:ext cx="44069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FC496C"/>
                </a:solidFill>
                <a:latin typeface="Poppins"/>
                <a:ea typeface="Poppins"/>
              </a:rPr>
              <a:t>B2B</a:t>
            </a:r>
          </a:p>
        </p:txBody>
      </p:sp>
      <p:sp>
        <p:nvSpPr>
          <p:cNvPr id="100101" name="TextBox 21"/>
          <p:cNvSpPr txBox="1"/>
          <p:nvPr/>
        </p:nvSpPr>
        <p:spPr>
          <a:xfrm>
            <a:off x="6558280" y="5715000"/>
            <a:ext cx="440690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050">
                <a:solidFill>
                  <a:srgbClr val="FFFFFF"/>
                </a:solidFill>
                <a:latin typeface="Poppins"/>
                <a:ea typeface="Poppins"/>
              </a:rPr>
              <a:t>custo por lead  →  custo por contrato assinado, com o lead etiquetado dentro do CRM do comercial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02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PLANO DE AGOSTO · B2C</a:t>
            </a:r>
          </a:p>
        </p:txBody>
      </p:sp>
      <p:sp>
        <p:nvSpPr>
          <p:cNvPr id="100103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A verba de agosto é desenhada, não herdada</a:t>
            </a:r>
          </a:p>
        </p:txBody>
      </p:sp>
      <p:sp>
        <p:nvSpPr>
          <p:cNvPr id="100104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Os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valores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que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rodam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hoje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são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resíduo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do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corte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feito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às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pressas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em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400" dirty="0" err="1" smtClean="0">
                <a:solidFill>
                  <a:srgbClr val="4A5568"/>
                </a:solidFill>
                <a:latin typeface="Poppins"/>
                <a:ea typeface="Poppins"/>
              </a:rPr>
              <a:t>maio</a:t>
            </a:r>
            <a:r>
              <a:rPr lang="en-US" sz="1400" dirty="0" smtClean="0">
                <a:solidFill>
                  <a:srgbClr val="4A5568"/>
                </a:solidFill>
                <a:latin typeface="Poppins"/>
                <a:ea typeface="Poppins"/>
              </a:rPr>
              <a:t>. 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Agosto redefine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linha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 a </a:t>
            </a:r>
            <a:r>
              <a:rPr lang="en-US" sz="1400" dirty="0" err="1">
                <a:solidFill>
                  <a:srgbClr val="4A5568"/>
                </a:solidFill>
                <a:latin typeface="Poppins"/>
                <a:ea typeface="Poppins"/>
              </a:rPr>
              <a:t>linha</a:t>
            </a:r>
            <a:r>
              <a:rPr lang="en-US" sz="1400" dirty="0">
                <a:solidFill>
                  <a:srgbClr val="4A5568"/>
                </a:solidFill>
                <a:latin typeface="Poppins"/>
                <a:ea typeface="Poppins"/>
              </a:rPr>
              <a:t>.</a:t>
            </a:r>
          </a:p>
        </p:txBody>
      </p:sp>
      <p:sp>
        <p:nvSpPr>
          <p:cNvPr id="100105" name="TextBox 4"/>
          <p:cNvSpPr/>
          <p:nvPr/>
        </p:nvSpPr>
        <p:spPr>
          <a:xfrm>
            <a:off x="640080" y="1905000"/>
            <a:ext cx="5969000" cy="355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106" name="TextBox 5"/>
          <p:cNvSpPr txBox="1"/>
          <p:nvPr/>
        </p:nvSpPr>
        <p:spPr>
          <a:xfrm>
            <a:off x="970280" y="2108200"/>
            <a:ext cx="533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50" b="1" spc="100" dirty="0">
                <a:solidFill>
                  <a:srgbClr val="E01C4C"/>
                </a:solidFill>
                <a:latin typeface="Poppins"/>
                <a:ea typeface="Poppins"/>
              </a:rPr>
              <a:t>META ADS  ·  R$ </a:t>
            </a:r>
            <a:r>
              <a:rPr lang="en-US" sz="1150" b="1" spc="100" dirty="0" smtClean="0">
                <a:solidFill>
                  <a:srgbClr val="E01C4C"/>
                </a:solidFill>
                <a:latin typeface="Poppins"/>
                <a:ea typeface="Poppins"/>
              </a:rPr>
              <a:t>20.000 </a:t>
            </a:r>
            <a:r>
              <a:rPr lang="en-US" sz="1150" b="1" spc="100" dirty="0">
                <a:solidFill>
                  <a:srgbClr val="E01C4C"/>
                </a:solidFill>
                <a:latin typeface="Poppins"/>
                <a:ea typeface="Poppins"/>
              </a:rPr>
              <a:t>NO MÊS</a:t>
            </a:r>
          </a:p>
        </p:txBody>
      </p:sp>
      <p:sp>
        <p:nvSpPr>
          <p:cNvPr id="100107" name="TextBox 6"/>
          <p:cNvSpPr txBox="1"/>
          <p:nvPr/>
        </p:nvSpPr>
        <p:spPr>
          <a:xfrm>
            <a:off x="970280" y="2489200"/>
            <a:ext cx="3403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Engajamento no Instagram</a:t>
            </a:r>
          </a:p>
        </p:txBody>
      </p:sp>
      <p:sp>
        <p:nvSpPr>
          <p:cNvPr id="100108" name="TextBox 7"/>
          <p:cNvSpPr txBox="1"/>
          <p:nvPr/>
        </p:nvSpPr>
        <p:spPr>
          <a:xfrm>
            <a:off x="4450080" y="24892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R$ 350 / dia</a:t>
            </a:r>
          </a:p>
        </p:txBody>
      </p:sp>
      <p:sp>
        <p:nvSpPr>
          <p:cNvPr id="100109" name="TextBox 8"/>
          <p:cNvSpPr txBox="1"/>
          <p:nvPr/>
        </p:nvSpPr>
        <p:spPr>
          <a:xfrm>
            <a:off x="970280" y="2705100"/>
            <a:ext cx="53086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era R$ 243, sobe 44%: são ~10 criativos disputando a mesma verba</a:t>
            </a:r>
          </a:p>
        </p:txBody>
      </p:sp>
      <p:sp>
        <p:nvSpPr>
          <p:cNvPr id="100110" name="TextBox 9"/>
          <p:cNvSpPr txBox="1"/>
          <p:nvPr/>
        </p:nvSpPr>
        <p:spPr>
          <a:xfrm>
            <a:off x="970280" y="3175000"/>
            <a:ext cx="3403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Ofertas semanais</a:t>
            </a:r>
          </a:p>
        </p:txBody>
      </p:sp>
      <p:sp>
        <p:nvSpPr>
          <p:cNvPr id="100111" name="TextBox 10"/>
          <p:cNvSpPr txBox="1"/>
          <p:nvPr/>
        </p:nvSpPr>
        <p:spPr>
          <a:xfrm>
            <a:off x="4450080" y="31750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R$ 120 / dia</a:t>
            </a:r>
          </a:p>
        </p:txBody>
      </p:sp>
      <p:sp>
        <p:nvSpPr>
          <p:cNvPr id="100112" name="TextBox 11"/>
          <p:cNvSpPr txBox="1"/>
          <p:nvPr/>
        </p:nvSpPr>
        <p:spPr>
          <a:xfrm>
            <a:off x="970280" y="3390900"/>
            <a:ext cx="53086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piso de entrega, para os carrosséis de oferta não sumirem</a:t>
            </a:r>
          </a:p>
        </p:txBody>
      </p:sp>
      <p:sp>
        <p:nvSpPr>
          <p:cNvPr id="100113" name="TextBox 12"/>
          <p:cNvSpPr txBox="1"/>
          <p:nvPr/>
        </p:nvSpPr>
        <p:spPr>
          <a:xfrm>
            <a:off x="970280" y="3860800"/>
            <a:ext cx="3403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Reconhecimento institucional</a:t>
            </a:r>
          </a:p>
        </p:txBody>
      </p:sp>
      <p:sp>
        <p:nvSpPr>
          <p:cNvPr id="100114" name="TextBox 13"/>
          <p:cNvSpPr txBox="1"/>
          <p:nvPr/>
        </p:nvSpPr>
        <p:spPr>
          <a:xfrm>
            <a:off x="4450080" y="38608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R$ 100 / dia</a:t>
            </a:r>
          </a:p>
        </p:txBody>
      </p:sp>
      <p:sp>
        <p:nvSpPr>
          <p:cNvPr id="100115" name="TextBox 14"/>
          <p:cNvSpPr txBox="1"/>
          <p:nvPr/>
        </p:nvSpPr>
        <p:spPr>
          <a:xfrm>
            <a:off x="970280" y="4076700"/>
            <a:ext cx="53086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era R$ 20: é a única linha que compra alcance de verdade</a:t>
            </a:r>
          </a:p>
        </p:txBody>
      </p:sp>
      <p:sp>
        <p:nvSpPr>
          <p:cNvPr id="100116" name="TextBox 15"/>
          <p:cNvSpPr txBox="1"/>
          <p:nvPr/>
        </p:nvSpPr>
        <p:spPr>
          <a:xfrm>
            <a:off x="970280" y="4546600"/>
            <a:ext cx="34036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Turbinar posts</a:t>
            </a:r>
          </a:p>
        </p:txBody>
      </p:sp>
      <p:sp>
        <p:nvSpPr>
          <p:cNvPr id="100117" name="TextBox 16"/>
          <p:cNvSpPr txBox="1"/>
          <p:nvPr/>
        </p:nvSpPr>
        <p:spPr>
          <a:xfrm>
            <a:off x="4450080" y="4546600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200" b="1">
                <a:solidFill>
                  <a:srgbClr val="093652"/>
                </a:solidFill>
                <a:latin typeface="Poppins"/>
                <a:ea typeface="Poppins"/>
              </a:rPr>
              <a:t>R$ 2.200 fechado</a:t>
            </a:r>
          </a:p>
        </p:txBody>
      </p:sp>
      <p:sp>
        <p:nvSpPr>
          <p:cNvPr id="100118" name="TextBox 17"/>
          <p:cNvSpPr txBox="1"/>
          <p:nvPr/>
        </p:nvSpPr>
        <p:spPr>
          <a:xfrm>
            <a:off x="970280" y="4762500"/>
            <a:ext cx="53086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valor travado; quantos posts é decisão da gestão</a:t>
            </a:r>
          </a:p>
        </p:txBody>
      </p:sp>
      <p:sp>
        <p:nvSpPr>
          <p:cNvPr id="100119" name="TextBox 18"/>
          <p:cNvSpPr/>
          <p:nvPr/>
        </p:nvSpPr>
        <p:spPr>
          <a:xfrm>
            <a:off x="6888480" y="1905000"/>
            <a:ext cx="4663440" cy="35560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120" name="TextBox 19"/>
          <p:cNvSpPr txBox="1"/>
          <p:nvPr/>
        </p:nvSpPr>
        <p:spPr>
          <a:xfrm>
            <a:off x="7218680" y="2108200"/>
            <a:ext cx="4064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50" b="1" spc="100">
                <a:solidFill>
                  <a:srgbClr val="1DAFE0"/>
                </a:solidFill>
                <a:latin typeface="Poppins"/>
                <a:ea typeface="Poppins"/>
              </a:rPr>
              <a:t>O QUE PERSEGUIMOS EM AGOSTO</a:t>
            </a:r>
          </a:p>
        </p:txBody>
      </p:sp>
      <p:sp>
        <p:nvSpPr>
          <p:cNvPr id="100121" name="TextBox 20"/>
          <p:cNvSpPr txBox="1"/>
          <p:nvPr/>
        </p:nvSpPr>
        <p:spPr>
          <a:xfrm>
            <a:off x="7218680" y="25400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Poppins"/>
                <a:ea typeface="Poppins"/>
              </a:rPr>
              <a:t>1,8 mi</a:t>
            </a:r>
          </a:p>
        </p:txBody>
      </p:sp>
      <p:sp>
        <p:nvSpPr>
          <p:cNvPr id="100122" name="TextBox 21"/>
          <p:cNvSpPr txBox="1"/>
          <p:nvPr/>
        </p:nvSpPr>
        <p:spPr>
          <a:xfrm>
            <a:off x="8768080" y="2514600"/>
            <a:ext cx="25146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de alcance no mês, contra ~1,59 mi projetados em julho</a:t>
            </a:r>
          </a:p>
        </p:txBody>
      </p:sp>
      <p:sp>
        <p:nvSpPr>
          <p:cNvPr id="100123" name="TextBox 22"/>
          <p:cNvSpPr txBox="1"/>
          <p:nvPr/>
        </p:nvSpPr>
        <p:spPr>
          <a:xfrm>
            <a:off x="7218680" y="34544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Poppins"/>
                <a:ea typeface="Poppins"/>
              </a:rPr>
              <a:t>R$ 9,50</a:t>
            </a:r>
          </a:p>
        </p:txBody>
      </p:sp>
      <p:sp>
        <p:nvSpPr>
          <p:cNvPr id="100124" name="TextBox 23"/>
          <p:cNvSpPr txBox="1"/>
          <p:nvPr/>
        </p:nvSpPr>
        <p:spPr>
          <a:xfrm>
            <a:off x="8768080" y="3429000"/>
            <a:ext cx="25146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de teto no custo por mil pessoas alcançadas</a:t>
            </a:r>
          </a:p>
        </p:txBody>
      </p:sp>
      <p:sp>
        <p:nvSpPr>
          <p:cNvPr id="100125" name="TextBox 24"/>
          <p:cNvSpPr txBox="1"/>
          <p:nvPr/>
        </p:nvSpPr>
        <p:spPr>
          <a:xfrm>
            <a:off x="7218680" y="4368800"/>
            <a:ext cx="1524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100" b="1">
                <a:solidFill>
                  <a:srgbClr val="FFFFFF"/>
                </a:solidFill>
                <a:latin typeface="Poppins"/>
                <a:ea typeface="Poppins"/>
              </a:rPr>
              <a:t>R$ 0</a:t>
            </a:r>
          </a:p>
        </p:txBody>
      </p:sp>
      <p:sp>
        <p:nvSpPr>
          <p:cNvPr id="100126" name="TextBox 25"/>
          <p:cNvSpPr txBox="1"/>
          <p:nvPr/>
        </p:nvSpPr>
        <p:spPr>
          <a:xfrm>
            <a:off x="8768080" y="4343400"/>
            <a:ext cx="2514600" cy="584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0000"/>
              </a:lnSpc>
            </a:pPr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no Google B2C: a PMax segue pausada, verba em reserva de teste</a:t>
            </a:r>
          </a:p>
        </p:txBody>
      </p:sp>
      <p:sp>
        <p:nvSpPr>
          <p:cNvPr id="100127" name="TextBox 26"/>
          <p:cNvSpPr/>
          <p:nvPr/>
        </p:nvSpPr>
        <p:spPr>
          <a:xfrm>
            <a:off x="640080" y="5562600"/>
            <a:ext cx="10911840" cy="9398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128" name="TextBox 27"/>
          <p:cNvSpPr txBox="1"/>
          <p:nvPr/>
        </p:nvSpPr>
        <p:spPr>
          <a:xfrm>
            <a:off x="970280" y="5689600"/>
            <a:ext cx="10251440" cy="711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Setembro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dá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o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passo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seguinte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: 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campanha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Engajamento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sai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visita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ao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perfil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passa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perseguir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alcance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verdade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, 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entra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um Search de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marca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, cinema,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eventos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como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chegar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. 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No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próximo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ciclo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,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após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conversões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estáveis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,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analisamos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uma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Pmax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.</a:t>
            </a:r>
            <a:endParaRPr lang="en-US" sz="1150" dirty="0">
              <a:solidFill>
                <a:srgbClr val="4A5568"/>
              </a:solidFill>
              <a:latin typeface="Poppins"/>
              <a:ea typeface="Poppi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29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PLANO DE AGOSTO · B2B</a:t>
            </a:r>
          </a:p>
        </p:txBody>
      </p:sp>
      <p:sp>
        <p:nvSpPr>
          <p:cNvPr id="100130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Agosto fecha a captura e reconstrói o Google</a:t>
            </a:r>
          </a:p>
        </p:txBody>
      </p:sp>
      <p:sp>
        <p:nvSpPr>
          <p:cNvPr id="100131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Um entregável dominante por semana, na ordem em que um depende do outro.</a:t>
            </a:r>
          </a:p>
        </p:txBody>
      </p:sp>
      <p:sp>
        <p:nvSpPr>
          <p:cNvPr id="100132" name="TextBox 4"/>
          <p:cNvSpPr/>
          <p:nvPr/>
        </p:nvSpPr>
        <p:spPr>
          <a:xfrm>
            <a:off x="640080" y="1905000"/>
            <a:ext cx="6604000" cy="34036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133" name="TextBox 5"/>
          <p:cNvSpPr txBox="1"/>
          <p:nvPr/>
        </p:nvSpPr>
        <p:spPr>
          <a:xfrm>
            <a:off x="944880" y="2108200"/>
            <a:ext cx="5969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1  ·  03 a 07/08</a:t>
            </a:r>
          </a:p>
        </p:txBody>
      </p:sp>
      <p:sp>
        <p:nvSpPr>
          <p:cNvPr id="100134" name="TextBox 6"/>
          <p:cNvSpPr txBox="1"/>
          <p:nvPr/>
        </p:nvSpPr>
        <p:spPr>
          <a:xfrm>
            <a:off x="944880" y="2311400"/>
            <a:ext cx="59944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150">
                <a:solidFill>
                  <a:srgbClr val="1A1A1A"/>
                </a:solidFill>
                <a:latin typeface="Poppins"/>
                <a:ea typeface="Poppins"/>
              </a:rPr>
              <a:t>Descobrir onde caem hoje os leads do formulário atual e concluir a integração com o CRM do comercial</a:t>
            </a:r>
          </a:p>
        </p:txBody>
      </p:sp>
      <p:sp>
        <p:nvSpPr>
          <p:cNvPr id="100135" name="TextBox 7"/>
          <p:cNvSpPr txBox="1"/>
          <p:nvPr/>
        </p:nvSpPr>
        <p:spPr>
          <a:xfrm>
            <a:off x="944880" y="2895600"/>
            <a:ext cx="5969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2  ·  10 a 14/08</a:t>
            </a:r>
          </a:p>
        </p:txBody>
      </p:sp>
      <p:sp>
        <p:nvSpPr>
          <p:cNvPr id="100136" name="TextBox 8"/>
          <p:cNvSpPr txBox="1"/>
          <p:nvPr/>
        </p:nvSpPr>
        <p:spPr>
          <a:xfrm>
            <a:off x="944880" y="3098800"/>
            <a:ext cx="59944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150">
                <a:solidFill>
                  <a:srgbClr val="1A1A1A"/>
                </a:solidFill>
                <a:latin typeface="Poppins"/>
                <a:ea typeface="Poppins"/>
              </a:rPr>
              <a:t>Subir a campanha nova do Meta, terminar a landing page e disparar os briefings do dia 14</a:t>
            </a:r>
          </a:p>
        </p:txBody>
      </p:sp>
      <p:sp>
        <p:nvSpPr>
          <p:cNvPr id="100137" name="TextBox 9"/>
          <p:cNvSpPr txBox="1"/>
          <p:nvPr/>
        </p:nvSpPr>
        <p:spPr>
          <a:xfrm>
            <a:off x="944880" y="3683000"/>
            <a:ext cx="5969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3  ·  17 a 21/08</a:t>
            </a:r>
          </a:p>
        </p:txBody>
      </p:sp>
      <p:sp>
        <p:nvSpPr>
          <p:cNvPr id="100138" name="TextBox 10"/>
          <p:cNvSpPr txBox="1"/>
          <p:nvPr/>
        </p:nvSpPr>
        <p:spPr>
          <a:xfrm>
            <a:off x="944880" y="3886200"/>
            <a:ext cx="59944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150">
                <a:solidFill>
                  <a:srgbClr val="1A1A1A"/>
                </a:solidFill>
                <a:latin typeface="Poppins"/>
                <a:ea typeface="Poppins"/>
              </a:rPr>
              <a:t>Google: criar e validar a conversão real, rebaixar Visitas à loja e montar as campanhas</a:t>
            </a:r>
          </a:p>
        </p:txBody>
      </p:sp>
      <p:sp>
        <p:nvSpPr>
          <p:cNvPr id="100139" name="TextBox 11"/>
          <p:cNvSpPr txBox="1"/>
          <p:nvPr/>
        </p:nvSpPr>
        <p:spPr>
          <a:xfrm>
            <a:off x="944880" y="4470400"/>
            <a:ext cx="5969000" cy="203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E01C4C"/>
                </a:solidFill>
                <a:latin typeface="Poppins"/>
                <a:ea typeface="Poppins"/>
              </a:rPr>
              <a:t>SEMANA 4  ·  24 a 28/08</a:t>
            </a:r>
          </a:p>
        </p:txBody>
      </p:sp>
      <p:sp>
        <p:nvSpPr>
          <p:cNvPr id="100140" name="TextBox 12"/>
          <p:cNvSpPr txBox="1"/>
          <p:nvPr/>
        </p:nvSpPr>
        <p:spPr>
          <a:xfrm>
            <a:off x="944880" y="4673600"/>
            <a:ext cx="5994400" cy="431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Search e </a:t>
            </a:r>
            <a:r>
              <a:rPr lang="en-US" sz="1150" dirty="0" err="1" smtClean="0">
                <a:solidFill>
                  <a:srgbClr val="1A1A1A"/>
                </a:solidFill>
                <a:latin typeface="Poppins"/>
                <a:ea typeface="Poppins"/>
              </a:rPr>
              <a:t>possivelmente</a:t>
            </a:r>
            <a:r>
              <a:rPr lang="en-US" sz="1150" dirty="0" smtClean="0">
                <a:solidFill>
                  <a:srgbClr val="1A1A1A"/>
                </a:solidFill>
                <a:latin typeface="Poppins"/>
                <a:ea typeface="Poppins"/>
              </a:rPr>
              <a:t> Demand 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Gen no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ar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em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25/08,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rodando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sete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dias</a:t>
            </a:r>
            <a:r>
              <a:rPr lang="en-US" sz="1150" dirty="0">
                <a:solidFill>
                  <a:srgbClr val="1A1A1A"/>
                </a:solidFill>
                <a:latin typeface="Poppins"/>
                <a:ea typeface="Poppins"/>
              </a:rPr>
              <a:t> de </a:t>
            </a:r>
            <a:r>
              <a:rPr lang="en-US" sz="1150" dirty="0" err="1">
                <a:solidFill>
                  <a:srgbClr val="1A1A1A"/>
                </a:solidFill>
                <a:latin typeface="Poppins"/>
                <a:ea typeface="Poppins"/>
              </a:rPr>
              <a:t>validação</a:t>
            </a:r>
            <a:endParaRPr lang="en-US" sz="1150" dirty="0">
              <a:solidFill>
                <a:srgbClr val="1A1A1A"/>
              </a:solidFill>
              <a:latin typeface="Poppins"/>
              <a:ea typeface="Poppins"/>
            </a:endParaRPr>
          </a:p>
        </p:txBody>
      </p:sp>
      <p:sp>
        <p:nvSpPr>
          <p:cNvPr id="100141" name="TextBox 13"/>
          <p:cNvSpPr/>
          <p:nvPr/>
        </p:nvSpPr>
        <p:spPr>
          <a:xfrm>
            <a:off x="7523480" y="1905000"/>
            <a:ext cx="4028440" cy="34036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142" name="TextBox 14"/>
          <p:cNvSpPr txBox="1"/>
          <p:nvPr/>
        </p:nvSpPr>
        <p:spPr>
          <a:xfrm>
            <a:off x="7853680" y="2108200"/>
            <a:ext cx="3429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50" b="1" spc="100">
                <a:solidFill>
                  <a:srgbClr val="1DAFE0"/>
                </a:solidFill>
                <a:latin typeface="Poppins"/>
                <a:ea typeface="Poppins"/>
              </a:rPr>
              <a:t>O QUE PERSEGUIMOS EM AGOSTO</a:t>
            </a:r>
          </a:p>
        </p:txBody>
      </p:sp>
      <p:sp>
        <p:nvSpPr>
          <p:cNvPr id="100143" name="TextBox 15"/>
          <p:cNvSpPr txBox="1"/>
          <p:nvPr/>
        </p:nvSpPr>
        <p:spPr>
          <a:xfrm>
            <a:off x="7853680" y="25400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Poppins"/>
                <a:ea typeface="Poppins"/>
              </a:rPr>
              <a:t>180</a:t>
            </a:r>
          </a:p>
        </p:txBody>
      </p:sp>
      <p:sp>
        <p:nvSpPr>
          <p:cNvPr id="100144" name="TextBox 16"/>
          <p:cNvSpPr txBox="1"/>
          <p:nvPr/>
        </p:nvSpPr>
        <p:spPr>
          <a:xfrm>
            <a:off x="7853680" y="2870200"/>
            <a:ext cx="330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leads de locação no mês</a:t>
            </a:r>
          </a:p>
        </p:txBody>
      </p:sp>
      <p:sp>
        <p:nvSpPr>
          <p:cNvPr id="100145" name="TextBox 17"/>
          <p:cNvSpPr txBox="1"/>
          <p:nvPr/>
        </p:nvSpPr>
        <p:spPr>
          <a:xfrm>
            <a:off x="7853680" y="33274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Poppins"/>
                <a:ea typeface="Poppins"/>
              </a:rPr>
              <a:t>R$ 40</a:t>
            </a:r>
          </a:p>
        </p:txBody>
      </p:sp>
      <p:sp>
        <p:nvSpPr>
          <p:cNvPr id="100146" name="TextBox 18"/>
          <p:cNvSpPr txBox="1"/>
          <p:nvPr/>
        </p:nvSpPr>
        <p:spPr>
          <a:xfrm>
            <a:off x="7853680" y="3657600"/>
            <a:ext cx="330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de teto no custo por lead</a:t>
            </a:r>
          </a:p>
        </p:txBody>
      </p:sp>
      <p:sp>
        <p:nvSpPr>
          <p:cNvPr id="100147" name="TextBox 19"/>
          <p:cNvSpPr txBox="1"/>
          <p:nvPr/>
        </p:nvSpPr>
        <p:spPr>
          <a:xfrm>
            <a:off x="7853680" y="4114800"/>
            <a:ext cx="1905000" cy="355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000" b="1">
                <a:solidFill>
                  <a:srgbClr val="FFFFFF"/>
                </a:solidFill>
                <a:latin typeface="Poppins"/>
                <a:ea typeface="Poppins"/>
              </a:rPr>
              <a:t>R$ 10 mil</a:t>
            </a:r>
          </a:p>
        </p:txBody>
      </p:sp>
      <p:sp>
        <p:nvSpPr>
          <p:cNvPr id="100148" name="TextBox 20"/>
          <p:cNvSpPr txBox="1"/>
          <p:nvPr/>
        </p:nvSpPr>
        <p:spPr>
          <a:xfrm>
            <a:off x="7853680" y="4445000"/>
            <a:ext cx="3302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50">
                <a:solidFill>
                  <a:srgbClr val="B9CBD6"/>
                </a:solidFill>
                <a:latin typeface="Poppins"/>
                <a:ea typeface="Poppins"/>
              </a:rPr>
              <a:t>investidos no Meta, verba cheia</a:t>
            </a:r>
          </a:p>
        </p:txBody>
      </p:sp>
      <p:sp>
        <p:nvSpPr>
          <p:cNvPr id="100149" name="TextBox 21"/>
          <p:cNvSpPr/>
          <p:nvPr/>
        </p:nvSpPr>
        <p:spPr>
          <a:xfrm>
            <a:off x="640080" y="5486400"/>
            <a:ext cx="10911840" cy="1016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150" name="TextBox 22"/>
          <p:cNvSpPr txBox="1"/>
          <p:nvPr/>
        </p:nvSpPr>
        <p:spPr>
          <a:xfrm>
            <a:off x="970280" y="5613400"/>
            <a:ext cx="1025144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50" b="1">
                <a:solidFill>
                  <a:srgbClr val="093652"/>
                </a:solidFill>
                <a:latin typeface="Poppins"/>
                <a:ea typeface="Poppins"/>
              </a:rPr>
              <a:t>O Google B2B gasta cerca de R$ 2,1 mil em agosto contra R$ 15 mil nominais, e isso é decisão, não esquecimento.</a:t>
            </a:r>
          </a:p>
        </p:txBody>
      </p:sp>
      <p:sp>
        <p:nvSpPr>
          <p:cNvPr id="100151" name="TextBox 23"/>
          <p:cNvSpPr txBox="1"/>
          <p:nvPr/>
        </p:nvSpPr>
        <p:spPr>
          <a:xfrm>
            <a:off x="970280" y="5892800"/>
            <a:ext cx="10251440" cy="508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30000"/>
              </a:lnSpc>
            </a:pP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campanha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antiga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otimizava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para o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sinal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errado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. </a:t>
            </a:r>
            <a:r>
              <a:rPr lang="en-US" sz="1150" dirty="0" err="1" smtClean="0">
                <a:solidFill>
                  <a:srgbClr val="4A5568"/>
                </a:solidFill>
                <a:latin typeface="Poppins"/>
                <a:ea typeface="Poppins"/>
              </a:rPr>
              <a:t>Setembro</a:t>
            </a:r>
            <a:r>
              <a:rPr lang="en-US" sz="1150" dirty="0" smtClean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é o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mês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medir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quanto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essa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frente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realmente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comporta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, e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até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lá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a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verba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fica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como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reserva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de teste para as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três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 </a:t>
            </a:r>
            <a:r>
              <a:rPr lang="en-US" sz="1150" dirty="0" err="1">
                <a:solidFill>
                  <a:srgbClr val="4A5568"/>
                </a:solidFill>
                <a:latin typeface="Poppins"/>
                <a:ea typeface="Poppins"/>
              </a:rPr>
              <a:t>contas</a:t>
            </a:r>
            <a:r>
              <a:rPr lang="en-US" sz="1150" dirty="0">
                <a:solidFill>
                  <a:srgbClr val="4A5568"/>
                </a:solidFill>
                <a:latin typeface="Poppins"/>
                <a:ea typeface="Poppins"/>
              </a:rPr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52" name="TextBox 1"/>
          <p:cNvSpPr txBox="1"/>
          <p:nvPr/>
        </p:nvSpPr>
        <p:spPr>
          <a:xfrm>
            <a:off x="640080" y="431800"/>
            <a:ext cx="1091184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E01C4C"/>
                </a:solidFill>
                <a:latin typeface="Poppins"/>
                <a:ea typeface="Poppins"/>
              </a:rPr>
              <a:t>PLANEJAMENTO ATÉ DEZEMBRO</a:t>
            </a:r>
          </a:p>
        </p:txBody>
      </p:sp>
      <p:sp>
        <p:nvSpPr>
          <p:cNvPr id="100153" name="TextBox 2"/>
          <p:cNvSpPr txBox="1"/>
          <p:nvPr/>
        </p:nvSpPr>
        <p:spPr>
          <a:xfrm>
            <a:off x="640080" y="812800"/>
            <a:ext cx="10911840" cy="558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3000" b="1">
                <a:solidFill>
                  <a:srgbClr val="093652"/>
                </a:solidFill>
                <a:latin typeface="Poppins"/>
                <a:ea typeface="Poppins"/>
              </a:rPr>
              <a:t>O calendário do semestre já está fechado</a:t>
            </a:r>
          </a:p>
        </p:txBody>
      </p:sp>
      <p:sp>
        <p:nvSpPr>
          <p:cNvPr id="100154" name="TextBox 3"/>
          <p:cNvSpPr txBox="1"/>
          <p:nvPr/>
        </p:nvSpPr>
        <p:spPr>
          <a:xfrm>
            <a:off x="640080" y="1397000"/>
            <a:ext cx="10911840" cy="330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400">
                <a:solidFill>
                  <a:srgbClr val="4A5568"/>
                </a:solidFill>
                <a:latin typeface="Poppins"/>
                <a:ea typeface="Poppins"/>
              </a:rPr>
              <a:t>Os pedidos de criativo saem antes do prazo: a fila é a mesma para as duas frentes.</a:t>
            </a:r>
          </a:p>
        </p:txBody>
      </p:sp>
      <p:sp>
        <p:nvSpPr>
          <p:cNvPr id="100155" name="TextBox 4"/>
          <p:cNvSpPr/>
          <p:nvPr/>
        </p:nvSpPr>
        <p:spPr>
          <a:xfrm>
            <a:off x="640080" y="1854200"/>
            <a:ext cx="5323840" cy="3175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156" name="TextBox 5"/>
          <p:cNvSpPr txBox="1"/>
          <p:nvPr/>
        </p:nvSpPr>
        <p:spPr>
          <a:xfrm>
            <a:off x="944880" y="20574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50" b="1" spc="200">
                <a:solidFill>
                  <a:srgbClr val="157DBF"/>
                </a:solidFill>
                <a:latin typeface="Poppins"/>
                <a:ea typeface="Poppins"/>
              </a:rPr>
              <a:t>B2C  ·  CONSUMIDOR</a:t>
            </a:r>
          </a:p>
        </p:txBody>
      </p:sp>
      <p:sp>
        <p:nvSpPr>
          <p:cNvPr id="100157" name="TextBox 6"/>
          <p:cNvSpPr txBox="1"/>
          <p:nvPr/>
        </p:nvSpPr>
        <p:spPr>
          <a:xfrm>
            <a:off x="944880" y="24638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Dia das Crianças</a:t>
            </a:r>
          </a:p>
        </p:txBody>
      </p:sp>
      <p:sp>
        <p:nvSpPr>
          <p:cNvPr id="100158" name="TextBox 7"/>
          <p:cNvSpPr txBox="1"/>
          <p:nvPr/>
        </p:nvSpPr>
        <p:spPr>
          <a:xfrm>
            <a:off x="4119880" y="24638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157DBF"/>
                </a:solidFill>
                <a:latin typeface="Poppins"/>
                <a:ea typeface="Poppins"/>
              </a:rPr>
              <a:t>01 a 12/10</a:t>
            </a:r>
          </a:p>
        </p:txBody>
      </p:sp>
      <p:sp>
        <p:nvSpPr>
          <p:cNvPr id="100159" name="TextBox 8"/>
          <p:cNvSpPr txBox="1"/>
          <p:nvPr/>
        </p:nvSpPr>
        <p:spPr>
          <a:xfrm>
            <a:off x="944880" y="2679700"/>
            <a:ext cx="4699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sem briefing: entra pelas ofertas semanais</a:t>
            </a:r>
          </a:p>
        </p:txBody>
      </p:sp>
      <p:sp>
        <p:nvSpPr>
          <p:cNvPr id="100160" name="TextBox 9"/>
          <p:cNvSpPr txBox="1"/>
          <p:nvPr/>
        </p:nvSpPr>
        <p:spPr>
          <a:xfrm>
            <a:off x="944880" y="30734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Black Friday</a:t>
            </a:r>
          </a:p>
        </p:txBody>
      </p:sp>
      <p:sp>
        <p:nvSpPr>
          <p:cNvPr id="100161" name="TextBox 10"/>
          <p:cNvSpPr txBox="1"/>
          <p:nvPr/>
        </p:nvSpPr>
        <p:spPr>
          <a:xfrm>
            <a:off x="4119880" y="30734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>
                <a:solidFill>
                  <a:srgbClr val="157DBF"/>
                </a:solidFill>
                <a:latin typeface="Poppins"/>
                <a:ea typeface="Poppins"/>
              </a:rPr>
              <a:t>01 a 30/11</a:t>
            </a:r>
          </a:p>
        </p:txBody>
      </p:sp>
      <p:sp>
        <p:nvSpPr>
          <p:cNvPr id="100162" name="TextBox 11"/>
          <p:cNvSpPr txBox="1"/>
          <p:nvPr/>
        </p:nvSpPr>
        <p:spPr>
          <a:xfrm>
            <a:off x="944880" y="3289300"/>
            <a:ext cx="4699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30 dias, cobre as duas janelas de pagamento</a:t>
            </a:r>
          </a:p>
        </p:txBody>
      </p:sp>
      <p:sp>
        <p:nvSpPr>
          <p:cNvPr id="100163" name="TextBox 12"/>
          <p:cNvSpPr txBox="1"/>
          <p:nvPr/>
        </p:nvSpPr>
        <p:spPr>
          <a:xfrm>
            <a:off x="944880" y="36830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Natal</a:t>
            </a:r>
          </a:p>
        </p:txBody>
      </p:sp>
      <p:sp>
        <p:nvSpPr>
          <p:cNvPr id="100164" name="TextBox 13"/>
          <p:cNvSpPr txBox="1"/>
          <p:nvPr/>
        </p:nvSpPr>
        <p:spPr>
          <a:xfrm>
            <a:off x="4119880" y="36830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157DBF"/>
                </a:solidFill>
                <a:latin typeface="Poppins"/>
                <a:ea typeface="Poppins"/>
              </a:rPr>
              <a:t>01 a </a:t>
            </a:r>
            <a:r>
              <a:rPr lang="en-US" sz="1100" b="1" dirty="0" smtClean="0">
                <a:solidFill>
                  <a:srgbClr val="157DBF"/>
                </a:solidFill>
                <a:latin typeface="Poppins"/>
                <a:ea typeface="Poppins"/>
              </a:rPr>
              <a:t>25/12</a:t>
            </a:r>
            <a:endParaRPr lang="en-US" sz="1100" b="1" dirty="0">
              <a:solidFill>
                <a:srgbClr val="157DBF"/>
              </a:solidFill>
              <a:latin typeface="Poppins"/>
              <a:ea typeface="Poppins"/>
            </a:endParaRPr>
          </a:p>
        </p:txBody>
      </p:sp>
      <p:sp>
        <p:nvSpPr>
          <p:cNvPr id="100165" name="TextBox 14"/>
          <p:cNvSpPr txBox="1"/>
          <p:nvPr/>
        </p:nvSpPr>
        <p:spPr>
          <a:xfrm>
            <a:off x="944880" y="3898900"/>
            <a:ext cx="4699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sobe em 01/12, não em 15/12</a:t>
            </a:r>
          </a:p>
        </p:txBody>
      </p:sp>
      <p:sp>
        <p:nvSpPr>
          <p:cNvPr id="100166" name="TextBox 15"/>
          <p:cNvSpPr txBox="1"/>
          <p:nvPr/>
        </p:nvSpPr>
        <p:spPr>
          <a:xfrm>
            <a:off x="944880" y="42926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Liquidação e volta às aulas</a:t>
            </a:r>
          </a:p>
        </p:txBody>
      </p:sp>
      <p:sp>
        <p:nvSpPr>
          <p:cNvPr id="100167" name="TextBox 16"/>
          <p:cNvSpPr txBox="1"/>
          <p:nvPr/>
        </p:nvSpPr>
        <p:spPr>
          <a:xfrm>
            <a:off x="4119880" y="42926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 dirty="0">
                <a:solidFill>
                  <a:srgbClr val="157DBF"/>
                </a:solidFill>
                <a:latin typeface="Poppins"/>
                <a:ea typeface="Poppins"/>
              </a:rPr>
              <a:t>26/12 a </a:t>
            </a:r>
            <a:r>
              <a:rPr lang="en-US" sz="1100" b="1" dirty="0" smtClean="0">
                <a:solidFill>
                  <a:srgbClr val="157DBF"/>
                </a:solidFill>
                <a:latin typeface="Poppins"/>
                <a:ea typeface="Poppins"/>
              </a:rPr>
              <a:t>15</a:t>
            </a:r>
            <a:r>
              <a:rPr lang="en-US" sz="1100" b="1" dirty="0" smtClean="0">
                <a:solidFill>
                  <a:srgbClr val="157DBF"/>
                </a:solidFill>
                <a:latin typeface="Poppins"/>
                <a:ea typeface="Poppins"/>
              </a:rPr>
              <a:t>/02</a:t>
            </a:r>
            <a:endParaRPr lang="en-US" sz="1100" b="1" dirty="0">
              <a:solidFill>
                <a:srgbClr val="157DBF"/>
              </a:solidFill>
              <a:latin typeface="Poppins"/>
              <a:ea typeface="Poppins"/>
            </a:endParaRPr>
          </a:p>
        </p:txBody>
      </p:sp>
      <p:sp>
        <p:nvSpPr>
          <p:cNvPr id="100168" name="TextBox 17"/>
          <p:cNvSpPr txBox="1"/>
          <p:nvPr/>
        </p:nvSpPr>
        <p:spPr>
          <a:xfrm>
            <a:off x="944880" y="4508500"/>
            <a:ext cx="4699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a semana entre Natal e Ano Novo estava descoberta</a:t>
            </a:r>
          </a:p>
        </p:txBody>
      </p:sp>
      <p:sp>
        <p:nvSpPr>
          <p:cNvPr id="100169" name="TextBox 18"/>
          <p:cNvSpPr/>
          <p:nvPr/>
        </p:nvSpPr>
        <p:spPr>
          <a:xfrm>
            <a:off x="6228080" y="1854200"/>
            <a:ext cx="5323840" cy="3175000"/>
          </a:xfrm>
          <a:prstGeom prst="roundRect">
            <a:avLst>
              <a:gd name="adj" fmla="val 4000"/>
            </a:avLst>
          </a:prstGeom>
          <a:solidFill>
            <a:srgbClr val="F7F8FA"/>
          </a:solidFill>
        </p:spPr>
        <p:txBody>
          <a:bodyPr/>
          <a:lstStyle/>
          <a:p>
            <a:endParaRPr/>
          </a:p>
        </p:txBody>
      </p:sp>
      <p:sp>
        <p:nvSpPr>
          <p:cNvPr id="100170" name="TextBox 19"/>
          <p:cNvSpPr txBox="1"/>
          <p:nvPr/>
        </p:nvSpPr>
        <p:spPr>
          <a:xfrm>
            <a:off x="6532880" y="2057400"/>
            <a:ext cx="4572000" cy="254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50" b="1" spc="200">
                <a:solidFill>
                  <a:srgbClr val="E01C4C"/>
                </a:solidFill>
                <a:latin typeface="Poppins"/>
                <a:ea typeface="Poppins"/>
              </a:rPr>
              <a:t>B2B  ·  LOJISTA</a:t>
            </a:r>
          </a:p>
        </p:txBody>
      </p:sp>
      <p:sp>
        <p:nvSpPr>
          <p:cNvPr id="100171" name="TextBox 20"/>
          <p:cNvSpPr txBox="1"/>
          <p:nvPr/>
        </p:nvSpPr>
        <p:spPr>
          <a:xfrm>
            <a:off x="6532880" y="24638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Loja pronta pro Natal</a:t>
            </a:r>
          </a:p>
        </p:txBody>
      </p:sp>
      <p:sp>
        <p:nvSpPr>
          <p:cNvPr id="100172" name="TextBox 21"/>
          <p:cNvSpPr txBox="1"/>
          <p:nvPr/>
        </p:nvSpPr>
        <p:spPr>
          <a:xfrm>
            <a:off x="9707880" y="24638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>
                <a:solidFill>
                  <a:srgbClr val="E01C4C"/>
                </a:solidFill>
                <a:latin typeface="Poppins"/>
                <a:ea typeface="Poppins"/>
              </a:rPr>
              <a:t>15/10 a 30/11</a:t>
            </a:r>
          </a:p>
        </p:txBody>
      </p:sp>
      <p:sp>
        <p:nvSpPr>
          <p:cNvPr id="100173" name="TextBox 22"/>
          <p:cNvSpPr txBox="1"/>
          <p:nvPr/>
        </p:nvSpPr>
        <p:spPr>
          <a:xfrm>
            <a:off x="6532880" y="2679700"/>
            <a:ext cx="4699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quem quer vender no Natal assina em outubro</a:t>
            </a:r>
          </a:p>
        </p:txBody>
      </p:sp>
      <p:sp>
        <p:nvSpPr>
          <p:cNvPr id="100174" name="TextBox 23"/>
          <p:cNvSpPr txBox="1"/>
          <p:nvPr/>
        </p:nvSpPr>
        <p:spPr>
          <a:xfrm>
            <a:off x="6532880" y="30734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Comece o ano no ponto certo</a:t>
            </a:r>
          </a:p>
        </p:txBody>
      </p:sp>
      <p:sp>
        <p:nvSpPr>
          <p:cNvPr id="100175" name="TextBox 24"/>
          <p:cNvSpPr txBox="1"/>
          <p:nvPr/>
        </p:nvSpPr>
        <p:spPr>
          <a:xfrm>
            <a:off x="9707880" y="30734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>
                <a:solidFill>
                  <a:srgbClr val="E01C4C"/>
                </a:solidFill>
                <a:latin typeface="Poppins"/>
                <a:ea typeface="Poppins"/>
              </a:rPr>
              <a:t>05/01 a 20/02</a:t>
            </a:r>
          </a:p>
        </p:txBody>
      </p:sp>
      <p:sp>
        <p:nvSpPr>
          <p:cNvPr id="100176" name="TextBox 25"/>
          <p:cNvSpPr txBox="1"/>
          <p:nvPr/>
        </p:nvSpPr>
        <p:spPr>
          <a:xfrm>
            <a:off x="6532880" y="3289300"/>
            <a:ext cx="4699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janeiro é quando o ponto vaga e o lojista decide o ano</a:t>
            </a:r>
          </a:p>
        </p:txBody>
      </p:sp>
      <p:sp>
        <p:nvSpPr>
          <p:cNvPr id="100177" name="TextBox 26"/>
          <p:cNvSpPr txBox="1"/>
          <p:nvPr/>
        </p:nvSpPr>
        <p:spPr>
          <a:xfrm>
            <a:off x="6532880" y="3683000"/>
            <a:ext cx="3175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>
                <a:solidFill>
                  <a:srgbClr val="1A1A1A"/>
                </a:solidFill>
                <a:latin typeface="Poppins"/>
                <a:ea typeface="Poppins"/>
              </a:rPr>
              <a:t>Dezembro</a:t>
            </a:r>
          </a:p>
        </p:txBody>
      </p:sp>
      <p:sp>
        <p:nvSpPr>
          <p:cNvPr id="100178" name="TextBox 27"/>
          <p:cNvSpPr txBox="1"/>
          <p:nvPr/>
        </p:nvSpPr>
        <p:spPr>
          <a:xfrm>
            <a:off x="9707880" y="3683000"/>
            <a:ext cx="15240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/>
            <a:r>
              <a:rPr lang="en-US" sz="1100" b="1">
                <a:solidFill>
                  <a:srgbClr val="E01C4C"/>
                </a:solidFill>
                <a:latin typeface="Poppins"/>
                <a:ea typeface="Poppins"/>
              </a:rPr>
              <a:t>vale do B2B</a:t>
            </a:r>
          </a:p>
        </p:txBody>
      </p:sp>
      <p:sp>
        <p:nvSpPr>
          <p:cNvPr id="100179" name="TextBox 28"/>
          <p:cNvSpPr txBox="1"/>
          <p:nvPr/>
        </p:nvSpPr>
        <p:spPr>
          <a:xfrm>
            <a:off x="6532880" y="3898900"/>
            <a:ext cx="4699000" cy="1905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950">
                <a:solidFill>
                  <a:srgbClr val="6B7280"/>
                </a:solidFill>
                <a:latin typeface="Poppins"/>
                <a:ea typeface="Poppins"/>
              </a:rPr>
              <a:t>o lojista está dentro da própria loja vendendo</a:t>
            </a:r>
          </a:p>
        </p:txBody>
      </p:sp>
      <p:sp>
        <p:nvSpPr>
          <p:cNvPr id="100183" name="TextBox 32"/>
          <p:cNvSpPr/>
          <p:nvPr/>
        </p:nvSpPr>
        <p:spPr>
          <a:xfrm>
            <a:off x="4362450" y="5232400"/>
            <a:ext cx="3467100" cy="1270000"/>
          </a:xfrm>
          <a:prstGeom prst="roundRect">
            <a:avLst>
              <a:gd name="adj" fmla="val 4000"/>
            </a:avLst>
          </a:prstGeom>
          <a:solidFill>
            <a:srgbClr val="093652"/>
          </a:solidFill>
        </p:spPr>
        <p:txBody>
          <a:bodyPr/>
          <a:lstStyle/>
          <a:p>
            <a:endParaRPr/>
          </a:p>
        </p:txBody>
      </p:sp>
      <p:sp>
        <p:nvSpPr>
          <p:cNvPr id="100184" name="TextBox 33"/>
          <p:cNvSpPr txBox="1"/>
          <p:nvPr/>
        </p:nvSpPr>
        <p:spPr>
          <a:xfrm>
            <a:off x="4616450" y="5384800"/>
            <a:ext cx="29718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000" b="1" spc="100">
                <a:solidFill>
                  <a:srgbClr val="1DAFE0"/>
                </a:solidFill>
                <a:latin typeface="Poppins"/>
                <a:ea typeface="Poppins"/>
              </a:rPr>
              <a:t>O AVISO DE NOVEMBRO</a:t>
            </a:r>
          </a:p>
        </p:txBody>
      </p:sp>
      <p:sp>
        <p:nvSpPr>
          <p:cNvPr id="100185" name="TextBox 34"/>
          <p:cNvSpPr txBox="1"/>
          <p:nvPr/>
        </p:nvSpPr>
        <p:spPr>
          <a:xfrm>
            <a:off x="4616450" y="5638800"/>
            <a:ext cx="2997200" cy="7366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1050">
                <a:solidFill>
                  <a:srgbClr val="FFFFFF"/>
                </a:solidFill>
                <a:latin typeface="Poppins"/>
                <a:ea typeface="Poppins"/>
              </a:rPr>
              <a:t>Novembro é o mês mais caro do ano em mídia. Com a mesma verba, o alcance cai. O aviso sai em outubro.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365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89" name="TextBox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190" name="TextBox 2"/>
          <p:cNvSpPr txBox="1"/>
          <p:nvPr/>
        </p:nvSpPr>
        <p:spPr>
          <a:xfrm>
            <a:off x="822960" y="43180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1DAFE0"/>
                </a:solidFill>
                <a:latin typeface="Poppins"/>
                <a:ea typeface="Poppins"/>
              </a:rPr>
              <a:t>EM RESUMO</a:t>
            </a:r>
          </a:p>
        </p:txBody>
      </p:sp>
      <p:sp>
        <p:nvSpPr>
          <p:cNvPr id="100191" name="TextBox 3"/>
          <p:cNvSpPr txBox="1"/>
          <p:nvPr/>
        </p:nvSpPr>
        <p:spPr>
          <a:xfrm>
            <a:off x="822960" y="787400"/>
            <a:ext cx="10515600" cy="533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2600" b="1">
                <a:solidFill>
                  <a:srgbClr val="FFFFFF"/>
                </a:solidFill>
                <a:latin typeface="Poppins"/>
                <a:ea typeface="Poppins"/>
              </a:rPr>
              <a:t>Julho entregou, agosto constrói, o ano já está planejado</a:t>
            </a:r>
          </a:p>
        </p:txBody>
      </p:sp>
      <p:sp>
        <p:nvSpPr>
          <p:cNvPr id="100192" name="TextBox 4"/>
          <p:cNvSpPr/>
          <p:nvPr/>
        </p:nvSpPr>
        <p:spPr>
          <a:xfrm>
            <a:off x="822960" y="1498600"/>
            <a:ext cx="3365500" cy="1320800"/>
          </a:xfrm>
          <a:prstGeom prst="roundRect">
            <a:avLst>
              <a:gd name="adj" fmla="val 4000"/>
            </a:avLst>
          </a:prstGeom>
          <a:solidFill>
            <a:srgbClr val="0C4767"/>
          </a:solidFill>
        </p:spPr>
        <p:txBody>
          <a:bodyPr/>
          <a:lstStyle/>
          <a:p>
            <a:endParaRPr/>
          </a:p>
        </p:txBody>
      </p:sp>
      <p:sp>
        <p:nvSpPr>
          <p:cNvPr id="100193" name="TextBox 5"/>
          <p:cNvSpPr txBox="1"/>
          <p:nvPr/>
        </p:nvSpPr>
        <p:spPr>
          <a:xfrm>
            <a:off x="1076960" y="1651000"/>
            <a:ext cx="2870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1" spc="200">
                <a:solidFill>
                  <a:srgbClr val="FC496C"/>
                </a:solidFill>
                <a:latin typeface="Poppins"/>
                <a:ea typeface="Poppins"/>
              </a:rPr>
              <a:t>B2C</a:t>
            </a:r>
          </a:p>
        </p:txBody>
      </p:sp>
      <p:sp>
        <p:nvSpPr>
          <p:cNvPr id="100194" name="TextBox 6"/>
          <p:cNvSpPr txBox="1"/>
          <p:nvPr/>
        </p:nvSpPr>
        <p:spPr>
          <a:xfrm>
            <a:off x="1076960" y="1905000"/>
            <a:ext cx="2895600" cy="78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Poppins"/>
                <a:ea typeface="Poppins"/>
              </a:rPr>
              <a:t>1,08 mi de pessoas alcançadas em 21 dias, a um custo por mil 19% menor que junho</a:t>
            </a:r>
          </a:p>
        </p:txBody>
      </p:sp>
      <p:sp>
        <p:nvSpPr>
          <p:cNvPr id="100195" name="TextBox 7"/>
          <p:cNvSpPr/>
          <p:nvPr/>
        </p:nvSpPr>
        <p:spPr>
          <a:xfrm>
            <a:off x="4442460" y="1498600"/>
            <a:ext cx="3365500" cy="1320800"/>
          </a:xfrm>
          <a:prstGeom prst="roundRect">
            <a:avLst>
              <a:gd name="adj" fmla="val 4000"/>
            </a:avLst>
          </a:prstGeom>
          <a:solidFill>
            <a:srgbClr val="0C4767"/>
          </a:solidFill>
        </p:spPr>
        <p:txBody>
          <a:bodyPr/>
          <a:lstStyle/>
          <a:p>
            <a:endParaRPr/>
          </a:p>
        </p:txBody>
      </p:sp>
      <p:sp>
        <p:nvSpPr>
          <p:cNvPr id="100196" name="TextBox 8"/>
          <p:cNvSpPr txBox="1"/>
          <p:nvPr/>
        </p:nvSpPr>
        <p:spPr>
          <a:xfrm>
            <a:off x="4696460" y="1651000"/>
            <a:ext cx="2870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1" spc="200">
                <a:solidFill>
                  <a:srgbClr val="FC496C"/>
                </a:solidFill>
                <a:latin typeface="Poppins"/>
                <a:ea typeface="Poppins"/>
              </a:rPr>
              <a:t>B2B</a:t>
            </a:r>
          </a:p>
        </p:txBody>
      </p:sp>
      <p:sp>
        <p:nvSpPr>
          <p:cNvPr id="100197" name="TextBox 9"/>
          <p:cNvSpPr txBox="1"/>
          <p:nvPr/>
        </p:nvSpPr>
        <p:spPr>
          <a:xfrm>
            <a:off x="4696460" y="1905000"/>
            <a:ext cx="2895600" cy="78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Poppins"/>
                <a:ea typeface="Poppins"/>
              </a:rPr>
              <a:t>121 leads a R$ 33,41, com o custo por lead 30% abaixo de junho</a:t>
            </a:r>
          </a:p>
        </p:txBody>
      </p:sp>
      <p:sp>
        <p:nvSpPr>
          <p:cNvPr id="100198" name="TextBox 10"/>
          <p:cNvSpPr/>
          <p:nvPr/>
        </p:nvSpPr>
        <p:spPr>
          <a:xfrm>
            <a:off x="8061960" y="1498600"/>
            <a:ext cx="3365500" cy="1320800"/>
          </a:xfrm>
          <a:prstGeom prst="roundRect">
            <a:avLst>
              <a:gd name="adj" fmla="val 4000"/>
            </a:avLst>
          </a:prstGeom>
          <a:solidFill>
            <a:srgbClr val="0C4767"/>
          </a:solidFill>
        </p:spPr>
        <p:txBody>
          <a:bodyPr/>
          <a:lstStyle/>
          <a:p>
            <a:endParaRPr/>
          </a:p>
        </p:txBody>
      </p:sp>
      <p:sp>
        <p:nvSpPr>
          <p:cNvPr id="100199" name="TextBox 11"/>
          <p:cNvSpPr txBox="1"/>
          <p:nvPr/>
        </p:nvSpPr>
        <p:spPr>
          <a:xfrm>
            <a:off x="8315960" y="1651000"/>
            <a:ext cx="2870200" cy="2286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100" b="1" spc="200">
                <a:solidFill>
                  <a:srgbClr val="FC496C"/>
                </a:solidFill>
                <a:latin typeface="Poppins"/>
                <a:ea typeface="Poppins"/>
              </a:rPr>
              <a:t>AGOSTO</a:t>
            </a:r>
          </a:p>
        </p:txBody>
      </p:sp>
      <p:sp>
        <p:nvSpPr>
          <p:cNvPr id="100200" name="TextBox 12"/>
          <p:cNvSpPr txBox="1"/>
          <p:nvPr/>
        </p:nvSpPr>
        <p:spPr>
          <a:xfrm>
            <a:off x="8315960" y="1905000"/>
            <a:ext cx="2895600" cy="7874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lnSpc>
                <a:spcPct val="130000"/>
              </a:lnSpc>
            </a:pPr>
            <a:r>
              <a:rPr lang="en-US" sz="1150">
                <a:solidFill>
                  <a:srgbClr val="FFFFFF"/>
                </a:solidFill>
                <a:latin typeface="Poppins"/>
                <a:ea typeface="Poppins"/>
              </a:rPr>
              <a:t>verba redesenhada nas duas frentes e cadeia de captura de leads fechada</a:t>
            </a:r>
          </a:p>
        </p:txBody>
      </p:sp>
      <p:sp>
        <p:nvSpPr>
          <p:cNvPr id="100201" name="TextBox 13"/>
          <p:cNvSpPr txBox="1"/>
          <p:nvPr/>
        </p:nvSpPr>
        <p:spPr>
          <a:xfrm>
            <a:off x="822960" y="3098800"/>
            <a:ext cx="10515600" cy="3048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200" b="1" spc="200">
                <a:solidFill>
                  <a:srgbClr val="1DAFE0"/>
                </a:solidFill>
                <a:latin typeface="Poppins"/>
                <a:ea typeface="Poppins"/>
              </a:rPr>
              <a:t>O QUE PRECISAMOS DE VOCÊS</a:t>
            </a:r>
          </a:p>
        </p:txBody>
      </p:sp>
      <p:sp>
        <p:nvSpPr>
          <p:cNvPr id="100202" name="TextBox 14"/>
          <p:cNvSpPr/>
          <p:nvPr/>
        </p:nvSpPr>
        <p:spPr>
          <a:xfrm>
            <a:off x="822960" y="3505200"/>
            <a:ext cx="381000" cy="381000"/>
          </a:xfrm>
          <a:prstGeom prst="ellipse">
            <a:avLst/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203" name="TextBox 15"/>
          <p:cNvSpPr txBox="1"/>
          <p:nvPr/>
        </p:nvSpPr>
        <p:spPr>
          <a:xfrm>
            <a:off x="822960" y="35052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1</a:t>
            </a:r>
          </a:p>
        </p:txBody>
      </p:sp>
      <p:sp>
        <p:nvSpPr>
          <p:cNvPr id="100204" name="TextBox 16"/>
          <p:cNvSpPr txBox="1"/>
          <p:nvPr/>
        </p:nvSpPr>
        <p:spPr>
          <a:xfrm>
            <a:off x="1371600" y="3492500"/>
            <a:ext cx="3175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O retorno do comercial</a:t>
            </a:r>
          </a:p>
        </p:txBody>
      </p:sp>
      <p:sp>
        <p:nvSpPr>
          <p:cNvPr id="100205" name="TextBox 17"/>
          <p:cNvSpPr txBox="1"/>
          <p:nvPr/>
        </p:nvSpPr>
        <p:spPr>
          <a:xfrm>
            <a:off x="4572000" y="3492500"/>
            <a:ext cx="675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quais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leads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viraram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visita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e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quais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viraram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contrato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.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Sem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isso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seguimos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otimizando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por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custo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,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não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por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resultado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.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Precisamos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estabeler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fluxo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,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não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retorno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pontual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.</a:t>
            </a:r>
            <a:endParaRPr lang="en-US" sz="1100" dirty="0">
              <a:solidFill>
                <a:srgbClr val="B9CBD6"/>
              </a:solidFill>
              <a:latin typeface="Poppins"/>
              <a:ea typeface="Poppins"/>
            </a:endParaRPr>
          </a:p>
        </p:txBody>
      </p:sp>
      <p:sp>
        <p:nvSpPr>
          <p:cNvPr id="100206" name="TextBox 18"/>
          <p:cNvSpPr/>
          <p:nvPr/>
        </p:nvSpPr>
        <p:spPr>
          <a:xfrm>
            <a:off x="822960" y="4191000"/>
            <a:ext cx="381000" cy="381000"/>
          </a:xfrm>
          <a:prstGeom prst="ellipse">
            <a:avLst/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207" name="TextBox 19"/>
          <p:cNvSpPr txBox="1"/>
          <p:nvPr/>
        </p:nvSpPr>
        <p:spPr>
          <a:xfrm>
            <a:off x="822960" y="41910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2</a:t>
            </a:r>
          </a:p>
        </p:txBody>
      </p:sp>
      <p:sp>
        <p:nvSpPr>
          <p:cNvPr id="100208" name="TextBox 20"/>
          <p:cNvSpPr txBox="1"/>
          <p:nvPr/>
        </p:nvSpPr>
        <p:spPr>
          <a:xfrm>
            <a:off x="1371600" y="4178300"/>
            <a:ext cx="3175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O histórico de 2025</a:t>
            </a:r>
          </a:p>
        </p:txBody>
      </p:sp>
      <p:sp>
        <p:nvSpPr>
          <p:cNvPr id="100209" name="TextBox 21"/>
          <p:cNvSpPr txBox="1"/>
          <p:nvPr/>
        </p:nvSpPr>
        <p:spPr>
          <a:xfrm>
            <a:off x="4572000" y="4178300"/>
            <a:ext cx="675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l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evanto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dados Meta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, Google e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contador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de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fluxo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,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até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31/08. É o que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dá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base de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comparação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para a Black Friday e o Natal.</a:t>
            </a:r>
          </a:p>
        </p:txBody>
      </p:sp>
      <p:sp>
        <p:nvSpPr>
          <p:cNvPr id="100210" name="TextBox 22"/>
          <p:cNvSpPr/>
          <p:nvPr/>
        </p:nvSpPr>
        <p:spPr>
          <a:xfrm>
            <a:off x="822960" y="4876800"/>
            <a:ext cx="381000" cy="381000"/>
          </a:xfrm>
          <a:prstGeom prst="ellipse">
            <a:avLst/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211" name="TextBox 23"/>
          <p:cNvSpPr txBox="1"/>
          <p:nvPr/>
        </p:nvSpPr>
        <p:spPr>
          <a:xfrm>
            <a:off x="822960" y="48768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3</a:t>
            </a:r>
          </a:p>
        </p:txBody>
      </p:sp>
      <p:sp>
        <p:nvSpPr>
          <p:cNvPr id="100212" name="TextBox 24"/>
          <p:cNvSpPr txBox="1"/>
          <p:nvPr/>
        </p:nvSpPr>
        <p:spPr>
          <a:xfrm>
            <a:off x="1371600" y="4864100"/>
            <a:ext cx="3175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Os criativos no prazo</a:t>
            </a:r>
          </a:p>
        </p:txBody>
      </p:sp>
      <p:sp>
        <p:nvSpPr>
          <p:cNvPr id="100213" name="TextBox 25"/>
          <p:cNvSpPr txBox="1"/>
          <p:nvPr/>
        </p:nvSpPr>
        <p:spPr>
          <a:xfrm>
            <a:off x="4572000" y="4864100"/>
            <a:ext cx="675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sempre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solicitados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com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antecedência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, e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precisam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estar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prontos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ao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menos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3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dias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antes da data de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lançamento</a:t>
            </a:r>
            <a:endParaRPr lang="en-US" sz="1100" dirty="0">
              <a:solidFill>
                <a:srgbClr val="B9CBD6"/>
              </a:solidFill>
              <a:latin typeface="Poppins"/>
              <a:ea typeface="Poppins"/>
            </a:endParaRPr>
          </a:p>
        </p:txBody>
      </p:sp>
      <p:sp>
        <p:nvSpPr>
          <p:cNvPr id="100214" name="TextBox 26"/>
          <p:cNvSpPr/>
          <p:nvPr/>
        </p:nvSpPr>
        <p:spPr>
          <a:xfrm>
            <a:off x="822960" y="5562600"/>
            <a:ext cx="381000" cy="381000"/>
          </a:xfrm>
          <a:prstGeom prst="ellipse">
            <a:avLst/>
          </a:prstGeom>
          <a:solidFill>
            <a:srgbClr val="E01C4C"/>
          </a:solidFill>
        </p:spPr>
        <p:txBody>
          <a:bodyPr/>
          <a:lstStyle/>
          <a:p>
            <a:endParaRPr/>
          </a:p>
        </p:txBody>
      </p:sp>
      <p:sp>
        <p:nvSpPr>
          <p:cNvPr id="100215" name="TextBox 27"/>
          <p:cNvSpPr txBox="1"/>
          <p:nvPr/>
        </p:nvSpPr>
        <p:spPr>
          <a:xfrm>
            <a:off x="822960" y="5562600"/>
            <a:ext cx="381000" cy="3810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4</a:t>
            </a:r>
          </a:p>
        </p:txBody>
      </p:sp>
      <p:sp>
        <p:nvSpPr>
          <p:cNvPr id="100216" name="TextBox 28"/>
          <p:cNvSpPr txBox="1"/>
          <p:nvPr/>
        </p:nvSpPr>
        <p:spPr>
          <a:xfrm>
            <a:off x="1371600" y="5549900"/>
            <a:ext cx="31750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Poppins"/>
                <a:ea typeface="Poppins"/>
              </a:rPr>
              <a:t>A limpeza do site</a:t>
            </a:r>
          </a:p>
        </p:txBody>
      </p:sp>
      <p:sp>
        <p:nvSpPr>
          <p:cNvPr id="100217" name="TextBox 29"/>
          <p:cNvSpPr txBox="1"/>
          <p:nvPr/>
        </p:nvSpPr>
        <p:spPr>
          <a:xfrm>
            <a:off x="4572000" y="5549900"/>
            <a:ext cx="6756400" cy="4064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lnSpc>
                <a:spcPct val="125000"/>
              </a:lnSpc>
            </a:pP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o site do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grupo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está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com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injeção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de spam de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apostas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, e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isso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é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risco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de </a:t>
            </a:r>
            <a:r>
              <a:rPr lang="en-US" sz="1100" dirty="0" err="1">
                <a:solidFill>
                  <a:srgbClr val="B9CBD6"/>
                </a:solidFill>
                <a:latin typeface="Poppins"/>
                <a:ea typeface="Poppins"/>
              </a:rPr>
              <a:t>política</a:t>
            </a:r>
            <a:r>
              <a:rPr lang="en-US" sz="1100" dirty="0">
                <a:solidFill>
                  <a:srgbClr val="B9CBD6"/>
                </a:solidFill>
                <a:latin typeface="Poppins"/>
                <a:ea typeface="Poppins"/>
              </a:rPr>
              <a:t> no Google Ads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.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Isso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inclui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tudo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que </a:t>
            </a:r>
            <a:r>
              <a:rPr lang="en-US" sz="1100" dirty="0" err="1" smtClean="0">
                <a:solidFill>
                  <a:srgbClr val="B9CBD6"/>
                </a:solidFill>
                <a:latin typeface="Poppins"/>
                <a:ea typeface="Poppins"/>
              </a:rPr>
              <a:t>está</a:t>
            </a:r>
            <a:r>
              <a:rPr lang="en-US" sz="1100" dirty="0" smtClean="0">
                <a:solidFill>
                  <a:srgbClr val="B9CBD6"/>
                </a:solidFill>
                <a:latin typeface="Poppins"/>
                <a:ea typeface="Poppins"/>
              </a:rPr>
              <a:t> no RD Station.</a:t>
            </a:r>
            <a:endParaRPr lang="en-US" sz="1100" dirty="0">
              <a:solidFill>
                <a:srgbClr val="B9CBD6"/>
              </a:solidFill>
              <a:latin typeface="Poppins"/>
              <a:ea typeface="Poppi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1814</Words>
  <Application>Microsoft Office PowerPoint</Application>
  <PresentationFormat>Widescreen</PresentationFormat>
  <Paragraphs>188</Paragraphs>
  <Slides>9</Slides>
  <Notes>9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Poppins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OfficeCLI</dc:creator>
  <cp:lastModifiedBy>Gabriel Pauletto Reszka</cp:lastModifiedBy>
  <cp:revision>5</cp:revision>
  <dcterms:created xsi:type="dcterms:W3CDTF">2026-07-24T13:28:06Z</dcterms:created>
  <dcterms:modified xsi:type="dcterms:W3CDTF">2026-07-24T14:48:38Z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OfficeCLI.Version">
    <vt:lpwstr>1.0.141</vt:lpwstr>
  </property>
  <property fmtid="{D5CDD505-2E9C-101B-9397-08002B2CF9AE}" pid="3" name="OfficeCLI.LastModified">
    <vt:lpwstr>2026-07-24T13:28:10Z</vt:lpwstr>
  </property>
</Properties>
</file>