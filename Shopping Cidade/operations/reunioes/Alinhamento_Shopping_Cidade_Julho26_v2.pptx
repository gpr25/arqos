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3c1546f37c64532" /><Relationship Type="http://schemas.openxmlformats.org/package/2006/relationships/metadata/core-properties" Target="/docProps/core.xml" Id="R262e33cf312c4eb8" /><Relationship Type="http://schemas.openxmlformats.org/officeDocument/2006/relationships/extended-properties" Target="/docProps/app.xml" Id="R460d233ba8d848d4" /><Relationship Type="http://schemas.openxmlformats.org/officeDocument/2006/relationships/custom-properties" Target="/docProps/custom.xml" Id="R7a96ddacb410407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e850b06630a540ca"/>
    <p:sldId id="257" r:id="Rf07e6e680d784c49"/>
    <p:sldId id="258" r:id="Rf9f3955090a943cd"/>
    <p:sldId id="259" r:id="Ra34382a0b1924773"/>
    <p:sldId id="260" r:id="Ra8ded875275041a3"/>
    <p:sldId id="261" r:id="Ra587cf6472da45a0"/>
    <p:sldId id="262" r:id="R30478fcee68c4974"/>
    <p:sldId id="263" r:id="R139bb3eef96e41e5"/>
    <p:sldId id="264" r:id="R201d6b596f1041d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850b06630a540ca" /><Relationship Type="http://schemas.openxmlformats.org/officeDocument/2006/relationships/slide" Target="/ppt/slides/slide2.xml" Id="Rf07e6e680d784c49" /><Relationship Type="http://schemas.openxmlformats.org/officeDocument/2006/relationships/slide" Target="/ppt/slides/slide3.xml" Id="Rf9f3955090a943cd" /><Relationship Type="http://schemas.openxmlformats.org/officeDocument/2006/relationships/slide" Target="/ppt/slides/slide4.xml" Id="Ra34382a0b1924773" /><Relationship Type="http://schemas.openxmlformats.org/officeDocument/2006/relationships/slide" Target="/ppt/slides/slide5.xml" Id="Ra8ded875275041a3" /><Relationship Type="http://schemas.openxmlformats.org/officeDocument/2006/relationships/slide" Target="/ppt/slides/slide6.xml" Id="Ra587cf6472da45a0" /><Relationship Type="http://schemas.openxmlformats.org/officeDocument/2006/relationships/slide" Target="/ppt/slides/slide7.xml" Id="R30478fcee68c4974" /><Relationship Type="http://schemas.openxmlformats.org/officeDocument/2006/relationships/slide" Target="/ppt/slides/slide8.xml" Id="R139bb3eef96e41e5" /><Relationship Type="http://schemas.openxmlformats.org/officeDocument/2006/relationships/slide" Target="/ppt/slides/slide9.xml" Id="R201d6b596f10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Capa. Tom de alinhamento, nao de prestacao de contas. Junho x Julho, agosto e a visao ate dezembro.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Contexto. As duas frentes tem reguas diferentes e aparecem sempre separadas.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B2C. A leitura e: escopo definido mais tempo de performar entrega resultado.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B2B. Deixar claro que a campanha nova ainda nao subiu: o que roda e estrutura herdada.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didatico. Tom de ganho compartilhado, nunca de cobranca.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Agosto B2C. NAO cria campanha nova: otimiza o que existe e coleta dado. Turbinar em tom politico: apoio total, desde que esteja no plano do mes.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Agosto B2B. Um entregavel por semana. Google gasta pouco por opcao consciente.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SUGESTAO, nao pedido. Nada fechado, nenhum briefing cobrado. Regra dos 15 dias minimos. Se nao agradar, este slide sai.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Fecho. O bloco final e sobre o que destrava os proximos meses, em tom de colaboracao e nao de cobranca.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4b21086184b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ffde3c1e248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9698f979241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d0ef7044748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defc41ba241b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f6f9772c9814b3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1e6406c534453" /><Relationship Type="http://schemas.openxmlformats.org/officeDocument/2006/relationships/notesSlide" Target="/ppt/notesSlides/notesSlide1.xml" Id="R22c4cc1cca33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14b2cfad74436" /><Relationship Type="http://schemas.openxmlformats.org/officeDocument/2006/relationships/notesSlide" Target="/ppt/notesSlides/notesSlide2.xml" Id="Rffd52a44edf64b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38551e76d4144" /><Relationship Type="http://schemas.openxmlformats.org/officeDocument/2006/relationships/notesSlide" Target="/ppt/notesSlides/notesSlide3.xml" Id="Rf83c081592454c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e8991ede64ea7" /><Relationship Type="http://schemas.openxmlformats.org/officeDocument/2006/relationships/notesSlide" Target="/ppt/notesSlides/notesSlide4.xml" Id="Rcc9cdb7bb9fc44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68e1ccb104be4" /><Relationship Type="http://schemas.openxmlformats.org/officeDocument/2006/relationships/notesSlide" Target="/ppt/notesSlides/notesSlide5.xml" Id="R04070d105ce64c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a7440ee64d54" /><Relationship Type="http://schemas.openxmlformats.org/officeDocument/2006/relationships/notesSlide" Target="/ppt/notesSlides/notesSlide6.xml" Id="R9337cc179da046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b83a297494101" /><Relationship Type="http://schemas.openxmlformats.org/officeDocument/2006/relationships/notesSlide" Target="/ppt/notesSlides/notesSlide7.xml" Id="R0b428000216a46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eefd1f2574fc2" /><Relationship Type="http://schemas.openxmlformats.org/officeDocument/2006/relationships/notesSlide" Target="/ppt/notesSlides/notesSlide8.xml" Id="R9fc1979a422144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b54f55efb458c" /><Relationship Type="http://schemas.openxmlformats.org/officeDocument/2006/relationships/notesSlide" Target="/ppt/notesSlides/notesSlide9.xml" Id="R5dbcaf5e3ee846c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3652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3200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822960" y="64008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 spc="300">
                <a:solidFill>
                  <a:srgbClr val="1DAFE0"/>
                </a:solidFill>
                <a:latin typeface="Poppins"/>
                <a:ea typeface="Poppins"/>
              </a:rPr>
              <a:t>SHOPPING CIDADE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822960" y="1905000"/>
            <a:ext cx="10515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oppins"/>
                <a:ea typeface="Poppins"/>
              </a:rPr>
              <a:t>ALINHAMENTO DE MÍDIA PAGA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822960" y="2743200"/>
            <a:ext cx="105156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E6E7E7"/>
                </a:solidFill>
                <a:latin typeface="Poppins"/>
                <a:ea typeface="Poppins"/>
              </a:rPr>
              <a:t>Junho × Julho  ·  Agosto em plano  ·  Visão até dezembro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822960" y="5303520"/>
            <a:ext cx="10515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C496C"/>
                </a:solidFill>
                <a:latin typeface="Poppins"/>
                <a:ea typeface="Poppins"/>
              </a:rPr>
              <a:t>B2C (fluxo)  ·  B2B (leads)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822960" y="5740400"/>
            <a:ext cx="10515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8FA6B5"/>
                </a:solidFill>
                <a:latin typeface="Poppins"/>
                <a:ea typeface="Poppins"/>
              </a:rPr>
              <a:t>Meta Ads e Google Ads · dados até 21/07/2026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AS DUAS FRENTES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Duas operações na mesma conta, com réguas diferentes</a:t>
            </a:r>
          </a:p>
        </p:txBody>
      </p:sp>
      <p:sp>
        <p:nvSpPr>
          <p:cNvPr id="100008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Por verba, a frente principal é o B2C. Por criticidade de resultado, é o B2B.</a:t>
            </a:r>
          </a:p>
        </p:txBody>
      </p:sp>
      <p:sp>
        <p:nvSpPr>
          <p:cNvPr id="100009" name="TextBox 4"/>
          <p:cNvSpPr/>
          <p:nvPr/>
        </p:nvSpPr>
        <p:spPr>
          <a:xfrm xmlns:a="http://schemas.openxmlformats.org/drawingml/2006/main">
            <a:off x="640080" y="1905000"/>
            <a:ext cx="5323840" cy="365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TextBox 5"/>
          <p:cNvSpPr txBox="1"/>
          <p:nvPr/>
        </p:nvSpPr>
        <p:spPr>
          <a:xfrm xmlns:a="http://schemas.openxmlformats.org/drawingml/2006/main">
            <a:off x="970280" y="2133600"/>
            <a:ext cx="4572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 spc="200">
                <a:solidFill>
                  <a:srgbClr val="157DBF"/>
                </a:solidFill>
                <a:latin typeface="Poppins"/>
                <a:ea typeface="Poppins"/>
              </a:rPr>
              <a:t>B2C  ·  CONSUMIDOR</a:t>
            </a:r>
          </a:p>
        </p:txBody>
      </p:sp>
      <p:sp>
        <p:nvSpPr>
          <p:cNvPr id="100011" name="TextBox 6"/>
          <p:cNvSpPr txBox="1"/>
          <p:nvPr/>
        </p:nvSpPr>
        <p:spPr>
          <a:xfrm xmlns:a="http://schemas.openxmlformats.org/drawingml/2006/main">
            <a:off x="970280" y="25654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Objetivo</a:t>
            </a:r>
          </a:p>
        </p:txBody>
      </p:sp>
      <p:sp>
        <p:nvSpPr>
          <p:cNvPr id="100012" name="TextBox 7"/>
          <p:cNvSpPr txBox="1"/>
          <p:nvPr/>
        </p:nvSpPr>
        <p:spPr>
          <a:xfrm xmlns:a="http://schemas.openxmlformats.org/drawingml/2006/main">
            <a:off x="970280" y="27686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Fluxo de pessoas no shopping</a:t>
            </a:r>
          </a:p>
        </p:txBody>
      </p:sp>
      <p:sp>
        <p:nvSpPr>
          <p:cNvPr id="100013" name="TextBox 8"/>
          <p:cNvSpPr txBox="1"/>
          <p:nvPr/>
        </p:nvSpPr>
        <p:spPr>
          <a:xfrm xmlns:a="http://schemas.openxmlformats.org/drawingml/2006/main">
            <a:off x="970280" y="31750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Métrica de hoje</a:t>
            </a:r>
          </a:p>
        </p:txBody>
      </p:sp>
      <p:sp>
        <p:nvSpPr>
          <p:cNvPr id="100014" name="TextBox 9"/>
          <p:cNvSpPr txBox="1"/>
          <p:nvPr/>
        </p:nvSpPr>
        <p:spPr>
          <a:xfrm xmlns:a="http://schemas.openxmlformats.org/drawingml/2006/main">
            <a:off x="970280" y="33782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Alcance (régua definida na última reunião)</a:t>
            </a:r>
          </a:p>
        </p:txBody>
      </p:sp>
      <p:sp>
        <p:nvSpPr>
          <p:cNvPr id="100015" name="TextBox 10"/>
          <p:cNvSpPr txBox="1"/>
          <p:nvPr/>
        </p:nvSpPr>
        <p:spPr>
          <a:xfrm xmlns:a="http://schemas.openxmlformats.org/drawingml/2006/main">
            <a:off x="970280" y="37846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Meta</a:t>
            </a:r>
          </a:p>
        </p:txBody>
      </p:sp>
      <p:sp>
        <p:nvSpPr>
          <p:cNvPr id="100016" name="TextBox 11"/>
          <p:cNvSpPr txBox="1"/>
          <p:nvPr/>
        </p:nvSpPr>
        <p:spPr>
          <a:xfrm xmlns:a="http://schemas.openxmlformats.org/drawingml/2006/main">
            <a:off x="970280" y="39878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R$ 20.000 / mês</a:t>
            </a:r>
          </a:p>
        </p:txBody>
      </p:sp>
      <p:sp>
        <p:nvSpPr>
          <p:cNvPr id="100017" name="TextBox 12"/>
          <p:cNvSpPr txBox="1"/>
          <p:nvPr/>
        </p:nvSpPr>
        <p:spPr>
          <a:xfrm xmlns:a="http://schemas.openxmlformats.org/drawingml/2006/main">
            <a:off x="970280" y="43942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Google</a:t>
            </a:r>
          </a:p>
        </p:txBody>
      </p:sp>
      <p:sp>
        <p:nvSpPr>
          <p:cNvPr id="100018" name="TextBox 13"/>
          <p:cNvSpPr txBox="1"/>
          <p:nvPr/>
        </p:nvSpPr>
        <p:spPr>
          <a:xfrm xmlns:a="http://schemas.openxmlformats.org/drawingml/2006/main">
            <a:off x="970280" y="45974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R$ 5.000 / mês</a:t>
            </a:r>
          </a:p>
        </p:txBody>
      </p:sp>
      <p:sp>
        <p:nvSpPr>
          <p:cNvPr id="100019" name="TextBox 14"/>
          <p:cNvSpPr txBox="1"/>
          <p:nvPr/>
        </p:nvSpPr>
        <p:spPr>
          <a:xfrm xmlns:a="http://schemas.openxmlformats.org/drawingml/2006/main">
            <a:off x="970280" y="5003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Ciclo até o resultado</a:t>
            </a:r>
          </a:p>
        </p:txBody>
      </p:sp>
      <p:sp>
        <p:nvSpPr>
          <p:cNvPr id="100020" name="TextBox 15"/>
          <p:cNvSpPr txBox="1"/>
          <p:nvPr/>
        </p:nvSpPr>
        <p:spPr>
          <a:xfrm xmlns:a="http://schemas.openxmlformats.org/drawingml/2006/main">
            <a:off x="970280" y="52070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Imediato</a:t>
            </a:r>
          </a:p>
        </p:txBody>
      </p:sp>
      <p:sp>
        <p:nvSpPr>
          <p:cNvPr id="100021" name="TextBox 16"/>
          <p:cNvSpPr/>
          <p:nvPr/>
        </p:nvSpPr>
        <p:spPr>
          <a:xfrm xmlns:a="http://schemas.openxmlformats.org/drawingml/2006/main">
            <a:off x="6228080" y="1905000"/>
            <a:ext cx="5323840" cy="365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TextBox 17"/>
          <p:cNvSpPr txBox="1"/>
          <p:nvPr/>
        </p:nvSpPr>
        <p:spPr>
          <a:xfrm xmlns:a="http://schemas.openxmlformats.org/drawingml/2006/main">
            <a:off x="6558280" y="2133600"/>
            <a:ext cx="4572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 spc="200">
                <a:solidFill>
                  <a:srgbClr val="E01C4C"/>
                </a:solidFill>
                <a:latin typeface="Poppins"/>
                <a:ea typeface="Poppins"/>
              </a:rPr>
              <a:t>B2B  ·  LOJISTA</a:t>
            </a:r>
          </a:p>
        </p:txBody>
      </p:sp>
      <p:sp>
        <p:nvSpPr>
          <p:cNvPr id="100023" name="TextBox 18"/>
          <p:cNvSpPr txBox="1"/>
          <p:nvPr/>
        </p:nvSpPr>
        <p:spPr>
          <a:xfrm xmlns:a="http://schemas.openxmlformats.org/drawingml/2006/main">
            <a:off x="6558280" y="25654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Objetivo</a:t>
            </a:r>
          </a:p>
        </p:txBody>
      </p:sp>
      <p:sp>
        <p:nvSpPr>
          <p:cNvPr id="100024" name="TextBox 19"/>
          <p:cNvSpPr txBox="1"/>
          <p:nvPr/>
        </p:nvSpPr>
        <p:spPr>
          <a:xfrm xmlns:a="http://schemas.openxmlformats.org/drawingml/2006/main">
            <a:off x="6558280" y="27686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Leads qualificados de locação</a:t>
            </a:r>
          </a:p>
        </p:txBody>
      </p:sp>
      <p:sp>
        <p:nvSpPr>
          <p:cNvPr id="100025" name="TextBox 20"/>
          <p:cNvSpPr txBox="1"/>
          <p:nvPr/>
        </p:nvSpPr>
        <p:spPr>
          <a:xfrm xmlns:a="http://schemas.openxmlformats.org/drawingml/2006/main">
            <a:off x="6558280" y="31750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Métrica de hoje</a:t>
            </a:r>
          </a:p>
        </p:txBody>
      </p:sp>
      <p:sp>
        <p:nvSpPr>
          <p:cNvPr id="100026" name="TextBox 21"/>
          <p:cNvSpPr txBox="1"/>
          <p:nvPr/>
        </p:nvSpPr>
        <p:spPr>
          <a:xfrm xmlns:a="http://schemas.openxmlformats.org/drawingml/2006/main">
            <a:off x="6558280" y="33782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CPL, o custo por lead</a:t>
            </a:r>
          </a:p>
        </p:txBody>
      </p:sp>
      <p:sp>
        <p:nvSpPr>
          <p:cNvPr id="100027" name="TextBox 22"/>
          <p:cNvSpPr txBox="1"/>
          <p:nvPr/>
        </p:nvSpPr>
        <p:spPr>
          <a:xfrm xmlns:a="http://schemas.openxmlformats.org/drawingml/2006/main">
            <a:off x="6558280" y="37846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Meta</a:t>
            </a:r>
          </a:p>
        </p:txBody>
      </p:sp>
      <p:sp>
        <p:nvSpPr>
          <p:cNvPr id="100028" name="TextBox 23"/>
          <p:cNvSpPr txBox="1"/>
          <p:nvPr/>
        </p:nvSpPr>
        <p:spPr>
          <a:xfrm xmlns:a="http://schemas.openxmlformats.org/drawingml/2006/main">
            <a:off x="6558280" y="39878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R$ 10.000 / mês</a:t>
            </a:r>
          </a:p>
        </p:txBody>
      </p:sp>
      <p:sp>
        <p:nvSpPr>
          <p:cNvPr id="100029" name="TextBox 24"/>
          <p:cNvSpPr txBox="1"/>
          <p:nvPr/>
        </p:nvSpPr>
        <p:spPr>
          <a:xfrm xmlns:a="http://schemas.openxmlformats.org/drawingml/2006/main">
            <a:off x="6558280" y="43942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Google</a:t>
            </a:r>
          </a:p>
        </p:txBody>
      </p:sp>
      <p:sp>
        <p:nvSpPr>
          <p:cNvPr id="100030" name="TextBox 25"/>
          <p:cNvSpPr txBox="1"/>
          <p:nvPr/>
        </p:nvSpPr>
        <p:spPr>
          <a:xfrm xmlns:a="http://schemas.openxmlformats.org/drawingml/2006/main">
            <a:off x="6558280" y="45974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R$ 15.000 / mês</a:t>
            </a:r>
          </a:p>
        </p:txBody>
      </p:sp>
      <p:sp>
        <p:nvSpPr>
          <p:cNvPr id="100031" name="TextBox 26"/>
          <p:cNvSpPr txBox="1"/>
          <p:nvPr/>
        </p:nvSpPr>
        <p:spPr>
          <a:xfrm xmlns:a="http://schemas.openxmlformats.org/drawingml/2006/main">
            <a:off x="6558280" y="5003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Ciclo até o resultado</a:t>
            </a:r>
          </a:p>
        </p:txBody>
      </p:sp>
      <p:sp>
        <p:nvSpPr>
          <p:cNvPr id="100032" name="TextBox 27"/>
          <p:cNvSpPr txBox="1"/>
          <p:nvPr/>
        </p:nvSpPr>
        <p:spPr>
          <a:xfrm xmlns:a="http://schemas.openxmlformats.org/drawingml/2006/main">
            <a:off x="6558280" y="52070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Longo, de semanas a meses</a:t>
            </a:r>
          </a:p>
        </p:txBody>
      </p:sp>
      <p:sp>
        <p:nvSpPr>
          <p:cNvPr id="100033" name="TextBox 28"/>
          <p:cNvSpPr/>
          <p:nvPr/>
        </p:nvSpPr>
        <p:spPr>
          <a:xfrm xmlns:a="http://schemas.openxmlformats.org/drawingml/2006/main">
            <a:off x="640080" y="5791200"/>
            <a:ext cx="10911840" cy="711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TextBox 29"/>
          <p:cNvSpPr txBox="1"/>
          <p:nvPr/>
        </p:nvSpPr>
        <p:spPr>
          <a:xfrm xmlns:a="http://schemas.openxmlformats.org/drawingml/2006/main">
            <a:off x="970280" y="5918200"/>
            <a:ext cx="10251440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250">
                <a:solidFill>
                  <a:srgbClr val="FFFFFF"/>
                </a:solidFill>
                <a:latin typeface="Poppins"/>
                <a:ea typeface="Poppins"/>
              </a:rPr>
              <a:t>Custo por mil pessoas alcançadas e custo por lead de locação medem coisas diferentes. Por isso as duas frentes aparecem sempre separadas aqui: assim cada uma é lida pela régua que faz sentido para ela.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RESULTADO · B2C (CONSUMIDOR)</a:t>
            </a:r>
          </a:p>
        </p:txBody>
      </p:sp>
      <p:sp>
        <p:nvSpPr>
          <p:cNvPr id="100036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Em 21 dias, julho já passou o alcance de junho</a:t>
            </a:r>
          </a:p>
        </p:txBody>
      </p:sp>
      <p:sp>
        <p:nvSpPr>
          <p:cNvPr id="100037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Apenas Meta Ads. Google aparece separado, embaixo: as duas plataformas nunca são somadas.</a:t>
            </a:r>
          </a:p>
        </p:txBody>
      </p:sp>
      <p:sp>
        <p:nvSpPr>
          <p:cNvPr id="100038" name="TextBox 4"/>
          <p:cNvSpPr/>
          <p:nvPr/>
        </p:nvSpPr>
        <p:spPr>
          <a:xfrm xmlns:a="http://schemas.openxmlformats.org/drawingml/2006/main">
            <a:off x="640080" y="1930400"/>
            <a:ext cx="495300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TextBox 5"/>
          <p:cNvSpPr txBox="1"/>
          <p:nvPr/>
        </p:nvSpPr>
        <p:spPr>
          <a:xfrm xmlns:a="http://schemas.openxmlformats.org/drawingml/2006/main">
            <a:off x="970280" y="21336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100">
                <a:solidFill>
                  <a:srgbClr val="093652"/>
                </a:solidFill>
                <a:latin typeface="Poppins"/>
                <a:ea typeface="Poppins"/>
              </a:rPr>
              <a:t>JUNHO  ·  30 dias, mês fechado</a:t>
            </a:r>
          </a:p>
        </p:txBody>
      </p:sp>
      <p:sp>
        <p:nvSpPr>
          <p:cNvPr id="100040" name="TextBox 6"/>
          <p:cNvSpPr txBox="1"/>
          <p:nvPr/>
        </p:nvSpPr>
        <p:spPr>
          <a:xfrm xmlns:a="http://schemas.openxmlformats.org/drawingml/2006/main">
            <a:off x="970280" y="25400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1,05 mi</a:t>
            </a:r>
          </a:p>
        </p:txBody>
      </p:sp>
      <p:sp>
        <p:nvSpPr>
          <p:cNvPr id="100041" name="TextBox 7"/>
          <p:cNvSpPr txBox="1"/>
          <p:nvPr/>
        </p:nvSpPr>
        <p:spPr>
          <a:xfrm xmlns:a="http://schemas.openxmlformats.org/drawingml/2006/main">
            <a:off x="3586480" y="2590800"/>
            <a:ext cx="177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pessoas alcançadas</a:t>
            </a:r>
          </a:p>
        </p:txBody>
      </p:sp>
      <p:sp>
        <p:nvSpPr>
          <p:cNvPr id="100042" name="TextBox 8"/>
          <p:cNvSpPr txBox="1"/>
          <p:nvPr/>
        </p:nvSpPr>
        <p:spPr>
          <a:xfrm xmlns:a="http://schemas.openxmlformats.org/drawingml/2006/main">
            <a:off x="970280" y="33274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R$ 14,09</a:t>
            </a:r>
          </a:p>
        </p:txBody>
      </p:sp>
      <p:sp>
        <p:nvSpPr>
          <p:cNvPr id="100043" name="TextBox 9"/>
          <p:cNvSpPr txBox="1"/>
          <p:nvPr/>
        </p:nvSpPr>
        <p:spPr>
          <a:xfrm xmlns:a="http://schemas.openxmlformats.org/drawingml/2006/main">
            <a:off x="3586480" y="3378200"/>
            <a:ext cx="177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custo por mil pessoas alcançadas</a:t>
            </a:r>
          </a:p>
        </p:txBody>
      </p:sp>
      <p:sp>
        <p:nvSpPr>
          <p:cNvPr id="100044" name="TextBox 10"/>
          <p:cNvSpPr txBox="1"/>
          <p:nvPr/>
        </p:nvSpPr>
        <p:spPr>
          <a:xfrm xmlns:a="http://schemas.openxmlformats.org/drawingml/2006/main">
            <a:off x="970280" y="41148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R$ 14.830</a:t>
            </a:r>
          </a:p>
        </p:txBody>
      </p:sp>
      <p:sp>
        <p:nvSpPr>
          <p:cNvPr id="100045" name="TextBox 11"/>
          <p:cNvSpPr txBox="1"/>
          <p:nvPr/>
        </p:nvSpPr>
        <p:spPr>
          <a:xfrm xmlns:a="http://schemas.openxmlformats.org/drawingml/2006/main">
            <a:off x="3586480" y="4165600"/>
            <a:ext cx="177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46" name="TextBox 12"/>
          <p:cNvSpPr/>
          <p:nvPr/>
        </p:nvSpPr>
        <p:spPr>
          <a:xfrm xmlns:a="http://schemas.openxmlformats.org/drawingml/2006/main">
            <a:off x="6598920" y="1930400"/>
            <a:ext cx="495300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7" name="TextBox 13"/>
          <p:cNvSpPr txBox="1"/>
          <p:nvPr/>
        </p:nvSpPr>
        <p:spPr>
          <a:xfrm xmlns:a="http://schemas.openxmlformats.org/drawingml/2006/main">
            <a:off x="6929120" y="21336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100">
                <a:solidFill>
                  <a:srgbClr val="FFFFFF"/>
                </a:solidFill>
                <a:latin typeface="Poppins"/>
                <a:ea typeface="Poppins"/>
              </a:rPr>
              <a:t>JULHO  ·  1 a 21, mês em andamento</a:t>
            </a:r>
          </a:p>
        </p:txBody>
      </p:sp>
      <p:sp>
        <p:nvSpPr>
          <p:cNvPr id="100048" name="TextBox 14"/>
          <p:cNvSpPr txBox="1"/>
          <p:nvPr/>
        </p:nvSpPr>
        <p:spPr>
          <a:xfrm xmlns:a="http://schemas.openxmlformats.org/drawingml/2006/main">
            <a:off x="6929120" y="25400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1,08 mi</a:t>
            </a:r>
          </a:p>
        </p:txBody>
      </p:sp>
      <p:sp>
        <p:nvSpPr>
          <p:cNvPr id="100049" name="TextBox 15"/>
          <p:cNvSpPr txBox="1"/>
          <p:nvPr/>
        </p:nvSpPr>
        <p:spPr>
          <a:xfrm xmlns:a="http://schemas.openxmlformats.org/drawingml/2006/main">
            <a:off x="9545320" y="2590800"/>
            <a:ext cx="177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pessoas alcançadas</a:t>
            </a:r>
          </a:p>
        </p:txBody>
      </p:sp>
      <p:sp>
        <p:nvSpPr>
          <p:cNvPr id="100050" name="TextBox 16"/>
          <p:cNvSpPr txBox="1"/>
          <p:nvPr/>
        </p:nvSpPr>
        <p:spPr>
          <a:xfrm xmlns:a="http://schemas.openxmlformats.org/drawingml/2006/main">
            <a:off x="6929120" y="33274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R$ 11,41</a:t>
            </a:r>
          </a:p>
        </p:txBody>
      </p:sp>
      <p:sp>
        <p:nvSpPr>
          <p:cNvPr id="100051" name="TextBox 17"/>
          <p:cNvSpPr txBox="1"/>
          <p:nvPr/>
        </p:nvSpPr>
        <p:spPr>
          <a:xfrm xmlns:a="http://schemas.openxmlformats.org/drawingml/2006/main">
            <a:off x="9545320" y="3378200"/>
            <a:ext cx="177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custo por mil, 19% mais barato</a:t>
            </a:r>
          </a:p>
        </p:txBody>
      </p:sp>
      <p:sp>
        <p:nvSpPr>
          <p:cNvPr id="100052" name="TextBox 18"/>
          <p:cNvSpPr txBox="1"/>
          <p:nvPr/>
        </p:nvSpPr>
        <p:spPr>
          <a:xfrm xmlns:a="http://schemas.openxmlformats.org/drawingml/2006/main">
            <a:off x="6929120" y="41148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R$ 12.324</a:t>
            </a:r>
          </a:p>
        </p:txBody>
      </p:sp>
      <p:sp>
        <p:nvSpPr>
          <p:cNvPr id="100053" name="TextBox 19"/>
          <p:cNvSpPr txBox="1"/>
          <p:nvPr/>
        </p:nvSpPr>
        <p:spPr>
          <a:xfrm xmlns:a="http://schemas.openxmlformats.org/drawingml/2006/main">
            <a:off x="9545320" y="4165600"/>
            <a:ext cx="177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54" name="TextBox 20"/>
          <p:cNvSpPr txBox="1"/>
          <p:nvPr/>
        </p:nvSpPr>
        <p:spPr>
          <a:xfrm xmlns:a="http://schemas.openxmlformats.org/drawingml/2006/main">
            <a:off x="5669280" y="3238500"/>
            <a:ext cx="8534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6B7280"/>
                </a:solidFill>
                <a:latin typeface="Poppins"/>
                <a:ea typeface="Poppins"/>
              </a:rPr>
              <a:t>→</a:t>
            </a:r>
          </a:p>
        </p:txBody>
      </p:sp>
      <p:sp>
        <p:nvSpPr>
          <p:cNvPr id="100055" name="TextBox 21"/>
          <p:cNvSpPr/>
          <p:nvPr/>
        </p:nvSpPr>
        <p:spPr>
          <a:xfrm xmlns:a="http://schemas.openxmlformats.org/drawingml/2006/main">
            <a:off x="640080" y="5207000"/>
            <a:ext cx="10911840" cy="1295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extBox 22"/>
          <p:cNvSpPr txBox="1"/>
          <p:nvPr/>
        </p:nvSpPr>
        <p:spPr>
          <a:xfrm xmlns:a="http://schemas.openxmlformats.org/drawingml/2006/main">
            <a:off x="970280" y="5334000"/>
            <a:ext cx="1025144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093652"/>
                </a:solidFill>
                <a:latin typeface="Poppins"/>
                <a:ea typeface="Poppins"/>
              </a:rPr>
              <a:t>As mudanças se mostram eficientes quando o escopo está definido e a campanha tem tempo de performar.</a:t>
            </a:r>
          </a:p>
        </p:txBody>
      </p:sp>
      <p:sp>
        <p:nvSpPr>
          <p:cNvPr id="100057" name="TextBox 23"/>
          <p:cNvSpPr txBox="1"/>
          <p:nvPr/>
        </p:nvSpPr>
        <p:spPr>
          <a:xfrm xmlns:a="http://schemas.openxmlformats.org/drawingml/2006/main">
            <a:off x="970280" y="5638800"/>
            <a:ext cx="1025144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4A5568"/>
                </a:solidFill>
                <a:latin typeface="Poppins"/>
                <a:ea typeface="Poppins"/>
              </a:rPr>
              <a:t>No ritmo atual, julho projeta cerca de 1,59 milhão de pessoas alcançadas com cerca de R$ 18,2 mil. Google B2C: a Performance Max gastou R$ 15.306 em junho e R$ 0 em julho, pausada de propósito, porque as conversões seguem contaminadas e ainda não servem de base para decidir. A verba está guardada como reserva de teste.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RESULTADO · B2B (LOCAÇÃO)</a:t>
            </a:r>
          </a:p>
        </p:txBody>
      </p:sp>
      <p:sp>
        <p:nvSpPr>
          <p:cNvPr id="100059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Mais leads e custo menor, pelo segundo mês seguido</a:t>
            </a:r>
          </a:p>
        </p:txBody>
      </p:sp>
      <p:sp>
        <p:nvSpPr>
          <p:cNvPr id="100060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Meta Ads, campanha de formulário. Google aparece separado, embaixo.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640080" y="1930400"/>
            <a:ext cx="495300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TextBox 5"/>
          <p:cNvSpPr txBox="1"/>
          <p:nvPr/>
        </p:nvSpPr>
        <p:spPr>
          <a:xfrm xmlns:a="http://schemas.openxmlformats.org/drawingml/2006/main">
            <a:off x="970280" y="21336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100">
                <a:solidFill>
                  <a:srgbClr val="093652"/>
                </a:solidFill>
                <a:latin typeface="Poppins"/>
                <a:ea typeface="Poppins"/>
              </a:rPr>
              <a:t>JUNHO  ·  30 dias, mês fechado</a:t>
            </a:r>
          </a:p>
        </p:txBody>
      </p:sp>
      <p:sp>
        <p:nvSpPr>
          <p:cNvPr id="100063" name="TextBox 6"/>
          <p:cNvSpPr txBox="1"/>
          <p:nvPr/>
        </p:nvSpPr>
        <p:spPr>
          <a:xfrm xmlns:a="http://schemas.openxmlformats.org/drawingml/2006/main">
            <a:off x="970280" y="25400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161</a:t>
            </a:r>
          </a:p>
        </p:txBody>
      </p:sp>
      <p:sp>
        <p:nvSpPr>
          <p:cNvPr id="100064" name="TextBox 7"/>
          <p:cNvSpPr txBox="1"/>
          <p:nvPr/>
        </p:nvSpPr>
        <p:spPr>
          <a:xfrm xmlns:a="http://schemas.openxmlformats.org/drawingml/2006/main">
            <a:off x="3586480" y="25654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leads de locação</a:t>
            </a:r>
          </a:p>
        </p:txBody>
      </p:sp>
      <p:sp>
        <p:nvSpPr>
          <p:cNvPr id="100065" name="TextBox 8"/>
          <p:cNvSpPr txBox="1"/>
          <p:nvPr/>
        </p:nvSpPr>
        <p:spPr>
          <a:xfrm xmlns:a="http://schemas.openxmlformats.org/drawingml/2006/main">
            <a:off x="970280" y="33274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R$ 47,90</a:t>
            </a:r>
          </a:p>
        </p:txBody>
      </p:sp>
      <p:sp>
        <p:nvSpPr>
          <p:cNvPr id="100066" name="TextBox 9"/>
          <p:cNvSpPr txBox="1"/>
          <p:nvPr/>
        </p:nvSpPr>
        <p:spPr>
          <a:xfrm xmlns:a="http://schemas.openxmlformats.org/drawingml/2006/main">
            <a:off x="3586480" y="33528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custo por lead</a:t>
            </a:r>
          </a:p>
        </p:txBody>
      </p:sp>
      <p:sp>
        <p:nvSpPr>
          <p:cNvPr id="100067" name="TextBox 10"/>
          <p:cNvSpPr txBox="1"/>
          <p:nvPr/>
        </p:nvSpPr>
        <p:spPr>
          <a:xfrm xmlns:a="http://schemas.openxmlformats.org/drawingml/2006/main">
            <a:off x="970280" y="41148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R$ 7.713</a:t>
            </a:r>
          </a:p>
        </p:txBody>
      </p:sp>
      <p:sp>
        <p:nvSpPr>
          <p:cNvPr id="100068" name="TextBox 11"/>
          <p:cNvSpPr txBox="1"/>
          <p:nvPr/>
        </p:nvSpPr>
        <p:spPr>
          <a:xfrm xmlns:a="http://schemas.openxmlformats.org/drawingml/2006/main">
            <a:off x="3586480" y="41402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69" name="TextBox 12"/>
          <p:cNvSpPr/>
          <p:nvPr/>
        </p:nvSpPr>
        <p:spPr>
          <a:xfrm xmlns:a="http://schemas.openxmlformats.org/drawingml/2006/main">
            <a:off x="6598920" y="1930400"/>
            <a:ext cx="495300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TextBox 13"/>
          <p:cNvSpPr txBox="1"/>
          <p:nvPr/>
        </p:nvSpPr>
        <p:spPr>
          <a:xfrm xmlns:a="http://schemas.openxmlformats.org/drawingml/2006/main">
            <a:off x="6929120" y="21336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100">
                <a:solidFill>
                  <a:srgbClr val="FFFFFF"/>
                </a:solidFill>
                <a:latin typeface="Poppins"/>
                <a:ea typeface="Poppins"/>
              </a:rPr>
              <a:t>JULHO  ·  1 a 21, mês em andamento</a:t>
            </a:r>
          </a:p>
        </p:txBody>
      </p:sp>
      <p:sp>
        <p:nvSpPr>
          <p:cNvPr id="100071" name="TextBox 14"/>
          <p:cNvSpPr txBox="1"/>
          <p:nvPr/>
        </p:nvSpPr>
        <p:spPr>
          <a:xfrm xmlns:a="http://schemas.openxmlformats.org/drawingml/2006/main">
            <a:off x="6929120" y="25400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121</a:t>
            </a:r>
          </a:p>
        </p:txBody>
      </p:sp>
      <p:sp>
        <p:nvSpPr>
          <p:cNvPr id="100072" name="TextBox 15"/>
          <p:cNvSpPr txBox="1"/>
          <p:nvPr/>
        </p:nvSpPr>
        <p:spPr>
          <a:xfrm xmlns:a="http://schemas.openxmlformats.org/drawingml/2006/main">
            <a:off x="9545320" y="25654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leads em 21 dias, ritmo de ~178 no mês</a:t>
            </a:r>
          </a:p>
        </p:txBody>
      </p:sp>
      <p:sp>
        <p:nvSpPr>
          <p:cNvPr id="100073" name="TextBox 16"/>
          <p:cNvSpPr txBox="1"/>
          <p:nvPr/>
        </p:nvSpPr>
        <p:spPr>
          <a:xfrm xmlns:a="http://schemas.openxmlformats.org/drawingml/2006/main">
            <a:off x="6929120" y="33274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R$ 33,41</a:t>
            </a:r>
          </a:p>
        </p:txBody>
      </p:sp>
      <p:sp>
        <p:nvSpPr>
          <p:cNvPr id="100074" name="TextBox 17"/>
          <p:cNvSpPr txBox="1"/>
          <p:nvPr/>
        </p:nvSpPr>
        <p:spPr>
          <a:xfrm xmlns:a="http://schemas.openxmlformats.org/drawingml/2006/main">
            <a:off x="9545320" y="33528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custo por lead, 30% mais barato</a:t>
            </a:r>
          </a:p>
        </p:txBody>
      </p:sp>
      <p:sp>
        <p:nvSpPr>
          <p:cNvPr id="100075" name="TextBox 18"/>
          <p:cNvSpPr txBox="1"/>
          <p:nvPr/>
        </p:nvSpPr>
        <p:spPr>
          <a:xfrm xmlns:a="http://schemas.openxmlformats.org/drawingml/2006/main">
            <a:off x="6929120" y="41148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R$ 4.042</a:t>
            </a:r>
          </a:p>
        </p:txBody>
      </p:sp>
      <p:sp>
        <p:nvSpPr>
          <p:cNvPr id="100076" name="TextBox 19"/>
          <p:cNvSpPr txBox="1"/>
          <p:nvPr/>
        </p:nvSpPr>
        <p:spPr>
          <a:xfrm xmlns:a="http://schemas.openxmlformats.org/drawingml/2006/main">
            <a:off x="9545320" y="41402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77" name="TextBox 20"/>
          <p:cNvSpPr txBox="1"/>
          <p:nvPr/>
        </p:nvSpPr>
        <p:spPr>
          <a:xfrm xmlns:a="http://schemas.openxmlformats.org/drawingml/2006/main">
            <a:off x="5669280" y="3238500"/>
            <a:ext cx="8534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6B7280"/>
                </a:solidFill>
                <a:latin typeface="Poppins"/>
                <a:ea typeface="Poppins"/>
              </a:rPr>
              <a:t>→</a:t>
            </a:r>
          </a:p>
        </p:txBody>
      </p:sp>
      <p:sp>
        <p:nvSpPr>
          <p:cNvPr id="100078" name="TextBox 21"/>
          <p:cNvSpPr/>
          <p:nvPr/>
        </p:nvSpPr>
        <p:spPr>
          <a:xfrm xmlns:a="http://schemas.openxmlformats.org/drawingml/2006/main">
            <a:off x="640080" y="5207000"/>
            <a:ext cx="10911840" cy="1295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9" name="TextBox 22"/>
          <p:cNvSpPr txBox="1"/>
          <p:nvPr/>
        </p:nvSpPr>
        <p:spPr>
          <a:xfrm xmlns:a="http://schemas.openxmlformats.org/drawingml/2006/main">
            <a:off x="970280" y="5334000"/>
            <a:ext cx="1025144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093652"/>
                </a:solidFill>
                <a:latin typeface="Poppins"/>
                <a:ea typeface="Poppins"/>
              </a:rPr>
              <a:t>E a campanha nova ainda nem subiu: o que roda hoje é a estrutura herdada, otimizada até o limite dela.</a:t>
            </a:r>
          </a:p>
        </p:txBody>
      </p:sp>
      <p:sp>
        <p:nvSpPr>
          <p:cNvPr id="100080" name="TextBox 23"/>
          <p:cNvSpPr txBox="1"/>
          <p:nvPr/>
        </p:nvSpPr>
        <p:spPr>
          <a:xfrm xmlns:a="http://schemas.openxmlformats.org/drawingml/2006/main">
            <a:off x="970280" y="5638800"/>
            <a:ext cx="1025144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4A5568"/>
                </a:solidFill>
                <a:latin typeface="Poppins"/>
                <a:ea typeface="Poppins"/>
              </a:rPr>
              <a:t>A série de CPL é R$ 58,69 em maio, R$ 47,90 em junho, com a primeira otimização, e R$ 33,41 em julho. O Google B2B gastou R$ 4.571 em junho e R$ 1.746 em julho, pausado em 22/07 enquanto a landing page nova é finalizada. Ressalva que continua valendo: custo por lead mede custo, e é o retorno do comercial que fecha a conta da qualidade.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1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COMO O TRÁFEGO PAGO PERFORMA MELHOR</a:t>
            </a:r>
          </a:p>
        </p:txBody>
      </p:sp>
      <p:sp>
        <p:nvSpPr>
          <p:cNvPr id="100082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É funil completo, com rastreamento até a conversão</a:t>
            </a:r>
          </a:p>
        </p:txBody>
      </p:sp>
      <p:sp>
        <p:nvSpPr>
          <p:cNvPr id="100083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Não é ter mais anúncios rodando. É um plano acompanhado do começo ao fim, e medição que chegue até o resultado.</a:t>
            </a:r>
          </a:p>
        </p:txBody>
      </p:sp>
      <p:sp>
        <p:nvSpPr>
          <p:cNvPr id="100084" name="TextBox 4"/>
          <p:cNvSpPr/>
          <p:nvPr/>
        </p:nvSpPr>
        <p:spPr>
          <a:xfrm xmlns:a="http://schemas.openxmlformats.org/drawingml/2006/main">
            <a:off x="640080" y="1803400"/>
            <a:ext cx="3467100" cy="2438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TextBox 5"/>
          <p:cNvSpPr txBox="1"/>
          <p:nvPr/>
        </p:nvSpPr>
        <p:spPr>
          <a:xfrm xmlns:a="http://schemas.openxmlformats.org/drawingml/2006/main">
            <a:off x="919480" y="1981200"/>
            <a:ext cx="2946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150" b="1" spc="100">
                <a:solidFill>
                  <a:srgbClr val="E01C4C"/>
                </a:solidFill>
                <a:latin typeface="Poppins"/>
                <a:ea typeface="Poppins"/>
              </a:rPr>
              <a:t>FUNIL COMPLETO</a:t>
            </a:r>
          </a:p>
        </p:txBody>
      </p:sp>
      <p:sp>
        <p:nvSpPr>
          <p:cNvPr id="100086" name="TextBox 6"/>
          <p:cNvSpPr txBox="1"/>
          <p:nvPr/>
        </p:nvSpPr>
        <p:spPr>
          <a:xfrm xmlns:a="http://schemas.openxmlformats.org/drawingml/2006/main">
            <a:off x="919480" y="2438400"/>
            <a:ext cx="2946400" cy="170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Alcance, visita, contato e resultado funcionam melhor quando são pensados juntos, com um papel definido para cada campanha. Assim elas somam entre si, em vez de disputar a mesma verba.</a:t>
            </a:r>
          </a:p>
        </p:txBody>
      </p:sp>
      <p:sp>
        <p:nvSpPr>
          <p:cNvPr id="100087" name="TextBox 7"/>
          <p:cNvSpPr/>
          <p:nvPr/>
        </p:nvSpPr>
        <p:spPr>
          <a:xfrm xmlns:a="http://schemas.openxmlformats.org/drawingml/2006/main">
            <a:off x="4362450" y="1803400"/>
            <a:ext cx="3467100" cy="2438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8" name="TextBox 8"/>
          <p:cNvSpPr txBox="1"/>
          <p:nvPr/>
        </p:nvSpPr>
        <p:spPr>
          <a:xfrm xmlns:a="http://schemas.openxmlformats.org/drawingml/2006/main">
            <a:off x="4641850" y="1981200"/>
            <a:ext cx="2946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150" b="1" spc="100">
                <a:solidFill>
                  <a:srgbClr val="E01C4C"/>
                </a:solidFill>
                <a:latin typeface="Poppins"/>
                <a:ea typeface="Poppins"/>
              </a:rPr>
              <a:t>UM PLANO E UM CICLO DE APRENDIZADO</a:t>
            </a:r>
          </a:p>
        </p:txBody>
      </p:sp>
      <p:sp>
        <p:nvSpPr>
          <p:cNvPr id="100089" name="TextBox 9"/>
          <p:cNvSpPr txBox="1"/>
          <p:nvPr/>
        </p:nvSpPr>
        <p:spPr>
          <a:xfrm xmlns:a="http://schemas.openxmlformats.org/drawingml/2006/main">
            <a:off x="4641850" y="2438400"/>
            <a:ext cx="2946400" cy="170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Com a verba definida antes do mês, temos planejamento real e conseguimos comparar a projeção com o que aconteceu. Quando a direção muda várias vezes, os dados se perdem e demora mais para entender o que funciona. Existe reserva para imprevistos e posts adicionais, e ela rende mais como exceção.</a:t>
            </a:r>
          </a:p>
        </p:txBody>
      </p:sp>
      <p:sp>
        <p:nvSpPr>
          <p:cNvPr id="100090" name="TextBox 10"/>
          <p:cNvSpPr/>
          <p:nvPr/>
        </p:nvSpPr>
        <p:spPr>
          <a:xfrm xmlns:a="http://schemas.openxmlformats.org/drawingml/2006/main">
            <a:off x="8084820" y="1803400"/>
            <a:ext cx="3467100" cy="2438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1" name="TextBox 11"/>
          <p:cNvSpPr txBox="1"/>
          <p:nvPr/>
        </p:nvSpPr>
        <p:spPr>
          <a:xfrm xmlns:a="http://schemas.openxmlformats.org/drawingml/2006/main">
            <a:off x="8364220" y="1981200"/>
            <a:ext cx="2946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150" b="1" spc="100">
                <a:solidFill>
                  <a:srgbClr val="E01C4C"/>
                </a:solidFill>
                <a:latin typeface="Poppins"/>
                <a:ea typeface="Poppins"/>
              </a:rPr>
              <a:t>MEDIÇÃO E COLABORAÇÃO</a:t>
            </a:r>
          </a:p>
        </p:txBody>
      </p:sp>
      <p:sp>
        <p:nvSpPr>
          <p:cNvPr id="100092" name="TextBox 12"/>
          <p:cNvSpPr txBox="1"/>
          <p:nvPr/>
        </p:nvSpPr>
        <p:spPr>
          <a:xfrm xmlns:a="http://schemas.openxmlformats.org/drawingml/2006/main">
            <a:off x="8364220" y="2438400"/>
            <a:ext cx="2946400" cy="170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Com a informação voltando de todas as pontas, comercial, lojistas e mídia, conseguimos otimizar por resultado e não apenas por custo. É o que transforma número de mídia em número de negócio.</a:t>
            </a:r>
          </a:p>
        </p:txBody>
      </p:sp>
      <p:sp>
        <p:nvSpPr>
          <p:cNvPr id="100093" name="TextBox 13"/>
          <p:cNvSpPr/>
          <p:nvPr/>
        </p:nvSpPr>
        <p:spPr>
          <a:xfrm xmlns:a="http://schemas.openxmlformats.org/drawingml/2006/main">
            <a:off x="640080" y="4394200"/>
            <a:ext cx="10911840" cy="2108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4" name="TextBox 14"/>
          <p:cNvSpPr txBox="1"/>
          <p:nvPr/>
        </p:nvSpPr>
        <p:spPr>
          <a:xfrm xmlns:a="http://schemas.openxmlformats.org/drawingml/2006/main">
            <a:off x="995680" y="4521200"/>
            <a:ext cx="102006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FFFFFF"/>
                </a:solidFill>
                <a:latin typeface="Poppins"/>
                <a:ea typeface="Poppins"/>
              </a:rPr>
              <a:t>Hoje o que compramos é alcance. O objetivo tende a caminhar para algo mais palpável.</a:t>
            </a:r>
          </a:p>
        </p:txBody>
      </p:sp>
      <p:sp>
        <p:nvSpPr>
          <p:cNvPr id="100095" name="TextBox 15"/>
          <p:cNvSpPr txBox="1"/>
          <p:nvPr/>
        </p:nvSpPr>
        <p:spPr>
          <a:xfrm xmlns:a="http://schemas.openxmlformats.org/drawingml/2006/main">
            <a:off x="995680" y="4826000"/>
            <a:ext cx="1020064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B9CBD6"/>
                </a:solidFill>
                <a:latin typeface="Poppins"/>
                <a:ea typeface="Poppins"/>
              </a:rPr>
              <a:t>Alcance é um bom começo de régua. As duas frentes já têm o caminho desenhado para sair de métrica de esforço e chegar em métrica de negócio, e é para lá que os próximos meses caminham.</a:t>
            </a:r>
          </a:p>
        </p:txBody>
      </p:sp>
      <p:sp>
        <p:nvSpPr>
          <p:cNvPr id="100096" name="TextBox 16"/>
          <p:cNvSpPr/>
          <p:nvPr/>
        </p:nvSpPr>
        <p:spPr>
          <a:xfrm xmlns:a="http://schemas.openxmlformats.org/drawingml/2006/main">
            <a:off x="970280" y="5384800"/>
            <a:ext cx="5080000" cy="965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47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TextBox 17"/>
          <p:cNvSpPr txBox="1"/>
          <p:nvPr/>
        </p:nvSpPr>
        <p:spPr>
          <a:xfrm xmlns:a="http://schemas.openxmlformats.org/drawingml/2006/main">
            <a:off x="1224280" y="54864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B2C</a:t>
            </a:r>
          </a:p>
        </p:txBody>
      </p:sp>
      <p:sp>
        <p:nvSpPr>
          <p:cNvPr id="100098" name="TextBox 18"/>
          <p:cNvSpPr txBox="1"/>
          <p:nvPr/>
        </p:nvSpPr>
        <p:spPr>
          <a:xfrm xmlns:a="http://schemas.openxmlformats.org/drawingml/2006/main">
            <a:off x="1224280" y="57404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FFFFFF"/>
                </a:solidFill>
                <a:latin typeface="Poppins"/>
                <a:ea typeface="Poppins"/>
              </a:rPr>
              <a:t>alcance  →  fluxo de pessoas na porta, medido pelo contador do shopping e comparado com o mesmo mês do ano anterior</a:t>
            </a:r>
          </a:p>
        </p:txBody>
      </p:sp>
      <p:sp>
        <p:nvSpPr>
          <p:cNvPr id="100099" name="TextBox 19"/>
          <p:cNvSpPr/>
          <p:nvPr/>
        </p:nvSpPr>
        <p:spPr>
          <a:xfrm xmlns:a="http://schemas.openxmlformats.org/drawingml/2006/main">
            <a:off x="6304280" y="5384800"/>
            <a:ext cx="4917440" cy="965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47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TextBox 20"/>
          <p:cNvSpPr txBox="1"/>
          <p:nvPr/>
        </p:nvSpPr>
        <p:spPr>
          <a:xfrm xmlns:a="http://schemas.openxmlformats.org/drawingml/2006/main">
            <a:off x="6558280" y="5486400"/>
            <a:ext cx="440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FC496C"/>
                </a:solidFill>
                <a:latin typeface="Poppins"/>
                <a:ea typeface="Poppins"/>
              </a:rPr>
              <a:t>B2B</a:t>
            </a:r>
          </a:p>
        </p:txBody>
      </p:sp>
      <p:sp>
        <p:nvSpPr>
          <p:cNvPr id="100101" name="TextBox 21"/>
          <p:cNvSpPr txBox="1"/>
          <p:nvPr/>
        </p:nvSpPr>
        <p:spPr>
          <a:xfrm xmlns:a="http://schemas.openxmlformats.org/drawingml/2006/main">
            <a:off x="6558280" y="5740400"/>
            <a:ext cx="440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FFFFFF"/>
                </a:solidFill>
                <a:latin typeface="Poppins"/>
                <a:ea typeface="Poppins"/>
              </a:rPr>
              <a:t>custo por lead  →  custo por contrato assinado, com o lead etiquetado dentro do CRM do comercial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2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PLANO DE AGOSTO · B2C</a:t>
            </a:r>
          </a:p>
        </p:txBody>
      </p:sp>
      <p:sp>
        <p:nvSpPr>
          <p:cNvPr id="100103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Agosto otimiza o que já roda e mede o que vem depois</a:t>
            </a:r>
          </a:p>
        </p:txBody>
      </p:sp>
      <p:sp>
        <p:nvSpPr>
          <p:cNvPr id="100104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Sem estrutura nova neste mês. O foco é ajustar o que roda e coletar o dado que ainda falta.</a:t>
            </a:r>
          </a:p>
        </p:txBody>
      </p:sp>
      <p:sp>
        <p:nvSpPr>
          <p:cNvPr id="100105" name="TextBox 4"/>
          <p:cNvSpPr/>
          <p:nvPr/>
        </p:nvSpPr>
        <p:spPr>
          <a:xfrm xmlns:a="http://schemas.openxmlformats.org/drawingml/2006/main">
            <a:off x="640080" y="1854200"/>
            <a:ext cx="5969000" cy="309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6" name="TextBox 5"/>
          <p:cNvSpPr txBox="1"/>
          <p:nvPr/>
        </p:nvSpPr>
        <p:spPr>
          <a:xfrm xmlns:a="http://schemas.openxmlformats.org/drawingml/2006/main">
            <a:off x="970280" y="2032000"/>
            <a:ext cx="533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50" b="1" spc="100">
                <a:solidFill>
                  <a:srgbClr val="E01C4C"/>
                </a:solidFill>
                <a:latin typeface="Poppins"/>
                <a:ea typeface="Poppins"/>
              </a:rPr>
              <a:t>META ADS  ·  R$ 20.000 NO MÊS</a:t>
            </a:r>
          </a:p>
        </p:txBody>
      </p:sp>
      <p:sp>
        <p:nvSpPr>
          <p:cNvPr id="100107" name="TextBox 6"/>
          <p:cNvSpPr txBox="1"/>
          <p:nvPr/>
        </p:nvSpPr>
        <p:spPr>
          <a:xfrm xmlns:a="http://schemas.openxmlformats.org/drawingml/2006/main">
            <a:off x="970280" y="2387600"/>
            <a:ext cx="340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Engajamento no Instagram</a:t>
            </a:r>
          </a:p>
        </p:txBody>
      </p:sp>
      <p:sp>
        <p:nvSpPr>
          <p:cNvPr id="100108" name="TextBox 7"/>
          <p:cNvSpPr txBox="1"/>
          <p:nvPr/>
        </p:nvSpPr>
        <p:spPr>
          <a:xfrm xmlns:a="http://schemas.openxmlformats.org/drawingml/2006/main">
            <a:off x="4450080" y="2387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R$ 350 / dia</a:t>
            </a:r>
          </a:p>
        </p:txBody>
      </p:sp>
      <p:sp>
        <p:nvSpPr>
          <p:cNvPr id="100109" name="TextBox 8"/>
          <p:cNvSpPr txBox="1"/>
          <p:nvPr/>
        </p:nvSpPr>
        <p:spPr>
          <a:xfrm xmlns:a="http://schemas.openxmlformats.org/drawingml/2006/main">
            <a:off x="970280" y="2603500"/>
            <a:ext cx="5308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concentra a verba onde estão os ~10 criativos em rotação</a:t>
            </a:r>
          </a:p>
        </p:txBody>
      </p:sp>
      <p:sp>
        <p:nvSpPr>
          <p:cNvPr id="100110" name="TextBox 9"/>
          <p:cNvSpPr txBox="1"/>
          <p:nvPr/>
        </p:nvSpPr>
        <p:spPr>
          <a:xfrm xmlns:a="http://schemas.openxmlformats.org/drawingml/2006/main">
            <a:off x="970280" y="3022600"/>
            <a:ext cx="340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Ofertas semanais</a:t>
            </a:r>
          </a:p>
        </p:txBody>
      </p:sp>
      <p:sp>
        <p:nvSpPr>
          <p:cNvPr id="100111" name="TextBox 10"/>
          <p:cNvSpPr txBox="1"/>
          <p:nvPr/>
        </p:nvSpPr>
        <p:spPr>
          <a:xfrm xmlns:a="http://schemas.openxmlformats.org/drawingml/2006/main">
            <a:off x="4450080" y="3022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R$ 70 / dia</a:t>
            </a:r>
          </a:p>
        </p:txBody>
      </p:sp>
      <p:sp>
        <p:nvSpPr>
          <p:cNvPr id="100112" name="TextBox 11"/>
          <p:cNvSpPr txBox="1"/>
          <p:nvPr/>
        </p:nvSpPr>
        <p:spPr>
          <a:xfrm xmlns:a="http://schemas.openxmlformats.org/drawingml/2006/main">
            <a:off x="970280" y="3238500"/>
            <a:ext cx="5308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consolidadas em um conjunto: hoje são dois com os mesmos criativos, disputando o mesmo leilão</a:t>
            </a:r>
          </a:p>
        </p:txBody>
      </p:sp>
      <p:sp>
        <p:nvSpPr>
          <p:cNvPr id="100113" name="TextBox 12"/>
          <p:cNvSpPr txBox="1"/>
          <p:nvPr/>
        </p:nvSpPr>
        <p:spPr>
          <a:xfrm xmlns:a="http://schemas.openxmlformats.org/drawingml/2006/main">
            <a:off x="970280" y="3657600"/>
            <a:ext cx="340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Reconhecimento institucional</a:t>
            </a:r>
          </a:p>
        </p:txBody>
      </p:sp>
      <p:sp>
        <p:nvSpPr>
          <p:cNvPr id="100114" name="TextBox 13"/>
          <p:cNvSpPr txBox="1"/>
          <p:nvPr/>
        </p:nvSpPr>
        <p:spPr>
          <a:xfrm xmlns:a="http://schemas.openxmlformats.org/drawingml/2006/main">
            <a:off x="4450080" y="3657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R$ 150 / dia</a:t>
            </a:r>
          </a:p>
        </p:txBody>
      </p:sp>
      <p:sp>
        <p:nvSpPr>
          <p:cNvPr id="100115" name="TextBox 14"/>
          <p:cNvSpPr txBox="1"/>
          <p:nvPr/>
        </p:nvSpPr>
        <p:spPr>
          <a:xfrm xmlns:a="http://schemas.openxmlformats.org/drawingml/2006/main">
            <a:off x="970280" y="3873500"/>
            <a:ext cx="5308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recebe o que a consolidação liberou, e é a linha que entrega alcance mais barato</a:t>
            </a:r>
          </a:p>
        </p:txBody>
      </p:sp>
      <p:sp>
        <p:nvSpPr>
          <p:cNvPr id="100116" name="TextBox 15"/>
          <p:cNvSpPr txBox="1"/>
          <p:nvPr/>
        </p:nvSpPr>
        <p:spPr>
          <a:xfrm xmlns:a="http://schemas.openxmlformats.org/drawingml/2006/main">
            <a:off x="970280" y="4292600"/>
            <a:ext cx="340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Turbinar posts</a:t>
            </a:r>
          </a:p>
        </p:txBody>
      </p:sp>
      <p:sp>
        <p:nvSpPr>
          <p:cNvPr id="100117" name="TextBox 16"/>
          <p:cNvSpPr txBox="1"/>
          <p:nvPr/>
        </p:nvSpPr>
        <p:spPr>
          <a:xfrm xmlns:a="http://schemas.openxmlformats.org/drawingml/2006/main">
            <a:off x="4450080" y="4292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R$ 2.200</a:t>
            </a:r>
          </a:p>
        </p:txBody>
      </p:sp>
      <p:sp>
        <p:nvSpPr>
          <p:cNvPr id="100118" name="TextBox 17"/>
          <p:cNvSpPr txBox="1"/>
          <p:nvPr/>
        </p:nvSpPr>
        <p:spPr>
          <a:xfrm xmlns:a="http://schemas.openxmlformats.org/drawingml/2006/main">
            <a:off x="970280" y="4508500"/>
            <a:ext cx="5308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conforme o plano da gestão, ao lado</a:t>
            </a:r>
          </a:p>
        </p:txBody>
      </p:sp>
      <p:sp>
        <p:nvSpPr>
          <p:cNvPr id="100119" name="TextBox 18"/>
          <p:cNvSpPr/>
          <p:nvPr/>
        </p:nvSpPr>
        <p:spPr>
          <a:xfrm xmlns:a="http://schemas.openxmlformats.org/drawingml/2006/main">
            <a:off x="6888480" y="1854200"/>
            <a:ext cx="4663440" cy="309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0" name="TextBox 19"/>
          <p:cNvSpPr txBox="1"/>
          <p:nvPr/>
        </p:nvSpPr>
        <p:spPr>
          <a:xfrm xmlns:a="http://schemas.openxmlformats.org/drawingml/2006/main">
            <a:off x="7218680" y="2032000"/>
            <a:ext cx="406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ONDE QUEREMOS CHEGAR EM AGOSTO</a:t>
            </a:r>
          </a:p>
        </p:txBody>
      </p:sp>
      <p:sp>
        <p:nvSpPr>
          <p:cNvPr id="100121" name="TextBox 20"/>
          <p:cNvSpPr txBox="1"/>
          <p:nvPr/>
        </p:nvSpPr>
        <p:spPr>
          <a:xfrm xmlns:a="http://schemas.openxmlformats.org/drawingml/2006/main">
            <a:off x="7218680" y="24638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1,8 mi</a:t>
            </a:r>
          </a:p>
        </p:txBody>
      </p:sp>
      <p:sp>
        <p:nvSpPr>
          <p:cNvPr id="100122" name="TextBox 21"/>
          <p:cNvSpPr txBox="1"/>
          <p:nvPr/>
        </p:nvSpPr>
        <p:spPr>
          <a:xfrm xmlns:a="http://schemas.openxmlformats.org/drawingml/2006/main">
            <a:off x="8768080" y="2438400"/>
            <a:ext cx="25146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alcance no mês, contra ~1,59 mi projetados em julho</a:t>
            </a:r>
          </a:p>
        </p:txBody>
      </p:sp>
      <p:sp>
        <p:nvSpPr>
          <p:cNvPr id="100123" name="TextBox 22"/>
          <p:cNvSpPr txBox="1"/>
          <p:nvPr/>
        </p:nvSpPr>
        <p:spPr>
          <a:xfrm xmlns:a="http://schemas.openxmlformats.org/drawingml/2006/main">
            <a:off x="7218680" y="32766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R$ 9,50</a:t>
            </a:r>
          </a:p>
        </p:txBody>
      </p:sp>
      <p:sp>
        <p:nvSpPr>
          <p:cNvPr id="100124" name="TextBox 23"/>
          <p:cNvSpPr txBox="1"/>
          <p:nvPr/>
        </p:nvSpPr>
        <p:spPr>
          <a:xfrm xmlns:a="http://schemas.openxmlformats.org/drawingml/2006/main">
            <a:off x="8768080" y="3251200"/>
            <a:ext cx="25146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teto no custo por mil pessoas alcançadas</a:t>
            </a:r>
          </a:p>
        </p:txBody>
      </p:sp>
      <p:sp>
        <p:nvSpPr>
          <p:cNvPr id="100125" name="TextBox 24"/>
          <p:cNvSpPr txBox="1"/>
          <p:nvPr/>
        </p:nvSpPr>
        <p:spPr>
          <a:xfrm xmlns:a="http://schemas.openxmlformats.org/drawingml/2006/main">
            <a:off x="7218680" y="40894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R$ 0</a:t>
            </a:r>
          </a:p>
        </p:txBody>
      </p:sp>
      <p:sp>
        <p:nvSpPr>
          <p:cNvPr id="100126" name="TextBox 25"/>
          <p:cNvSpPr txBox="1"/>
          <p:nvPr/>
        </p:nvSpPr>
        <p:spPr>
          <a:xfrm xmlns:a="http://schemas.openxmlformats.org/drawingml/2006/main">
            <a:off x="8768080" y="4064000"/>
            <a:ext cx="25146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no Google B2C, com a verba guardada como reserva de teste</a:t>
            </a:r>
          </a:p>
        </p:txBody>
      </p:sp>
      <p:sp>
        <p:nvSpPr>
          <p:cNvPr id="100127" name="TextBox 26"/>
          <p:cNvSpPr/>
          <p:nvPr/>
        </p:nvSpPr>
        <p:spPr>
          <a:xfrm xmlns:a="http://schemas.openxmlformats.org/drawingml/2006/main">
            <a:off x="640080" y="5003800"/>
            <a:ext cx="5969000" cy="1498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8" name="TextBox 27"/>
          <p:cNvSpPr txBox="1"/>
          <p:nvPr/>
        </p:nvSpPr>
        <p:spPr>
          <a:xfrm xmlns:a="http://schemas.openxmlformats.org/drawingml/2006/main">
            <a:off x="970280" y="5156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100">
                <a:solidFill>
                  <a:srgbClr val="E01C4C"/>
                </a:solidFill>
                <a:latin typeface="Poppins"/>
                <a:ea typeface="Poppins"/>
              </a:rPr>
              <a:t>AGOSTO: OTIMIZAR E MEDIR</a:t>
            </a:r>
          </a:p>
        </p:txBody>
      </p:sp>
      <p:sp>
        <p:nvSpPr>
          <p:cNvPr id="100129" name="TextBox 28"/>
          <p:cNvSpPr txBox="1"/>
          <p:nvPr/>
        </p:nvSpPr>
        <p:spPr>
          <a:xfrm xmlns:a="http://schemas.openxmlformats.org/drawingml/2006/main">
            <a:off x="970280" y="5435600"/>
            <a:ext cx="5334000" cy="965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050">
                <a:solidFill>
                  <a:srgbClr val="4A5568"/>
                </a:solidFill>
                <a:latin typeface="Poppins"/>
                <a:ea typeface="Poppins"/>
              </a:rPr>
              <a:t>O mês não cria estrutura nova. Ajusta o que já roda e coleta o dado que falta. Com esse dado em mãos, os próximos meses transicionam para um funil mais sólido, com etapas medidas e não apenas alcance.</a:t>
            </a:r>
          </a:p>
        </p:txBody>
      </p:sp>
      <p:sp>
        <p:nvSpPr>
          <p:cNvPr id="100130" name="TextBox 29"/>
          <p:cNvSpPr/>
          <p:nvPr/>
        </p:nvSpPr>
        <p:spPr>
          <a:xfrm xmlns:a="http://schemas.openxmlformats.org/drawingml/2006/main">
            <a:off x="6888480" y="5003800"/>
            <a:ext cx="4663440" cy="1498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1" name="TextBox 30"/>
          <p:cNvSpPr txBox="1"/>
          <p:nvPr/>
        </p:nvSpPr>
        <p:spPr>
          <a:xfrm xmlns:a="http://schemas.openxmlformats.org/drawingml/2006/main">
            <a:off x="7218680" y="5156200"/>
            <a:ext cx="406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TURBINAR · APOIO AO ORGÂNICO</a:t>
            </a:r>
          </a:p>
        </p:txBody>
      </p:sp>
      <p:sp>
        <p:nvSpPr>
          <p:cNvPr id="100132" name="TextBox 31"/>
          <p:cNvSpPr txBox="1"/>
          <p:nvPr/>
        </p:nvSpPr>
        <p:spPr>
          <a:xfrm xmlns:a="http://schemas.openxmlformats.org/drawingml/2006/main">
            <a:off x="7218680" y="5435600"/>
            <a:ext cx="4064000" cy="965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00">
                <a:solidFill>
                  <a:srgbClr val="B9CBD6"/>
                </a:solidFill>
                <a:latin typeface="Poppins"/>
                <a:ea typeface="Poppins"/>
              </a:rPr>
              <a:t>Vem de uma decisão da gestão: parte da mídia funciona como apoio ao orgânico, e isso faz sentido. Quantos posts e quanta verba é decisão estratégica de vocês, e eu apoio e executo. O que ajuda é esse número entrar no plano do mês, para as outras linhas serem dimensionadas em cima dele.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33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PLANO DE AGOSTO · B2B</a:t>
            </a:r>
          </a:p>
        </p:txBody>
      </p:sp>
      <p:sp>
        <p:nvSpPr>
          <p:cNvPr id="100134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Agosto fecha a captura e reconstrói o Google</a:t>
            </a:r>
          </a:p>
        </p:txBody>
      </p:sp>
      <p:sp>
        <p:nvSpPr>
          <p:cNvPr id="100135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Um entregável dominante por semana, na ordem em que um depende do outro.</a:t>
            </a:r>
          </a:p>
        </p:txBody>
      </p:sp>
      <p:sp>
        <p:nvSpPr>
          <p:cNvPr id="100136" name="TextBox 4"/>
          <p:cNvSpPr/>
          <p:nvPr/>
        </p:nvSpPr>
        <p:spPr>
          <a:xfrm xmlns:a="http://schemas.openxmlformats.org/drawingml/2006/main">
            <a:off x="640080" y="1905000"/>
            <a:ext cx="6604000" cy="3403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7" name="TextBox 5"/>
          <p:cNvSpPr txBox="1"/>
          <p:nvPr/>
        </p:nvSpPr>
        <p:spPr>
          <a:xfrm xmlns:a="http://schemas.openxmlformats.org/drawingml/2006/main">
            <a:off x="944880" y="2108200"/>
            <a:ext cx="596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1  ·  03 a 07/08</a:t>
            </a:r>
          </a:p>
        </p:txBody>
      </p:sp>
      <p:sp>
        <p:nvSpPr>
          <p:cNvPr id="100138" name="TextBox 6"/>
          <p:cNvSpPr txBox="1"/>
          <p:nvPr/>
        </p:nvSpPr>
        <p:spPr>
          <a:xfrm xmlns:a="http://schemas.openxmlformats.org/drawingml/2006/main">
            <a:off x="944880" y="2311400"/>
            <a:ext cx="5994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Mapear onde caem hoje os leads do formulário atual e concluir a integração com o CRM do comercial</a:t>
            </a:r>
          </a:p>
        </p:txBody>
      </p:sp>
      <p:sp>
        <p:nvSpPr>
          <p:cNvPr id="100139" name="TextBox 7"/>
          <p:cNvSpPr txBox="1"/>
          <p:nvPr/>
        </p:nvSpPr>
        <p:spPr>
          <a:xfrm xmlns:a="http://schemas.openxmlformats.org/drawingml/2006/main">
            <a:off x="944880" y="2895600"/>
            <a:ext cx="596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2  ·  10 a 14/08</a:t>
            </a:r>
          </a:p>
        </p:txBody>
      </p:sp>
      <p:sp>
        <p:nvSpPr>
          <p:cNvPr id="100140" name="TextBox 8"/>
          <p:cNvSpPr txBox="1"/>
          <p:nvPr/>
        </p:nvSpPr>
        <p:spPr>
          <a:xfrm xmlns:a="http://schemas.openxmlformats.org/drawingml/2006/main">
            <a:off x="944880" y="3098800"/>
            <a:ext cx="5994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Subir a campanha nova do Meta e terminar a configuração da landing page</a:t>
            </a:r>
          </a:p>
        </p:txBody>
      </p:sp>
      <p:sp>
        <p:nvSpPr>
          <p:cNvPr id="100141" name="TextBox 9"/>
          <p:cNvSpPr txBox="1"/>
          <p:nvPr/>
        </p:nvSpPr>
        <p:spPr>
          <a:xfrm xmlns:a="http://schemas.openxmlformats.org/drawingml/2006/main">
            <a:off x="944880" y="3683000"/>
            <a:ext cx="596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3  ·  17 a 21/08</a:t>
            </a:r>
          </a:p>
        </p:txBody>
      </p:sp>
      <p:sp>
        <p:nvSpPr>
          <p:cNvPr id="100142" name="TextBox 10"/>
          <p:cNvSpPr txBox="1"/>
          <p:nvPr/>
        </p:nvSpPr>
        <p:spPr>
          <a:xfrm xmlns:a="http://schemas.openxmlformats.org/drawingml/2006/main">
            <a:off x="944880" y="3886200"/>
            <a:ext cx="5994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Google: criar e validar a conversão real, rebaixar Visitas à loja e montar as campanhas</a:t>
            </a:r>
          </a:p>
        </p:txBody>
      </p:sp>
      <p:sp>
        <p:nvSpPr>
          <p:cNvPr id="100143" name="TextBox 11"/>
          <p:cNvSpPr txBox="1"/>
          <p:nvPr/>
        </p:nvSpPr>
        <p:spPr>
          <a:xfrm xmlns:a="http://schemas.openxmlformats.org/drawingml/2006/main">
            <a:off x="944880" y="4470400"/>
            <a:ext cx="596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4  ·  24 a 28/08</a:t>
            </a:r>
          </a:p>
        </p:txBody>
      </p:sp>
      <p:sp>
        <p:nvSpPr>
          <p:cNvPr id="100144" name="TextBox 12"/>
          <p:cNvSpPr txBox="1"/>
          <p:nvPr/>
        </p:nvSpPr>
        <p:spPr>
          <a:xfrm xmlns:a="http://schemas.openxmlformats.org/drawingml/2006/main">
            <a:off x="944880" y="4673600"/>
            <a:ext cx="5994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Search, e possivelmente Demand Gen, no ar em 25/08, rodando sete dias de validação</a:t>
            </a:r>
          </a:p>
        </p:txBody>
      </p:sp>
      <p:sp>
        <p:nvSpPr>
          <p:cNvPr id="100145" name="TextBox 13"/>
          <p:cNvSpPr/>
          <p:nvPr/>
        </p:nvSpPr>
        <p:spPr>
          <a:xfrm xmlns:a="http://schemas.openxmlformats.org/drawingml/2006/main">
            <a:off x="7523480" y="1905000"/>
            <a:ext cx="4028440" cy="3403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6" name="TextBox 14"/>
          <p:cNvSpPr txBox="1"/>
          <p:nvPr/>
        </p:nvSpPr>
        <p:spPr>
          <a:xfrm xmlns:a="http://schemas.openxmlformats.org/drawingml/2006/main">
            <a:off x="7853680" y="2108200"/>
            <a:ext cx="342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ONDE QUEREMOS CHEGAR EM AGOSTO</a:t>
            </a:r>
          </a:p>
        </p:txBody>
      </p:sp>
      <p:sp>
        <p:nvSpPr>
          <p:cNvPr id="100147" name="TextBox 15"/>
          <p:cNvSpPr txBox="1"/>
          <p:nvPr/>
        </p:nvSpPr>
        <p:spPr>
          <a:xfrm xmlns:a="http://schemas.openxmlformats.org/drawingml/2006/main">
            <a:off x="7853680" y="2540000"/>
            <a:ext cx="190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180</a:t>
            </a:r>
          </a:p>
        </p:txBody>
      </p:sp>
      <p:sp>
        <p:nvSpPr>
          <p:cNvPr id="100148" name="TextBox 16"/>
          <p:cNvSpPr txBox="1"/>
          <p:nvPr/>
        </p:nvSpPr>
        <p:spPr>
          <a:xfrm xmlns:a="http://schemas.openxmlformats.org/drawingml/2006/main">
            <a:off x="7853680" y="28702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leads de locação no mês</a:t>
            </a:r>
          </a:p>
        </p:txBody>
      </p:sp>
      <p:sp>
        <p:nvSpPr>
          <p:cNvPr id="100149" name="TextBox 17"/>
          <p:cNvSpPr txBox="1"/>
          <p:nvPr/>
        </p:nvSpPr>
        <p:spPr>
          <a:xfrm xmlns:a="http://schemas.openxmlformats.org/drawingml/2006/main">
            <a:off x="7853680" y="3327400"/>
            <a:ext cx="190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R$ 40</a:t>
            </a:r>
          </a:p>
        </p:txBody>
      </p:sp>
      <p:sp>
        <p:nvSpPr>
          <p:cNvPr id="100150" name="TextBox 18"/>
          <p:cNvSpPr txBox="1"/>
          <p:nvPr/>
        </p:nvSpPr>
        <p:spPr>
          <a:xfrm xmlns:a="http://schemas.openxmlformats.org/drawingml/2006/main">
            <a:off x="7853680" y="36576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teto no custo por lead</a:t>
            </a:r>
          </a:p>
        </p:txBody>
      </p:sp>
      <p:sp>
        <p:nvSpPr>
          <p:cNvPr id="100151" name="TextBox 19"/>
          <p:cNvSpPr txBox="1"/>
          <p:nvPr/>
        </p:nvSpPr>
        <p:spPr>
          <a:xfrm xmlns:a="http://schemas.openxmlformats.org/drawingml/2006/main">
            <a:off x="7853680" y="4114800"/>
            <a:ext cx="190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R$ 10 mil</a:t>
            </a:r>
          </a:p>
        </p:txBody>
      </p:sp>
      <p:sp>
        <p:nvSpPr>
          <p:cNvPr id="100152" name="TextBox 20"/>
          <p:cNvSpPr txBox="1"/>
          <p:nvPr/>
        </p:nvSpPr>
        <p:spPr>
          <a:xfrm xmlns:a="http://schemas.openxmlformats.org/drawingml/2006/main">
            <a:off x="7853680" y="4445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investidos no Meta, verba cheia</a:t>
            </a:r>
          </a:p>
        </p:txBody>
      </p:sp>
      <p:sp>
        <p:nvSpPr>
          <p:cNvPr id="100153" name="TextBox 21"/>
          <p:cNvSpPr/>
          <p:nvPr/>
        </p:nvSpPr>
        <p:spPr>
          <a:xfrm xmlns:a="http://schemas.openxmlformats.org/drawingml/2006/main">
            <a:off x="640080" y="5486400"/>
            <a:ext cx="10911840" cy="101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4" name="TextBox 22"/>
          <p:cNvSpPr txBox="1"/>
          <p:nvPr/>
        </p:nvSpPr>
        <p:spPr>
          <a:xfrm xmlns:a="http://schemas.openxmlformats.org/drawingml/2006/main">
            <a:off x="970280" y="5613400"/>
            <a:ext cx="1025144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Em agosto o Google B2B roda cerca de R$ 2,1 mil dos R$ 15 mil da frente, e isso é uma opção consciente.</a:t>
            </a:r>
          </a:p>
        </p:txBody>
      </p:sp>
      <p:sp>
        <p:nvSpPr>
          <p:cNvPr id="100155" name="TextBox 23"/>
          <p:cNvSpPr txBox="1"/>
          <p:nvPr/>
        </p:nvSpPr>
        <p:spPr>
          <a:xfrm xmlns:a="http://schemas.openxmlformats.org/drawingml/2006/main">
            <a:off x="970280" y="5892800"/>
            <a:ext cx="1025144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4A5568"/>
                </a:solidFill>
                <a:latin typeface="Poppins"/>
                <a:ea typeface="Poppins"/>
              </a:rPr>
              <a:t>A campanha anterior otimizava por um sinal que não representava lead, então preferimos reconstruir antes de escalar. A diferença fica reservada para os testes de setembro, que é quando conseguimos medir quanto essa frente realmente comporta.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56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SUGESTÃO · SEGUNDO SEMESTRE</a:t>
            </a:r>
          </a:p>
        </p:txBody>
      </p:sp>
      <p:sp>
        <p:nvSpPr>
          <p:cNvPr id="100157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Uma sugestão de calendário para o segundo semestre</a:t>
            </a:r>
          </a:p>
        </p:txBody>
      </p:sp>
      <p:sp>
        <p:nvSpPr>
          <p:cNvPr id="100158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Nada aqui está fechado. É um ponto de partida para alinharmos as datas com calma.</a:t>
            </a:r>
          </a:p>
        </p:txBody>
      </p:sp>
      <p:sp>
        <p:nvSpPr>
          <p:cNvPr id="100159" name="TextBox 4"/>
          <p:cNvSpPr/>
          <p:nvPr/>
        </p:nvSpPr>
        <p:spPr>
          <a:xfrm xmlns:a="http://schemas.openxmlformats.org/drawingml/2006/main">
            <a:off x="640080" y="1854200"/>
            <a:ext cx="532384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0" name="TextBox 5"/>
          <p:cNvSpPr txBox="1"/>
          <p:nvPr/>
        </p:nvSpPr>
        <p:spPr>
          <a:xfrm xmlns:a="http://schemas.openxmlformats.org/drawingml/2006/main">
            <a:off x="944880" y="2057400"/>
            <a:ext cx="457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50" b="1" spc="200">
                <a:solidFill>
                  <a:srgbClr val="157DBF"/>
                </a:solidFill>
                <a:latin typeface="Poppins"/>
                <a:ea typeface="Poppins"/>
              </a:rPr>
              <a:t>B2C  ·  CONSUMIDOR</a:t>
            </a:r>
          </a:p>
        </p:txBody>
      </p:sp>
      <p:sp>
        <p:nvSpPr>
          <p:cNvPr id="100161" name="TextBox 6"/>
          <p:cNvSpPr txBox="1"/>
          <p:nvPr/>
        </p:nvSpPr>
        <p:spPr>
          <a:xfrm xmlns:a="http://schemas.openxmlformats.org/drawingml/2006/main">
            <a:off x="944880" y="24638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Dia das Crianças</a:t>
            </a:r>
          </a:p>
        </p:txBody>
      </p:sp>
      <p:sp>
        <p:nvSpPr>
          <p:cNvPr id="100162" name="TextBox 7"/>
          <p:cNvSpPr txBox="1"/>
          <p:nvPr/>
        </p:nvSpPr>
        <p:spPr>
          <a:xfrm xmlns:a="http://schemas.openxmlformats.org/drawingml/2006/main">
            <a:off x="4119880" y="2463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28/09 a 12/10</a:t>
            </a:r>
          </a:p>
        </p:txBody>
      </p:sp>
      <p:sp>
        <p:nvSpPr>
          <p:cNvPr id="100163" name="TextBox 8"/>
          <p:cNvSpPr txBox="1"/>
          <p:nvPr/>
        </p:nvSpPr>
        <p:spPr>
          <a:xfrm xmlns:a="http://schemas.openxmlformats.org/drawingml/2006/main">
            <a:off x="944880" y="26797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15 dias, coberto pelas ofertas semanais</a:t>
            </a:r>
          </a:p>
        </p:txBody>
      </p:sp>
      <p:sp>
        <p:nvSpPr>
          <p:cNvPr id="100164" name="TextBox 9"/>
          <p:cNvSpPr txBox="1"/>
          <p:nvPr/>
        </p:nvSpPr>
        <p:spPr>
          <a:xfrm xmlns:a="http://schemas.openxmlformats.org/drawingml/2006/main">
            <a:off x="944880" y="30734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Black Friday</a:t>
            </a:r>
          </a:p>
        </p:txBody>
      </p:sp>
      <p:sp>
        <p:nvSpPr>
          <p:cNvPr id="100165" name="TextBox 10"/>
          <p:cNvSpPr txBox="1"/>
          <p:nvPr/>
        </p:nvSpPr>
        <p:spPr>
          <a:xfrm xmlns:a="http://schemas.openxmlformats.org/drawingml/2006/main">
            <a:off x="4119880" y="307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01 a 30/11</a:t>
            </a:r>
          </a:p>
        </p:txBody>
      </p:sp>
      <p:sp>
        <p:nvSpPr>
          <p:cNvPr id="100166" name="TextBox 11"/>
          <p:cNvSpPr txBox="1"/>
          <p:nvPr/>
        </p:nvSpPr>
        <p:spPr>
          <a:xfrm xmlns:a="http://schemas.openxmlformats.org/drawingml/2006/main">
            <a:off x="944880" y="32893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30 dias, cobre as duas janelas de pagamento</a:t>
            </a:r>
          </a:p>
        </p:txBody>
      </p:sp>
      <p:sp>
        <p:nvSpPr>
          <p:cNvPr id="100167" name="TextBox 12"/>
          <p:cNvSpPr txBox="1"/>
          <p:nvPr/>
        </p:nvSpPr>
        <p:spPr>
          <a:xfrm xmlns:a="http://schemas.openxmlformats.org/drawingml/2006/main">
            <a:off x="944880" y="36830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Natal</a:t>
            </a:r>
          </a:p>
        </p:txBody>
      </p:sp>
      <p:sp>
        <p:nvSpPr>
          <p:cNvPr id="100168" name="TextBox 13"/>
          <p:cNvSpPr txBox="1"/>
          <p:nvPr/>
        </p:nvSpPr>
        <p:spPr>
          <a:xfrm xmlns:a="http://schemas.openxmlformats.org/drawingml/2006/main">
            <a:off x="4119880" y="368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01 a 25/12</a:t>
            </a:r>
          </a:p>
        </p:txBody>
      </p:sp>
      <p:sp>
        <p:nvSpPr>
          <p:cNvPr id="100169" name="TextBox 14"/>
          <p:cNvSpPr txBox="1"/>
          <p:nvPr/>
        </p:nvSpPr>
        <p:spPr>
          <a:xfrm xmlns:a="http://schemas.openxmlformats.org/drawingml/2006/main">
            <a:off x="944880" y="38989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o pico de compra é a partir do dia 15</a:t>
            </a:r>
          </a:p>
        </p:txBody>
      </p:sp>
      <p:sp>
        <p:nvSpPr>
          <p:cNvPr id="100170" name="TextBox 15"/>
          <p:cNvSpPr txBox="1"/>
          <p:nvPr/>
        </p:nvSpPr>
        <p:spPr>
          <a:xfrm xmlns:a="http://schemas.openxmlformats.org/drawingml/2006/main">
            <a:off x="944880" y="42926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Liquidação e volta às aulas</a:t>
            </a:r>
          </a:p>
        </p:txBody>
      </p:sp>
      <p:sp>
        <p:nvSpPr>
          <p:cNvPr id="100171" name="TextBox 16"/>
          <p:cNvSpPr txBox="1"/>
          <p:nvPr/>
        </p:nvSpPr>
        <p:spPr>
          <a:xfrm xmlns:a="http://schemas.openxmlformats.org/drawingml/2006/main">
            <a:off x="4119880" y="4292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26/12 a 15/02</a:t>
            </a:r>
          </a:p>
        </p:txBody>
      </p:sp>
      <p:sp>
        <p:nvSpPr>
          <p:cNvPr id="100172" name="TextBox 17"/>
          <p:cNvSpPr txBox="1"/>
          <p:nvPr/>
        </p:nvSpPr>
        <p:spPr>
          <a:xfrm xmlns:a="http://schemas.openxmlformats.org/drawingml/2006/main">
            <a:off x="944880" y="45085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a semana entre Natal e Ano Novo tem fluxo alto</a:t>
            </a:r>
          </a:p>
        </p:txBody>
      </p:sp>
      <p:sp>
        <p:nvSpPr>
          <p:cNvPr id="100173" name="TextBox 18"/>
          <p:cNvSpPr/>
          <p:nvPr/>
        </p:nvSpPr>
        <p:spPr>
          <a:xfrm xmlns:a="http://schemas.openxmlformats.org/drawingml/2006/main">
            <a:off x="6228080" y="1854200"/>
            <a:ext cx="532384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4" name="TextBox 19"/>
          <p:cNvSpPr txBox="1"/>
          <p:nvPr/>
        </p:nvSpPr>
        <p:spPr>
          <a:xfrm xmlns:a="http://schemas.openxmlformats.org/drawingml/2006/main">
            <a:off x="6532880" y="2057400"/>
            <a:ext cx="457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50" b="1" spc="200">
                <a:solidFill>
                  <a:srgbClr val="E01C4C"/>
                </a:solidFill>
                <a:latin typeface="Poppins"/>
                <a:ea typeface="Poppins"/>
              </a:rPr>
              <a:t>B2B  ·  LOJISTA</a:t>
            </a:r>
          </a:p>
        </p:txBody>
      </p:sp>
      <p:sp>
        <p:nvSpPr>
          <p:cNvPr id="100175" name="TextBox 20"/>
          <p:cNvSpPr txBox="1"/>
          <p:nvPr/>
        </p:nvSpPr>
        <p:spPr>
          <a:xfrm xmlns:a="http://schemas.openxmlformats.org/drawingml/2006/main">
            <a:off x="6532880" y="24638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Loja pronta pro Natal</a:t>
            </a:r>
          </a:p>
        </p:txBody>
      </p:sp>
      <p:sp>
        <p:nvSpPr>
          <p:cNvPr id="100176" name="TextBox 21"/>
          <p:cNvSpPr txBox="1"/>
          <p:nvPr/>
        </p:nvSpPr>
        <p:spPr>
          <a:xfrm xmlns:a="http://schemas.openxmlformats.org/drawingml/2006/main">
            <a:off x="9707880" y="2463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01C4C"/>
                </a:solidFill>
                <a:latin typeface="Poppins"/>
                <a:ea typeface="Poppins"/>
              </a:rPr>
              <a:t>15/10 a 30/11</a:t>
            </a:r>
          </a:p>
        </p:txBody>
      </p:sp>
      <p:sp>
        <p:nvSpPr>
          <p:cNvPr id="100177" name="TextBox 22"/>
          <p:cNvSpPr txBox="1"/>
          <p:nvPr/>
        </p:nvSpPr>
        <p:spPr>
          <a:xfrm xmlns:a="http://schemas.openxmlformats.org/drawingml/2006/main">
            <a:off x="6532880" y="26797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quem quer vender no Natal decide em outubro</a:t>
            </a:r>
          </a:p>
        </p:txBody>
      </p:sp>
      <p:sp>
        <p:nvSpPr>
          <p:cNvPr id="100178" name="TextBox 23"/>
          <p:cNvSpPr txBox="1"/>
          <p:nvPr/>
        </p:nvSpPr>
        <p:spPr>
          <a:xfrm xmlns:a="http://schemas.openxmlformats.org/drawingml/2006/main">
            <a:off x="6532880" y="30734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Comece o ano no ponto certo</a:t>
            </a:r>
          </a:p>
        </p:txBody>
      </p:sp>
      <p:sp>
        <p:nvSpPr>
          <p:cNvPr id="100179" name="TextBox 24"/>
          <p:cNvSpPr txBox="1"/>
          <p:nvPr/>
        </p:nvSpPr>
        <p:spPr>
          <a:xfrm xmlns:a="http://schemas.openxmlformats.org/drawingml/2006/main">
            <a:off x="9707880" y="307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01C4C"/>
                </a:solidFill>
                <a:latin typeface="Poppins"/>
                <a:ea typeface="Poppins"/>
              </a:rPr>
              <a:t>05/01 a 20/02</a:t>
            </a:r>
          </a:p>
        </p:txBody>
      </p:sp>
      <p:sp>
        <p:nvSpPr>
          <p:cNvPr id="100180" name="TextBox 25"/>
          <p:cNvSpPr txBox="1"/>
          <p:nvPr/>
        </p:nvSpPr>
        <p:spPr>
          <a:xfrm xmlns:a="http://schemas.openxmlformats.org/drawingml/2006/main">
            <a:off x="6532880" y="32893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janeiro é quando o ponto vaga e o lojista decide o ano</a:t>
            </a:r>
          </a:p>
        </p:txBody>
      </p:sp>
      <p:sp>
        <p:nvSpPr>
          <p:cNvPr id="100181" name="TextBox 26"/>
          <p:cNvSpPr txBox="1"/>
          <p:nvPr/>
        </p:nvSpPr>
        <p:spPr>
          <a:xfrm xmlns:a="http://schemas.openxmlformats.org/drawingml/2006/main">
            <a:off x="6532880" y="36830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Dezembro</a:t>
            </a:r>
          </a:p>
        </p:txBody>
      </p:sp>
      <p:sp>
        <p:nvSpPr>
          <p:cNvPr id="100182" name="TextBox 27"/>
          <p:cNvSpPr txBox="1"/>
          <p:nvPr/>
        </p:nvSpPr>
        <p:spPr>
          <a:xfrm xmlns:a="http://schemas.openxmlformats.org/drawingml/2006/main">
            <a:off x="9707880" y="368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01C4C"/>
                </a:solidFill>
                <a:latin typeface="Poppins"/>
                <a:ea typeface="Poppins"/>
              </a:rPr>
              <a:t>vale do B2B</a:t>
            </a:r>
          </a:p>
        </p:txBody>
      </p:sp>
      <p:sp>
        <p:nvSpPr>
          <p:cNvPr id="100183" name="TextBox 28"/>
          <p:cNvSpPr txBox="1"/>
          <p:nvPr/>
        </p:nvSpPr>
        <p:spPr>
          <a:xfrm xmlns:a="http://schemas.openxmlformats.org/drawingml/2006/main">
            <a:off x="6532880" y="38989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o lojista está dentro da própria loja vendendo</a:t>
            </a:r>
          </a:p>
        </p:txBody>
      </p:sp>
      <p:sp>
        <p:nvSpPr>
          <p:cNvPr id="100184" name="TextBox 29"/>
          <p:cNvSpPr/>
          <p:nvPr/>
        </p:nvSpPr>
        <p:spPr>
          <a:xfrm xmlns:a="http://schemas.openxmlformats.org/drawingml/2006/main">
            <a:off x="64008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5" name="TextBox 30"/>
          <p:cNvSpPr txBox="1"/>
          <p:nvPr/>
        </p:nvSpPr>
        <p:spPr>
          <a:xfrm xmlns:a="http://schemas.openxmlformats.org/drawingml/2006/main">
            <a:off x="894080" y="538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MÍNIMO DE 15 DIAS NO AR</a:t>
            </a:r>
          </a:p>
        </p:txBody>
      </p:sp>
      <p:sp>
        <p:nvSpPr>
          <p:cNvPr id="100186" name="TextBox 31"/>
          <p:cNvSpPr txBox="1"/>
          <p:nvPr/>
        </p:nvSpPr>
        <p:spPr>
          <a:xfrm xmlns:a="http://schemas.openxmlformats.org/drawingml/2006/main">
            <a:off x="894080" y="56388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950">
                <a:solidFill>
                  <a:srgbClr val="FFFFFF"/>
                </a:solidFill>
                <a:latin typeface="Poppins"/>
                <a:ea typeface="Poppins"/>
              </a:rPr>
              <a:t>Toda campanha de data entra com pelo menos 15 dias. Abaixo disso ela não sai da fase de aprendizado, e o resultado não serve nem para o mês nem para comparar com o ano seguinte.</a:t>
            </a:r>
          </a:p>
        </p:txBody>
      </p:sp>
      <p:sp>
        <p:nvSpPr>
          <p:cNvPr id="100187" name="TextBox 32"/>
          <p:cNvSpPr/>
          <p:nvPr/>
        </p:nvSpPr>
        <p:spPr>
          <a:xfrm xmlns:a="http://schemas.openxmlformats.org/drawingml/2006/main">
            <a:off x="436245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8" name="TextBox 33"/>
          <p:cNvSpPr txBox="1"/>
          <p:nvPr/>
        </p:nvSpPr>
        <p:spPr>
          <a:xfrm xmlns:a="http://schemas.openxmlformats.org/drawingml/2006/main">
            <a:off x="4616450" y="538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O CAMINHO MAIS CURTO</a:t>
            </a:r>
          </a:p>
        </p:txBody>
      </p:sp>
      <p:sp>
        <p:nvSpPr>
          <p:cNvPr id="100189" name="TextBox 34"/>
          <p:cNvSpPr txBox="1"/>
          <p:nvPr/>
        </p:nvSpPr>
        <p:spPr>
          <a:xfrm xmlns:a="http://schemas.openxmlformats.org/drawingml/2006/main">
            <a:off x="4616450" y="56388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950">
                <a:solidFill>
                  <a:srgbClr val="FFFFFF"/>
                </a:solidFill>
                <a:latin typeface="Poppins"/>
                <a:ea typeface="Poppins"/>
              </a:rPr>
              <a:t>Adaptar para o pago os momentos que o orgânico já trabalha bem nessas datas. Aproveita o que já existe e não abre uma frente de produção nova.</a:t>
            </a:r>
          </a:p>
        </p:txBody>
      </p:sp>
      <p:sp>
        <p:nvSpPr>
          <p:cNvPr id="100190" name="TextBox 35"/>
          <p:cNvSpPr/>
          <p:nvPr/>
        </p:nvSpPr>
        <p:spPr>
          <a:xfrm xmlns:a="http://schemas.openxmlformats.org/drawingml/2006/main">
            <a:off x="808482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1" name="TextBox 36"/>
          <p:cNvSpPr txBox="1"/>
          <p:nvPr/>
        </p:nvSpPr>
        <p:spPr>
          <a:xfrm xmlns:a="http://schemas.openxmlformats.org/drawingml/2006/main">
            <a:off x="8338820" y="538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O AVISO DE NOVEMBRO</a:t>
            </a:r>
          </a:p>
        </p:txBody>
      </p:sp>
      <p:sp>
        <p:nvSpPr>
          <p:cNvPr id="100192" name="TextBox 37"/>
          <p:cNvSpPr txBox="1"/>
          <p:nvPr/>
        </p:nvSpPr>
        <p:spPr>
          <a:xfrm xmlns:a="http://schemas.openxmlformats.org/drawingml/2006/main">
            <a:off x="8338820" y="56388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950">
                <a:solidFill>
                  <a:srgbClr val="FFFFFF"/>
                </a:solidFill>
                <a:latin typeface="Poppins"/>
                <a:ea typeface="Poppins"/>
              </a:rPr>
              <a:t>Novembro é o mês mais caro do ano em mídia. Com a mesma verba, o alcance tende a cair. Vale combinar isso antes, para lermos o mês pela régua certa.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3652"/>
        </a:solidFill>
      </p:bgPr>
    </p:bg>
    <p:spTree>
      <p:nvGrpSpPr>
        <p:cNvPr id="1" name=""/>
        <p:cNvGrpSpPr/>
        <p:nvPr/>
      </p:nvGrpSpPr>
      <p:grpSpPr/>
      <p:sp>
        <p:nvSpPr>
          <p:cNvPr id="100193" name="TextBox 1"/>
          <p:cNvSpPr/>
          <p:nvPr/>
        </p:nvSpPr>
        <p:spPr>
          <a:xfrm xmlns:a="http://schemas.openxmlformats.org/drawingml/2006/main">
            <a:off x="0" y="0"/>
            <a:ext cx="3200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4" name="TextBox 2"/>
          <p:cNvSpPr txBox="1"/>
          <p:nvPr/>
        </p:nvSpPr>
        <p:spPr>
          <a:xfrm xmlns:a="http://schemas.openxmlformats.org/drawingml/2006/main">
            <a:off x="822960" y="43180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EM RESUMO</a:t>
            </a:r>
          </a:p>
        </p:txBody>
      </p:sp>
      <p:sp>
        <p:nvSpPr>
          <p:cNvPr id="100195" name="TextBox 3"/>
          <p:cNvSpPr txBox="1"/>
          <p:nvPr/>
        </p:nvSpPr>
        <p:spPr>
          <a:xfrm xmlns:a="http://schemas.openxmlformats.org/drawingml/2006/main">
            <a:off x="822960" y="78740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Julho entregou, agosto ajusta e mede, o ano já tem caminho</a:t>
            </a:r>
          </a:p>
        </p:txBody>
      </p:sp>
      <p:sp>
        <p:nvSpPr>
          <p:cNvPr id="100196" name="TextBox 4"/>
          <p:cNvSpPr/>
          <p:nvPr/>
        </p:nvSpPr>
        <p:spPr>
          <a:xfrm xmlns:a="http://schemas.openxmlformats.org/drawingml/2006/main">
            <a:off x="822960" y="1498600"/>
            <a:ext cx="3365500" cy="1320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47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7" name="TextBox 5"/>
          <p:cNvSpPr txBox="1"/>
          <p:nvPr/>
        </p:nvSpPr>
        <p:spPr>
          <a:xfrm xmlns:a="http://schemas.openxmlformats.org/drawingml/2006/main">
            <a:off x="1076960" y="16510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B2C</a:t>
            </a:r>
          </a:p>
        </p:txBody>
      </p:sp>
      <p:sp>
        <p:nvSpPr>
          <p:cNvPr id="100198" name="TextBox 6"/>
          <p:cNvSpPr txBox="1"/>
          <p:nvPr/>
        </p:nvSpPr>
        <p:spPr>
          <a:xfrm xmlns:a="http://schemas.openxmlformats.org/drawingml/2006/main">
            <a:off x="1076960" y="1905000"/>
            <a:ext cx="2895600" cy="78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1,08 mi de pessoas alcançadas em 21 dias, a um custo por mil 19% menor que junho</a:t>
            </a:r>
          </a:p>
        </p:txBody>
      </p:sp>
      <p:sp>
        <p:nvSpPr>
          <p:cNvPr id="100199" name="TextBox 7"/>
          <p:cNvSpPr/>
          <p:nvPr/>
        </p:nvSpPr>
        <p:spPr>
          <a:xfrm xmlns:a="http://schemas.openxmlformats.org/drawingml/2006/main">
            <a:off x="4442460" y="1498600"/>
            <a:ext cx="3365500" cy="1320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47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0" name="TextBox 8"/>
          <p:cNvSpPr txBox="1"/>
          <p:nvPr/>
        </p:nvSpPr>
        <p:spPr>
          <a:xfrm xmlns:a="http://schemas.openxmlformats.org/drawingml/2006/main">
            <a:off x="4696460" y="16510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B2B</a:t>
            </a:r>
          </a:p>
        </p:txBody>
      </p:sp>
      <p:sp>
        <p:nvSpPr>
          <p:cNvPr id="100201" name="TextBox 9"/>
          <p:cNvSpPr txBox="1"/>
          <p:nvPr/>
        </p:nvSpPr>
        <p:spPr>
          <a:xfrm xmlns:a="http://schemas.openxmlformats.org/drawingml/2006/main">
            <a:off x="4696460" y="1905000"/>
            <a:ext cx="2895600" cy="78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121 leads a R$ 33,41, com o custo por lead 30% abaixo de junho</a:t>
            </a:r>
          </a:p>
        </p:txBody>
      </p:sp>
      <p:sp>
        <p:nvSpPr>
          <p:cNvPr id="100202" name="TextBox 10"/>
          <p:cNvSpPr/>
          <p:nvPr/>
        </p:nvSpPr>
        <p:spPr>
          <a:xfrm xmlns:a="http://schemas.openxmlformats.org/drawingml/2006/main">
            <a:off x="8061960" y="1498600"/>
            <a:ext cx="3365500" cy="1320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47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3" name="TextBox 11"/>
          <p:cNvSpPr txBox="1"/>
          <p:nvPr/>
        </p:nvSpPr>
        <p:spPr>
          <a:xfrm xmlns:a="http://schemas.openxmlformats.org/drawingml/2006/main">
            <a:off x="8315960" y="16510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AGOSTO</a:t>
            </a:r>
          </a:p>
        </p:txBody>
      </p:sp>
      <p:sp>
        <p:nvSpPr>
          <p:cNvPr id="100204" name="TextBox 12"/>
          <p:cNvSpPr txBox="1"/>
          <p:nvPr/>
        </p:nvSpPr>
        <p:spPr>
          <a:xfrm xmlns:a="http://schemas.openxmlformats.org/drawingml/2006/main">
            <a:off x="8315960" y="1905000"/>
            <a:ext cx="2895600" cy="78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otimização das duas frentes e a cadeia de captura de leads fechada</a:t>
            </a:r>
          </a:p>
        </p:txBody>
      </p:sp>
      <p:sp>
        <p:nvSpPr>
          <p:cNvPr id="100205" name="TextBox 13"/>
          <p:cNvSpPr txBox="1"/>
          <p:nvPr/>
        </p:nvSpPr>
        <p:spPr>
          <a:xfrm xmlns:a="http://schemas.openxmlformats.org/drawingml/2006/main">
            <a:off x="822960" y="309880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O QUE DESTRAVA OS PRÓXIMOS MESES</a:t>
            </a:r>
          </a:p>
        </p:txBody>
      </p:sp>
      <p:sp>
        <p:nvSpPr>
          <p:cNvPr id="100206" name="TextBox 14"/>
          <p:cNvSpPr/>
          <p:nvPr/>
        </p:nvSpPr>
        <p:spPr>
          <a:xfrm xmlns:a="http://schemas.openxmlformats.org/drawingml/2006/main">
            <a:off x="822960" y="3505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7" name="TextBox 15"/>
          <p:cNvSpPr txBox="1"/>
          <p:nvPr/>
        </p:nvSpPr>
        <p:spPr>
          <a:xfrm xmlns:a="http://schemas.openxmlformats.org/drawingml/2006/main">
            <a:off x="822960" y="3505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1</a:t>
            </a:r>
          </a:p>
        </p:txBody>
      </p:sp>
      <p:sp>
        <p:nvSpPr>
          <p:cNvPr id="100208" name="TextBox 16"/>
          <p:cNvSpPr txBox="1"/>
          <p:nvPr/>
        </p:nvSpPr>
        <p:spPr>
          <a:xfrm xmlns:a="http://schemas.openxmlformats.org/drawingml/2006/main">
            <a:off x="1371600" y="3492500"/>
            <a:ext cx="35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Um fluxo de retorno do comercial</a:t>
            </a:r>
          </a:p>
        </p:txBody>
      </p:sp>
      <p:sp>
        <p:nvSpPr>
          <p:cNvPr id="100209" name="TextBox 17"/>
          <p:cNvSpPr txBox="1"/>
          <p:nvPr/>
        </p:nvSpPr>
        <p:spPr>
          <a:xfrm xmlns:a="http://schemas.openxmlformats.org/drawingml/2006/main">
            <a:off x="5029200" y="3492500"/>
            <a:ext cx="629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quais leads viram visita e quais viram contrato, de forma contínua e não pontual. É o que nos deixa otimizar por resultado, e não só por custo.</a:t>
            </a:r>
          </a:p>
        </p:txBody>
      </p:sp>
      <p:sp>
        <p:nvSpPr>
          <p:cNvPr id="100210" name="TextBox 18"/>
          <p:cNvSpPr/>
          <p:nvPr/>
        </p:nvSpPr>
        <p:spPr>
          <a:xfrm xmlns:a="http://schemas.openxmlformats.org/drawingml/2006/main">
            <a:off x="822960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1" name="TextBox 19"/>
          <p:cNvSpPr txBox="1"/>
          <p:nvPr/>
        </p:nvSpPr>
        <p:spPr>
          <a:xfrm xmlns:a="http://schemas.openxmlformats.org/drawingml/2006/main">
            <a:off x="822960" y="4191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2</a:t>
            </a:r>
          </a:p>
        </p:txBody>
      </p:sp>
      <p:sp>
        <p:nvSpPr>
          <p:cNvPr id="100212" name="TextBox 20"/>
          <p:cNvSpPr txBox="1"/>
          <p:nvPr/>
        </p:nvSpPr>
        <p:spPr>
          <a:xfrm xmlns:a="http://schemas.openxmlformats.org/drawingml/2006/main">
            <a:off x="1371600" y="4178300"/>
            <a:ext cx="35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 base histórica de 2025</a:t>
            </a:r>
          </a:p>
        </p:txBody>
      </p:sp>
      <p:sp>
        <p:nvSpPr>
          <p:cNvPr id="100213" name="TextBox 21"/>
          <p:cNvSpPr txBox="1"/>
          <p:nvPr/>
        </p:nvSpPr>
        <p:spPr>
          <a:xfrm xmlns:a="http://schemas.openxmlformats.org/drawingml/2006/main">
            <a:off x="5029200" y="4178300"/>
            <a:ext cx="629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eu levanto Meta, Google e contador de fluxo até 31/08. É o que dá base de comparação para a Black Friday e o Natal.</a:t>
            </a:r>
          </a:p>
        </p:txBody>
      </p:sp>
      <p:sp>
        <p:nvSpPr>
          <p:cNvPr id="100214" name="TextBox 22"/>
          <p:cNvSpPr/>
          <p:nvPr/>
        </p:nvSpPr>
        <p:spPr>
          <a:xfrm xmlns:a="http://schemas.openxmlformats.org/drawingml/2006/main">
            <a:off x="822960" y="4876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5" name="TextBox 23"/>
          <p:cNvSpPr txBox="1"/>
          <p:nvPr/>
        </p:nvSpPr>
        <p:spPr>
          <a:xfrm xmlns:a="http://schemas.openxmlformats.org/drawingml/2006/main">
            <a:off x="822960" y="4876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3</a:t>
            </a:r>
          </a:p>
        </p:txBody>
      </p:sp>
      <p:sp>
        <p:nvSpPr>
          <p:cNvPr id="100216" name="TextBox 24"/>
          <p:cNvSpPr txBox="1"/>
          <p:nvPr/>
        </p:nvSpPr>
        <p:spPr>
          <a:xfrm xmlns:a="http://schemas.openxmlformats.org/drawingml/2006/main">
            <a:off x="1371600" y="4864100"/>
            <a:ext cx="35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As datas combinadas com antecedência</a:t>
            </a:r>
          </a:p>
        </p:txBody>
      </p:sp>
      <p:sp>
        <p:nvSpPr>
          <p:cNvPr id="100217" name="TextBox 25"/>
          <p:cNvSpPr txBox="1"/>
          <p:nvPr/>
        </p:nvSpPr>
        <p:spPr>
          <a:xfrm xmlns:a="http://schemas.openxmlformats.org/drawingml/2006/main">
            <a:off x="5029200" y="4864100"/>
            <a:ext cx="629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quanto antes fecharmos o calendário, mais fácil encaixar na fila de todo mundo e garantir os 15 dias mínimos no ar.</a:t>
            </a:r>
          </a:p>
        </p:txBody>
      </p:sp>
      <p:sp>
        <p:nvSpPr>
          <p:cNvPr id="100218" name="TextBox 26"/>
          <p:cNvSpPr/>
          <p:nvPr/>
        </p:nvSpPr>
        <p:spPr>
          <a:xfrm xmlns:a="http://schemas.openxmlformats.org/drawingml/2006/main">
            <a:off x="822960" y="5562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9" name="TextBox 27"/>
          <p:cNvSpPr txBox="1"/>
          <p:nvPr/>
        </p:nvSpPr>
        <p:spPr>
          <a:xfrm xmlns:a="http://schemas.openxmlformats.org/drawingml/2006/main">
            <a:off x="822960" y="5562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4</a:t>
            </a:r>
          </a:p>
        </p:txBody>
      </p:sp>
      <p:sp>
        <p:nvSpPr>
          <p:cNvPr id="100220" name="TextBox 28"/>
          <p:cNvSpPr txBox="1"/>
          <p:nvPr/>
        </p:nvSpPr>
        <p:spPr>
          <a:xfrm xmlns:a="http://schemas.openxmlformats.org/drawingml/2006/main">
            <a:off x="1371600" y="5549900"/>
            <a:ext cx="35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 limpeza do site</a:t>
            </a:r>
          </a:p>
        </p:txBody>
      </p:sp>
      <p:sp>
        <p:nvSpPr>
          <p:cNvPr id="100221" name="TextBox 29"/>
          <p:cNvSpPr txBox="1"/>
          <p:nvPr/>
        </p:nvSpPr>
        <p:spPr>
          <a:xfrm xmlns:a="http://schemas.openxmlformats.org/drawingml/2006/main">
            <a:off x="5029200" y="5549900"/>
            <a:ext cx="629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o site do grupo está com injeção de spam de apostas, o que gera risco de política no Google Ads. Vale endereçar com quem mantém o site e o RD Station.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2026-07-24T15:15:15Z</dcterms:created>
  <cp:lastModifiedBy>OfficeCLI</cp:lastModifiedBy>
  <dcterms:modified xsi:type="dcterms:W3CDTF">2026-07-24T15:15:15Z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1.0.141</vt:lpwstr>
  </op:property>
  <op:property fmtid="{D5CDD505-2E9C-101B-9397-08002B2CF9AE}" pid="3" name="OfficeCLI.LastModified">
    <vt:lpwstr xmlns:vt="http://schemas.openxmlformats.org/officeDocument/2006/docPropsVTypes">2026-07-24T15:15:20Z</vt:lpwstr>
  </op:property>
</op:Properties>
</file>