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3b8fdd649524c8e" /><Relationship Type="http://schemas.openxmlformats.org/package/2006/relationships/metadata/core-properties" Target="/docProps/core.xml" Id="R8d66d0e07c994cde" /><Relationship Type="http://schemas.openxmlformats.org/officeDocument/2006/relationships/extended-properties" Target="/docProps/app.xml" Id="Re0ea812cdd744acd" /><Relationship Type="http://schemas.openxmlformats.org/officeDocument/2006/relationships/custom-properties" Target="/docProps/custom.xml" Id="Rdb74361a5c9445f7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ada4df2810ec456f"/>
    <p:sldId id="257" r:id="R470d3be7869f4d37"/>
    <p:sldId id="258" r:id="Rbbc0e65548264deb"/>
    <p:sldId id="259" r:id="R63d6a588d6094469"/>
    <p:sldId id="260" r:id="R86476b71e2e04828"/>
    <p:sldId id="261" r:id="R48e0e2c0da254b92"/>
    <p:sldId id="262" r:id="Rdc80c1e339be454c"/>
    <p:sldId id="263" r:id="R8f40f4fed5d64286"/>
    <p:sldId id="264" r:id="R4fb583be0bee4af4"/>
    <p:sldId id="265" r:id="R893531088b204b5b"/>
    <p:sldId id="266" r:id="R952513a5af5c4c7b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ada4df2810ec456f" /><Relationship Type="http://schemas.openxmlformats.org/officeDocument/2006/relationships/slide" Target="/ppt/slides/slide2.xml" Id="R470d3be7869f4d37" /><Relationship Type="http://schemas.openxmlformats.org/officeDocument/2006/relationships/slide" Target="/ppt/slides/slide3.xml" Id="Rbbc0e65548264deb" /><Relationship Type="http://schemas.openxmlformats.org/officeDocument/2006/relationships/slide" Target="/ppt/slides/slide4.xml" Id="R63d6a588d6094469" /><Relationship Type="http://schemas.openxmlformats.org/officeDocument/2006/relationships/slide" Target="/ppt/slides/slide5.xml" Id="R86476b71e2e04828" /><Relationship Type="http://schemas.openxmlformats.org/officeDocument/2006/relationships/slide" Target="/ppt/slides/slide6.xml" Id="R48e0e2c0da254b92" /><Relationship Type="http://schemas.openxmlformats.org/officeDocument/2006/relationships/slide" Target="/ppt/slides/slide7.xml" Id="Rdc80c1e339be454c" /><Relationship Type="http://schemas.openxmlformats.org/officeDocument/2006/relationships/slide" Target="/ppt/slides/slide8.xml" Id="R8f40f4fed5d64286" /><Relationship Type="http://schemas.openxmlformats.org/officeDocument/2006/relationships/slide" Target="/ppt/slides/slide9.xml" Id="R4fb583be0bee4af4" /><Relationship Type="http://schemas.openxmlformats.org/officeDocument/2006/relationships/slide" Target="/ppt/slides/slide10.xml" Id="R893531088b204b5b" /><Relationship Type="http://schemas.openxmlformats.org/officeDocument/2006/relationships/slide" Target="/ppt/slides/slide11.xml" Id="R952513a5af5c4c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Capa. Tom de alinhamento. Junho x Julho, agosto e a visao ate dezembro.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Contexto. Reguas diferentes, frentes sempre separadas.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B2C. Escopo definido mais tempo de performar entrega resultado.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B2B. A campanha nova ainda nao subiu: roda estrutura herdada.</a:t>
            </a:r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didatico. Explica para que serve cada campanha para a gestao decidir. Nunca acusar: o quadro existe para eles escolherem.</a:t>
            </a:r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Turbinar SOMENTE julho. A tese: verba e divisao ficaram onde o plano previu; o que dobrou foi a quantidade de pecas. Zero culpado, zero acusacao.</a:t>
            </a:r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Agosto B2C. Nao cria estrutura nova. NAO citar contador de fluxo como promessa.</a:t>
            </a:r>
          </a:p>
        </p:txBody>
      </p:sp>
    </p:spTree>
  </p:cSld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Agosto B2B. Um entregavel por semana. Google gasta pouco por opcao consciente.</a:t>
            </a:r>
          </a:p>
        </p:txBody>
      </p:sp>
    </p:spTree>
  </p:cSld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SUGESTAO, nao pedido. Regra dos 15 dias minimos. Se nao agradar, sai.</a:t>
            </a:r>
          </a:p>
        </p:txBody>
      </p:sp>
    </p:spTree>
  </p:cSld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Fecho. O que destrava os proximos meses, em tom de colaboracao.</a:t>
            </a:r>
          </a:p>
        </p:txBody>
      </p:sp>
    </p:spTree>
  </p:cSld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ANEXO. So abrir se pedirem o detalhe. Somente julho/2026.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f1730f827a4c5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3680c9bb8f48b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aa2c4e9b2d4eb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8638a8a4694ed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ca7b84b3d5473c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d3b8af226e5944cc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50ee3983e4ce3" /><Relationship Type="http://schemas.openxmlformats.org/officeDocument/2006/relationships/notesSlide" Target="/ppt/notesSlides/notesSlide1.xml" Id="Re0534cd607034b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329270a9e4df1" /><Relationship Type="http://schemas.openxmlformats.org/officeDocument/2006/relationships/notesSlide" Target="/ppt/notesSlides/notesSlide2.xml" Id="Rd1a0a26ce22a4a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ca88d5be9488b" /><Relationship Type="http://schemas.openxmlformats.org/officeDocument/2006/relationships/notesSlide" Target="/ppt/notesSlides/notesSlide3.xml" Id="R2075d12836174b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95ff1d8e34f80" /><Relationship Type="http://schemas.openxmlformats.org/officeDocument/2006/relationships/notesSlide" Target="/ppt/notesSlides/notesSlide4.xml" Id="R9b7473ae7b194b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c320ad3804f06" /><Relationship Type="http://schemas.openxmlformats.org/officeDocument/2006/relationships/notesSlide" Target="/ppt/notesSlides/notesSlide5.xml" Id="Rad1a8d6fb5df45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3b7db87b64bdd" /><Relationship Type="http://schemas.openxmlformats.org/officeDocument/2006/relationships/notesSlide" Target="/ppt/notesSlides/notesSlide6.xml" Id="Rc9eefa53d4114f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3561672784f56" /><Relationship Type="http://schemas.openxmlformats.org/officeDocument/2006/relationships/notesSlide" Target="/ppt/notesSlides/notesSlide7.xml" Id="R4e85b826c8ad4a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ed0c37765470e" /><Relationship Type="http://schemas.openxmlformats.org/officeDocument/2006/relationships/notesSlide" Target="/ppt/notesSlides/notesSlide8.xml" Id="Rcbe604a028a14b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6dd979da6434a" /><Relationship Type="http://schemas.openxmlformats.org/officeDocument/2006/relationships/notesSlide" Target="/ppt/notesSlides/notesSlide9.xml" Id="R25429f7796174b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88791bb3c45a7" /><Relationship Type="http://schemas.openxmlformats.org/officeDocument/2006/relationships/notesSlide" Target="/ppt/notesSlides/notesSlide10.xml" Id="R2b329908865d4f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6778fb11a4f80" /><Relationship Type="http://schemas.openxmlformats.org/officeDocument/2006/relationships/notesSlide" Target="/ppt/notesSlides/notesSlide11.xml" Id="R79f048fd7cd844fd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93652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0" y="0"/>
            <a:ext cx="32004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C4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822960" y="64008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300" b="1" spc="300">
                <a:solidFill>
                  <a:srgbClr val="1DAFE0"/>
                </a:solidFill>
                <a:latin typeface="Poppins"/>
                <a:ea typeface="Poppins"/>
              </a:rPr>
              <a:t>SHOPPING CIDADE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822960" y="1905000"/>
            <a:ext cx="10515600" cy="736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FFFFFF"/>
                </a:solidFill>
                <a:latin typeface="Poppins"/>
                <a:ea typeface="Poppins"/>
              </a:rPr>
              <a:t>ALINHAMENTO DE MÍDIA PAGA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822960" y="2743200"/>
            <a:ext cx="10515600" cy="43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E6E7E7"/>
                </a:solidFill>
                <a:latin typeface="Poppins"/>
                <a:ea typeface="Poppins"/>
              </a:rPr>
              <a:t>Junho × Julho  ·  Agosto em plano  ·  Visão até dezembro</a:t>
            </a:r>
          </a:p>
        </p:txBody>
      </p:sp>
      <p:sp>
        <p:nvSpPr>
          <p:cNvPr id="100004" name="TextBox 5"/>
          <p:cNvSpPr txBox="1"/>
          <p:nvPr/>
        </p:nvSpPr>
        <p:spPr>
          <a:xfrm xmlns:a="http://schemas.openxmlformats.org/drawingml/2006/main">
            <a:off x="822960" y="5303520"/>
            <a:ext cx="1051560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500" b="1">
                <a:solidFill>
                  <a:srgbClr val="FC496C"/>
                </a:solidFill>
                <a:latin typeface="Poppins"/>
                <a:ea typeface="Poppins"/>
              </a:rPr>
              <a:t>B2C (fluxo)  ·  B2B (leads)</a:t>
            </a:r>
          </a:p>
        </p:txBody>
      </p:sp>
      <p:sp>
        <p:nvSpPr>
          <p:cNvPr id="100005" name="TextBox 6"/>
          <p:cNvSpPr txBox="1"/>
          <p:nvPr/>
        </p:nvSpPr>
        <p:spPr>
          <a:xfrm xmlns:a="http://schemas.openxmlformats.org/drawingml/2006/main">
            <a:off x="822960" y="5740400"/>
            <a:ext cx="10515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8FA6B5"/>
                </a:solidFill>
                <a:latin typeface="Poppins"/>
                <a:ea typeface="Poppins"/>
              </a:rPr>
              <a:t>Meta Ads e Google Ads · dados até 21/07/2026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6" name="TextBox 1"/>
          <p:cNvSpPr txBox="1"/>
          <p:nvPr/>
        </p:nvSpPr>
        <p:spPr>
          <a:xfrm xmlns:a="http://schemas.openxmlformats.org/drawingml/2006/main">
            <a:off x="640080" y="431800"/>
            <a:ext cx="1091184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 spc="200">
                <a:solidFill>
                  <a:srgbClr val="E01C4C"/>
                </a:solidFill>
                <a:latin typeface="Poppins"/>
                <a:ea typeface="Poppins"/>
              </a:rPr>
              <a:t>AS DUAS FRENTES</a:t>
            </a:r>
          </a:p>
        </p:txBody>
      </p:sp>
      <p:sp>
        <p:nvSpPr>
          <p:cNvPr id="100007" name="TextBox 2"/>
          <p:cNvSpPr txBox="1"/>
          <p:nvPr/>
        </p:nvSpPr>
        <p:spPr>
          <a:xfrm xmlns:a="http://schemas.openxmlformats.org/drawingml/2006/main">
            <a:off x="640080" y="812800"/>
            <a:ext cx="1091184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3000" b="1">
                <a:solidFill>
                  <a:srgbClr val="093652"/>
                </a:solidFill>
                <a:latin typeface="Poppins"/>
                <a:ea typeface="Poppins"/>
              </a:rPr>
              <a:t>Duas operações na mesma conta, com réguas diferentes</a:t>
            </a:r>
          </a:p>
        </p:txBody>
      </p:sp>
      <p:sp>
        <p:nvSpPr>
          <p:cNvPr id="100008" name="TextBox 3"/>
          <p:cNvSpPr txBox="1"/>
          <p:nvPr/>
        </p:nvSpPr>
        <p:spPr>
          <a:xfrm xmlns:a="http://schemas.openxmlformats.org/drawingml/2006/main">
            <a:off x="640080" y="1397000"/>
            <a:ext cx="1091184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4A5568"/>
                </a:solidFill>
                <a:latin typeface="Poppins"/>
                <a:ea typeface="Poppins"/>
              </a:rPr>
              <a:t>Por verba, a frente principal é o B2C. Por criticidade de resultado, é o B2B.</a:t>
            </a:r>
          </a:p>
        </p:txBody>
      </p:sp>
      <p:sp>
        <p:nvSpPr>
          <p:cNvPr id="100009" name="TextBox 4"/>
          <p:cNvSpPr/>
          <p:nvPr/>
        </p:nvSpPr>
        <p:spPr>
          <a:xfrm xmlns:a="http://schemas.openxmlformats.org/drawingml/2006/main">
            <a:off x="640080" y="1905000"/>
            <a:ext cx="5323840" cy="3657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0" name="TextBox 5"/>
          <p:cNvSpPr txBox="1"/>
          <p:nvPr/>
        </p:nvSpPr>
        <p:spPr>
          <a:xfrm xmlns:a="http://schemas.openxmlformats.org/drawingml/2006/main">
            <a:off x="970280" y="2133600"/>
            <a:ext cx="4572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300" b="1" spc="200">
                <a:solidFill>
                  <a:srgbClr val="157DBF"/>
                </a:solidFill>
                <a:latin typeface="Poppins"/>
                <a:ea typeface="Poppins"/>
              </a:rPr>
              <a:t>B2C  ·  CONSUMIDOR</a:t>
            </a:r>
          </a:p>
        </p:txBody>
      </p:sp>
      <p:sp>
        <p:nvSpPr>
          <p:cNvPr id="100011" name="TextBox 6"/>
          <p:cNvSpPr txBox="1"/>
          <p:nvPr/>
        </p:nvSpPr>
        <p:spPr>
          <a:xfrm xmlns:a="http://schemas.openxmlformats.org/drawingml/2006/main">
            <a:off x="970280" y="2565400"/>
            <a:ext cx="457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Objetivo</a:t>
            </a:r>
          </a:p>
        </p:txBody>
      </p:sp>
      <p:sp>
        <p:nvSpPr>
          <p:cNvPr id="100012" name="TextBox 7"/>
          <p:cNvSpPr txBox="1"/>
          <p:nvPr/>
        </p:nvSpPr>
        <p:spPr>
          <a:xfrm xmlns:a="http://schemas.openxmlformats.org/drawingml/2006/main">
            <a:off x="970280" y="2768600"/>
            <a:ext cx="4673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Fluxo de pessoas no shopping</a:t>
            </a:r>
          </a:p>
        </p:txBody>
      </p:sp>
      <p:sp>
        <p:nvSpPr>
          <p:cNvPr id="100013" name="TextBox 8"/>
          <p:cNvSpPr txBox="1"/>
          <p:nvPr/>
        </p:nvSpPr>
        <p:spPr>
          <a:xfrm xmlns:a="http://schemas.openxmlformats.org/drawingml/2006/main">
            <a:off x="970280" y="3175000"/>
            <a:ext cx="457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Métrica de hoje</a:t>
            </a:r>
          </a:p>
        </p:txBody>
      </p:sp>
      <p:sp>
        <p:nvSpPr>
          <p:cNvPr id="100014" name="TextBox 9"/>
          <p:cNvSpPr txBox="1"/>
          <p:nvPr/>
        </p:nvSpPr>
        <p:spPr>
          <a:xfrm xmlns:a="http://schemas.openxmlformats.org/drawingml/2006/main">
            <a:off x="970280" y="3378200"/>
            <a:ext cx="4673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Alcance (régua definida na última reunião)</a:t>
            </a:r>
          </a:p>
        </p:txBody>
      </p:sp>
      <p:sp>
        <p:nvSpPr>
          <p:cNvPr id="100015" name="TextBox 10"/>
          <p:cNvSpPr txBox="1"/>
          <p:nvPr/>
        </p:nvSpPr>
        <p:spPr>
          <a:xfrm xmlns:a="http://schemas.openxmlformats.org/drawingml/2006/main">
            <a:off x="970280" y="3784600"/>
            <a:ext cx="457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Verba Meta</a:t>
            </a:r>
          </a:p>
        </p:txBody>
      </p:sp>
      <p:sp>
        <p:nvSpPr>
          <p:cNvPr id="100016" name="TextBox 11"/>
          <p:cNvSpPr txBox="1"/>
          <p:nvPr/>
        </p:nvSpPr>
        <p:spPr>
          <a:xfrm xmlns:a="http://schemas.openxmlformats.org/drawingml/2006/main">
            <a:off x="970280" y="3987800"/>
            <a:ext cx="4673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R$ 20.000 / mês</a:t>
            </a:r>
          </a:p>
        </p:txBody>
      </p:sp>
      <p:sp>
        <p:nvSpPr>
          <p:cNvPr id="100017" name="TextBox 12"/>
          <p:cNvSpPr txBox="1"/>
          <p:nvPr/>
        </p:nvSpPr>
        <p:spPr>
          <a:xfrm xmlns:a="http://schemas.openxmlformats.org/drawingml/2006/main">
            <a:off x="970280" y="4394200"/>
            <a:ext cx="457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Verba Google</a:t>
            </a:r>
          </a:p>
        </p:txBody>
      </p:sp>
      <p:sp>
        <p:nvSpPr>
          <p:cNvPr id="100018" name="TextBox 13"/>
          <p:cNvSpPr txBox="1"/>
          <p:nvPr/>
        </p:nvSpPr>
        <p:spPr>
          <a:xfrm xmlns:a="http://schemas.openxmlformats.org/drawingml/2006/main">
            <a:off x="970280" y="4597400"/>
            <a:ext cx="4673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R$ 5.000 / mês</a:t>
            </a:r>
          </a:p>
        </p:txBody>
      </p:sp>
      <p:sp>
        <p:nvSpPr>
          <p:cNvPr id="100019" name="TextBox 14"/>
          <p:cNvSpPr txBox="1"/>
          <p:nvPr/>
        </p:nvSpPr>
        <p:spPr>
          <a:xfrm xmlns:a="http://schemas.openxmlformats.org/drawingml/2006/main">
            <a:off x="970280" y="5003800"/>
            <a:ext cx="457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Ciclo até o resultado</a:t>
            </a:r>
          </a:p>
        </p:txBody>
      </p:sp>
      <p:sp>
        <p:nvSpPr>
          <p:cNvPr id="100020" name="TextBox 15"/>
          <p:cNvSpPr txBox="1"/>
          <p:nvPr/>
        </p:nvSpPr>
        <p:spPr>
          <a:xfrm xmlns:a="http://schemas.openxmlformats.org/drawingml/2006/main">
            <a:off x="970280" y="5207000"/>
            <a:ext cx="4673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Imediato</a:t>
            </a:r>
          </a:p>
        </p:txBody>
      </p:sp>
      <p:sp>
        <p:nvSpPr>
          <p:cNvPr id="100021" name="TextBox 16"/>
          <p:cNvSpPr/>
          <p:nvPr/>
        </p:nvSpPr>
        <p:spPr>
          <a:xfrm xmlns:a="http://schemas.openxmlformats.org/drawingml/2006/main">
            <a:off x="6228080" y="1905000"/>
            <a:ext cx="5323840" cy="3657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2" name="TextBox 17"/>
          <p:cNvSpPr txBox="1"/>
          <p:nvPr/>
        </p:nvSpPr>
        <p:spPr>
          <a:xfrm xmlns:a="http://schemas.openxmlformats.org/drawingml/2006/main">
            <a:off x="6558280" y="2133600"/>
            <a:ext cx="4572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300" b="1" spc="200">
                <a:solidFill>
                  <a:srgbClr val="E01C4C"/>
                </a:solidFill>
                <a:latin typeface="Poppins"/>
                <a:ea typeface="Poppins"/>
              </a:rPr>
              <a:t>B2B  ·  LOJISTA</a:t>
            </a:r>
          </a:p>
        </p:txBody>
      </p:sp>
      <p:sp>
        <p:nvSpPr>
          <p:cNvPr id="100023" name="TextBox 18"/>
          <p:cNvSpPr txBox="1"/>
          <p:nvPr/>
        </p:nvSpPr>
        <p:spPr>
          <a:xfrm xmlns:a="http://schemas.openxmlformats.org/drawingml/2006/main">
            <a:off x="6558280" y="2565400"/>
            <a:ext cx="457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Objetivo</a:t>
            </a:r>
          </a:p>
        </p:txBody>
      </p:sp>
      <p:sp>
        <p:nvSpPr>
          <p:cNvPr id="100024" name="TextBox 19"/>
          <p:cNvSpPr txBox="1"/>
          <p:nvPr/>
        </p:nvSpPr>
        <p:spPr>
          <a:xfrm xmlns:a="http://schemas.openxmlformats.org/drawingml/2006/main">
            <a:off x="6558280" y="2768600"/>
            <a:ext cx="4673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Leads qualificados de locação</a:t>
            </a:r>
          </a:p>
        </p:txBody>
      </p:sp>
      <p:sp>
        <p:nvSpPr>
          <p:cNvPr id="100025" name="TextBox 20"/>
          <p:cNvSpPr txBox="1"/>
          <p:nvPr/>
        </p:nvSpPr>
        <p:spPr>
          <a:xfrm xmlns:a="http://schemas.openxmlformats.org/drawingml/2006/main">
            <a:off x="6558280" y="3175000"/>
            <a:ext cx="457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Métrica de hoje</a:t>
            </a:r>
          </a:p>
        </p:txBody>
      </p:sp>
      <p:sp>
        <p:nvSpPr>
          <p:cNvPr id="100026" name="TextBox 21"/>
          <p:cNvSpPr txBox="1"/>
          <p:nvPr/>
        </p:nvSpPr>
        <p:spPr>
          <a:xfrm xmlns:a="http://schemas.openxmlformats.org/drawingml/2006/main">
            <a:off x="6558280" y="3378200"/>
            <a:ext cx="4673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CPL, o custo por lead</a:t>
            </a:r>
          </a:p>
        </p:txBody>
      </p:sp>
      <p:sp>
        <p:nvSpPr>
          <p:cNvPr id="100027" name="TextBox 22"/>
          <p:cNvSpPr txBox="1"/>
          <p:nvPr/>
        </p:nvSpPr>
        <p:spPr>
          <a:xfrm xmlns:a="http://schemas.openxmlformats.org/drawingml/2006/main">
            <a:off x="6558280" y="3784600"/>
            <a:ext cx="457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Verba Meta</a:t>
            </a:r>
          </a:p>
        </p:txBody>
      </p:sp>
      <p:sp>
        <p:nvSpPr>
          <p:cNvPr id="100028" name="TextBox 23"/>
          <p:cNvSpPr txBox="1"/>
          <p:nvPr/>
        </p:nvSpPr>
        <p:spPr>
          <a:xfrm xmlns:a="http://schemas.openxmlformats.org/drawingml/2006/main">
            <a:off x="6558280" y="3987800"/>
            <a:ext cx="4673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R$ 10.000 / mês</a:t>
            </a:r>
          </a:p>
        </p:txBody>
      </p:sp>
      <p:sp>
        <p:nvSpPr>
          <p:cNvPr id="100029" name="TextBox 24"/>
          <p:cNvSpPr txBox="1"/>
          <p:nvPr/>
        </p:nvSpPr>
        <p:spPr>
          <a:xfrm xmlns:a="http://schemas.openxmlformats.org/drawingml/2006/main">
            <a:off x="6558280" y="4394200"/>
            <a:ext cx="457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Verba Google</a:t>
            </a:r>
          </a:p>
        </p:txBody>
      </p:sp>
      <p:sp>
        <p:nvSpPr>
          <p:cNvPr id="100030" name="TextBox 25"/>
          <p:cNvSpPr txBox="1"/>
          <p:nvPr/>
        </p:nvSpPr>
        <p:spPr>
          <a:xfrm xmlns:a="http://schemas.openxmlformats.org/drawingml/2006/main">
            <a:off x="6558280" y="4597400"/>
            <a:ext cx="4673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R$ 15.000 / mês</a:t>
            </a:r>
          </a:p>
        </p:txBody>
      </p:sp>
      <p:sp>
        <p:nvSpPr>
          <p:cNvPr id="100031" name="TextBox 26"/>
          <p:cNvSpPr txBox="1"/>
          <p:nvPr/>
        </p:nvSpPr>
        <p:spPr>
          <a:xfrm xmlns:a="http://schemas.openxmlformats.org/drawingml/2006/main">
            <a:off x="6558280" y="5003800"/>
            <a:ext cx="457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Ciclo até o resultado</a:t>
            </a:r>
          </a:p>
        </p:txBody>
      </p:sp>
      <p:sp>
        <p:nvSpPr>
          <p:cNvPr id="100032" name="TextBox 27"/>
          <p:cNvSpPr txBox="1"/>
          <p:nvPr/>
        </p:nvSpPr>
        <p:spPr>
          <a:xfrm xmlns:a="http://schemas.openxmlformats.org/drawingml/2006/main">
            <a:off x="6558280" y="5207000"/>
            <a:ext cx="4673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Longo, de semanas a meses</a:t>
            </a:r>
          </a:p>
        </p:txBody>
      </p:sp>
      <p:sp>
        <p:nvSpPr>
          <p:cNvPr id="100033" name="TextBox 28"/>
          <p:cNvSpPr/>
          <p:nvPr/>
        </p:nvSpPr>
        <p:spPr>
          <a:xfrm xmlns:a="http://schemas.openxmlformats.org/drawingml/2006/main">
            <a:off x="640080" y="5791200"/>
            <a:ext cx="10911840" cy="711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9365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4" name="TextBox 29"/>
          <p:cNvSpPr txBox="1"/>
          <p:nvPr/>
        </p:nvSpPr>
        <p:spPr>
          <a:xfrm xmlns:a="http://schemas.openxmlformats.org/drawingml/2006/main">
            <a:off x="970280" y="5918200"/>
            <a:ext cx="10251440" cy="482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250">
                <a:solidFill>
                  <a:srgbClr val="FFFFFF"/>
                </a:solidFill>
                <a:latin typeface="Poppins"/>
                <a:ea typeface="Poppins"/>
              </a:rPr>
              <a:t>Custo por mil pessoas alcançadas e custo por lead de locação medem coisas diferentes. Por isso as duas frentes aparecem sempre separadas aqui: assim cada uma é lida pela régua que faz sentido para ela.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5" name="TextBox 1"/>
          <p:cNvSpPr txBox="1"/>
          <p:nvPr/>
        </p:nvSpPr>
        <p:spPr>
          <a:xfrm xmlns:a="http://schemas.openxmlformats.org/drawingml/2006/main">
            <a:off x="640080" y="431800"/>
            <a:ext cx="1091184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 spc="200">
                <a:solidFill>
                  <a:srgbClr val="E01C4C"/>
                </a:solidFill>
                <a:latin typeface="Poppins"/>
                <a:ea typeface="Poppins"/>
              </a:rPr>
              <a:t>RESULTADO · B2C (CONSUMIDOR)</a:t>
            </a:r>
          </a:p>
        </p:txBody>
      </p:sp>
      <p:sp>
        <p:nvSpPr>
          <p:cNvPr id="100036" name="TextBox 2"/>
          <p:cNvSpPr txBox="1"/>
          <p:nvPr/>
        </p:nvSpPr>
        <p:spPr>
          <a:xfrm xmlns:a="http://schemas.openxmlformats.org/drawingml/2006/main">
            <a:off x="640080" y="812800"/>
            <a:ext cx="1091184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3000" b="1">
                <a:solidFill>
                  <a:srgbClr val="093652"/>
                </a:solidFill>
                <a:latin typeface="Poppins"/>
                <a:ea typeface="Poppins"/>
              </a:rPr>
              <a:t>Em 21 dias, julho já passou o alcance de junho</a:t>
            </a:r>
          </a:p>
        </p:txBody>
      </p:sp>
      <p:sp>
        <p:nvSpPr>
          <p:cNvPr id="100037" name="TextBox 3"/>
          <p:cNvSpPr txBox="1"/>
          <p:nvPr/>
        </p:nvSpPr>
        <p:spPr>
          <a:xfrm xmlns:a="http://schemas.openxmlformats.org/drawingml/2006/main">
            <a:off x="640080" y="1397000"/>
            <a:ext cx="1091184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4A5568"/>
                </a:solidFill>
                <a:latin typeface="Poppins"/>
                <a:ea typeface="Poppins"/>
              </a:rPr>
              <a:t>Apenas Meta Ads. Google aparece separado, embaixo: as duas plataformas nunca são somadas.</a:t>
            </a:r>
          </a:p>
        </p:txBody>
      </p:sp>
      <p:sp>
        <p:nvSpPr>
          <p:cNvPr id="100038" name="TextBox 4"/>
          <p:cNvSpPr/>
          <p:nvPr/>
        </p:nvSpPr>
        <p:spPr>
          <a:xfrm xmlns:a="http://schemas.openxmlformats.org/drawingml/2006/main">
            <a:off x="640080" y="1930400"/>
            <a:ext cx="4953000" cy="317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9" name="TextBox 5"/>
          <p:cNvSpPr txBox="1"/>
          <p:nvPr/>
        </p:nvSpPr>
        <p:spPr>
          <a:xfrm xmlns:a="http://schemas.openxmlformats.org/drawingml/2006/main">
            <a:off x="970280" y="2133600"/>
            <a:ext cx="4318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 spc="100">
                <a:solidFill>
                  <a:srgbClr val="093652"/>
                </a:solidFill>
                <a:latin typeface="Poppins"/>
                <a:ea typeface="Poppins"/>
              </a:rPr>
              <a:t>JUNHO  ·  30 dias, mês fechado</a:t>
            </a:r>
          </a:p>
        </p:txBody>
      </p:sp>
      <p:sp>
        <p:nvSpPr>
          <p:cNvPr id="100040" name="TextBox 6"/>
          <p:cNvSpPr txBox="1"/>
          <p:nvPr/>
        </p:nvSpPr>
        <p:spPr>
          <a:xfrm xmlns:a="http://schemas.openxmlformats.org/drawingml/2006/main">
            <a:off x="970280" y="2540000"/>
            <a:ext cx="2540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A1A1A"/>
                </a:solidFill>
                <a:latin typeface="Poppins"/>
                <a:ea typeface="Poppins"/>
              </a:rPr>
              <a:t>1,05 mi</a:t>
            </a:r>
          </a:p>
        </p:txBody>
      </p:sp>
      <p:sp>
        <p:nvSpPr>
          <p:cNvPr id="100041" name="TextBox 7"/>
          <p:cNvSpPr txBox="1"/>
          <p:nvPr/>
        </p:nvSpPr>
        <p:spPr>
          <a:xfrm xmlns:a="http://schemas.openxmlformats.org/drawingml/2006/main">
            <a:off x="3586480" y="2565400"/>
            <a:ext cx="177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50">
                <a:solidFill>
                  <a:srgbClr val="6B7280"/>
                </a:solidFill>
                <a:latin typeface="Poppins"/>
                <a:ea typeface="Poppins"/>
              </a:rPr>
              <a:t>pessoas alcançadas</a:t>
            </a:r>
          </a:p>
        </p:txBody>
      </p:sp>
      <p:sp>
        <p:nvSpPr>
          <p:cNvPr id="100042" name="TextBox 8"/>
          <p:cNvSpPr txBox="1"/>
          <p:nvPr/>
        </p:nvSpPr>
        <p:spPr>
          <a:xfrm xmlns:a="http://schemas.openxmlformats.org/drawingml/2006/main">
            <a:off x="970280" y="3327400"/>
            <a:ext cx="2540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A1A1A"/>
                </a:solidFill>
                <a:latin typeface="Poppins"/>
                <a:ea typeface="Poppins"/>
              </a:rPr>
              <a:t>R$ 14,09</a:t>
            </a:r>
          </a:p>
        </p:txBody>
      </p:sp>
      <p:sp>
        <p:nvSpPr>
          <p:cNvPr id="100043" name="TextBox 9"/>
          <p:cNvSpPr txBox="1"/>
          <p:nvPr/>
        </p:nvSpPr>
        <p:spPr>
          <a:xfrm xmlns:a="http://schemas.openxmlformats.org/drawingml/2006/main">
            <a:off x="3586480" y="3352800"/>
            <a:ext cx="177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50">
                <a:solidFill>
                  <a:srgbClr val="6B7280"/>
                </a:solidFill>
                <a:latin typeface="Poppins"/>
                <a:ea typeface="Poppins"/>
              </a:rPr>
              <a:t>custo por mil pessoas alcançadas</a:t>
            </a:r>
          </a:p>
        </p:txBody>
      </p:sp>
      <p:sp>
        <p:nvSpPr>
          <p:cNvPr id="100044" name="TextBox 10"/>
          <p:cNvSpPr txBox="1"/>
          <p:nvPr/>
        </p:nvSpPr>
        <p:spPr>
          <a:xfrm xmlns:a="http://schemas.openxmlformats.org/drawingml/2006/main">
            <a:off x="970280" y="4114800"/>
            <a:ext cx="2540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A1A1A"/>
                </a:solidFill>
                <a:latin typeface="Poppins"/>
                <a:ea typeface="Poppins"/>
              </a:rPr>
              <a:t>R$ 14.830</a:t>
            </a:r>
          </a:p>
        </p:txBody>
      </p:sp>
      <p:sp>
        <p:nvSpPr>
          <p:cNvPr id="100045" name="TextBox 11"/>
          <p:cNvSpPr txBox="1"/>
          <p:nvPr/>
        </p:nvSpPr>
        <p:spPr>
          <a:xfrm xmlns:a="http://schemas.openxmlformats.org/drawingml/2006/main">
            <a:off x="3586480" y="4140200"/>
            <a:ext cx="177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50">
                <a:solidFill>
                  <a:srgbClr val="6B7280"/>
                </a:solidFill>
                <a:latin typeface="Poppins"/>
                <a:ea typeface="Poppins"/>
              </a:rPr>
              <a:t>investidos no Meta</a:t>
            </a:r>
          </a:p>
        </p:txBody>
      </p:sp>
      <p:sp>
        <p:nvSpPr>
          <p:cNvPr id="100046" name="TextBox 12"/>
          <p:cNvSpPr/>
          <p:nvPr/>
        </p:nvSpPr>
        <p:spPr>
          <a:xfrm xmlns:a="http://schemas.openxmlformats.org/drawingml/2006/main">
            <a:off x="6598920" y="1930400"/>
            <a:ext cx="4953000" cy="317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01C4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7" name="TextBox 13"/>
          <p:cNvSpPr txBox="1"/>
          <p:nvPr/>
        </p:nvSpPr>
        <p:spPr>
          <a:xfrm xmlns:a="http://schemas.openxmlformats.org/drawingml/2006/main">
            <a:off x="6929120" y="2133600"/>
            <a:ext cx="4318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 spc="100">
                <a:solidFill>
                  <a:srgbClr val="FFFFFF"/>
                </a:solidFill>
                <a:latin typeface="Poppins"/>
                <a:ea typeface="Poppins"/>
              </a:rPr>
              <a:t>JULHO  ·  1 a 21, mês em andamento</a:t>
            </a:r>
          </a:p>
        </p:txBody>
      </p:sp>
      <p:sp>
        <p:nvSpPr>
          <p:cNvPr id="100048" name="TextBox 14"/>
          <p:cNvSpPr txBox="1"/>
          <p:nvPr/>
        </p:nvSpPr>
        <p:spPr>
          <a:xfrm xmlns:a="http://schemas.openxmlformats.org/drawingml/2006/main">
            <a:off x="6929120" y="2540000"/>
            <a:ext cx="2540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oppins"/>
                <a:ea typeface="Poppins"/>
              </a:rPr>
              <a:t>1,08 mi</a:t>
            </a:r>
          </a:p>
        </p:txBody>
      </p:sp>
      <p:sp>
        <p:nvSpPr>
          <p:cNvPr id="100049" name="TextBox 15"/>
          <p:cNvSpPr txBox="1"/>
          <p:nvPr/>
        </p:nvSpPr>
        <p:spPr>
          <a:xfrm xmlns:a="http://schemas.openxmlformats.org/drawingml/2006/main">
            <a:off x="9545320" y="2565400"/>
            <a:ext cx="177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50">
                <a:solidFill>
                  <a:srgbClr val="FFD7E0"/>
                </a:solidFill>
                <a:latin typeface="Poppins"/>
                <a:ea typeface="Poppins"/>
              </a:rPr>
              <a:t>pessoas alcançadas</a:t>
            </a:r>
          </a:p>
        </p:txBody>
      </p:sp>
      <p:sp>
        <p:nvSpPr>
          <p:cNvPr id="100050" name="TextBox 16"/>
          <p:cNvSpPr txBox="1"/>
          <p:nvPr/>
        </p:nvSpPr>
        <p:spPr>
          <a:xfrm xmlns:a="http://schemas.openxmlformats.org/drawingml/2006/main">
            <a:off x="6929120" y="3327400"/>
            <a:ext cx="2540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oppins"/>
                <a:ea typeface="Poppins"/>
              </a:rPr>
              <a:t>R$ 11,41</a:t>
            </a:r>
          </a:p>
        </p:txBody>
      </p:sp>
      <p:sp>
        <p:nvSpPr>
          <p:cNvPr id="100051" name="TextBox 17"/>
          <p:cNvSpPr txBox="1"/>
          <p:nvPr/>
        </p:nvSpPr>
        <p:spPr>
          <a:xfrm xmlns:a="http://schemas.openxmlformats.org/drawingml/2006/main">
            <a:off x="9545320" y="3352800"/>
            <a:ext cx="177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50">
                <a:solidFill>
                  <a:srgbClr val="FFD7E0"/>
                </a:solidFill>
                <a:latin typeface="Poppins"/>
                <a:ea typeface="Poppins"/>
              </a:rPr>
              <a:t>custo por mil, 19% mais barato</a:t>
            </a:r>
          </a:p>
        </p:txBody>
      </p:sp>
      <p:sp>
        <p:nvSpPr>
          <p:cNvPr id="100052" name="TextBox 18"/>
          <p:cNvSpPr txBox="1"/>
          <p:nvPr/>
        </p:nvSpPr>
        <p:spPr>
          <a:xfrm xmlns:a="http://schemas.openxmlformats.org/drawingml/2006/main">
            <a:off x="6929120" y="4114800"/>
            <a:ext cx="2540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oppins"/>
                <a:ea typeface="Poppins"/>
              </a:rPr>
              <a:t>R$ 12.324</a:t>
            </a:r>
          </a:p>
        </p:txBody>
      </p:sp>
      <p:sp>
        <p:nvSpPr>
          <p:cNvPr id="100053" name="TextBox 19"/>
          <p:cNvSpPr txBox="1"/>
          <p:nvPr/>
        </p:nvSpPr>
        <p:spPr>
          <a:xfrm xmlns:a="http://schemas.openxmlformats.org/drawingml/2006/main">
            <a:off x="9545320" y="4140200"/>
            <a:ext cx="177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50">
                <a:solidFill>
                  <a:srgbClr val="FFD7E0"/>
                </a:solidFill>
                <a:latin typeface="Poppins"/>
                <a:ea typeface="Poppins"/>
              </a:rPr>
              <a:t>investidos no Meta</a:t>
            </a:r>
          </a:p>
        </p:txBody>
      </p:sp>
      <p:sp>
        <p:nvSpPr>
          <p:cNvPr id="100054" name="TextBox 20"/>
          <p:cNvSpPr txBox="1"/>
          <p:nvPr/>
        </p:nvSpPr>
        <p:spPr>
          <a:xfrm xmlns:a="http://schemas.openxmlformats.org/drawingml/2006/main">
            <a:off x="5669280" y="3238500"/>
            <a:ext cx="85344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6B7280"/>
                </a:solidFill>
                <a:latin typeface="Poppins"/>
                <a:ea typeface="Poppins"/>
              </a:rPr>
              <a:t>→</a:t>
            </a:r>
          </a:p>
        </p:txBody>
      </p:sp>
      <p:sp>
        <p:nvSpPr>
          <p:cNvPr id="100055" name="TextBox 21"/>
          <p:cNvSpPr/>
          <p:nvPr/>
        </p:nvSpPr>
        <p:spPr>
          <a:xfrm xmlns:a="http://schemas.openxmlformats.org/drawingml/2006/main">
            <a:off x="640080" y="5207000"/>
            <a:ext cx="10911840" cy="1295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6" name="TextBox 22"/>
          <p:cNvSpPr txBox="1"/>
          <p:nvPr/>
        </p:nvSpPr>
        <p:spPr>
          <a:xfrm xmlns:a="http://schemas.openxmlformats.org/drawingml/2006/main">
            <a:off x="970280" y="5334000"/>
            <a:ext cx="1025144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300" b="1">
                <a:solidFill>
                  <a:srgbClr val="093652"/>
                </a:solidFill>
                <a:latin typeface="Poppins"/>
                <a:ea typeface="Poppins"/>
              </a:rPr>
              <a:t>As mudanças se mostram eficientes quando o escopo está definido e a campanha tem tempo de performar.</a:t>
            </a:r>
          </a:p>
        </p:txBody>
      </p:sp>
      <p:sp>
        <p:nvSpPr>
          <p:cNvPr id="100057" name="TextBox 23"/>
          <p:cNvSpPr txBox="1"/>
          <p:nvPr/>
        </p:nvSpPr>
        <p:spPr>
          <a:xfrm xmlns:a="http://schemas.openxmlformats.org/drawingml/2006/main">
            <a:off x="970280" y="5638800"/>
            <a:ext cx="1025144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150">
                <a:solidFill>
                  <a:srgbClr val="4A5568"/>
                </a:solidFill>
                <a:latin typeface="Poppins"/>
                <a:ea typeface="Poppins"/>
              </a:rPr>
              <a:t>No ritmo atual, julho projeta cerca de 1,59 milhão de pessoas alcançadas com cerca de R$ 18,2 mil. Google B2C: a Performance Max gastou R$ 15.306 em junho e R$ 0 em julho, pausada de propósito, porque as conversões seguem contaminadas e ainda não servem de base para decidir. A verba está guardada como reserva de teste.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58" name="TextBox 1"/>
          <p:cNvSpPr txBox="1"/>
          <p:nvPr/>
        </p:nvSpPr>
        <p:spPr>
          <a:xfrm xmlns:a="http://schemas.openxmlformats.org/drawingml/2006/main">
            <a:off x="640080" y="431800"/>
            <a:ext cx="1091184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 spc="200">
                <a:solidFill>
                  <a:srgbClr val="E01C4C"/>
                </a:solidFill>
                <a:latin typeface="Poppins"/>
                <a:ea typeface="Poppins"/>
              </a:rPr>
              <a:t>RESULTADO · B2B (LOCAÇÃO)</a:t>
            </a:r>
          </a:p>
        </p:txBody>
      </p:sp>
      <p:sp>
        <p:nvSpPr>
          <p:cNvPr id="100059" name="TextBox 2"/>
          <p:cNvSpPr txBox="1"/>
          <p:nvPr/>
        </p:nvSpPr>
        <p:spPr>
          <a:xfrm xmlns:a="http://schemas.openxmlformats.org/drawingml/2006/main">
            <a:off x="640080" y="812800"/>
            <a:ext cx="1091184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3000" b="1">
                <a:solidFill>
                  <a:srgbClr val="093652"/>
                </a:solidFill>
                <a:latin typeface="Poppins"/>
                <a:ea typeface="Poppins"/>
              </a:rPr>
              <a:t>Mais leads e custo menor, pelo segundo mês seguido</a:t>
            </a:r>
          </a:p>
        </p:txBody>
      </p:sp>
      <p:sp>
        <p:nvSpPr>
          <p:cNvPr id="100060" name="TextBox 3"/>
          <p:cNvSpPr txBox="1"/>
          <p:nvPr/>
        </p:nvSpPr>
        <p:spPr>
          <a:xfrm xmlns:a="http://schemas.openxmlformats.org/drawingml/2006/main">
            <a:off x="640080" y="1397000"/>
            <a:ext cx="1091184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4A5568"/>
                </a:solidFill>
                <a:latin typeface="Poppins"/>
                <a:ea typeface="Poppins"/>
              </a:rPr>
              <a:t>Meta Ads, campanha de formulário. Google aparece separado, embaixo.</a:t>
            </a:r>
          </a:p>
        </p:txBody>
      </p:sp>
      <p:sp>
        <p:nvSpPr>
          <p:cNvPr id="100061" name="TextBox 4"/>
          <p:cNvSpPr/>
          <p:nvPr/>
        </p:nvSpPr>
        <p:spPr>
          <a:xfrm xmlns:a="http://schemas.openxmlformats.org/drawingml/2006/main">
            <a:off x="640080" y="1930400"/>
            <a:ext cx="4953000" cy="317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2" name="TextBox 5"/>
          <p:cNvSpPr txBox="1"/>
          <p:nvPr/>
        </p:nvSpPr>
        <p:spPr>
          <a:xfrm xmlns:a="http://schemas.openxmlformats.org/drawingml/2006/main">
            <a:off x="970280" y="2133600"/>
            <a:ext cx="4318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 spc="100">
                <a:solidFill>
                  <a:srgbClr val="093652"/>
                </a:solidFill>
                <a:latin typeface="Poppins"/>
                <a:ea typeface="Poppins"/>
              </a:rPr>
              <a:t>JUNHO  ·  30 dias, mês fechado</a:t>
            </a:r>
          </a:p>
        </p:txBody>
      </p:sp>
      <p:sp>
        <p:nvSpPr>
          <p:cNvPr id="100063" name="TextBox 6"/>
          <p:cNvSpPr txBox="1"/>
          <p:nvPr/>
        </p:nvSpPr>
        <p:spPr>
          <a:xfrm xmlns:a="http://schemas.openxmlformats.org/drawingml/2006/main">
            <a:off x="970280" y="2540000"/>
            <a:ext cx="2540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A1A1A"/>
                </a:solidFill>
                <a:latin typeface="Poppins"/>
                <a:ea typeface="Poppins"/>
              </a:rPr>
              <a:t>161</a:t>
            </a:r>
          </a:p>
        </p:txBody>
      </p:sp>
      <p:sp>
        <p:nvSpPr>
          <p:cNvPr id="100064" name="TextBox 7"/>
          <p:cNvSpPr txBox="1"/>
          <p:nvPr/>
        </p:nvSpPr>
        <p:spPr>
          <a:xfrm xmlns:a="http://schemas.openxmlformats.org/drawingml/2006/main">
            <a:off x="3586480" y="2565400"/>
            <a:ext cx="177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50">
                <a:solidFill>
                  <a:srgbClr val="6B7280"/>
                </a:solidFill>
                <a:latin typeface="Poppins"/>
                <a:ea typeface="Poppins"/>
              </a:rPr>
              <a:t>leads de locação</a:t>
            </a:r>
          </a:p>
        </p:txBody>
      </p:sp>
      <p:sp>
        <p:nvSpPr>
          <p:cNvPr id="100065" name="TextBox 8"/>
          <p:cNvSpPr txBox="1"/>
          <p:nvPr/>
        </p:nvSpPr>
        <p:spPr>
          <a:xfrm xmlns:a="http://schemas.openxmlformats.org/drawingml/2006/main">
            <a:off x="970280" y="3327400"/>
            <a:ext cx="2540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A1A1A"/>
                </a:solidFill>
                <a:latin typeface="Poppins"/>
                <a:ea typeface="Poppins"/>
              </a:rPr>
              <a:t>R$ 47,90</a:t>
            </a:r>
          </a:p>
        </p:txBody>
      </p:sp>
      <p:sp>
        <p:nvSpPr>
          <p:cNvPr id="100066" name="TextBox 9"/>
          <p:cNvSpPr txBox="1"/>
          <p:nvPr/>
        </p:nvSpPr>
        <p:spPr>
          <a:xfrm xmlns:a="http://schemas.openxmlformats.org/drawingml/2006/main">
            <a:off x="3586480" y="3352800"/>
            <a:ext cx="177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50">
                <a:solidFill>
                  <a:srgbClr val="6B7280"/>
                </a:solidFill>
                <a:latin typeface="Poppins"/>
                <a:ea typeface="Poppins"/>
              </a:rPr>
              <a:t>custo por lead</a:t>
            </a:r>
          </a:p>
        </p:txBody>
      </p:sp>
      <p:sp>
        <p:nvSpPr>
          <p:cNvPr id="100067" name="TextBox 10"/>
          <p:cNvSpPr txBox="1"/>
          <p:nvPr/>
        </p:nvSpPr>
        <p:spPr>
          <a:xfrm xmlns:a="http://schemas.openxmlformats.org/drawingml/2006/main">
            <a:off x="970280" y="4114800"/>
            <a:ext cx="2540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A1A1A"/>
                </a:solidFill>
                <a:latin typeface="Poppins"/>
                <a:ea typeface="Poppins"/>
              </a:rPr>
              <a:t>R$ 7.713</a:t>
            </a:r>
          </a:p>
        </p:txBody>
      </p:sp>
      <p:sp>
        <p:nvSpPr>
          <p:cNvPr id="100068" name="TextBox 11"/>
          <p:cNvSpPr txBox="1"/>
          <p:nvPr/>
        </p:nvSpPr>
        <p:spPr>
          <a:xfrm xmlns:a="http://schemas.openxmlformats.org/drawingml/2006/main">
            <a:off x="3586480" y="4140200"/>
            <a:ext cx="177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50">
                <a:solidFill>
                  <a:srgbClr val="6B7280"/>
                </a:solidFill>
                <a:latin typeface="Poppins"/>
                <a:ea typeface="Poppins"/>
              </a:rPr>
              <a:t>investidos no Meta</a:t>
            </a:r>
          </a:p>
        </p:txBody>
      </p:sp>
      <p:sp>
        <p:nvSpPr>
          <p:cNvPr id="100069" name="TextBox 12"/>
          <p:cNvSpPr/>
          <p:nvPr/>
        </p:nvSpPr>
        <p:spPr>
          <a:xfrm xmlns:a="http://schemas.openxmlformats.org/drawingml/2006/main">
            <a:off x="6598920" y="1930400"/>
            <a:ext cx="4953000" cy="317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01C4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0" name="TextBox 13"/>
          <p:cNvSpPr txBox="1"/>
          <p:nvPr/>
        </p:nvSpPr>
        <p:spPr>
          <a:xfrm xmlns:a="http://schemas.openxmlformats.org/drawingml/2006/main">
            <a:off x="6929120" y="2133600"/>
            <a:ext cx="4318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 spc="100">
                <a:solidFill>
                  <a:srgbClr val="FFFFFF"/>
                </a:solidFill>
                <a:latin typeface="Poppins"/>
                <a:ea typeface="Poppins"/>
              </a:rPr>
              <a:t>JULHO  ·  1 a 21, mês em andamento</a:t>
            </a:r>
          </a:p>
        </p:txBody>
      </p:sp>
      <p:sp>
        <p:nvSpPr>
          <p:cNvPr id="100071" name="TextBox 14"/>
          <p:cNvSpPr txBox="1"/>
          <p:nvPr/>
        </p:nvSpPr>
        <p:spPr>
          <a:xfrm xmlns:a="http://schemas.openxmlformats.org/drawingml/2006/main">
            <a:off x="6929120" y="2540000"/>
            <a:ext cx="2540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oppins"/>
                <a:ea typeface="Poppins"/>
              </a:rPr>
              <a:t>121</a:t>
            </a:r>
          </a:p>
        </p:txBody>
      </p:sp>
      <p:sp>
        <p:nvSpPr>
          <p:cNvPr id="100072" name="TextBox 15"/>
          <p:cNvSpPr txBox="1"/>
          <p:nvPr/>
        </p:nvSpPr>
        <p:spPr>
          <a:xfrm xmlns:a="http://schemas.openxmlformats.org/drawingml/2006/main">
            <a:off x="9545320" y="2565400"/>
            <a:ext cx="177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50">
                <a:solidFill>
                  <a:srgbClr val="FFD7E0"/>
                </a:solidFill>
                <a:latin typeface="Poppins"/>
                <a:ea typeface="Poppins"/>
              </a:rPr>
              <a:t>leads em 21 dias, ritmo de ~178 no mês</a:t>
            </a:r>
          </a:p>
        </p:txBody>
      </p:sp>
      <p:sp>
        <p:nvSpPr>
          <p:cNvPr id="100073" name="TextBox 16"/>
          <p:cNvSpPr txBox="1"/>
          <p:nvPr/>
        </p:nvSpPr>
        <p:spPr>
          <a:xfrm xmlns:a="http://schemas.openxmlformats.org/drawingml/2006/main">
            <a:off x="6929120" y="3327400"/>
            <a:ext cx="2540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oppins"/>
                <a:ea typeface="Poppins"/>
              </a:rPr>
              <a:t>R$ 33,41</a:t>
            </a:r>
          </a:p>
        </p:txBody>
      </p:sp>
      <p:sp>
        <p:nvSpPr>
          <p:cNvPr id="100074" name="TextBox 17"/>
          <p:cNvSpPr txBox="1"/>
          <p:nvPr/>
        </p:nvSpPr>
        <p:spPr>
          <a:xfrm xmlns:a="http://schemas.openxmlformats.org/drawingml/2006/main">
            <a:off x="9545320" y="3352800"/>
            <a:ext cx="177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50">
                <a:solidFill>
                  <a:srgbClr val="FFD7E0"/>
                </a:solidFill>
                <a:latin typeface="Poppins"/>
                <a:ea typeface="Poppins"/>
              </a:rPr>
              <a:t>custo por lead, 30% mais barato</a:t>
            </a:r>
          </a:p>
        </p:txBody>
      </p:sp>
      <p:sp>
        <p:nvSpPr>
          <p:cNvPr id="100075" name="TextBox 18"/>
          <p:cNvSpPr txBox="1"/>
          <p:nvPr/>
        </p:nvSpPr>
        <p:spPr>
          <a:xfrm xmlns:a="http://schemas.openxmlformats.org/drawingml/2006/main">
            <a:off x="6929120" y="4114800"/>
            <a:ext cx="2540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oppins"/>
                <a:ea typeface="Poppins"/>
              </a:rPr>
              <a:t>R$ 4.042</a:t>
            </a:r>
          </a:p>
        </p:txBody>
      </p:sp>
      <p:sp>
        <p:nvSpPr>
          <p:cNvPr id="100076" name="TextBox 19"/>
          <p:cNvSpPr txBox="1"/>
          <p:nvPr/>
        </p:nvSpPr>
        <p:spPr>
          <a:xfrm xmlns:a="http://schemas.openxmlformats.org/drawingml/2006/main">
            <a:off x="9545320" y="4140200"/>
            <a:ext cx="177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50">
                <a:solidFill>
                  <a:srgbClr val="FFD7E0"/>
                </a:solidFill>
                <a:latin typeface="Poppins"/>
                <a:ea typeface="Poppins"/>
              </a:rPr>
              <a:t>investidos no Meta</a:t>
            </a:r>
          </a:p>
        </p:txBody>
      </p:sp>
      <p:sp>
        <p:nvSpPr>
          <p:cNvPr id="100077" name="TextBox 20"/>
          <p:cNvSpPr txBox="1"/>
          <p:nvPr/>
        </p:nvSpPr>
        <p:spPr>
          <a:xfrm xmlns:a="http://schemas.openxmlformats.org/drawingml/2006/main">
            <a:off x="5669280" y="3238500"/>
            <a:ext cx="85344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6B7280"/>
                </a:solidFill>
                <a:latin typeface="Poppins"/>
                <a:ea typeface="Poppins"/>
              </a:rPr>
              <a:t>→</a:t>
            </a:r>
          </a:p>
        </p:txBody>
      </p:sp>
      <p:sp>
        <p:nvSpPr>
          <p:cNvPr id="100078" name="TextBox 21"/>
          <p:cNvSpPr/>
          <p:nvPr/>
        </p:nvSpPr>
        <p:spPr>
          <a:xfrm xmlns:a="http://schemas.openxmlformats.org/drawingml/2006/main">
            <a:off x="640080" y="5207000"/>
            <a:ext cx="10911840" cy="1295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9" name="TextBox 22"/>
          <p:cNvSpPr txBox="1"/>
          <p:nvPr/>
        </p:nvSpPr>
        <p:spPr>
          <a:xfrm xmlns:a="http://schemas.openxmlformats.org/drawingml/2006/main">
            <a:off x="970280" y="5334000"/>
            <a:ext cx="1025144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300" b="1">
                <a:solidFill>
                  <a:srgbClr val="093652"/>
                </a:solidFill>
                <a:latin typeface="Poppins"/>
                <a:ea typeface="Poppins"/>
              </a:rPr>
              <a:t>E a campanha nova ainda nem subiu: o que roda hoje é a estrutura herdada, otimizada até o limite dela.</a:t>
            </a:r>
          </a:p>
        </p:txBody>
      </p:sp>
      <p:sp>
        <p:nvSpPr>
          <p:cNvPr id="100080" name="TextBox 23"/>
          <p:cNvSpPr txBox="1"/>
          <p:nvPr/>
        </p:nvSpPr>
        <p:spPr>
          <a:xfrm xmlns:a="http://schemas.openxmlformats.org/drawingml/2006/main">
            <a:off x="970280" y="5638800"/>
            <a:ext cx="1025144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150">
                <a:solidFill>
                  <a:srgbClr val="4A5568"/>
                </a:solidFill>
                <a:latin typeface="Poppins"/>
                <a:ea typeface="Poppins"/>
              </a:rPr>
              <a:t>A série de CPL é R$ 58,69 em maio, R$ 47,90 em junho, com a primeira otimização, e R$ 33,41 em julho. O Google B2B gastou R$ 4.571 em junho e R$ 1.746 em julho, pausado em 22/07 enquanto a landing page nova é finalizada. Ressalva que continua valendo: custo por lead mede custo, e é o retorno do comercial que fecha a conta da qualidade.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81" name="TextBox 1"/>
          <p:cNvSpPr txBox="1"/>
          <p:nvPr/>
        </p:nvSpPr>
        <p:spPr>
          <a:xfrm xmlns:a="http://schemas.openxmlformats.org/drawingml/2006/main">
            <a:off x="640080" y="431800"/>
            <a:ext cx="1091184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 spc="200">
                <a:solidFill>
                  <a:srgbClr val="E01C4C"/>
                </a:solidFill>
                <a:latin typeface="Poppins"/>
                <a:ea typeface="Poppins"/>
              </a:rPr>
              <a:t>COMO O TRÁFEGO PAGO PERFORMA MELHOR</a:t>
            </a:r>
          </a:p>
        </p:txBody>
      </p:sp>
      <p:sp>
        <p:nvSpPr>
          <p:cNvPr id="100082" name="TextBox 2"/>
          <p:cNvSpPr txBox="1"/>
          <p:nvPr/>
        </p:nvSpPr>
        <p:spPr>
          <a:xfrm xmlns:a="http://schemas.openxmlformats.org/drawingml/2006/main">
            <a:off x="640080" y="812800"/>
            <a:ext cx="1091184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3000" b="1">
                <a:solidFill>
                  <a:srgbClr val="093652"/>
                </a:solidFill>
                <a:latin typeface="Poppins"/>
                <a:ea typeface="Poppins"/>
              </a:rPr>
              <a:t>É funil completo, com rastreamento até a conversão</a:t>
            </a:r>
          </a:p>
        </p:txBody>
      </p:sp>
      <p:sp>
        <p:nvSpPr>
          <p:cNvPr id="100083" name="TextBox 3"/>
          <p:cNvSpPr txBox="1"/>
          <p:nvPr/>
        </p:nvSpPr>
        <p:spPr>
          <a:xfrm xmlns:a="http://schemas.openxmlformats.org/drawingml/2006/main">
            <a:off x="640080" y="1397000"/>
            <a:ext cx="1091184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4A5568"/>
                </a:solidFill>
                <a:latin typeface="Poppins"/>
                <a:ea typeface="Poppins"/>
              </a:rPr>
              <a:t>Cada formato entrega uma coisa diferente. Saber o que cada um faz melhor é o que permite escolher.</a:t>
            </a:r>
          </a:p>
        </p:txBody>
      </p:sp>
      <p:sp>
        <p:nvSpPr>
          <p:cNvPr id="100084" name="TextBox 4"/>
          <p:cNvSpPr/>
          <p:nvPr/>
        </p:nvSpPr>
        <p:spPr>
          <a:xfrm xmlns:a="http://schemas.openxmlformats.org/drawingml/2006/main">
            <a:off x="640080" y="1778000"/>
            <a:ext cx="10911840" cy="2057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5" name="TextBox 5"/>
          <p:cNvSpPr txBox="1"/>
          <p:nvPr/>
        </p:nvSpPr>
        <p:spPr>
          <a:xfrm xmlns:a="http://schemas.openxmlformats.org/drawingml/2006/main">
            <a:off x="944880" y="1905000"/>
            <a:ext cx="508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E01C4C"/>
                </a:solidFill>
                <a:latin typeface="Poppins"/>
                <a:ea typeface="Poppins"/>
              </a:rPr>
              <a:t>OS TRÊS PRINCÍPIOS</a:t>
            </a:r>
          </a:p>
        </p:txBody>
      </p:sp>
      <p:sp>
        <p:nvSpPr>
          <p:cNvPr id="100086" name="TextBox 6"/>
          <p:cNvSpPr txBox="1"/>
          <p:nvPr/>
        </p:nvSpPr>
        <p:spPr>
          <a:xfrm xmlns:a="http://schemas.openxmlformats.org/drawingml/2006/main">
            <a:off x="944880" y="2184400"/>
            <a:ext cx="279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950" b="1">
                <a:solidFill>
                  <a:srgbClr val="093652"/>
                </a:solidFill>
                <a:latin typeface="Poppins"/>
                <a:ea typeface="Poppins"/>
              </a:rPr>
              <a:t>FUNIL COMPLETO</a:t>
            </a:r>
          </a:p>
        </p:txBody>
      </p:sp>
      <p:sp>
        <p:nvSpPr>
          <p:cNvPr id="100087" name="TextBox 7"/>
          <p:cNvSpPr txBox="1"/>
          <p:nvPr/>
        </p:nvSpPr>
        <p:spPr>
          <a:xfrm xmlns:a="http://schemas.openxmlformats.org/drawingml/2006/main">
            <a:off x="3865880" y="2184400"/>
            <a:ext cx="711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</a:pPr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Alcance, visita, contato e resultado somam entre si quando cada campanha tem um papel definido, em vez de disputarem a mesma verba.</a:t>
            </a:r>
          </a:p>
        </p:txBody>
      </p:sp>
      <p:sp>
        <p:nvSpPr>
          <p:cNvPr id="100088" name="TextBox 8"/>
          <p:cNvSpPr txBox="1"/>
          <p:nvPr/>
        </p:nvSpPr>
        <p:spPr>
          <a:xfrm xmlns:a="http://schemas.openxmlformats.org/drawingml/2006/main">
            <a:off x="944880" y="2705100"/>
            <a:ext cx="279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950" b="1">
                <a:solidFill>
                  <a:srgbClr val="093652"/>
                </a:solidFill>
                <a:latin typeface="Poppins"/>
                <a:ea typeface="Poppins"/>
              </a:rPr>
              <a:t>UM PLANO E UM CICLO DE APRENDIZADO</a:t>
            </a:r>
          </a:p>
        </p:txBody>
      </p:sp>
      <p:sp>
        <p:nvSpPr>
          <p:cNvPr id="100089" name="TextBox 9"/>
          <p:cNvSpPr txBox="1"/>
          <p:nvPr/>
        </p:nvSpPr>
        <p:spPr>
          <a:xfrm xmlns:a="http://schemas.openxmlformats.org/drawingml/2006/main">
            <a:off x="3865880" y="2705100"/>
            <a:ext cx="711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</a:pPr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Com a verba definida antes do mês, temos planejamento real e conseguimos comparar projeção com realidade. Quando a direção muda várias vezes, os dados se perdem e demora mais para entender o que funciona. A reserva para imprevistos rende mais como exceção.</a:t>
            </a:r>
          </a:p>
        </p:txBody>
      </p:sp>
      <p:sp>
        <p:nvSpPr>
          <p:cNvPr id="100090" name="TextBox 10"/>
          <p:cNvSpPr txBox="1"/>
          <p:nvPr/>
        </p:nvSpPr>
        <p:spPr>
          <a:xfrm xmlns:a="http://schemas.openxmlformats.org/drawingml/2006/main">
            <a:off x="944880" y="3225800"/>
            <a:ext cx="279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950" b="1">
                <a:solidFill>
                  <a:srgbClr val="093652"/>
                </a:solidFill>
                <a:latin typeface="Poppins"/>
                <a:ea typeface="Poppins"/>
              </a:rPr>
              <a:t>MEDIÇÃO E COLABORAÇÃO</a:t>
            </a:r>
          </a:p>
        </p:txBody>
      </p:sp>
      <p:sp>
        <p:nvSpPr>
          <p:cNvPr id="100091" name="TextBox 11"/>
          <p:cNvSpPr txBox="1"/>
          <p:nvPr/>
        </p:nvSpPr>
        <p:spPr>
          <a:xfrm xmlns:a="http://schemas.openxmlformats.org/drawingml/2006/main">
            <a:off x="3865880" y="3225800"/>
            <a:ext cx="711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</a:pPr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Com a informação voltando de todas as pontas, comercial, lojistas e mídia, conseguimos otimizar por resultado e não apenas por custo.</a:t>
            </a:r>
          </a:p>
        </p:txBody>
      </p:sp>
      <p:sp>
        <p:nvSpPr>
          <p:cNvPr id="100092" name="TextBox 12"/>
          <p:cNvSpPr/>
          <p:nvPr/>
        </p:nvSpPr>
        <p:spPr>
          <a:xfrm xmlns:a="http://schemas.openxmlformats.org/drawingml/2006/main">
            <a:off x="640080" y="3937000"/>
            <a:ext cx="10911840" cy="1930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3" name="TextBox 13"/>
          <p:cNvSpPr txBox="1"/>
          <p:nvPr/>
        </p:nvSpPr>
        <p:spPr>
          <a:xfrm xmlns:a="http://schemas.openxmlformats.org/drawingml/2006/main">
            <a:off x="944880" y="4064000"/>
            <a:ext cx="635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E01C4C"/>
                </a:solidFill>
                <a:latin typeface="Poppins"/>
                <a:ea typeface="Poppins"/>
              </a:rPr>
              <a:t>O QUE CADA FORMATO FAZ MELHOR NA NOSSA ESTRUTURA</a:t>
            </a:r>
          </a:p>
        </p:txBody>
      </p:sp>
      <p:sp>
        <p:nvSpPr>
          <p:cNvPr id="100094" name="TextBox 14"/>
          <p:cNvSpPr txBox="1"/>
          <p:nvPr/>
        </p:nvSpPr>
        <p:spPr>
          <a:xfrm xmlns:a="http://schemas.openxmlformats.org/drawingml/2006/main">
            <a:off x="9784080" y="4064000"/>
            <a:ext cx="14605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900" b="1" spc="100">
                <a:solidFill>
                  <a:srgbClr val="6B7280"/>
                </a:solidFill>
                <a:latin typeface="Poppins"/>
                <a:ea typeface="Poppins"/>
              </a:rPr>
              <a:t>TEMPO NO AR</a:t>
            </a:r>
          </a:p>
        </p:txBody>
      </p:sp>
      <p:sp>
        <p:nvSpPr>
          <p:cNvPr id="100095" name="TextBox 15"/>
          <p:cNvSpPr txBox="1"/>
          <p:nvPr/>
        </p:nvSpPr>
        <p:spPr>
          <a:xfrm xmlns:a="http://schemas.openxmlformats.org/drawingml/2006/main">
            <a:off x="944880" y="4343400"/>
            <a:ext cx="2667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>
                <a:solidFill>
                  <a:srgbClr val="093652"/>
                </a:solidFill>
                <a:latin typeface="Poppins"/>
                <a:ea typeface="Poppins"/>
              </a:rPr>
              <a:t>Engajamento no Instagram</a:t>
            </a:r>
          </a:p>
        </p:txBody>
      </p:sp>
      <p:sp>
        <p:nvSpPr>
          <p:cNvPr id="100096" name="TextBox 16"/>
          <p:cNvSpPr txBox="1"/>
          <p:nvPr/>
        </p:nvSpPr>
        <p:spPr>
          <a:xfrm xmlns:a="http://schemas.openxmlformats.org/drawingml/2006/main">
            <a:off x="3738880" y="4343400"/>
            <a:ext cx="5969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A1A1A"/>
                </a:solidFill>
                <a:latin typeface="Poppins"/>
                <a:ea typeface="Poppins"/>
              </a:rPr>
              <a:t>Crescimento de perfil e presença constante com quem já conhece o shopping</a:t>
            </a:r>
          </a:p>
        </p:txBody>
      </p:sp>
      <p:sp>
        <p:nvSpPr>
          <p:cNvPr id="100097" name="TextBox 17"/>
          <p:cNvSpPr txBox="1"/>
          <p:nvPr/>
        </p:nvSpPr>
        <p:spPr>
          <a:xfrm xmlns:a="http://schemas.openxmlformats.org/drawingml/2006/main">
            <a:off x="9784080" y="4343400"/>
            <a:ext cx="14605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950" b="1">
                <a:solidFill>
                  <a:srgbClr val="E01C4C"/>
                </a:solidFill>
                <a:latin typeface="Poppins"/>
                <a:ea typeface="Poppins"/>
              </a:rPr>
              <a:t>contínuo</a:t>
            </a:r>
          </a:p>
        </p:txBody>
      </p:sp>
      <p:sp>
        <p:nvSpPr>
          <p:cNvPr id="100098" name="TextBox 18"/>
          <p:cNvSpPr txBox="1"/>
          <p:nvPr/>
        </p:nvSpPr>
        <p:spPr>
          <a:xfrm xmlns:a="http://schemas.openxmlformats.org/drawingml/2006/main">
            <a:off x="944880" y="4635500"/>
            <a:ext cx="2667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>
                <a:solidFill>
                  <a:srgbClr val="093652"/>
                </a:solidFill>
                <a:latin typeface="Poppins"/>
                <a:ea typeface="Poppins"/>
              </a:rPr>
              <a:t>Ofertas semanais</a:t>
            </a:r>
          </a:p>
        </p:txBody>
      </p:sp>
      <p:sp>
        <p:nvSpPr>
          <p:cNvPr id="100099" name="TextBox 19"/>
          <p:cNvSpPr txBox="1"/>
          <p:nvPr/>
        </p:nvSpPr>
        <p:spPr>
          <a:xfrm xmlns:a="http://schemas.openxmlformats.org/drawingml/2006/main">
            <a:off x="3738880" y="4635500"/>
            <a:ext cx="5969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A1A1A"/>
                </a:solidFill>
                <a:latin typeface="Poppins"/>
                <a:ea typeface="Poppins"/>
              </a:rPr>
              <a:t>Vitrine para as ofertas dos lojistas, com giro semanal de criativo</a:t>
            </a:r>
          </a:p>
        </p:txBody>
      </p:sp>
      <p:sp>
        <p:nvSpPr>
          <p:cNvPr id="100100" name="TextBox 20"/>
          <p:cNvSpPr txBox="1"/>
          <p:nvPr/>
        </p:nvSpPr>
        <p:spPr>
          <a:xfrm xmlns:a="http://schemas.openxmlformats.org/drawingml/2006/main">
            <a:off x="9784080" y="4635500"/>
            <a:ext cx="14605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950" b="1">
                <a:solidFill>
                  <a:srgbClr val="E01C4C"/>
                </a:solidFill>
                <a:latin typeface="Poppins"/>
                <a:ea typeface="Poppins"/>
              </a:rPr>
              <a:t>contínuo</a:t>
            </a:r>
          </a:p>
        </p:txBody>
      </p:sp>
      <p:sp>
        <p:nvSpPr>
          <p:cNvPr id="100101" name="TextBox 21"/>
          <p:cNvSpPr txBox="1"/>
          <p:nvPr/>
        </p:nvSpPr>
        <p:spPr>
          <a:xfrm xmlns:a="http://schemas.openxmlformats.org/drawingml/2006/main">
            <a:off x="944880" y="4927600"/>
            <a:ext cx="2667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>
                <a:solidFill>
                  <a:srgbClr val="093652"/>
                </a:solidFill>
                <a:latin typeface="Poppins"/>
                <a:ea typeface="Poppins"/>
              </a:rPr>
              <a:t>Reconhecimento institucional</a:t>
            </a:r>
          </a:p>
        </p:txBody>
      </p:sp>
      <p:sp>
        <p:nvSpPr>
          <p:cNvPr id="100102" name="TextBox 22"/>
          <p:cNvSpPr txBox="1"/>
          <p:nvPr/>
        </p:nvSpPr>
        <p:spPr>
          <a:xfrm xmlns:a="http://schemas.openxmlformats.org/drawingml/2006/main">
            <a:off x="3738880" y="4927600"/>
            <a:ext cx="5969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A1A1A"/>
                </a:solidFill>
                <a:latin typeface="Poppins"/>
                <a:ea typeface="Poppins"/>
              </a:rPr>
              <a:t>Alcançar o maior número de pessoas da região pelo menor custo</a:t>
            </a:r>
          </a:p>
        </p:txBody>
      </p:sp>
      <p:sp>
        <p:nvSpPr>
          <p:cNvPr id="100103" name="TextBox 23"/>
          <p:cNvSpPr txBox="1"/>
          <p:nvPr/>
        </p:nvSpPr>
        <p:spPr>
          <a:xfrm xmlns:a="http://schemas.openxmlformats.org/drawingml/2006/main">
            <a:off x="9784080" y="4927600"/>
            <a:ext cx="14605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950" b="1">
                <a:solidFill>
                  <a:srgbClr val="E01C4C"/>
                </a:solidFill>
                <a:latin typeface="Poppins"/>
                <a:ea typeface="Poppins"/>
              </a:rPr>
              <a:t>contínuo</a:t>
            </a:r>
          </a:p>
        </p:txBody>
      </p:sp>
      <p:sp>
        <p:nvSpPr>
          <p:cNvPr id="100104" name="TextBox 24"/>
          <p:cNvSpPr txBox="1"/>
          <p:nvPr/>
        </p:nvSpPr>
        <p:spPr>
          <a:xfrm xmlns:a="http://schemas.openxmlformats.org/drawingml/2006/main">
            <a:off x="944880" y="5219700"/>
            <a:ext cx="2667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>
                <a:solidFill>
                  <a:srgbClr val="093652"/>
                </a:solidFill>
                <a:latin typeface="Poppins"/>
                <a:ea typeface="Poppins"/>
              </a:rPr>
              <a:t>Turbinar post</a:t>
            </a:r>
          </a:p>
        </p:txBody>
      </p:sp>
      <p:sp>
        <p:nvSpPr>
          <p:cNvPr id="100105" name="TextBox 25"/>
          <p:cNvSpPr txBox="1"/>
          <p:nvPr/>
        </p:nvSpPr>
        <p:spPr>
          <a:xfrm xmlns:a="http://schemas.openxmlformats.org/drawingml/2006/main">
            <a:off x="3738880" y="5219700"/>
            <a:ext cx="5969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A1A1A"/>
                </a:solidFill>
                <a:latin typeface="Poppins"/>
                <a:ea typeface="Poppins"/>
              </a:rPr>
              <a:t>Dar volume a um conteúdo específico do orgânico, com data e público definidos</a:t>
            </a:r>
          </a:p>
        </p:txBody>
      </p:sp>
      <p:sp>
        <p:nvSpPr>
          <p:cNvPr id="100106" name="TextBox 26"/>
          <p:cNvSpPr txBox="1"/>
          <p:nvPr/>
        </p:nvSpPr>
        <p:spPr>
          <a:xfrm xmlns:a="http://schemas.openxmlformats.org/drawingml/2006/main">
            <a:off x="9784080" y="5219700"/>
            <a:ext cx="14605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950" b="1">
                <a:solidFill>
                  <a:srgbClr val="E01C4C"/>
                </a:solidFill>
                <a:latin typeface="Poppins"/>
                <a:ea typeface="Poppins"/>
              </a:rPr>
              <a:t>7 dias ou mais</a:t>
            </a:r>
          </a:p>
        </p:txBody>
      </p:sp>
      <p:sp>
        <p:nvSpPr>
          <p:cNvPr id="100107" name="TextBox 27"/>
          <p:cNvSpPr txBox="1"/>
          <p:nvPr/>
        </p:nvSpPr>
        <p:spPr>
          <a:xfrm xmlns:a="http://schemas.openxmlformats.org/drawingml/2006/main">
            <a:off x="944880" y="5511800"/>
            <a:ext cx="2667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>
                <a:solidFill>
                  <a:srgbClr val="093652"/>
                </a:solidFill>
                <a:latin typeface="Poppins"/>
                <a:ea typeface="Poppins"/>
              </a:rPr>
              <a:t>Formulário no Meta (B2B)</a:t>
            </a:r>
          </a:p>
        </p:txBody>
      </p:sp>
      <p:sp>
        <p:nvSpPr>
          <p:cNvPr id="100108" name="TextBox 28"/>
          <p:cNvSpPr txBox="1"/>
          <p:nvPr/>
        </p:nvSpPr>
        <p:spPr>
          <a:xfrm xmlns:a="http://schemas.openxmlformats.org/drawingml/2006/main">
            <a:off x="3738880" y="5511800"/>
            <a:ext cx="5969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A1A1A"/>
                </a:solidFill>
                <a:latin typeface="Poppins"/>
                <a:ea typeface="Poppins"/>
              </a:rPr>
              <a:t>Captar lead de locação sem o lojista precisar sair do aplicativo</a:t>
            </a:r>
          </a:p>
        </p:txBody>
      </p:sp>
      <p:sp>
        <p:nvSpPr>
          <p:cNvPr id="100109" name="TextBox 29"/>
          <p:cNvSpPr txBox="1"/>
          <p:nvPr/>
        </p:nvSpPr>
        <p:spPr>
          <a:xfrm xmlns:a="http://schemas.openxmlformats.org/drawingml/2006/main">
            <a:off x="9784080" y="5511800"/>
            <a:ext cx="14605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950" b="1">
                <a:solidFill>
                  <a:srgbClr val="E01C4C"/>
                </a:solidFill>
                <a:latin typeface="Poppins"/>
                <a:ea typeface="Poppins"/>
              </a:rPr>
              <a:t>contínuo</a:t>
            </a:r>
          </a:p>
        </p:txBody>
      </p:sp>
      <p:sp>
        <p:nvSpPr>
          <p:cNvPr id="100110" name="TextBox 30"/>
          <p:cNvSpPr/>
          <p:nvPr/>
        </p:nvSpPr>
        <p:spPr>
          <a:xfrm xmlns:a="http://schemas.openxmlformats.org/drawingml/2006/main">
            <a:off x="640080" y="5969000"/>
            <a:ext cx="10911840" cy="533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9365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1" name="TextBox 31"/>
          <p:cNvSpPr txBox="1"/>
          <p:nvPr/>
        </p:nvSpPr>
        <p:spPr>
          <a:xfrm xmlns:a="http://schemas.openxmlformats.org/drawingml/2006/main">
            <a:off x="944880" y="6045200"/>
            <a:ext cx="1030224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050">
                <a:solidFill>
                  <a:srgbClr val="FFFFFF"/>
                </a:solidFill>
                <a:latin typeface="Poppins"/>
                <a:ea typeface="Poppins"/>
              </a:rPr>
              <a:t>Hoje 97% da verba do B2C roda em objetivos ligados a perfil e clique, e 3% em alcance. Apoiar o crescimento do orgânico é uma decisão da gestão e ela está sendo executada. O quadro acima mostra que existe mais de uma forma de fazer isso, e a escolha entre elas é de vocês.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12" name="TextBox 1"/>
          <p:cNvSpPr txBox="1"/>
          <p:nvPr/>
        </p:nvSpPr>
        <p:spPr>
          <a:xfrm xmlns:a="http://schemas.openxmlformats.org/drawingml/2006/main">
            <a:off x="640080" y="431800"/>
            <a:ext cx="1091184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 spc="200">
                <a:solidFill>
                  <a:srgbClr val="E01C4C"/>
                </a:solidFill>
                <a:latin typeface="Poppins"/>
                <a:ea typeface="Poppins"/>
              </a:rPr>
              <a:t>TURBINAR · SOMENTE JULHO / 2026</a:t>
            </a:r>
          </a:p>
        </p:txBody>
      </p:sp>
      <p:sp>
        <p:nvSpPr>
          <p:cNvPr id="100113" name="TextBox 2"/>
          <p:cNvSpPr txBox="1"/>
          <p:nvPr/>
        </p:nvSpPr>
        <p:spPr>
          <a:xfrm xmlns:a="http://schemas.openxmlformats.org/drawingml/2006/main">
            <a:off x="640080" y="812800"/>
            <a:ext cx="1091184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3000" b="1">
                <a:solidFill>
                  <a:srgbClr val="093652"/>
                </a:solidFill>
                <a:latin typeface="Poppins"/>
                <a:ea typeface="Poppins"/>
              </a:rPr>
              <a:t>O combinado em 06/07 e o realizado em julho</a:t>
            </a:r>
          </a:p>
        </p:txBody>
      </p:sp>
      <p:sp>
        <p:nvSpPr>
          <p:cNvPr id="100114" name="TextBox 3"/>
          <p:cNvSpPr txBox="1"/>
          <p:nvPr/>
        </p:nvSpPr>
        <p:spPr>
          <a:xfrm xmlns:a="http://schemas.openxmlformats.org/drawingml/2006/main">
            <a:off x="640080" y="1397000"/>
            <a:ext cx="1091184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4A5568"/>
                </a:solidFill>
                <a:latin typeface="Poppins"/>
                <a:ea typeface="Poppins"/>
              </a:rPr>
              <a:t>Considera apenas julho: realizado até 24/07 mais o que ainda roda até 31/07.</a:t>
            </a:r>
          </a:p>
        </p:txBody>
      </p:sp>
      <p:sp>
        <p:nvSpPr>
          <p:cNvPr id="100115" name="TextBox 4"/>
          <p:cNvSpPr/>
          <p:nvPr/>
        </p:nvSpPr>
        <p:spPr>
          <a:xfrm xmlns:a="http://schemas.openxmlformats.org/drawingml/2006/main">
            <a:off x="640080" y="1752600"/>
            <a:ext cx="2604135" cy="787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6" name="TextBox 5"/>
          <p:cNvSpPr txBox="1"/>
          <p:nvPr/>
        </p:nvSpPr>
        <p:spPr>
          <a:xfrm xmlns:a="http://schemas.openxmlformats.org/drawingml/2006/main">
            <a:off x="843280" y="1879600"/>
            <a:ext cx="2197735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 b="1" spc="100">
                <a:solidFill>
                  <a:srgbClr val="6B7280"/>
                </a:solidFill>
                <a:latin typeface="Poppins"/>
                <a:ea typeface="Poppins"/>
              </a:rPr>
              <a:t>VERBA DO MÊS</a:t>
            </a:r>
          </a:p>
        </p:txBody>
      </p:sp>
      <p:sp>
        <p:nvSpPr>
          <p:cNvPr id="100117" name="TextBox 6"/>
          <p:cNvSpPr txBox="1"/>
          <p:nvPr/>
        </p:nvSpPr>
        <p:spPr>
          <a:xfrm xmlns:a="http://schemas.openxmlformats.org/drawingml/2006/main">
            <a:off x="843280" y="2108200"/>
            <a:ext cx="2197735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50" b="1">
                <a:solidFill>
                  <a:srgbClr val="093652"/>
                </a:solidFill>
                <a:latin typeface="Poppins"/>
                <a:ea typeface="Poppins"/>
              </a:rPr>
              <a:t>R$ 2.200  →  R$ 2.348</a:t>
            </a:r>
          </a:p>
        </p:txBody>
      </p:sp>
      <p:sp>
        <p:nvSpPr>
          <p:cNvPr id="100118" name="TextBox 7"/>
          <p:cNvSpPr/>
          <p:nvPr/>
        </p:nvSpPr>
        <p:spPr>
          <a:xfrm xmlns:a="http://schemas.openxmlformats.org/drawingml/2006/main">
            <a:off x="3409315" y="1752600"/>
            <a:ext cx="2604135" cy="787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9" name="TextBox 8"/>
          <p:cNvSpPr txBox="1"/>
          <p:nvPr/>
        </p:nvSpPr>
        <p:spPr>
          <a:xfrm xmlns:a="http://schemas.openxmlformats.org/drawingml/2006/main">
            <a:off x="3612515" y="1879600"/>
            <a:ext cx="2197735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 b="1" spc="100">
                <a:solidFill>
                  <a:srgbClr val="6B7280"/>
                </a:solidFill>
                <a:latin typeface="Poppins"/>
                <a:ea typeface="Poppins"/>
              </a:rPr>
              <a:t>PEÇAS NO AR</a:t>
            </a:r>
          </a:p>
        </p:txBody>
      </p:sp>
      <p:sp>
        <p:nvSpPr>
          <p:cNvPr id="100120" name="TextBox 9"/>
          <p:cNvSpPr txBox="1"/>
          <p:nvPr/>
        </p:nvSpPr>
        <p:spPr>
          <a:xfrm xmlns:a="http://schemas.openxmlformats.org/drawingml/2006/main">
            <a:off x="3612515" y="2108200"/>
            <a:ext cx="2197735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50" b="1">
                <a:solidFill>
                  <a:srgbClr val="093652"/>
                </a:solidFill>
                <a:latin typeface="Poppins"/>
                <a:ea typeface="Poppins"/>
              </a:rPr>
              <a:t>10  →  18</a:t>
            </a:r>
          </a:p>
        </p:txBody>
      </p:sp>
      <p:sp>
        <p:nvSpPr>
          <p:cNvPr id="100121" name="TextBox 10"/>
          <p:cNvSpPr/>
          <p:nvPr/>
        </p:nvSpPr>
        <p:spPr>
          <a:xfrm xmlns:a="http://schemas.openxmlformats.org/drawingml/2006/main">
            <a:off x="6178550" y="1752600"/>
            <a:ext cx="2604135" cy="787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2" name="TextBox 11"/>
          <p:cNvSpPr txBox="1"/>
          <p:nvPr/>
        </p:nvSpPr>
        <p:spPr>
          <a:xfrm xmlns:a="http://schemas.openxmlformats.org/drawingml/2006/main">
            <a:off x="6381750" y="1879600"/>
            <a:ext cx="2197735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 b="1" spc="100">
                <a:solidFill>
                  <a:srgbClr val="6B7280"/>
                </a:solidFill>
                <a:latin typeface="Poppins"/>
                <a:ea typeface="Poppins"/>
              </a:rPr>
              <a:t>VERBA POR PEÇA</a:t>
            </a:r>
          </a:p>
        </p:txBody>
      </p:sp>
      <p:sp>
        <p:nvSpPr>
          <p:cNvPr id="100123" name="TextBox 12"/>
          <p:cNvSpPr txBox="1"/>
          <p:nvPr/>
        </p:nvSpPr>
        <p:spPr>
          <a:xfrm xmlns:a="http://schemas.openxmlformats.org/drawingml/2006/main">
            <a:off x="6381750" y="2108200"/>
            <a:ext cx="2197735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50" b="1">
                <a:solidFill>
                  <a:srgbClr val="093652"/>
                </a:solidFill>
                <a:latin typeface="Poppins"/>
                <a:ea typeface="Poppins"/>
              </a:rPr>
              <a:t>R$ 220  →  R$ 130</a:t>
            </a:r>
          </a:p>
        </p:txBody>
      </p:sp>
      <p:sp>
        <p:nvSpPr>
          <p:cNvPr id="100124" name="TextBox 13"/>
          <p:cNvSpPr/>
          <p:nvPr/>
        </p:nvSpPr>
        <p:spPr>
          <a:xfrm xmlns:a="http://schemas.openxmlformats.org/drawingml/2006/main">
            <a:off x="8947785" y="1752600"/>
            <a:ext cx="2604135" cy="787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5" name="TextBox 14"/>
          <p:cNvSpPr txBox="1"/>
          <p:nvPr/>
        </p:nvSpPr>
        <p:spPr>
          <a:xfrm xmlns:a="http://schemas.openxmlformats.org/drawingml/2006/main">
            <a:off x="9150985" y="1879600"/>
            <a:ext cx="2197735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 b="1" spc="100">
                <a:solidFill>
                  <a:srgbClr val="6B7280"/>
                </a:solidFill>
                <a:latin typeface="Poppins"/>
                <a:ea typeface="Poppins"/>
              </a:rPr>
              <a:t>LOJAS × SHOPPING</a:t>
            </a:r>
          </a:p>
        </p:txBody>
      </p:sp>
      <p:sp>
        <p:nvSpPr>
          <p:cNvPr id="100126" name="TextBox 15"/>
          <p:cNvSpPr txBox="1"/>
          <p:nvPr/>
        </p:nvSpPr>
        <p:spPr>
          <a:xfrm xmlns:a="http://schemas.openxmlformats.org/drawingml/2006/main">
            <a:off x="9150985" y="2108200"/>
            <a:ext cx="2197735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50" b="1">
                <a:solidFill>
                  <a:srgbClr val="093652"/>
                </a:solidFill>
                <a:latin typeface="Poppins"/>
                <a:ea typeface="Poppins"/>
              </a:rPr>
              <a:t>41/57  →  43,5/56,5</a:t>
            </a:r>
          </a:p>
        </p:txBody>
      </p:sp>
      <p:sp>
        <p:nvSpPr>
          <p:cNvPr id="100127" name="TextBox 16"/>
          <p:cNvSpPr/>
          <p:nvPr/>
        </p:nvSpPr>
        <p:spPr>
          <a:xfrm xmlns:a="http://schemas.openxmlformats.org/drawingml/2006/main">
            <a:off x="640080" y="2667000"/>
            <a:ext cx="5323840" cy="2489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8" name="TextBox 17"/>
          <p:cNvSpPr txBox="1"/>
          <p:nvPr/>
        </p:nvSpPr>
        <p:spPr>
          <a:xfrm xmlns:a="http://schemas.openxmlformats.org/drawingml/2006/main">
            <a:off x="919480" y="2819400"/>
            <a:ext cx="317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157DBF"/>
                </a:solidFill>
                <a:latin typeface="Poppins"/>
                <a:ea typeface="Poppins"/>
              </a:rPr>
              <a:t>LOJAS  ·  9 peças</a:t>
            </a:r>
          </a:p>
        </p:txBody>
      </p:sp>
      <p:sp>
        <p:nvSpPr>
          <p:cNvPr id="100129" name="TextBox 18"/>
          <p:cNvSpPr txBox="1"/>
          <p:nvPr/>
        </p:nvSpPr>
        <p:spPr>
          <a:xfrm xmlns:a="http://schemas.openxmlformats.org/drawingml/2006/main">
            <a:off x="4094480" y="2819400"/>
            <a:ext cx="158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093652"/>
                </a:solidFill>
                <a:latin typeface="Poppins"/>
                <a:ea typeface="Poppins"/>
              </a:rPr>
              <a:t>R$ 1.022  ·  43,5%</a:t>
            </a:r>
          </a:p>
        </p:txBody>
      </p:sp>
      <p:sp>
        <p:nvSpPr>
          <p:cNvPr id="100130" name="TextBox 19"/>
          <p:cNvSpPr txBox="1"/>
          <p:nvPr/>
        </p:nvSpPr>
        <p:spPr>
          <a:xfrm xmlns:a="http://schemas.openxmlformats.org/drawingml/2006/main">
            <a:off x="919480" y="3175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Bella da Ju</a:t>
            </a:r>
          </a:p>
        </p:txBody>
      </p:sp>
      <p:sp>
        <p:nvSpPr>
          <p:cNvPr id="100131" name="TextBox 20"/>
          <p:cNvSpPr txBox="1"/>
          <p:nvPr/>
        </p:nvSpPr>
        <p:spPr>
          <a:xfrm xmlns:a="http://schemas.openxmlformats.org/drawingml/2006/main">
            <a:off x="4729480" y="31750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R$ 272</a:t>
            </a:r>
          </a:p>
        </p:txBody>
      </p:sp>
      <p:sp>
        <p:nvSpPr>
          <p:cNvPr id="100132" name="TextBox 21"/>
          <p:cNvSpPr txBox="1"/>
          <p:nvPr/>
        </p:nvSpPr>
        <p:spPr>
          <a:xfrm xmlns:a="http://schemas.openxmlformats.org/drawingml/2006/main">
            <a:off x="919480" y="33782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De Meninas</a:t>
            </a:r>
          </a:p>
        </p:txBody>
      </p:sp>
      <p:sp>
        <p:nvSpPr>
          <p:cNvPr id="100133" name="TextBox 22"/>
          <p:cNvSpPr txBox="1"/>
          <p:nvPr/>
        </p:nvSpPr>
        <p:spPr>
          <a:xfrm xmlns:a="http://schemas.openxmlformats.org/drawingml/2006/main">
            <a:off x="4729480" y="33782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R$ 222</a:t>
            </a:r>
          </a:p>
        </p:txBody>
      </p:sp>
      <p:sp>
        <p:nvSpPr>
          <p:cNvPr id="100134" name="TextBox 23"/>
          <p:cNvSpPr txBox="1"/>
          <p:nvPr/>
        </p:nvSpPr>
        <p:spPr>
          <a:xfrm xmlns:a="http://schemas.openxmlformats.org/drawingml/2006/main">
            <a:off x="919480" y="35814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Ivare</a:t>
            </a:r>
          </a:p>
        </p:txBody>
      </p:sp>
      <p:sp>
        <p:nvSpPr>
          <p:cNvPr id="100135" name="TextBox 24"/>
          <p:cNvSpPr txBox="1"/>
          <p:nvPr/>
        </p:nvSpPr>
        <p:spPr>
          <a:xfrm xmlns:a="http://schemas.openxmlformats.org/drawingml/2006/main">
            <a:off x="4729480" y="3581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R$ 143</a:t>
            </a:r>
          </a:p>
        </p:txBody>
      </p:sp>
      <p:sp>
        <p:nvSpPr>
          <p:cNvPr id="100136" name="TextBox 25"/>
          <p:cNvSpPr txBox="1"/>
          <p:nvPr/>
        </p:nvSpPr>
        <p:spPr>
          <a:xfrm xmlns:a="http://schemas.openxmlformats.org/drawingml/2006/main">
            <a:off x="919480" y="37846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Sol Kids</a:t>
            </a:r>
          </a:p>
        </p:txBody>
      </p:sp>
      <p:sp>
        <p:nvSpPr>
          <p:cNvPr id="100137" name="TextBox 26"/>
          <p:cNvSpPr txBox="1"/>
          <p:nvPr/>
        </p:nvSpPr>
        <p:spPr>
          <a:xfrm xmlns:a="http://schemas.openxmlformats.org/drawingml/2006/main">
            <a:off x="4729480" y="37846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R$ 107</a:t>
            </a:r>
          </a:p>
        </p:txBody>
      </p:sp>
      <p:sp>
        <p:nvSpPr>
          <p:cNvPr id="100138" name="TextBox 27"/>
          <p:cNvSpPr txBox="1"/>
          <p:nvPr/>
        </p:nvSpPr>
        <p:spPr>
          <a:xfrm xmlns:a="http://schemas.openxmlformats.org/drawingml/2006/main">
            <a:off x="919480" y="39878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Mercadão dos Celulares</a:t>
            </a:r>
          </a:p>
        </p:txBody>
      </p:sp>
      <p:sp>
        <p:nvSpPr>
          <p:cNvPr id="100139" name="TextBox 28"/>
          <p:cNvSpPr txBox="1"/>
          <p:nvPr/>
        </p:nvSpPr>
        <p:spPr>
          <a:xfrm xmlns:a="http://schemas.openxmlformats.org/drawingml/2006/main">
            <a:off x="4729480" y="39878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R$ 65</a:t>
            </a:r>
          </a:p>
        </p:txBody>
      </p:sp>
      <p:sp>
        <p:nvSpPr>
          <p:cNvPr id="100140" name="TextBox 29"/>
          <p:cNvSpPr txBox="1"/>
          <p:nvPr/>
        </p:nvSpPr>
        <p:spPr>
          <a:xfrm xmlns:a="http://schemas.openxmlformats.org/drawingml/2006/main">
            <a:off x="919480" y="4191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Top Livros</a:t>
            </a:r>
          </a:p>
        </p:txBody>
      </p:sp>
      <p:sp>
        <p:nvSpPr>
          <p:cNvPr id="100141" name="TextBox 30"/>
          <p:cNvSpPr txBox="1"/>
          <p:nvPr/>
        </p:nvSpPr>
        <p:spPr>
          <a:xfrm xmlns:a="http://schemas.openxmlformats.org/drawingml/2006/main">
            <a:off x="4729480" y="41910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R$ 64</a:t>
            </a:r>
          </a:p>
        </p:txBody>
      </p:sp>
      <p:sp>
        <p:nvSpPr>
          <p:cNvPr id="100142" name="TextBox 31"/>
          <p:cNvSpPr txBox="1"/>
          <p:nvPr/>
        </p:nvSpPr>
        <p:spPr>
          <a:xfrm xmlns:a="http://schemas.openxmlformats.org/drawingml/2006/main">
            <a:off x="919480" y="43942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Urban Market</a:t>
            </a:r>
          </a:p>
        </p:txBody>
      </p:sp>
      <p:sp>
        <p:nvSpPr>
          <p:cNvPr id="100143" name="TextBox 32"/>
          <p:cNvSpPr txBox="1"/>
          <p:nvPr/>
        </p:nvSpPr>
        <p:spPr>
          <a:xfrm xmlns:a="http://schemas.openxmlformats.org/drawingml/2006/main">
            <a:off x="4729480" y="43942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R$ 64</a:t>
            </a:r>
          </a:p>
        </p:txBody>
      </p:sp>
      <p:sp>
        <p:nvSpPr>
          <p:cNvPr id="100144" name="TextBox 33"/>
          <p:cNvSpPr txBox="1"/>
          <p:nvPr/>
        </p:nvSpPr>
        <p:spPr>
          <a:xfrm xmlns:a="http://schemas.openxmlformats.org/drawingml/2006/main">
            <a:off x="919480" y="45974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Alice Boutique</a:t>
            </a:r>
          </a:p>
        </p:txBody>
      </p:sp>
      <p:sp>
        <p:nvSpPr>
          <p:cNvPr id="100145" name="TextBox 34"/>
          <p:cNvSpPr txBox="1"/>
          <p:nvPr/>
        </p:nvSpPr>
        <p:spPr>
          <a:xfrm xmlns:a="http://schemas.openxmlformats.org/drawingml/2006/main">
            <a:off x="4729480" y="4597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R$ 48</a:t>
            </a:r>
          </a:p>
        </p:txBody>
      </p:sp>
      <p:sp>
        <p:nvSpPr>
          <p:cNvPr id="100146" name="TextBox 35"/>
          <p:cNvSpPr txBox="1"/>
          <p:nvPr/>
        </p:nvSpPr>
        <p:spPr>
          <a:xfrm xmlns:a="http://schemas.openxmlformats.org/drawingml/2006/main">
            <a:off x="919480" y="48006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Beck Decorhome</a:t>
            </a:r>
          </a:p>
        </p:txBody>
      </p:sp>
      <p:sp>
        <p:nvSpPr>
          <p:cNvPr id="100147" name="TextBox 36"/>
          <p:cNvSpPr txBox="1"/>
          <p:nvPr/>
        </p:nvSpPr>
        <p:spPr>
          <a:xfrm xmlns:a="http://schemas.openxmlformats.org/drawingml/2006/main">
            <a:off x="4729480" y="48006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R$ 37</a:t>
            </a:r>
          </a:p>
        </p:txBody>
      </p:sp>
      <p:sp>
        <p:nvSpPr>
          <p:cNvPr id="100148" name="TextBox 37"/>
          <p:cNvSpPr/>
          <p:nvPr/>
        </p:nvSpPr>
        <p:spPr>
          <a:xfrm xmlns:a="http://schemas.openxmlformats.org/drawingml/2006/main">
            <a:off x="6228080" y="2667000"/>
            <a:ext cx="5323840" cy="2489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49" name="TextBox 38"/>
          <p:cNvSpPr txBox="1"/>
          <p:nvPr/>
        </p:nvSpPr>
        <p:spPr>
          <a:xfrm xmlns:a="http://schemas.openxmlformats.org/drawingml/2006/main">
            <a:off x="6507480" y="2819400"/>
            <a:ext cx="317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E01C4C"/>
                </a:solidFill>
                <a:latin typeface="Poppins"/>
                <a:ea typeface="Poppins"/>
              </a:rPr>
              <a:t>POSTAGENS DO SHOPPING  ·  9 peças</a:t>
            </a:r>
          </a:p>
        </p:txBody>
      </p:sp>
      <p:sp>
        <p:nvSpPr>
          <p:cNvPr id="100150" name="TextBox 39"/>
          <p:cNvSpPr txBox="1"/>
          <p:nvPr/>
        </p:nvSpPr>
        <p:spPr>
          <a:xfrm xmlns:a="http://schemas.openxmlformats.org/drawingml/2006/main">
            <a:off x="9682480" y="2819400"/>
            <a:ext cx="158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093652"/>
                </a:solidFill>
                <a:latin typeface="Poppins"/>
                <a:ea typeface="Poppins"/>
              </a:rPr>
              <a:t>R$ 1.326  ·  56,5%</a:t>
            </a:r>
          </a:p>
        </p:txBody>
      </p:sp>
      <p:sp>
        <p:nvSpPr>
          <p:cNvPr id="100151" name="TextBox 40"/>
          <p:cNvSpPr txBox="1"/>
          <p:nvPr/>
        </p:nvSpPr>
        <p:spPr>
          <a:xfrm xmlns:a="http://schemas.openxmlformats.org/drawingml/2006/main">
            <a:off x="6507480" y="3175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Feira Coreana</a:t>
            </a:r>
          </a:p>
        </p:txBody>
      </p:sp>
      <p:sp>
        <p:nvSpPr>
          <p:cNvPr id="100152" name="TextBox 41"/>
          <p:cNvSpPr txBox="1"/>
          <p:nvPr/>
        </p:nvSpPr>
        <p:spPr>
          <a:xfrm xmlns:a="http://schemas.openxmlformats.org/drawingml/2006/main">
            <a:off x="10317480" y="31750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R$ 283</a:t>
            </a:r>
          </a:p>
        </p:txBody>
      </p:sp>
      <p:sp>
        <p:nvSpPr>
          <p:cNvPr id="100153" name="TextBox 42"/>
          <p:cNvSpPr txBox="1"/>
          <p:nvPr/>
        </p:nvSpPr>
        <p:spPr>
          <a:xfrm xmlns:a="http://schemas.openxmlformats.org/drawingml/2006/main">
            <a:off x="6507480" y="33782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Oficina de Slime</a:t>
            </a:r>
          </a:p>
        </p:txBody>
      </p:sp>
      <p:sp>
        <p:nvSpPr>
          <p:cNvPr id="100154" name="TextBox 43"/>
          <p:cNvSpPr txBox="1"/>
          <p:nvPr/>
        </p:nvSpPr>
        <p:spPr>
          <a:xfrm xmlns:a="http://schemas.openxmlformats.org/drawingml/2006/main">
            <a:off x="10317480" y="33782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R$ 240</a:t>
            </a:r>
          </a:p>
        </p:txBody>
      </p:sp>
      <p:sp>
        <p:nvSpPr>
          <p:cNvPr id="100155" name="TextBox 44"/>
          <p:cNvSpPr txBox="1"/>
          <p:nvPr/>
        </p:nvSpPr>
        <p:spPr>
          <a:xfrm xmlns:a="http://schemas.openxmlformats.org/drawingml/2006/main">
            <a:off x="6507480" y="35814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Concorra a um iPhone</a:t>
            </a:r>
          </a:p>
        </p:txBody>
      </p:sp>
      <p:sp>
        <p:nvSpPr>
          <p:cNvPr id="100156" name="TextBox 45"/>
          <p:cNvSpPr txBox="1"/>
          <p:nvPr/>
        </p:nvSpPr>
        <p:spPr>
          <a:xfrm xmlns:a="http://schemas.openxmlformats.org/drawingml/2006/main">
            <a:off x="10317480" y="3581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R$ 235</a:t>
            </a:r>
          </a:p>
        </p:txBody>
      </p:sp>
      <p:sp>
        <p:nvSpPr>
          <p:cNvPr id="100157" name="TextBox 46"/>
          <p:cNvSpPr txBox="1"/>
          <p:nvPr/>
        </p:nvSpPr>
        <p:spPr>
          <a:xfrm xmlns:a="http://schemas.openxmlformats.org/drawingml/2006/main">
            <a:off x="6507480" y="37846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Artesanato Kids e Oficina Peteca</a:t>
            </a:r>
          </a:p>
        </p:txBody>
      </p:sp>
      <p:sp>
        <p:nvSpPr>
          <p:cNvPr id="100158" name="TextBox 47"/>
          <p:cNvSpPr txBox="1"/>
          <p:nvPr/>
        </p:nvSpPr>
        <p:spPr>
          <a:xfrm xmlns:a="http://schemas.openxmlformats.org/drawingml/2006/main">
            <a:off x="10317480" y="37846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R$ 217</a:t>
            </a:r>
          </a:p>
        </p:txBody>
      </p:sp>
      <p:sp>
        <p:nvSpPr>
          <p:cNvPr id="100159" name="TextBox 48"/>
          <p:cNvSpPr txBox="1"/>
          <p:nvPr/>
        </p:nvSpPr>
        <p:spPr>
          <a:xfrm xmlns:a="http://schemas.openxmlformats.org/drawingml/2006/main">
            <a:off x="6507480" y="39878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Operação Férias · calendário</a:t>
            </a:r>
          </a:p>
        </p:txBody>
      </p:sp>
      <p:sp>
        <p:nvSpPr>
          <p:cNvPr id="100160" name="TextBox 49"/>
          <p:cNvSpPr txBox="1"/>
          <p:nvPr/>
        </p:nvSpPr>
        <p:spPr>
          <a:xfrm xmlns:a="http://schemas.openxmlformats.org/drawingml/2006/main">
            <a:off x="10317480" y="39878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R$ 101</a:t>
            </a:r>
          </a:p>
        </p:txBody>
      </p:sp>
      <p:sp>
        <p:nvSpPr>
          <p:cNvPr id="100161" name="TextBox 50"/>
          <p:cNvSpPr txBox="1"/>
          <p:nvPr/>
        </p:nvSpPr>
        <p:spPr>
          <a:xfrm xmlns:a="http://schemas.openxmlformats.org/drawingml/2006/main">
            <a:off x="6507480" y="4191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Feira de Artesanato Fazendo Arte</a:t>
            </a:r>
          </a:p>
        </p:txBody>
      </p:sp>
      <p:sp>
        <p:nvSpPr>
          <p:cNvPr id="100162" name="TextBox 51"/>
          <p:cNvSpPr txBox="1"/>
          <p:nvPr/>
        </p:nvSpPr>
        <p:spPr>
          <a:xfrm xmlns:a="http://schemas.openxmlformats.org/drawingml/2006/main">
            <a:off x="10317480" y="41910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R$ 100</a:t>
            </a:r>
          </a:p>
        </p:txBody>
      </p:sp>
      <p:sp>
        <p:nvSpPr>
          <p:cNvPr id="100163" name="TextBox 52"/>
          <p:cNvSpPr txBox="1"/>
          <p:nvPr/>
        </p:nvSpPr>
        <p:spPr>
          <a:xfrm xmlns:a="http://schemas.openxmlformats.org/drawingml/2006/main">
            <a:off x="6507480" y="43942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Oficina Sapinho</a:t>
            </a:r>
          </a:p>
        </p:txBody>
      </p:sp>
      <p:sp>
        <p:nvSpPr>
          <p:cNvPr id="100164" name="TextBox 53"/>
          <p:cNvSpPr txBox="1"/>
          <p:nvPr/>
        </p:nvSpPr>
        <p:spPr>
          <a:xfrm xmlns:a="http://schemas.openxmlformats.org/drawingml/2006/main">
            <a:off x="10317480" y="43942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R$ 87</a:t>
            </a:r>
          </a:p>
        </p:txBody>
      </p:sp>
      <p:sp>
        <p:nvSpPr>
          <p:cNvPr id="100165" name="TextBox 54"/>
          <p:cNvSpPr txBox="1"/>
          <p:nvPr/>
        </p:nvSpPr>
        <p:spPr>
          <a:xfrm xmlns:a="http://schemas.openxmlformats.org/drawingml/2006/main">
            <a:off x="6507480" y="45974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Operação Férias · ofertas</a:t>
            </a:r>
          </a:p>
        </p:txBody>
      </p:sp>
      <p:sp>
        <p:nvSpPr>
          <p:cNvPr id="100166" name="TextBox 55"/>
          <p:cNvSpPr txBox="1"/>
          <p:nvPr/>
        </p:nvSpPr>
        <p:spPr>
          <a:xfrm xmlns:a="http://schemas.openxmlformats.org/drawingml/2006/main">
            <a:off x="10317480" y="4597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R$ 42</a:t>
            </a:r>
          </a:p>
        </p:txBody>
      </p:sp>
      <p:sp>
        <p:nvSpPr>
          <p:cNvPr id="100167" name="TextBox 56"/>
          <p:cNvSpPr txBox="1"/>
          <p:nvPr/>
        </p:nvSpPr>
        <p:spPr>
          <a:xfrm xmlns:a="http://schemas.openxmlformats.org/drawingml/2006/main">
            <a:off x="6507480" y="48006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Teaser Minions</a:t>
            </a:r>
          </a:p>
        </p:txBody>
      </p:sp>
      <p:sp>
        <p:nvSpPr>
          <p:cNvPr id="100168" name="TextBox 57"/>
          <p:cNvSpPr txBox="1"/>
          <p:nvPr/>
        </p:nvSpPr>
        <p:spPr>
          <a:xfrm xmlns:a="http://schemas.openxmlformats.org/drawingml/2006/main">
            <a:off x="10317480" y="48006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R$ 21</a:t>
            </a:r>
          </a:p>
        </p:txBody>
      </p:sp>
      <p:sp>
        <p:nvSpPr>
          <p:cNvPr id="100169" name="TextBox 58"/>
          <p:cNvSpPr/>
          <p:nvPr/>
        </p:nvSpPr>
        <p:spPr>
          <a:xfrm xmlns:a="http://schemas.openxmlformats.org/drawingml/2006/main">
            <a:off x="640080" y="5232400"/>
            <a:ext cx="3467100" cy="127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9365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0" name="TextBox 59"/>
          <p:cNvSpPr txBox="1"/>
          <p:nvPr/>
        </p:nvSpPr>
        <p:spPr>
          <a:xfrm xmlns:a="http://schemas.openxmlformats.org/drawingml/2006/main">
            <a:off x="868680" y="5359400"/>
            <a:ext cx="3048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00" b="1" spc="100">
                <a:solidFill>
                  <a:srgbClr val="1DAFE0"/>
                </a:solidFill>
                <a:latin typeface="Poppins"/>
                <a:ea typeface="Poppins"/>
              </a:rPr>
              <a:t>A RÉGUA DE R$ 6/DIA ESTÁ VALENDO</a:t>
            </a:r>
          </a:p>
        </p:txBody>
      </p:sp>
      <p:sp>
        <p:nvSpPr>
          <p:cNvPr id="100171" name="TextBox 60"/>
          <p:cNvSpPr txBox="1"/>
          <p:nvPr/>
        </p:nvSpPr>
        <p:spPr>
          <a:xfrm xmlns:a="http://schemas.openxmlformats.org/drawingml/2006/main">
            <a:off x="868680" y="5588000"/>
            <a:ext cx="3048000" cy="863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</a:pPr>
            <a:r>
              <a:rPr lang="en-US" sz="850">
                <a:solidFill>
                  <a:srgbClr val="FFFFFF"/>
                </a:solidFill>
                <a:latin typeface="Poppins"/>
                <a:ea typeface="Poppins"/>
              </a:rPr>
              <a:t>Ela passou a valer em 06/07 e vem sendo seguida: todas as lojas que entraram depois do alinhamento estão em R$ 6/dia. As que aparecem acima começaram antes e seguem com a diária anterior até encerrar o período.</a:t>
            </a:r>
          </a:p>
        </p:txBody>
      </p:sp>
      <p:sp>
        <p:nvSpPr>
          <p:cNvPr id="100172" name="TextBox 61"/>
          <p:cNvSpPr/>
          <p:nvPr/>
        </p:nvSpPr>
        <p:spPr>
          <a:xfrm xmlns:a="http://schemas.openxmlformats.org/drawingml/2006/main">
            <a:off x="4362450" y="5232400"/>
            <a:ext cx="3467100" cy="127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9365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3" name="TextBox 62"/>
          <p:cNvSpPr txBox="1"/>
          <p:nvPr/>
        </p:nvSpPr>
        <p:spPr>
          <a:xfrm xmlns:a="http://schemas.openxmlformats.org/drawingml/2006/main">
            <a:off x="4591050" y="5359400"/>
            <a:ext cx="3048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00" b="1" spc="100">
                <a:solidFill>
                  <a:srgbClr val="1DAFE0"/>
                </a:solidFill>
                <a:latin typeface="Poppins"/>
                <a:ea typeface="Poppins"/>
              </a:rPr>
              <a:t>A DIVISÃO FICOU COMO O PLANO PREVIA</a:t>
            </a:r>
          </a:p>
        </p:txBody>
      </p:sp>
      <p:sp>
        <p:nvSpPr>
          <p:cNvPr id="100174" name="TextBox 63"/>
          <p:cNvSpPr txBox="1"/>
          <p:nvPr/>
        </p:nvSpPr>
        <p:spPr>
          <a:xfrm xmlns:a="http://schemas.openxmlformats.org/drawingml/2006/main">
            <a:off x="4591050" y="5588000"/>
            <a:ext cx="3048000" cy="863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</a:pPr>
            <a:r>
              <a:rPr lang="en-US" sz="850">
                <a:solidFill>
                  <a:srgbClr val="FFFFFF"/>
                </a:solidFill>
                <a:latin typeface="Poppins"/>
                <a:ea typeface="Poppins"/>
              </a:rPr>
              <a:t>Verba e divisão entre lojas e shopping ficaram praticamente onde o plano colocou. O que dobrou foi a quantidade de peças, e é isso que reduz a verba de cada uma.</a:t>
            </a:r>
          </a:p>
        </p:txBody>
      </p:sp>
      <p:sp>
        <p:nvSpPr>
          <p:cNvPr id="100175" name="TextBox 64"/>
          <p:cNvSpPr/>
          <p:nvPr/>
        </p:nvSpPr>
        <p:spPr>
          <a:xfrm xmlns:a="http://schemas.openxmlformats.org/drawingml/2006/main">
            <a:off x="8084820" y="5232400"/>
            <a:ext cx="3467100" cy="127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9365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6" name="TextBox 65"/>
          <p:cNvSpPr txBox="1"/>
          <p:nvPr/>
        </p:nvSpPr>
        <p:spPr>
          <a:xfrm xmlns:a="http://schemas.openxmlformats.org/drawingml/2006/main">
            <a:off x="8313420" y="5359400"/>
            <a:ext cx="3048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00" b="1" spc="100">
                <a:solidFill>
                  <a:srgbClr val="1DAFE0"/>
                </a:solidFill>
                <a:latin typeface="Poppins"/>
                <a:ea typeface="Poppins"/>
              </a:rPr>
              <a:t>TEMPO NO AR É O AJUSTE MAIS FÁCIL</a:t>
            </a:r>
          </a:p>
        </p:txBody>
      </p:sp>
      <p:sp>
        <p:nvSpPr>
          <p:cNvPr id="100177" name="TextBox 66"/>
          <p:cNvSpPr txBox="1"/>
          <p:nvPr/>
        </p:nvSpPr>
        <p:spPr>
          <a:xfrm xmlns:a="http://schemas.openxmlformats.org/drawingml/2006/main">
            <a:off x="8313420" y="5588000"/>
            <a:ext cx="3048000" cy="863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</a:pPr>
            <a:r>
              <a:rPr lang="en-US" sz="850">
                <a:solidFill>
                  <a:srgbClr val="FFFFFF"/>
                </a:solidFill>
                <a:latin typeface="Poppins"/>
                <a:ea typeface="Poppins"/>
              </a:rPr>
              <a:t>Quatro oficinas e feiras somam R$ 644 em campanhas de 2 a 6 dias. Nesse prazo sobra pouco tempo de otimização: menos peças com mais dias tende a render mais pelo mesmo valor.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78" name="TextBox 1"/>
          <p:cNvSpPr txBox="1"/>
          <p:nvPr/>
        </p:nvSpPr>
        <p:spPr>
          <a:xfrm xmlns:a="http://schemas.openxmlformats.org/drawingml/2006/main">
            <a:off x="640080" y="431800"/>
            <a:ext cx="1091184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 spc="200">
                <a:solidFill>
                  <a:srgbClr val="E01C4C"/>
                </a:solidFill>
                <a:latin typeface="Poppins"/>
                <a:ea typeface="Poppins"/>
              </a:rPr>
              <a:t>PLANO DE AGOSTO · B2C</a:t>
            </a:r>
          </a:p>
        </p:txBody>
      </p:sp>
      <p:sp>
        <p:nvSpPr>
          <p:cNvPr id="100179" name="TextBox 2"/>
          <p:cNvSpPr txBox="1"/>
          <p:nvPr/>
        </p:nvSpPr>
        <p:spPr>
          <a:xfrm xmlns:a="http://schemas.openxmlformats.org/drawingml/2006/main">
            <a:off x="640080" y="812800"/>
            <a:ext cx="1091184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3000" b="1">
                <a:solidFill>
                  <a:srgbClr val="093652"/>
                </a:solidFill>
                <a:latin typeface="Poppins"/>
                <a:ea typeface="Poppins"/>
              </a:rPr>
              <a:t>Agosto otimiza o que já roda e mede o que vem depois</a:t>
            </a:r>
          </a:p>
        </p:txBody>
      </p:sp>
      <p:sp>
        <p:nvSpPr>
          <p:cNvPr id="100180" name="TextBox 3"/>
          <p:cNvSpPr txBox="1"/>
          <p:nvPr/>
        </p:nvSpPr>
        <p:spPr>
          <a:xfrm xmlns:a="http://schemas.openxmlformats.org/drawingml/2006/main">
            <a:off x="640080" y="1397000"/>
            <a:ext cx="1091184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4A5568"/>
                </a:solidFill>
                <a:latin typeface="Poppins"/>
                <a:ea typeface="Poppins"/>
              </a:rPr>
              <a:t>Sem estrutura nova neste mês. O foco é ajustar o que roda e coletar o dado que ainda falta.</a:t>
            </a:r>
          </a:p>
        </p:txBody>
      </p:sp>
      <p:sp>
        <p:nvSpPr>
          <p:cNvPr id="100181" name="TextBox 4"/>
          <p:cNvSpPr/>
          <p:nvPr/>
        </p:nvSpPr>
        <p:spPr>
          <a:xfrm xmlns:a="http://schemas.openxmlformats.org/drawingml/2006/main">
            <a:off x="640080" y="1854200"/>
            <a:ext cx="5969000" cy="309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2" name="TextBox 5"/>
          <p:cNvSpPr txBox="1"/>
          <p:nvPr/>
        </p:nvSpPr>
        <p:spPr>
          <a:xfrm xmlns:a="http://schemas.openxmlformats.org/drawingml/2006/main">
            <a:off x="970280" y="2032000"/>
            <a:ext cx="5334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150" b="1" spc="100">
                <a:solidFill>
                  <a:srgbClr val="E01C4C"/>
                </a:solidFill>
                <a:latin typeface="Poppins"/>
                <a:ea typeface="Poppins"/>
              </a:rPr>
              <a:t>META ADS  ·  R$ 20.000 NO MÊS</a:t>
            </a:r>
          </a:p>
        </p:txBody>
      </p:sp>
      <p:sp>
        <p:nvSpPr>
          <p:cNvPr id="100183" name="TextBox 6"/>
          <p:cNvSpPr txBox="1"/>
          <p:nvPr/>
        </p:nvSpPr>
        <p:spPr>
          <a:xfrm xmlns:a="http://schemas.openxmlformats.org/drawingml/2006/main">
            <a:off x="970280" y="2387600"/>
            <a:ext cx="340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Engajamento no Instagram</a:t>
            </a:r>
          </a:p>
        </p:txBody>
      </p:sp>
      <p:sp>
        <p:nvSpPr>
          <p:cNvPr id="100184" name="TextBox 7"/>
          <p:cNvSpPr txBox="1"/>
          <p:nvPr/>
        </p:nvSpPr>
        <p:spPr>
          <a:xfrm xmlns:a="http://schemas.openxmlformats.org/drawingml/2006/main">
            <a:off x="4450080" y="23876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1200" b="1">
                <a:solidFill>
                  <a:srgbClr val="093652"/>
                </a:solidFill>
                <a:latin typeface="Poppins"/>
                <a:ea typeface="Poppins"/>
              </a:rPr>
              <a:t>R$ 350 / dia</a:t>
            </a:r>
          </a:p>
        </p:txBody>
      </p:sp>
      <p:sp>
        <p:nvSpPr>
          <p:cNvPr id="100185" name="TextBox 8"/>
          <p:cNvSpPr txBox="1"/>
          <p:nvPr/>
        </p:nvSpPr>
        <p:spPr>
          <a:xfrm xmlns:a="http://schemas.openxmlformats.org/drawingml/2006/main">
            <a:off x="970280" y="2603500"/>
            <a:ext cx="530860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concentra a verba onde estão os ~10 criativos em rotação</a:t>
            </a:r>
          </a:p>
        </p:txBody>
      </p:sp>
      <p:sp>
        <p:nvSpPr>
          <p:cNvPr id="100186" name="TextBox 9"/>
          <p:cNvSpPr txBox="1"/>
          <p:nvPr/>
        </p:nvSpPr>
        <p:spPr>
          <a:xfrm xmlns:a="http://schemas.openxmlformats.org/drawingml/2006/main">
            <a:off x="970280" y="3022600"/>
            <a:ext cx="340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Ofertas semanais</a:t>
            </a:r>
          </a:p>
        </p:txBody>
      </p:sp>
      <p:sp>
        <p:nvSpPr>
          <p:cNvPr id="100187" name="TextBox 10"/>
          <p:cNvSpPr txBox="1"/>
          <p:nvPr/>
        </p:nvSpPr>
        <p:spPr>
          <a:xfrm xmlns:a="http://schemas.openxmlformats.org/drawingml/2006/main">
            <a:off x="4450080" y="30226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1200" b="1">
                <a:solidFill>
                  <a:srgbClr val="093652"/>
                </a:solidFill>
                <a:latin typeface="Poppins"/>
                <a:ea typeface="Poppins"/>
              </a:rPr>
              <a:t>R$ 70 / dia</a:t>
            </a:r>
          </a:p>
        </p:txBody>
      </p:sp>
      <p:sp>
        <p:nvSpPr>
          <p:cNvPr id="100188" name="TextBox 11"/>
          <p:cNvSpPr txBox="1"/>
          <p:nvPr/>
        </p:nvSpPr>
        <p:spPr>
          <a:xfrm xmlns:a="http://schemas.openxmlformats.org/drawingml/2006/main">
            <a:off x="970280" y="3238500"/>
            <a:ext cx="530860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consolidadas em um conjunto: hoje são dois com os mesmos criativos, disputando o mesmo leilão</a:t>
            </a:r>
          </a:p>
        </p:txBody>
      </p:sp>
      <p:sp>
        <p:nvSpPr>
          <p:cNvPr id="100189" name="TextBox 12"/>
          <p:cNvSpPr txBox="1"/>
          <p:nvPr/>
        </p:nvSpPr>
        <p:spPr>
          <a:xfrm xmlns:a="http://schemas.openxmlformats.org/drawingml/2006/main">
            <a:off x="970280" y="3657600"/>
            <a:ext cx="340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Reconhecimento institucional</a:t>
            </a:r>
          </a:p>
        </p:txBody>
      </p:sp>
      <p:sp>
        <p:nvSpPr>
          <p:cNvPr id="100190" name="TextBox 13"/>
          <p:cNvSpPr txBox="1"/>
          <p:nvPr/>
        </p:nvSpPr>
        <p:spPr>
          <a:xfrm xmlns:a="http://schemas.openxmlformats.org/drawingml/2006/main">
            <a:off x="4450080" y="36576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1200" b="1">
                <a:solidFill>
                  <a:srgbClr val="093652"/>
                </a:solidFill>
                <a:latin typeface="Poppins"/>
                <a:ea typeface="Poppins"/>
              </a:rPr>
              <a:t>R$ 150 / dia</a:t>
            </a:r>
          </a:p>
        </p:txBody>
      </p:sp>
      <p:sp>
        <p:nvSpPr>
          <p:cNvPr id="100191" name="TextBox 14"/>
          <p:cNvSpPr txBox="1"/>
          <p:nvPr/>
        </p:nvSpPr>
        <p:spPr>
          <a:xfrm xmlns:a="http://schemas.openxmlformats.org/drawingml/2006/main">
            <a:off x="970280" y="3873500"/>
            <a:ext cx="530860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recebe o que a consolidação liberou, e é a linha que entrega alcance mais barato</a:t>
            </a:r>
          </a:p>
        </p:txBody>
      </p:sp>
      <p:sp>
        <p:nvSpPr>
          <p:cNvPr id="100192" name="TextBox 15"/>
          <p:cNvSpPr txBox="1"/>
          <p:nvPr/>
        </p:nvSpPr>
        <p:spPr>
          <a:xfrm xmlns:a="http://schemas.openxmlformats.org/drawingml/2006/main">
            <a:off x="970280" y="4292600"/>
            <a:ext cx="340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Turbinar posts</a:t>
            </a:r>
          </a:p>
        </p:txBody>
      </p:sp>
      <p:sp>
        <p:nvSpPr>
          <p:cNvPr id="100193" name="TextBox 16"/>
          <p:cNvSpPr txBox="1"/>
          <p:nvPr/>
        </p:nvSpPr>
        <p:spPr>
          <a:xfrm xmlns:a="http://schemas.openxmlformats.org/drawingml/2006/main">
            <a:off x="4450080" y="42926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1200" b="1">
                <a:solidFill>
                  <a:srgbClr val="093652"/>
                </a:solidFill>
                <a:latin typeface="Poppins"/>
                <a:ea typeface="Poppins"/>
              </a:rPr>
              <a:t>R$ 2.200</a:t>
            </a:r>
          </a:p>
        </p:txBody>
      </p:sp>
      <p:sp>
        <p:nvSpPr>
          <p:cNvPr id="100194" name="TextBox 17"/>
          <p:cNvSpPr txBox="1"/>
          <p:nvPr/>
        </p:nvSpPr>
        <p:spPr>
          <a:xfrm xmlns:a="http://schemas.openxmlformats.org/drawingml/2006/main">
            <a:off x="970280" y="4508500"/>
            <a:ext cx="530860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conforme o plano da gestão, com a divisão a combinar</a:t>
            </a:r>
          </a:p>
        </p:txBody>
      </p:sp>
      <p:sp>
        <p:nvSpPr>
          <p:cNvPr id="100195" name="TextBox 18"/>
          <p:cNvSpPr/>
          <p:nvPr/>
        </p:nvSpPr>
        <p:spPr>
          <a:xfrm xmlns:a="http://schemas.openxmlformats.org/drawingml/2006/main">
            <a:off x="6888480" y="1854200"/>
            <a:ext cx="4663440" cy="309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9365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96" name="TextBox 19"/>
          <p:cNvSpPr txBox="1"/>
          <p:nvPr/>
        </p:nvSpPr>
        <p:spPr>
          <a:xfrm xmlns:a="http://schemas.openxmlformats.org/drawingml/2006/main">
            <a:off x="7218680" y="2032000"/>
            <a:ext cx="4064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100" b="1" spc="100">
                <a:solidFill>
                  <a:srgbClr val="1DAFE0"/>
                </a:solidFill>
                <a:latin typeface="Poppins"/>
                <a:ea typeface="Poppins"/>
              </a:rPr>
              <a:t>ONDE QUEREMOS CHEGAR EM AGOSTO</a:t>
            </a:r>
          </a:p>
        </p:txBody>
      </p:sp>
      <p:sp>
        <p:nvSpPr>
          <p:cNvPr id="100197" name="TextBox 20"/>
          <p:cNvSpPr txBox="1"/>
          <p:nvPr/>
        </p:nvSpPr>
        <p:spPr>
          <a:xfrm xmlns:a="http://schemas.openxmlformats.org/drawingml/2006/main">
            <a:off x="7218680" y="24638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100" b="1">
                <a:solidFill>
                  <a:srgbClr val="FFFFFF"/>
                </a:solidFill>
                <a:latin typeface="Poppins"/>
                <a:ea typeface="Poppins"/>
              </a:rPr>
              <a:t>1,8 mi</a:t>
            </a:r>
          </a:p>
        </p:txBody>
      </p:sp>
      <p:sp>
        <p:nvSpPr>
          <p:cNvPr id="100198" name="TextBox 21"/>
          <p:cNvSpPr txBox="1"/>
          <p:nvPr/>
        </p:nvSpPr>
        <p:spPr>
          <a:xfrm xmlns:a="http://schemas.openxmlformats.org/drawingml/2006/main">
            <a:off x="8768080" y="2438400"/>
            <a:ext cx="25146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</a:pPr>
            <a:r>
              <a:rPr lang="en-US" sz="1050">
                <a:solidFill>
                  <a:srgbClr val="B9CBD6"/>
                </a:solidFill>
                <a:latin typeface="Poppins"/>
                <a:ea typeface="Poppins"/>
              </a:rPr>
              <a:t>de alcance no mês, contra ~1,59 mi projetados em julho</a:t>
            </a:r>
          </a:p>
        </p:txBody>
      </p:sp>
      <p:sp>
        <p:nvSpPr>
          <p:cNvPr id="100199" name="TextBox 22"/>
          <p:cNvSpPr txBox="1"/>
          <p:nvPr/>
        </p:nvSpPr>
        <p:spPr>
          <a:xfrm xmlns:a="http://schemas.openxmlformats.org/drawingml/2006/main">
            <a:off x="7218680" y="32766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100" b="1">
                <a:solidFill>
                  <a:srgbClr val="FFFFFF"/>
                </a:solidFill>
                <a:latin typeface="Poppins"/>
                <a:ea typeface="Poppins"/>
              </a:rPr>
              <a:t>R$ 9,50</a:t>
            </a:r>
          </a:p>
        </p:txBody>
      </p:sp>
      <p:sp>
        <p:nvSpPr>
          <p:cNvPr id="100200" name="TextBox 23"/>
          <p:cNvSpPr txBox="1"/>
          <p:nvPr/>
        </p:nvSpPr>
        <p:spPr>
          <a:xfrm xmlns:a="http://schemas.openxmlformats.org/drawingml/2006/main">
            <a:off x="8768080" y="3251200"/>
            <a:ext cx="25146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</a:pPr>
            <a:r>
              <a:rPr lang="en-US" sz="1050">
                <a:solidFill>
                  <a:srgbClr val="B9CBD6"/>
                </a:solidFill>
                <a:latin typeface="Poppins"/>
                <a:ea typeface="Poppins"/>
              </a:rPr>
              <a:t>de teto no custo por mil pessoas alcançadas</a:t>
            </a:r>
          </a:p>
        </p:txBody>
      </p:sp>
      <p:sp>
        <p:nvSpPr>
          <p:cNvPr id="100201" name="TextBox 24"/>
          <p:cNvSpPr txBox="1"/>
          <p:nvPr/>
        </p:nvSpPr>
        <p:spPr>
          <a:xfrm xmlns:a="http://schemas.openxmlformats.org/drawingml/2006/main">
            <a:off x="7218680" y="40894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100" b="1">
                <a:solidFill>
                  <a:srgbClr val="FFFFFF"/>
                </a:solidFill>
                <a:latin typeface="Poppins"/>
                <a:ea typeface="Poppins"/>
              </a:rPr>
              <a:t>R$ 0</a:t>
            </a:r>
          </a:p>
        </p:txBody>
      </p:sp>
      <p:sp>
        <p:nvSpPr>
          <p:cNvPr id="100202" name="TextBox 25"/>
          <p:cNvSpPr txBox="1"/>
          <p:nvPr/>
        </p:nvSpPr>
        <p:spPr>
          <a:xfrm xmlns:a="http://schemas.openxmlformats.org/drawingml/2006/main">
            <a:off x="8768080" y="4064000"/>
            <a:ext cx="25146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</a:pPr>
            <a:r>
              <a:rPr lang="en-US" sz="1050">
                <a:solidFill>
                  <a:srgbClr val="B9CBD6"/>
                </a:solidFill>
                <a:latin typeface="Poppins"/>
                <a:ea typeface="Poppins"/>
              </a:rPr>
              <a:t>no Google B2C, com a verba guardada como reserva de teste</a:t>
            </a:r>
          </a:p>
        </p:txBody>
      </p:sp>
      <p:sp>
        <p:nvSpPr>
          <p:cNvPr id="100203" name="TextBox 26"/>
          <p:cNvSpPr/>
          <p:nvPr/>
        </p:nvSpPr>
        <p:spPr>
          <a:xfrm xmlns:a="http://schemas.openxmlformats.org/drawingml/2006/main">
            <a:off x="640080" y="5003800"/>
            <a:ext cx="5969000" cy="1498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04" name="TextBox 27"/>
          <p:cNvSpPr txBox="1"/>
          <p:nvPr/>
        </p:nvSpPr>
        <p:spPr>
          <a:xfrm xmlns:a="http://schemas.openxmlformats.org/drawingml/2006/main">
            <a:off x="970280" y="51562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100" b="1" spc="100">
                <a:solidFill>
                  <a:srgbClr val="E01C4C"/>
                </a:solidFill>
                <a:latin typeface="Poppins"/>
                <a:ea typeface="Poppins"/>
              </a:rPr>
              <a:t>AGOSTO: OTIMIZAR E MEDIR</a:t>
            </a:r>
          </a:p>
        </p:txBody>
      </p:sp>
      <p:sp>
        <p:nvSpPr>
          <p:cNvPr id="100205" name="TextBox 28"/>
          <p:cNvSpPr txBox="1"/>
          <p:nvPr/>
        </p:nvSpPr>
        <p:spPr>
          <a:xfrm xmlns:a="http://schemas.openxmlformats.org/drawingml/2006/main">
            <a:off x="970280" y="5435600"/>
            <a:ext cx="5334000" cy="965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050">
                <a:solidFill>
                  <a:srgbClr val="4A5568"/>
                </a:solidFill>
                <a:latin typeface="Poppins"/>
                <a:ea typeface="Poppins"/>
              </a:rPr>
              <a:t>O mês não cria estrutura nova. Ajusta o que já roda e coleta o dado que falta. Com esse dado em mãos, os próximos meses transicionam para um funil mais sólido, com etapas medidas e não apenas alcance.</a:t>
            </a:r>
          </a:p>
        </p:txBody>
      </p:sp>
      <p:sp>
        <p:nvSpPr>
          <p:cNvPr id="100206" name="TextBox 29"/>
          <p:cNvSpPr/>
          <p:nvPr/>
        </p:nvSpPr>
        <p:spPr>
          <a:xfrm xmlns:a="http://schemas.openxmlformats.org/drawingml/2006/main">
            <a:off x="6888480" y="5003800"/>
            <a:ext cx="4663440" cy="1498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9365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07" name="TextBox 30"/>
          <p:cNvSpPr txBox="1"/>
          <p:nvPr/>
        </p:nvSpPr>
        <p:spPr>
          <a:xfrm xmlns:a="http://schemas.openxmlformats.org/drawingml/2006/main">
            <a:off x="7218680" y="5156200"/>
            <a:ext cx="406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100" b="1" spc="100">
                <a:solidFill>
                  <a:srgbClr val="1DAFE0"/>
                </a:solidFill>
                <a:latin typeface="Poppins"/>
                <a:ea typeface="Poppins"/>
              </a:rPr>
              <a:t>O QUE AGOSTO NOS DEIXA</a:t>
            </a:r>
          </a:p>
        </p:txBody>
      </p:sp>
      <p:sp>
        <p:nvSpPr>
          <p:cNvPr id="100208" name="TextBox 31"/>
          <p:cNvSpPr txBox="1"/>
          <p:nvPr/>
        </p:nvSpPr>
        <p:spPr>
          <a:xfrm xmlns:a="http://schemas.openxmlformats.org/drawingml/2006/main">
            <a:off x="7218680" y="5435600"/>
            <a:ext cx="4064000" cy="965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000">
                <a:solidFill>
                  <a:srgbClr val="B9CBD6"/>
                </a:solidFill>
                <a:latin typeface="Poppins"/>
                <a:ea typeface="Poppins"/>
              </a:rPr>
              <a:t>Com a estrutura estável o mês inteiro, agosto entrega a primeira leitura limpa de alcance e de custo por mil. É essa base que permite comparar setembro com agosto e decidir o passo seguinte com dado, e não com impressão.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209" name="TextBox 1"/>
          <p:cNvSpPr txBox="1"/>
          <p:nvPr/>
        </p:nvSpPr>
        <p:spPr>
          <a:xfrm xmlns:a="http://schemas.openxmlformats.org/drawingml/2006/main">
            <a:off x="640080" y="431800"/>
            <a:ext cx="1091184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 spc="200">
                <a:solidFill>
                  <a:srgbClr val="E01C4C"/>
                </a:solidFill>
                <a:latin typeface="Poppins"/>
                <a:ea typeface="Poppins"/>
              </a:rPr>
              <a:t>PLANO DE AGOSTO · B2B</a:t>
            </a:r>
          </a:p>
        </p:txBody>
      </p:sp>
      <p:sp>
        <p:nvSpPr>
          <p:cNvPr id="100210" name="TextBox 2"/>
          <p:cNvSpPr txBox="1"/>
          <p:nvPr/>
        </p:nvSpPr>
        <p:spPr>
          <a:xfrm xmlns:a="http://schemas.openxmlformats.org/drawingml/2006/main">
            <a:off x="640080" y="812800"/>
            <a:ext cx="1091184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3000" b="1">
                <a:solidFill>
                  <a:srgbClr val="093652"/>
                </a:solidFill>
                <a:latin typeface="Poppins"/>
                <a:ea typeface="Poppins"/>
              </a:rPr>
              <a:t>Agosto fecha a captura e reconstrói o Google</a:t>
            </a:r>
          </a:p>
        </p:txBody>
      </p:sp>
      <p:sp>
        <p:nvSpPr>
          <p:cNvPr id="100211" name="TextBox 3"/>
          <p:cNvSpPr txBox="1"/>
          <p:nvPr/>
        </p:nvSpPr>
        <p:spPr>
          <a:xfrm xmlns:a="http://schemas.openxmlformats.org/drawingml/2006/main">
            <a:off x="640080" y="1397000"/>
            <a:ext cx="1091184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4A5568"/>
                </a:solidFill>
                <a:latin typeface="Poppins"/>
                <a:ea typeface="Poppins"/>
              </a:rPr>
              <a:t>Um entregável dominante por semana, na ordem em que um depende do outro.</a:t>
            </a:r>
          </a:p>
        </p:txBody>
      </p:sp>
      <p:sp>
        <p:nvSpPr>
          <p:cNvPr id="100212" name="TextBox 4"/>
          <p:cNvSpPr/>
          <p:nvPr/>
        </p:nvSpPr>
        <p:spPr>
          <a:xfrm xmlns:a="http://schemas.openxmlformats.org/drawingml/2006/main">
            <a:off x="640080" y="1905000"/>
            <a:ext cx="6604000" cy="3403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13" name="TextBox 5"/>
          <p:cNvSpPr txBox="1"/>
          <p:nvPr/>
        </p:nvSpPr>
        <p:spPr>
          <a:xfrm xmlns:a="http://schemas.openxmlformats.org/drawingml/2006/main">
            <a:off x="944880" y="2108200"/>
            <a:ext cx="5969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E01C4C"/>
                </a:solidFill>
                <a:latin typeface="Poppins"/>
                <a:ea typeface="Poppins"/>
              </a:rPr>
              <a:t>SEMANA 1  ·  03 a 07/08</a:t>
            </a:r>
          </a:p>
        </p:txBody>
      </p:sp>
      <p:sp>
        <p:nvSpPr>
          <p:cNvPr id="100214" name="TextBox 6"/>
          <p:cNvSpPr txBox="1"/>
          <p:nvPr/>
        </p:nvSpPr>
        <p:spPr>
          <a:xfrm xmlns:a="http://schemas.openxmlformats.org/drawingml/2006/main">
            <a:off x="944880" y="2311400"/>
            <a:ext cx="5994400" cy="43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150">
                <a:solidFill>
                  <a:srgbClr val="1A1A1A"/>
                </a:solidFill>
                <a:latin typeface="Poppins"/>
                <a:ea typeface="Poppins"/>
              </a:rPr>
              <a:t>Mapear onde caem hoje os leads do formulário atual e concluir a integração com o CRM do comercial</a:t>
            </a:r>
          </a:p>
        </p:txBody>
      </p:sp>
      <p:sp>
        <p:nvSpPr>
          <p:cNvPr id="100215" name="TextBox 7"/>
          <p:cNvSpPr txBox="1"/>
          <p:nvPr/>
        </p:nvSpPr>
        <p:spPr>
          <a:xfrm xmlns:a="http://schemas.openxmlformats.org/drawingml/2006/main">
            <a:off x="944880" y="2895600"/>
            <a:ext cx="5969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E01C4C"/>
                </a:solidFill>
                <a:latin typeface="Poppins"/>
                <a:ea typeface="Poppins"/>
              </a:rPr>
              <a:t>SEMANA 2  ·  10 a 14/08</a:t>
            </a:r>
          </a:p>
        </p:txBody>
      </p:sp>
      <p:sp>
        <p:nvSpPr>
          <p:cNvPr id="100216" name="TextBox 8"/>
          <p:cNvSpPr txBox="1"/>
          <p:nvPr/>
        </p:nvSpPr>
        <p:spPr>
          <a:xfrm xmlns:a="http://schemas.openxmlformats.org/drawingml/2006/main">
            <a:off x="944880" y="3098800"/>
            <a:ext cx="5994400" cy="43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150">
                <a:solidFill>
                  <a:srgbClr val="1A1A1A"/>
                </a:solidFill>
                <a:latin typeface="Poppins"/>
                <a:ea typeface="Poppins"/>
              </a:rPr>
              <a:t>Subir a campanha nova do Meta e terminar a configuração da landing page</a:t>
            </a:r>
          </a:p>
        </p:txBody>
      </p:sp>
      <p:sp>
        <p:nvSpPr>
          <p:cNvPr id="100217" name="TextBox 9"/>
          <p:cNvSpPr txBox="1"/>
          <p:nvPr/>
        </p:nvSpPr>
        <p:spPr>
          <a:xfrm xmlns:a="http://schemas.openxmlformats.org/drawingml/2006/main">
            <a:off x="944880" y="3683000"/>
            <a:ext cx="5969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E01C4C"/>
                </a:solidFill>
                <a:latin typeface="Poppins"/>
                <a:ea typeface="Poppins"/>
              </a:rPr>
              <a:t>SEMANA 3  ·  17 a 21/08</a:t>
            </a:r>
          </a:p>
        </p:txBody>
      </p:sp>
      <p:sp>
        <p:nvSpPr>
          <p:cNvPr id="100218" name="TextBox 10"/>
          <p:cNvSpPr txBox="1"/>
          <p:nvPr/>
        </p:nvSpPr>
        <p:spPr>
          <a:xfrm xmlns:a="http://schemas.openxmlformats.org/drawingml/2006/main">
            <a:off x="944880" y="3886200"/>
            <a:ext cx="5994400" cy="43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150">
                <a:solidFill>
                  <a:srgbClr val="1A1A1A"/>
                </a:solidFill>
                <a:latin typeface="Poppins"/>
                <a:ea typeface="Poppins"/>
              </a:rPr>
              <a:t>Google: criar e validar a conversão real, rebaixar Visitas à loja e montar as campanhas</a:t>
            </a:r>
          </a:p>
        </p:txBody>
      </p:sp>
      <p:sp>
        <p:nvSpPr>
          <p:cNvPr id="100219" name="TextBox 11"/>
          <p:cNvSpPr txBox="1"/>
          <p:nvPr/>
        </p:nvSpPr>
        <p:spPr>
          <a:xfrm xmlns:a="http://schemas.openxmlformats.org/drawingml/2006/main">
            <a:off x="944880" y="4470400"/>
            <a:ext cx="5969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E01C4C"/>
                </a:solidFill>
                <a:latin typeface="Poppins"/>
                <a:ea typeface="Poppins"/>
              </a:rPr>
              <a:t>SEMANA 4  ·  24 a 28/08</a:t>
            </a:r>
          </a:p>
        </p:txBody>
      </p:sp>
      <p:sp>
        <p:nvSpPr>
          <p:cNvPr id="100220" name="TextBox 12"/>
          <p:cNvSpPr txBox="1"/>
          <p:nvPr/>
        </p:nvSpPr>
        <p:spPr>
          <a:xfrm xmlns:a="http://schemas.openxmlformats.org/drawingml/2006/main">
            <a:off x="944880" y="4673600"/>
            <a:ext cx="5994400" cy="43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150">
                <a:solidFill>
                  <a:srgbClr val="1A1A1A"/>
                </a:solidFill>
                <a:latin typeface="Poppins"/>
                <a:ea typeface="Poppins"/>
              </a:rPr>
              <a:t>Search, e possivelmente Demand Gen, no ar em 25/08, rodando sete dias de validação</a:t>
            </a:r>
          </a:p>
        </p:txBody>
      </p:sp>
      <p:sp>
        <p:nvSpPr>
          <p:cNvPr id="100221" name="TextBox 13"/>
          <p:cNvSpPr/>
          <p:nvPr/>
        </p:nvSpPr>
        <p:spPr>
          <a:xfrm xmlns:a="http://schemas.openxmlformats.org/drawingml/2006/main">
            <a:off x="7523480" y="1905000"/>
            <a:ext cx="4028440" cy="3403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9365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22" name="TextBox 14"/>
          <p:cNvSpPr txBox="1"/>
          <p:nvPr/>
        </p:nvSpPr>
        <p:spPr>
          <a:xfrm xmlns:a="http://schemas.openxmlformats.org/drawingml/2006/main">
            <a:off x="7853680" y="2108200"/>
            <a:ext cx="3429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100" b="1" spc="100">
                <a:solidFill>
                  <a:srgbClr val="1DAFE0"/>
                </a:solidFill>
                <a:latin typeface="Poppins"/>
                <a:ea typeface="Poppins"/>
              </a:rPr>
              <a:t>ONDE QUEREMOS CHEGAR EM AGOSTO</a:t>
            </a:r>
          </a:p>
        </p:txBody>
      </p:sp>
      <p:sp>
        <p:nvSpPr>
          <p:cNvPr id="100223" name="TextBox 15"/>
          <p:cNvSpPr txBox="1"/>
          <p:nvPr/>
        </p:nvSpPr>
        <p:spPr>
          <a:xfrm xmlns:a="http://schemas.openxmlformats.org/drawingml/2006/main">
            <a:off x="7853680" y="2540000"/>
            <a:ext cx="19050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000" b="1">
                <a:solidFill>
                  <a:srgbClr val="FFFFFF"/>
                </a:solidFill>
                <a:latin typeface="Poppins"/>
                <a:ea typeface="Poppins"/>
              </a:rPr>
              <a:t>180</a:t>
            </a:r>
          </a:p>
        </p:txBody>
      </p:sp>
      <p:sp>
        <p:nvSpPr>
          <p:cNvPr id="100224" name="TextBox 16"/>
          <p:cNvSpPr txBox="1"/>
          <p:nvPr/>
        </p:nvSpPr>
        <p:spPr>
          <a:xfrm xmlns:a="http://schemas.openxmlformats.org/drawingml/2006/main">
            <a:off x="7853680" y="28702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>
                <a:solidFill>
                  <a:srgbClr val="B9CBD6"/>
                </a:solidFill>
                <a:latin typeface="Poppins"/>
                <a:ea typeface="Poppins"/>
              </a:rPr>
              <a:t>leads de locação no mês</a:t>
            </a:r>
          </a:p>
        </p:txBody>
      </p:sp>
      <p:sp>
        <p:nvSpPr>
          <p:cNvPr id="100225" name="TextBox 17"/>
          <p:cNvSpPr txBox="1"/>
          <p:nvPr/>
        </p:nvSpPr>
        <p:spPr>
          <a:xfrm xmlns:a="http://schemas.openxmlformats.org/drawingml/2006/main">
            <a:off x="7853680" y="3327400"/>
            <a:ext cx="19050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000" b="1">
                <a:solidFill>
                  <a:srgbClr val="FFFFFF"/>
                </a:solidFill>
                <a:latin typeface="Poppins"/>
                <a:ea typeface="Poppins"/>
              </a:rPr>
              <a:t>R$ 40</a:t>
            </a:r>
          </a:p>
        </p:txBody>
      </p:sp>
      <p:sp>
        <p:nvSpPr>
          <p:cNvPr id="100226" name="TextBox 18"/>
          <p:cNvSpPr txBox="1"/>
          <p:nvPr/>
        </p:nvSpPr>
        <p:spPr>
          <a:xfrm xmlns:a="http://schemas.openxmlformats.org/drawingml/2006/main">
            <a:off x="7853680" y="36576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>
                <a:solidFill>
                  <a:srgbClr val="B9CBD6"/>
                </a:solidFill>
                <a:latin typeface="Poppins"/>
                <a:ea typeface="Poppins"/>
              </a:rPr>
              <a:t>de teto no custo por lead</a:t>
            </a:r>
          </a:p>
        </p:txBody>
      </p:sp>
      <p:sp>
        <p:nvSpPr>
          <p:cNvPr id="100227" name="TextBox 19"/>
          <p:cNvSpPr txBox="1"/>
          <p:nvPr/>
        </p:nvSpPr>
        <p:spPr>
          <a:xfrm xmlns:a="http://schemas.openxmlformats.org/drawingml/2006/main">
            <a:off x="7853680" y="4114800"/>
            <a:ext cx="19050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000" b="1">
                <a:solidFill>
                  <a:srgbClr val="FFFFFF"/>
                </a:solidFill>
                <a:latin typeface="Poppins"/>
                <a:ea typeface="Poppins"/>
              </a:rPr>
              <a:t>R$ 10 mil</a:t>
            </a:r>
          </a:p>
        </p:txBody>
      </p:sp>
      <p:sp>
        <p:nvSpPr>
          <p:cNvPr id="100228" name="TextBox 20"/>
          <p:cNvSpPr txBox="1"/>
          <p:nvPr/>
        </p:nvSpPr>
        <p:spPr>
          <a:xfrm xmlns:a="http://schemas.openxmlformats.org/drawingml/2006/main">
            <a:off x="7853680" y="44450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>
                <a:solidFill>
                  <a:srgbClr val="B9CBD6"/>
                </a:solidFill>
                <a:latin typeface="Poppins"/>
                <a:ea typeface="Poppins"/>
              </a:rPr>
              <a:t>investidos no Meta, verba cheia</a:t>
            </a:r>
          </a:p>
        </p:txBody>
      </p:sp>
      <p:sp>
        <p:nvSpPr>
          <p:cNvPr id="100229" name="TextBox 21"/>
          <p:cNvSpPr/>
          <p:nvPr/>
        </p:nvSpPr>
        <p:spPr>
          <a:xfrm xmlns:a="http://schemas.openxmlformats.org/drawingml/2006/main">
            <a:off x="640080" y="5486400"/>
            <a:ext cx="10911840" cy="1016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30" name="TextBox 22"/>
          <p:cNvSpPr txBox="1"/>
          <p:nvPr/>
        </p:nvSpPr>
        <p:spPr>
          <a:xfrm xmlns:a="http://schemas.openxmlformats.org/drawingml/2006/main">
            <a:off x="970280" y="5613400"/>
            <a:ext cx="1025144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50" b="1">
                <a:solidFill>
                  <a:srgbClr val="093652"/>
                </a:solidFill>
                <a:latin typeface="Poppins"/>
                <a:ea typeface="Poppins"/>
              </a:rPr>
              <a:t>Em agosto o Google B2B roda cerca de R$ 2,1 mil dos R$ 15 mil da frente, e isso é uma opção consciente.</a:t>
            </a:r>
          </a:p>
        </p:txBody>
      </p:sp>
      <p:sp>
        <p:nvSpPr>
          <p:cNvPr id="100231" name="TextBox 23"/>
          <p:cNvSpPr txBox="1"/>
          <p:nvPr/>
        </p:nvSpPr>
        <p:spPr>
          <a:xfrm xmlns:a="http://schemas.openxmlformats.org/drawingml/2006/main">
            <a:off x="970280" y="5892800"/>
            <a:ext cx="1025144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150">
                <a:solidFill>
                  <a:srgbClr val="4A5568"/>
                </a:solidFill>
                <a:latin typeface="Poppins"/>
                <a:ea typeface="Poppins"/>
              </a:rPr>
              <a:t>A campanha anterior otimizava por um sinal que não representava lead, então preferimos reconstruir antes de escalar. A diferença fica reservada para os testes de setembro, que é quando conseguimos medir quanto essa frente realmente comporta.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232" name="TextBox 1"/>
          <p:cNvSpPr txBox="1"/>
          <p:nvPr/>
        </p:nvSpPr>
        <p:spPr>
          <a:xfrm xmlns:a="http://schemas.openxmlformats.org/drawingml/2006/main">
            <a:off x="640080" y="431800"/>
            <a:ext cx="1091184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 spc="200">
                <a:solidFill>
                  <a:srgbClr val="E01C4C"/>
                </a:solidFill>
                <a:latin typeface="Poppins"/>
                <a:ea typeface="Poppins"/>
              </a:rPr>
              <a:t>SUGESTÃO · SEGUNDO SEMESTRE</a:t>
            </a:r>
          </a:p>
        </p:txBody>
      </p:sp>
      <p:sp>
        <p:nvSpPr>
          <p:cNvPr id="100233" name="TextBox 2"/>
          <p:cNvSpPr txBox="1"/>
          <p:nvPr/>
        </p:nvSpPr>
        <p:spPr>
          <a:xfrm xmlns:a="http://schemas.openxmlformats.org/drawingml/2006/main">
            <a:off x="640080" y="812800"/>
            <a:ext cx="1091184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3000" b="1">
                <a:solidFill>
                  <a:srgbClr val="093652"/>
                </a:solidFill>
                <a:latin typeface="Poppins"/>
                <a:ea typeface="Poppins"/>
              </a:rPr>
              <a:t>Uma sugestão de calendário para o segundo semestre</a:t>
            </a:r>
          </a:p>
        </p:txBody>
      </p:sp>
      <p:sp>
        <p:nvSpPr>
          <p:cNvPr id="100234" name="TextBox 3"/>
          <p:cNvSpPr txBox="1"/>
          <p:nvPr/>
        </p:nvSpPr>
        <p:spPr>
          <a:xfrm xmlns:a="http://schemas.openxmlformats.org/drawingml/2006/main">
            <a:off x="640080" y="1397000"/>
            <a:ext cx="1091184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4A5568"/>
                </a:solidFill>
                <a:latin typeface="Poppins"/>
                <a:ea typeface="Poppins"/>
              </a:rPr>
              <a:t>Nada aqui está fechado. É um ponto de partida para alinharmos as datas com calma.</a:t>
            </a:r>
          </a:p>
        </p:txBody>
      </p:sp>
      <p:sp>
        <p:nvSpPr>
          <p:cNvPr id="100235" name="TextBox 4"/>
          <p:cNvSpPr/>
          <p:nvPr/>
        </p:nvSpPr>
        <p:spPr>
          <a:xfrm xmlns:a="http://schemas.openxmlformats.org/drawingml/2006/main">
            <a:off x="640080" y="1854200"/>
            <a:ext cx="5323840" cy="317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36" name="TextBox 5"/>
          <p:cNvSpPr txBox="1"/>
          <p:nvPr/>
        </p:nvSpPr>
        <p:spPr>
          <a:xfrm xmlns:a="http://schemas.openxmlformats.org/drawingml/2006/main">
            <a:off x="944880" y="2057400"/>
            <a:ext cx="4572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150" b="1" spc="200">
                <a:solidFill>
                  <a:srgbClr val="157DBF"/>
                </a:solidFill>
                <a:latin typeface="Poppins"/>
                <a:ea typeface="Poppins"/>
              </a:rPr>
              <a:t>B2C  ·  CONSUMIDOR</a:t>
            </a:r>
          </a:p>
        </p:txBody>
      </p:sp>
      <p:sp>
        <p:nvSpPr>
          <p:cNvPr id="100237" name="TextBox 6"/>
          <p:cNvSpPr txBox="1"/>
          <p:nvPr/>
        </p:nvSpPr>
        <p:spPr>
          <a:xfrm xmlns:a="http://schemas.openxmlformats.org/drawingml/2006/main">
            <a:off x="944880" y="2463800"/>
            <a:ext cx="317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Dia das Crianças</a:t>
            </a:r>
          </a:p>
        </p:txBody>
      </p:sp>
      <p:sp>
        <p:nvSpPr>
          <p:cNvPr id="100238" name="TextBox 7"/>
          <p:cNvSpPr txBox="1"/>
          <p:nvPr/>
        </p:nvSpPr>
        <p:spPr>
          <a:xfrm xmlns:a="http://schemas.openxmlformats.org/drawingml/2006/main">
            <a:off x="4119880" y="2463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157DBF"/>
                </a:solidFill>
                <a:latin typeface="Poppins"/>
                <a:ea typeface="Poppins"/>
              </a:rPr>
              <a:t>28/09 a 12/10</a:t>
            </a:r>
          </a:p>
        </p:txBody>
      </p:sp>
      <p:sp>
        <p:nvSpPr>
          <p:cNvPr id="100239" name="TextBox 8"/>
          <p:cNvSpPr txBox="1"/>
          <p:nvPr/>
        </p:nvSpPr>
        <p:spPr>
          <a:xfrm xmlns:a="http://schemas.openxmlformats.org/drawingml/2006/main">
            <a:off x="944880" y="2679700"/>
            <a:ext cx="469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15 dias, coberto pelas ofertas semanais</a:t>
            </a:r>
          </a:p>
        </p:txBody>
      </p:sp>
      <p:sp>
        <p:nvSpPr>
          <p:cNvPr id="100240" name="TextBox 9"/>
          <p:cNvSpPr txBox="1"/>
          <p:nvPr/>
        </p:nvSpPr>
        <p:spPr>
          <a:xfrm xmlns:a="http://schemas.openxmlformats.org/drawingml/2006/main">
            <a:off x="944880" y="3073400"/>
            <a:ext cx="317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Black Friday</a:t>
            </a:r>
          </a:p>
        </p:txBody>
      </p:sp>
      <p:sp>
        <p:nvSpPr>
          <p:cNvPr id="100241" name="TextBox 10"/>
          <p:cNvSpPr txBox="1"/>
          <p:nvPr/>
        </p:nvSpPr>
        <p:spPr>
          <a:xfrm xmlns:a="http://schemas.openxmlformats.org/drawingml/2006/main">
            <a:off x="4119880" y="3073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157DBF"/>
                </a:solidFill>
                <a:latin typeface="Poppins"/>
                <a:ea typeface="Poppins"/>
              </a:rPr>
              <a:t>01 a 30/11</a:t>
            </a:r>
          </a:p>
        </p:txBody>
      </p:sp>
      <p:sp>
        <p:nvSpPr>
          <p:cNvPr id="100242" name="TextBox 11"/>
          <p:cNvSpPr txBox="1"/>
          <p:nvPr/>
        </p:nvSpPr>
        <p:spPr>
          <a:xfrm xmlns:a="http://schemas.openxmlformats.org/drawingml/2006/main">
            <a:off x="944880" y="3289300"/>
            <a:ext cx="469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30 dias, cobre as duas janelas de pagamento</a:t>
            </a:r>
          </a:p>
        </p:txBody>
      </p:sp>
      <p:sp>
        <p:nvSpPr>
          <p:cNvPr id="100243" name="TextBox 12"/>
          <p:cNvSpPr txBox="1"/>
          <p:nvPr/>
        </p:nvSpPr>
        <p:spPr>
          <a:xfrm xmlns:a="http://schemas.openxmlformats.org/drawingml/2006/main">
            <a:off x="944880" y="3683000"/>
            <a:ext cx="317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Natal</a:t>
            </a:r>
          </a:p>
        </p:txBody>
      </p:sp>
      <p:sp>
        <p:nvSpPr>
          <p:cNvPr id="100244" name="TextBox 13"/>
          <p:cNvSpPr txBox="1"/>
          <p:nvPr/>
        </p:nvSpPr>
        <p:spPr>
          <a:xfrm xmlns:a="http://schemas.openxmlformats.org/drawingml/2006/main">
            <a:off x="4119880" y="3683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157DBF"/>
                </a:solidFill>
                <a:latin typeface="Poppins"/>
                <a:ea typeface="Poppins"/>
              </a:rPr>
              <a:t>01 a 25/12</a:t>
            </a:r>
          </a:p>
        </p:txBody>
      </p:sp>
      <p:sp>
        <p:nvSpPr>
          <p:cNvPr id="100245" name="TextBox 14"/>
          <p:cNvSpPr txBox="1"/>
          <p:nvPr/>
        </p:nvSpPr>
        <p:spPr>
          <a:xfrm xmlns:a="http://schemas.openxmlformats.org/drawingml/2006/main">
            <a:off x="944880" y="3898900"/>
            <a:ext cx="469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o pico de compra é a partir do dia 15</a:t>
            </a:r>
          </a:p>
        </p:txBody>
      </p:sp>
      <p:sp>
        <p:nvSpPr>
          <p:cNvPr id="100246" name="TextBox 15"/>
          <p:cNvSpPr txBox="1"/>
          <p:nvPr/>
        </p:nvSpPr>
        <p:spPr>
          <a:xfrm xmlns:a="http://schemas.openxmlformats.org/drawingml/2006/main">
            <a:off x="944880" y="4292600"/>
            <a:ext cx="317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Liquidação e volta às aulas</a:t>
            </a:r>
          </a:p>
        </p:txBody>
      </p:sp>
      <p:sp>
        <p:nvSpPr>
          <p:cNvPr id="100247" name="TextBox 16"/>
          <p:cNvSpPr txBox="1"/>
          <p:nvPr/>
        </p:nvSpPr>
        <p:spPr>
          <a:xfrm xmlns:a="http://schemas.openxmlformats.org/drawingml/2006/main">
            <a:off x="4119880" y="4292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157DBF"/>
                </a:solidFill>
                <a:latin typeface="Poppins"/>
                <a:ea typeface="Poppins"/>
              </a:rPr>
              <a:t>26/12 a 15/02</a:t>
            </a:r>
          </a:p>
        </p:txBody>
      </p:sp>
      <p:sp>
        <p:nvSpPr>
          <p:cNvPr id="100248" name="TextBox 17"/>
          <p:cNvSpPr txBox="1"/>
          <p:nvPr/>
        </p:nvSpPr>
        <p:spPr>
          <a:xfrm xmlns:a="http://schemas.openxmlformats.org/drawingml/2006/main">
            <a:off x="944880" y="4508500"/>
            <a:ext cx="469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a semana entre Natal e Ano Novo tem fluxo alto</a:t>
            </a:r>
          </a:p>
        </p:txBody>
      </p:sp>
      <p:sp>
        <p:nvSpPr>
          <p:cNvPr id="100249" name="TextBox 18"/>
          <p:cNvSpPr/>
          <p:nvPr/>
        </p:nvSpPr>
        <p:spPr>
          <a:xfrm xmlns:a="http://schemas.openxmlformats.org/drawingml/2006/main">
            <a:off x="6228080" y="1854200"/>
            <a:ext cx="5323840" cy="317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50" name="TextBox 19"/>
          <p:cNvSpPr txBox="1"/>
          <p:nvPr/>
        </p:nvSpPr>
        <p:spPr>
          <a:xfrm xmlns:a="http://schemas.openxmlformats.org/drawingml/2006/main">
            <a:off x="6532880" y="2057400"/>
            <a:ext cx="4572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150" b="1" spc="200">
                <a:solidFill>
                  <a:srgbClr val="E01C4C"/>
                </a:solidFill>
                <a:latin typeface="Poppins"/>
                <a:ea typeface="Poppins"/>
              </a:rPr>
              <a:t>B2B  ·  LOJISTA</a:t>
            </a:r>
          </a:p>
        </p:txBody>
      </p:sp>
      <p:sp>
        <p:nvSpPr>
          <p:cNvPr id="100251" name="TextBox 20"/>
          <p:cNvSpPr txBox="1"/>
          <p:nvPr/>
        </p:nvSpPr>
        <p:spPr>
          <a:xfrm xmlns:a="http://schemas.openxmlformats.org/drawingml/2006/main">
            <a:off x="6532880" y="2463800"/>
            <a:ext cx="317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Loja pronta pro Natal</a:t>
            </a:r>
          </a:p>
        </p:txBody>
      </p:sp>
      <p:sp>
        <p:nvSpPr>
          <p:cNvPr id="100252" name="TextBox 21"/>
          <p:cNvSpPr txBox="1"/>
          <p:nvPr/>
        </p:nvSpPr>
        <p:spPr>
          <a:xfrm xmlns:a="http://schemas.openxmlformats.org/drawingml/2006/main">
            <a:off x="9707880" y="2463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E01C4C"/>
                </a:solidFill>
                <a:latin typeface="Poppins"/>
                <a:ea typeface="Poppins"/>
              </a:rPr>
              <a:t>15/10 a 30/11</a:t>
            </a:r>
          </a:p>
        </p:txBody>
      </p:sp>
      <p:sp>
        <p:nvSpPr>
          <p:cNvPr id="100253" name="TextBox 22"/>
          <p:cNvSpPr txBox="1"/>
          <p:nvPr/>
        </p:nvSpPr>
        <p:spPr>
          <a:xfrm xmlns:a="http://schemas.openxmlformats.org/drawingml/2006/main">
            <a:off x="6532880" y="2679700"/>
            <a:ext cx="469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quem quer vender no Natal decide em outubro</a:t>
            </a:r>
          </a:p>
        </p:txBody>
      </p:sp>
      <p:sp>
        <p:nvSpPr>
          <p:cNvPr id="100254" name="TextBox 23"/>
          <p:cNvSpPr txBox="1"/>
          <p:nvPr/>
        </p:nvSpPr>
        <p:spPr>
          <a:xfrm xmlns:a="http://schemas.openxmlformats.org/drawingml/2006/main">
            <a:off x="6532880" y="3073400"/>
            <a:ext cx="317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Comece o ano no ponto certo</a:t>
            </a:r>
          </a:p>
        </p:txBody>
      </p:sp>
      <p:sp>
        <p:nvSpPr>
          <p:cNvPr id="100255" name="TextBox 24"/>
          <p:cNvSpPr txBox="1"/>
          <p:nvPr/>
        </p:nvSpPr>
        <p:spPr>
          <a:xfrm xmlns:a="http://schemas.openxmlformats.org/drawingml/2006/main">
            <a:off x="9707880" y="3073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E01C4C"/>
                </a:solidFill>
                <a:latin typeface="Poppins"/>
                <a:ea typeface="Poppins"/>
              </a:rPr>
              <a:t>05/01 a 20/02</a:t>
            </a:r>
          </a:p>
        </p:txBody>
      </p:sp>
      <p:sp>
        <p:nvSpPr>
          <p:cNvPr id="100256" name="TextBox 25"/>
          <p:cNvSpPr txBox="1"/>
          <p:nvPr/>
        </p:nvSpPr>
        <p:spPr>
          <a:xfrm xmlns:a="http://schemas.openxmlformats.org/drawingml/2006/main">
            <a:off x="6532880" y="3289300"/>
            <a:ext cx="469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janeiro é quando o ponto vaga e o lojista decide o ano</a:t>
            </a:r>
          </a:p>
        </p:txBody>
      </p:sp>
      <p:sp>
        <p:nvSpPr>
          <p:cNvPr id="100257" name="TextBox 26"/>
          <p:cNvSpPr txBox="1"/>
          <p:nvPr/>
        </p:nvSpPr>
        <p:spPr>
          <a:xfrm xmlns:a="http://schemas.openxmlformats.org/drawingml/2006/main">
            <a:off x="6532880" y="3683000"/>
            <a:ext cx="317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Dezembro</a:t>
            </a:r>
          </a:p>
        </p:txBody>
      </p:sp>
      <p:sp>
        <p:nvSpPr>
          <p:cNvPr id="100258" name="TextBox 27"/>
          <p:cNvSpPr txBox="1"/>
          <p:nvPr/>
        </p:nvSpPr>
        <p:spPr>
          <a:xfrm xmlns:a="http://schemas.openxmlformats.org/drawingml/2006/main">
            <a:off x="9707880" y="3683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E01C4C"/>
                </a:solidFill>
                <a:latin typeface="Poppins"/>
                <a:ea typeface="Poppins"/>
              </a:rPr>
              <a:t>vale do B2B</a:t>
            </a:r>
          </a:p>
        </p:txBody>
      </p:sp>
      <p:sp>
        <p:nvSpPr>
          <p:cNvPr id="100259" name="TextBox 28"/>
          <p:cNvSpPr txBox="1"/>
          <p:nvPr/>
        </p:nvSpPr>
        <p:spPr>
          <a:xfrm xmlns:a="http://schemas.openxmlformats.org/drawingml/2006/main">
            <a:off x="6532880" y="3898900"/>
            <a:ext cx="469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o lojista está dentro da própria loja vendendo</a:t>
            </a:r>
          </a:p>
        </p:txBody>
      </p:sp>
      <p:sp>
        <p:nvSpPr>
          <p:cNvPr id="100260" name="TextBox 29"/>
          <p:cNvSpPr/>
          <p:nvPr/>
        </p:nvSpPr>
        <p:spPr>
          <a:xfrm xmlns:a="http://schemas.openxmlformats.org/drawingml/2006/main">
            <a:off x="640080" y="5232400"/>
            <a:ext cx="3467100" cy="127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9365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61" name="TextBox 30"/>
          <p:cNvSpPr txBox="1"/>
          <p:nvPr/>
        </p:nvSpPr>
        <p:spPr>
          <a:xfrm xmlns:a="http://schemas.openxmlformats.org/drawingml/2006/main">
            <a:off x="894080" y="53848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1DAFE0"/>
                </a:solidFill>
                <a:latin typeface="Poppins"/>
                <a:ea typeface="Poppins"/>
              </a:rPr>
              <a:t>MÍNIMO DE 15 DIAS NO AR</a:t>
            </a:r>
          </a:p>
        </p:txBody>
      </p:sp>
      <p:sp>
        <p:nvSpPr>
          <p:cNvPr id="100262" name="TextBox 31"/>
          <p:cNvSpPr txBox="1"/>
          <p:nvPr/>
        </p:nvSpPr>
        <p:spPr>
          <a:xfrm xmlns:a="http://schemas.openxmlformats.org/drawingml/2006/main">
            <a:off x="894080" y="5638800"/>
            <a:ext cx="29972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950">
                <a:solidFill>
                  <a:srgbClr val="FFFFFF"/>
                </a:solidFill>
                <a:latin typeface="Poppins"/>
                <a:ea typeface="Poppins"/>
              </a:rPr>
              <a:t>Toda campanha de data entra com pelo menos 15 dias. Abaixo disso ela não sai da fase de aprendizado, e o resultado não serve nem para o mês nem para comparar com o ano seguinte.</a:t>
            </a:r>
          </a:p>
        </p:txBody>
      </p:sp>
      <p:sp>
        <p:nvSpPr>
          <p:cNvPr id="100263" name="TextBox 32"/>
          <p:cNvSpPr/>
          <p:nvPr/>
        </p:nvSpPr>
        <p:spPr>
          <a:xfrm xmlns:a="http://schemas.openxmlformats.org/drawingml/2006/main">
            <a:off x="4362450" y="5232400"/>
            <a:ext cx="3467100" cy="127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9365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64" name="TextBox 33"/>
          <p:cNvSpPr txBox="1"/>
          <p:nvPr/>
        </p:nvSpPr>
        <p:spPr>
          <a:xfrm xmlns:a="http://schemas.openxmlformats.org/drawingml/2006/main">
            <a:off x="4616450" y="53848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1DAFE0"/>
                </a:solidFill>
                <a:latin typeface="Poppins"/>
                <a:ea typeface="Poppins"/>
              </a:rPr>
              <a:t>O CAMINHO MAIS CURTO</a:t>
            </a:r>
          </a:p>
        </p:txBody>
      </p:sp>
      <p:sp>
        <p:nvSpPr>
          <p:cNvPr id="100265" name="TextBox 34"/>
          <p:cNvSpPr txBox="1"/>
          <p:nvPr/>
        </p:nvSpPr>
        <p:spPr>
          <a:xfrm xmlns:a="http://schemas.openxmlformats.org/drawingml/2006/main">
            <a:off x="4616450" y="5638800"/>
            <a:ext cx="29972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950">
                <a:solidFill>
                  <a:srgbClr val="FFFFFF"/>
                </a:solidFill>
                <a:latin typeface="Poppins"/>
                <a:ea typeface="Poppins"/>
              </a:rPr>
              <a:t>Adaptar para o pago os momentos que o orgânico já trabalha bem nessas datas. Aproveita o que já existe e não abre uma frente de produção nova.</a:t>
            </a:r>
          </a:p>
        </p:txBody>
      </p:sp>
      <p:sp>
        <p:nvSpPr>
          <p:cNvPr id="100266" name="TextBox 35"/>
          <p:cNvSpPr/>
          <p:nvPr/>
        </p:nvSpPr>
        <p:spPr>
          <a:xfrm xmlns:a="http://schemas.openxmlformats.org/drawingml/2006/main">
            <a:off x="8084820" y="5232400"/>
            <a:ext cx="3467100" cy="127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9365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67" name="TextBox 36"/>
          <p:cNvSpPr txBox="1"/>
          <p:nvPr/>
        </p:nvSpPr>
        <p:spPr>
          <a:xfrm xmlns:a="http://schemas.openxmlformats.org/drawingml/2006/main">
            <a:off x="8338820" y="53848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1DAFE0"/>
                </a:solidFill>
                <a:latin typeface="Poppins"/>
                <a:ea typeface="Poppins"/>
              </a:rPr>
              <a:t>O AVISO DE NOVEMBRO</a:t>
            </a:r>
          </a:p>
        </p:txBody>
      </p:sp>
      <p:sp>
        <p:nvSpPr>
          <p:cNvPr id="100268" name="TextBox 37"/>
          <p:cNvSpPr txBox="1"/>
          <p:nvPr/>
        </p:nvSpPr>
        <p:spPr>
          <a:xfrm xmlns:a="http://schemas.openxmlformats.org/drawingml/2006/main">
            <a:off x="8338820" y="5638800"/>
            <a:ext cx="29972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950">
                <a:solidFill>
                  <a:srgbClr val="FFFFFF"/>
                </a:solidFill>
                <a:latin typeface="Poppins"/>
                <a:ea typeface="Poppins"/>
              </a:rPr>
              <a:t>Novembro é o mês mais caro do ano em mídia. Com a mesma verba, o alcance tende a cair. Vale combinar isso antes, para lermos o mês pela régua certa.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93652"/>
        </a:solidFill>
      </p:bgPr>
    </p:bg>
    <p:spTree>
      <p:nvGrpSpPr>
        <p:cNvPr id="1" name=""/>
        <p:cNvGrpSpPr/>
        <p:nvPr/>
      </p:nvGrpSpPr>
      <p:grpSpPr/>
      <p:sp>
        <p:nvSpPr>
          <p:cNvPr id="100269" name="TextBox 1"/>
          <p:cNvSpPr/>
          <p:nvPr/>
        </p:nvSpPr>
        <p:spPr>
          <a:xfrm xmlns:a="http://schemas.openxmlformats.org/drawingml/2006/main">
            <a:off x="0" y="0"/>
            <a:ext cx="32004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C4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70" name="TextBox 2"/>
          <p:cNvSpPr txBox="1"/>
          <p:nvPr/>
        </p:nvSpPr>
        <p:spPr>
          <a:xfrm xmlns:a="http://schemas.openxmlformats.org/drawingml/2006/main">
            <a:off x="822960" y="431800"/>
            <a:ext cx="1051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 spc="200">
                <a:solidFill>
                  <a:srgbClr val="1DAFE0"/>
                </a:solidFill>
                <a:latin typeface="Poppins"/>
                <a:ea typeface="Poppins"/>
              </a:rPr>
              <a:t>EM RESUMO</a:t>
            </a:r>
          </a:p>
        </p:txBody>
      </p:sp>
      <p:sp>
        <p:nvSpPr>
          <p:cNvPr id="100271" name="TextBox 3"/>
          <p:cNvSpPr txBox="1"/>
          <p:nvPr/>
        </p:nvSpPr>
        <p:spPr>
          <a:xfrm xmlns:a="http://schemas.openxmlformats.org/drawingml/2006/main">
            <a:off x="822960" y="787400"/>
            <a:ext cx="1051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  <a:latin typeface="Poppins"/>
                <a:ea typeface="Poppins"/>
              </a:rPr>
              <a:t>Julho entregou, agosto ajusta e mede, o ano já tem caminho</a:t>
            </a:r>
          </a:p>
        </p:txBody>
      </p:sp>
      <p:sp>
        <p:nvSpPr>
          <p:cNvPr id="100272" name="TextBox 4"/>
          <p:cNvSpPr/>
          <p:nvPr/>
        </p:nvSpPr>
        <p:spPr>
          <a:xfrm xmlns:a="http://schemas.openxmlformats.org/drawingml/2006/main">
            <a:off x="822960" y="1498600"/>
            <a:ext cx="3365500" cy="1320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C476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73" name="TextBox 5"/>
          <p:cNvSpPr txBox="1"/>
          <p:nvPr/>
        </p:nvSpPr>
        <p:spPr>
          <a:xfrm xmlns:a="http://schemas.openxmlformats.org/drawingml/2006/main">
            <a:off x="1076960" y="1651000"/>
            <a:ext cx="287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100" b="1" spc="200">
                <a:solidFill>
                  <a:srgbClr val="FC496C"/>
                </a:solidFill>
                <a:latin typeface="Poppins"/>
                <a:ea typeface="Poppins"/>
              </a:rPr>
              <a:t>B2C</a:t>
            </a:r>
          </a:p>
        </p:txBody>
      </p:sp>
      <p:sp>
        <p:nvSpPr>
          <p:cNvPr id="100274" name="TextBox 6"/>
          <p:cNvSpPr txBox="1"/>
          <p:nvPr/>
        </p:nvSpPr>
        <p:spPr>
          <a:xfrm xmlns:a="http://schemas.openxmlformats.org/drawingml/2006/main">
            <a:off x="1076960" y="1905000"/>
            <a:ext cx="2895600" cy="78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150">
                <a:solidFill>
                  <a:srgbClr val="FFFFFF"/>
                </a:solidFill>
                <a:latin typeface="Poppins"/>
                <a:ea typeface="Poppins"/>
              </a:rPr>
              <a:t>1,08 mi de pessoas alcançadas em 21 dias, a um custo por mil 19% menor que junho</a:t>
            </a:r>
          </a:p>
        </p:txBody>
      </p:sp>
      <p:sp>
        <p:nvSpPr>
          <p:cNvPr id="100275" name="TextBox 7"/>
          <p:cNvSpPr/>
          <p:nvPr/>
        </p:nvSpPr>
        <p:spPr>
          <a:xfrm xmlns:a="http://schemas.openxmlformats.org/drawingml/2006/main">
            <a:off x="4442460" y="1498600"/>
            <a:ext cx="3365500" cy="1320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C476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76" name="TextBox 8"/>
          <p:cNvSpPr txBox="1"/>
          <p:nvPr/>
        </p:nvSpPr>
        <p:spPr>
          <a:xfrm xmlns:a="http://schemas.openxmlformats.org/drawingml/2006/main">
            <a:off x="4696460" y="1651000"/>
            <a:ext cx="287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100" b="1" spc="200">
                <a:solidFill>
                  <a:srgbClr val="FC496C"/>
                </a:solidFill>
                <a:latin typeface="Poppins"/>
                <a:ea typeface="Poppins"/>
              </a:rPr>
              <a:t>B2B</a:t>
            </a:r>
          </a:p>
        </p:txBody>
      </p:sp>
      <p:sp>
        <p:nvSpPr>
          <p:cNvPr id="100277" name="TextBox 9"/>
          <p:cNvSpPr txBox="1"/>
          <p:nvPr/>
        </p:nvSpPr>
        <p:spPr>
          <a:xfrm xmlns:a="http://schemas.openxmlformats.org/drawingml/2006/main">
            <a:off x="4696460" y="1905000"/>
            <a:ext cx="2895600" cy="78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150">
                <a:solidFill>
                  <a:srgbClr val="FFFFFF"/>
                </a:solidFill>
                <a:latin typeface="Poppins"/>
                <a:ea typeface="Poppins"/>
              </a:rPr>
              <a:t>121 leads a R$ 33,41, com o custo por lead 30% abaixo de junho</a:t>
            </a:r>
          </a:p>
        </p:txBody>
      </p:sp>
      <p:sp>
        <p:nvSpPr>
          <p:cNvPr id="100278" name="TextBox 10"/>
          <p:cNvSpPr/>
          <p:nvPr/>
        </p:nvSpPr>
        <p:spPr>
          <a:xfrm xmlns:a="http://schemas.openxmlformats.org/drawingml/2006/main">
            <a:off x="8061960" y="1498600"/>
            <a:ext cx="3365500" cy="1320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C476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79" name="TextBox 11"/>
          <p:cNvSpPr txBox="1"/>
          <p:nvPr/>
        </p:nvSpPr>
        <p:spPr>
          <a:xfrm xmlns:a="http://schemas.openxmlformats.org/drawingml/2006/main">
            <a:off x="8315960" y="1651000"/>
            <a:ext cx="287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100" b="1" spc="200">
                <a:solidFill>
                  <a:srgbClr val="FC496C"/>
                </a:solidFill>
                <a:latin typeface="Poppins"/>
                <a:ea typeface="Poppins"/>
              </a:rPr>
              <a:t>AGOSTO</a:t>
            </a:r>
          </a:p>
        </p:txBody>
      </p:sp>
      <p:sp>
        <p:nvSpPr>
          <p:cNvPr id="100280" name="TextBox 12"/>
          <p:cNvSpPr txBox="1"/>
          <p:nvPr/>
        </p:nvSpPr>
        <p:spPr>
          <a:xfrm xmlns:a="http://schemas.openxmlformats.org/drawingml/2006/main">
            <a:off x="8315960" y="1905000"/>
            <a:ext cx="2895600" cy="78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150">
                <a:solidFill>
                  <a:srgbClr val="FFFFFF"/>
                </a:solidFill>
                <a:latin typeface="Poppins"/>
                <a:ea typeface="Poppins"/>
              </a:rPr>
              <a:t>otimização das duas frentes e a cadeia de captura de leads fechada</a:t>
            </a:r>
          </a:p>
        </p:txBody>
      </p:sp>
      <p:sp>
        <p:nvSpPr>
          <p:cNvPr id="100281" name="TextBox 13"/>
          <p:cNvSpPr txBox="1"/>
          <p:nvPr/>
        </p:nvSpPr>
        <p:spPr>
          <a:xfrm xmlns:a="http://schemas.openxmlformats.org/drawingml/2006/main">
            <a:off x="822960" y="3098800"/>
            <a:ext cx="1051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 spc="200">
                <a:solidFill>
                  <a:srgbClr val="1DAFE0"/>
                </a:solidFill>
                <a:latin typeface="Poppins"/>
                <a:ea typeface="Poppins"/>
              </a:rPr>
              <a:t>O QUE DESTRAVA OS PRÓXIMOS MESES</a:t>
            </a:r>
          </a:p>
        </p:txBody>
      </p:sp>
      <p:sp>
        <p:nvSpPr>
          <p:cNvPr id="100282" name="TextBox 14"/>
          <p:cNvSpPr/>
          <p:nvPr/>
        </p:nvSpPr>
        <p:spPr>
          <a:xfrm xmlns:a="http://schemas.openxmlformats.org/drawingml/2006/main">
            <a:off x="822960" y="3505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C4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83" name="TextBox 15"/>
          <p:cNvSpPr txBox="1"/>
          <p:nvPr/>
        </p:nvSpPr>
        <p:spPr>
          <a:xfrm xmlns:a="http://schemas.openxmlformats.org/drawingml/2006/main">
            <a:off x="822960" y="3505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FFFFFF"/>
                </a:solidFill>
                <a:latin typeface="Poppins"/>
                <a:ea typeface="Poppins"/>
              </a:rPr>
              <a:t>1</a:t>
            </a:r>
          </a:p>
        </p:txBody>
      </p:sp>
      <p:sp>
        <p:nvSpPr>
          <p:cNvPr id="100284" name="TextBox 16"/>
          <p:cNvSpPr txBox="1"/>
          <p:nvPr/>
        </p:nvSpPr>
        <p:spPr>
          <a:xfrm xmlns:a="http://schemas.openxmlformats.org/drawingml/2006/main">
            <a:off x="1371600" y="3492500"/>
            <a:ext cx="3556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50" b="1">
                <a:solidFill>
                  <a:srgbClr val="FFFFFF"/>
                </a:solidFill>
                <a:latin typeface="Poppins"/>
                <a:ea typeface="Poppins"/>
              </a:rPr>
              <a:t>Um fluxo de retorno do comercial</a:t>
            </a:r>
          </a:p>
        </p:txBody>
      </p:sp>
      <p:sp>
        <p:nvSpPr>
          <p:cNvPr id="100285" name="TextBox 17"/>
          <p:cNvSpPr txBox="1"/>
          <p:nvPr/>
        </p:nvSpPr>
        <p:spPr>
          <a:xfrm xmlns:a="http://schemas.openxmlformats.org/drawingml/2006/main">
            <a:off x="5029200" y="3492500"/>
            <a:ext cx="6299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050">
                <a:solidFill>
                  <a:srgbClr val="B9CBD6"/>
                </a:solidFill>
                <a:latin typeface="Poppins"/>
                <a:ea typeface="Poppins"/>
              </a:rPr>
              <a:t>quais leads viram visita e quais viram contrato, de forma contínua e não pontual. É o que nos deixa otimizar por resultado, e não só por custo.</a:t>
            </a:r>
          </a:p>
        </p:txBody>
      </p:sp>
      <p:sp>
        <p:nvSpPr>
          <p:cNvPr id="100286" name="TextBox 18"/>
          <p:cNvSpPr/>
          <p:nvPr/>
        </p:nvSpPr>
        <p:spPr>
          <a:xfrm xmlns:a="http://schemas.openxmlformats.org/drawingml/2006/main">
            <a:off x="822960" y="4191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C4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87" name="TextBox 19"/>
          <p:cNvSpPr txBox="1"/>
          <p:nvPr/>
        </p:nvSpPr>
        <p:spPr>
          <a:xfrm xmlns:a="http://schemas.openxmlformats.org/drawingml/2006/main">
            <a:off x="822960" y="41910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FFFFFF"/>
                </a:solidFill>
                <a:latin typeface="Poppins"/>
                <a:ea typeface="Poppins"/>
              </a:rPr>
              <a:t>2</a:t>
            </a:r>
          </a:p>
        </p:txBody>
      </p:sp>
      <p:sp>
        <p:nvSpPr>
          <p:cNvPr id="100288" name="TextBox 20"/>
          <p:cNvSpPr txBox="1"/>
          <p:nvPr/>
        </p:nvSpPr>
        <p:spPr>
          <a:xfrm xmlns:a="http://schemas.openxmlformats.org/drawingml/2006/main">
            <a:off x="1371600" y="4178300"/>
            <a:ext cx="3556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50" b="1">
                <a:solidFill>
                  <a:srgbClr val="FFFFFF"/>
                </a:solidFill>
                <a:latin typeface="Poppins"/>
                <a:ea typeface="Poppins"/>
              </a:rPr>
              <a:t>A base histórica de 2025</a:t>
            </a:r>
          </a:p>
        </p:txBody>
      </p:sp>
      <p:sp>
        <p:nvSpPr>
          <p:cNvPr id="100289" name="TextBox 21"/>
          <p:cNvSpPr txBox="1"/>
          <p:nvPr/>
        </p:nvSpPr>
        <p:spPr>
          <a:xfrm xmlns:a="http://schemas.openxmlformats.org/drawingml/2006/main">
            <a:off x="5029200" y="4178300"/>
            <a:ext cx="6299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050">
                <a:solidFill>
                  <a:srgbClr val="B9CBD6"/>
                </a:solidFill>
                <a:latin typeface="Poppins"/>
                <a:ea typeface="Poppins"/>
              </a:rPr>
              <a:t>eu levanto Meta, Google e os dados de fluxo até 31/08. É o que dá base de comparação para a Black Friday e o Natal.</a:t>
            </a:r>
          </a:p>
        </p:txBody>
      </p:sp>
      <p:sp>
        <p:nvSpPr>
          <p:cNvPr id="100290" name="TextBox 22"/>
          <p:cNvSpPr/>
          <p:nvPr/>
        </p:nvSpPr>
        <p:spPr>
          <a:xfrm xmlns:a="http://schemas.openxmlformats.org/drawingml/2006/main">
            <a:off x="822960" y="48768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C4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91" name="TextBox 23"/>
          <p:cNvSpPr txBox="1"/>
          <p:nvPr/>
        </p:nvSpPr>
        <p:spPr>
          <a:xfrm xmlns:a="http://schemas.openxmlformats.org/drawingml/2006/main">
            <a:off x="822960" y="48768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FFFFFF"/>
                </a:solidFill>
                <a:latin typeface="Poppins"/>
                <a:ea typeface="Poppins"/>
              </a:rPr>
              <a:t>3</a:t>
            </a:r>
          </a:p>
        </p:txBody>
      </p:sp>
      <p:sp>
        <p:nvSpPr>
          <p:cNvPr id="100292" name="TextBox 24"/>
          <p:cNvSpPr txBox="1"/>
          <p:nvPr/>
        </p:nvSpPr>
        <p:spPr>
          <a:xfrm xmlns:a="http://schemas.openxmlformats.org/drawingml/2006/main">
            <a:off x="1371600" y="4864100"/>
            <a:ext cx="3556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50" b="1">
                <a:solidFill>
                  <a:srgbClr val="FFFFFF"/>
                </a:solidFill>
                <a:latin typeface="Poppins"/>
                <a:ea typeface="Poppins"/>
              </a:rPr>
              <a:t>As datas combinadas com antecedência</a:t>
            </a:r>
          </a:p>
        </p:txBody>
      </p:sp>
      <p:sp>
        <p:nvSpPr>
          <p:cNvPr id="100293" name="TextBox 25"/>
          <p:cNvSpPr txBox="1"/>
          <p:nvPr/>
        </p:nvSpPr>
        <p:spPr>
          <a:xfrm xmlns:a="http://schemas.openxmlformats.org/drawingml/2006/main">
            <a:off x="5029200" y="4864100"/>
            <a:ext cx="6299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050">
                <a:solidFill>
                  <a:srgbClr val="B9CBD6"/>
                </a:solidFill>
                <a:latin typeface="Poppins"/>
                <a:ea typeface="Poppins"/>
              </a:rPr>
              <a:t>quanto antes fecharmos o calendário, mais fácil encaixar na fila de todo mundo e garantir os 15 dias mínimos no ar.</a:t>
            </a:r>
          </a:p>
        </p:txBody>
      </p:sp>
      <p:sp>
        <p:nvSpPr>
          <p:cNvPr id="100294" name="TextBox 26"/>
          <p:cNvSpPr/>
          <p:nvPr/>
        </p:nvSpPr>
        <p:spPr>
          <a:xfrm xmlns:a="http://schemas.openxmlformats.org/drawingml/2006/main">
            <a:off x="822960" y="55626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C4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95" name="TextBox 27"/>
          <p:cNvSpPr txBox="1"/>
          <p:nvPr/>
        </p:nvSpPr>
        <p:spPr>
          <a:xfrm xmlns:a="http://schemas.openxmlformats.org/drawingml/2006/main">
            <a:off x="822960" y="55626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FFFFFF"/>
                </a:solidFill>
                <a:latin typeface="Poppins"/>
                <a:ea typeface="Poppins"/>
              </a:rPr>
              <a:t>4</a:t>
            </a:r>
          </a:p>
        </p:txBody>
      </p:sp>
      <p:sp>
        <p:nvSpPr>
          <p:cNvPr id="100296" name="TextBox 28"/>
          <p:cNvSpPr txBox="1"/>
          <p:nvPr/>
        </p:nvSpPr>
        <p:spPr>
          <a:xfrm xmlns:a="http://schemas.openxmlformats.org/drawingml/2006/main">
            <a:off x="1371600" y="5549900"/>
            <a:ext cx="35560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50" b="1">
                <a:solidFill>
                  <a:srgbClr val="FFFFFF"/>
                </a:solidFill>
                <a:latin typeface="Poppins"/>
                <a:ea typeface="Poppins"/>
              </a:rPr>
              <a:t>A limpeza do site</a:t>
            </a:r>
          </a:p>
        </p:txBody>
      </p:sp>
      <p:sp>
        <p:nvSpPr>
          <p:cNvPr id="100297" name="TextBox 29"/>
          <p:cNvSpPr txBox="1"/>
          <p:nvPr/>
        </p:nvSpPr>
        <p:spPr>
          <a:xfrm xmlns:a="http://schemas.openxmlformats.org/drawingml/2006/main">
            <a:off x="5029200" y="5549900"/>
            <a:ext cx="6299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050">
                <a:solidFill>
                  <a:srgbClr val="B9CBD6"/>
                </a:solidFill>
                <a:latin typeface="Poppins"/>
                <a:ea typeface="Poppins"/>
              </a:rPr>
              <a:t>o site do grupo está com injeção de spam de apostas, o que gera risco de política no Google Ads. Vale endereçar com quem mantém o site e o RD Station.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298" name="TextBox 1"/>
          <p:cNvSpPr txBox="1"/>
          <p:nvPr/>
        </p:nvSpPr>
        <p:spPr>
          <a:xfrm xmlns:a="http://schemas.openxmlformats.org/drawingml/2006/main">
            <a:off x="640080" y="431800"/>
            <a:ext cx="1091184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200" b="1" spc="200">
                <a:solidFill>
                  <a:srgbClr val="E01C4C"/>
                </a:solidFill>
                <a:latin typeface="Poppins"/>
                <a:ea typeface="Poppins"/>
              </a:rPr>
              <a:t>ANEXO · TURBINAR JULHO / 2026</a:t>
            </a:r>
          </a:p>
        </p:txBody>
      </p:sp>
      <p:sp>
        <p:nvSpPr>
          <p:cNvPr id="100299" name="TextBox 2"/>
          <p:cNvSpPr txBox="1"/>
          <p:nvPr/>
        </p:nvSpPr>
        <p:spPr>
          <a:xfrm xmlns:a="http://schemas.openxmlformats.org/drawingml/2006/main">
            <a:off x="640080" y="812800"/>
            <a:ext cx="1091184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700" b="1">
                <a:solidFill>
                  <a:srgbClr val="093652"/>
                </a:solidFill>
                <a:latin typeface="Poppins"/>
                <a:ea typeface="Poppins"/>
              </a:rPr>
              <a:t>Detalhamento peça a peça</a:t>
            </a:r>
          </a:p>
        </p:txBody>
      </p:sp>
      <p:sp>
        <p:nvSpPr>
          <p:cNvPr id="100300" name="TextBox 3"/>
          <p:cNvSpPr txBox="1"/>
          <p:nvPr/>
        </p:nvSpPr>
        <p:spPr>
          <a:xfrm xmlns:a="http://schemas.openxmlformats.org/drawingml/2006/main">
            <a:off x="640080" y="1397000"/>
            <a:ext cx="1091184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4A5568"/>
                </a:solidFill>
                <a:latin typeface="Poppins"/>
                <a:ea typeface="Poppins"/>
              </a:rPr>
              <a:t>Somente julho. Gasto realizado até 24/07 mais o previsto até 31/07.</a:t>
            </a:r>
          </a:p>
        </p:txBody>
      </p:sp>
      <p:sp>
        <p:nvSpPr>
          <p:cNvPr id="100301" name="TextBox 4"/>
          <p:cNvSpPr/>
          <p:nvPr/>
        </p:nvSpPr>
        <p:spPr>
          <a:xfrm xmlns:a="http://schemas.openxmlformats.org/drawingml/2006/main">
            <a:off x="640080" y="1854200"/>
            <a:ext cx="5323840" cy="4191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02" name="TextBox 5"/>
          <p:cNvSpPr txBox="1"/>
          <p:nvPr/>
        </p:nvSpPr>
        <p:spPr>
          <a:xfrm xmlns:a="http://schemas.openxmlformats.org/drawingml/2006/main">
            <a:off x="894080" y="2006600"/>
            <a:ext cx="317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157DBF"/>
                </a:solidFill>
                <a:latin typeface="Poppins"/>
                <a:ea typeface="Poppins"/>
              </a:rPr>
              <a:t>LOJAS  ·  9 peças</a:t>
            </a:r>
          </a:p>
        </p:txBody>
      </p:sp>
      <p:sp>
        <p:nvSpPr>
          <p:cNvPr id="100303" name="TextBox 6"/>
          <p:cNvSpPr txBox="1"/>
          <p:nvPr/>
        </p:nvSpPr>
        <p:spPr>
          <a:xfrm xmlns:a="http://schemas.openxmlformats.org/drawingml/2006/main">
            <a:off x="4069080" y="2006600"/>
            <a:ext cx="162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1000" b="1">
                <a:solidFill>
                  <a:srgbClr val="093652"/>
                </a:solidFill>
                <a:latin typeface="Poppins"/>
                <a:ea typeface="Poppins"/>
              </a:rPr>
              <a:t>R$ 1.022  ·  43,5%</a:t>
            </a:r>
          </a:p>
        </p:txBody>
      </p:sp>
      <p:sp>
        <p:nvSpPr>
          <p:cNvPr id="100304" name="TextBox 7"/>
          <p:cNvSpPr txBox="1"/>
          <p:nvPr/>
        </p:nvSpPr>
        <p:spPr>
          <a:xfrm xmlns:a="http://schemas.openxmlformats.org/drawingml/2006/main">
            <a:off x="894080" y="2362200"/>
            <a:ext cx="20066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750" b="1" spc="100">
                <a:solidFill>
                  <a:srgbClr val="6B7280"/>
                </a:solidFill>
                <a:latin typeface="Poppins"/>
                <a:ea typeface="Poppins"/>
              </a:rPr>
              <a:t>PEÇA</a:t>
            </a:r>
          </a:p>
        </p:txBody>
      </p:sp>
      <p:sp>
        <p:nvSpPr>
          <p:cNvPr id="100305" name="TextBox 8"/>
          <p:cNvSpPr txBox="1"/>
          <p:nvPr/>
        </p:nvSpPr>
        <p:spPr>
          <a:xfrm xmlns:a="http://schemas.openxmlformats.org/drawingml/2006/main">
            <a:off x="2951480" y="2362200"/>
            <a:ext cx="9906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750" b="1" spc="100">
                <a:solidFill>
                  <a:srgbClr val="6B7280"/>
                </a:solidFill>
                <a:latin typeface="Poppins"/>
                <a:ea typeface="Poppins"/>
              </a:rPr>
              <a:t>PERÍODO</a:t>
            </a:r>
          </a:p>
        </p:txBody>
      </p:sp>
      <p:sp>
        <p:nvSpPr>
          <p:cNvPr id="100306" name="TextBox 9"/>
          <p:cNvSpPr txBox="1"/>
          <p:nvPr/>
        </p:nvSpPr>
        <p:spPr>
          <a:xfrm xmlns:a="http://schemas.openxmlformats.org/drawingml/2006/main">
            <a:off x="3967480" y="2362200"/>
            <a:ext cx="381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750" b="1" spc="100">
                <a:solidFill>
                  <a:srgbClr val="6B7280"/>
                </a:solidFill>
                <a:latin typeface="Poppins"/>
                <a:ea typeface="Poppins"/>
              </a:rPr>
              <a:t>DIAS</a:t>
            </a:r>
          </a:p>
        </p:txBody>
      </p:sp>
      <p:sp>
        <p:nvSpPr>
          <p:cNvPr id="100307" name="TextBox 10"/>
          <p:cNvSpPr txBox="1"/>
          <p:nvPr/>
        </p:nvSpPr>
        <p:spPr>
          <a:xfrm xmlns:a="http://schemas.openxmlformats.org/drawingml/2006/main">
            <a:off x="4373880" y="2362200"/>
            <a:ext cx="635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750" b="1" spc="100">
                <a:solidFill>
                  <a:srgbClr val="6B7280"/>
                </a:solidFill>
                <a:latin typeface="Poppins"/>
                <a:ea typeface="Poppins"/>
              </a:rPr>
              <a:t>R$/DIA</a:t>
            </a:r>
          </a:p>
        </p:txBody>
      </p:sp>
      <p:sp>
        <p:nvSpPr>
          <p:cNvPr id="100308" name="TextBox 11"/>
          <p:cNvSpPr txBox="1"/>
          <p:nvPr/>
        </p:nvSpPr>
        <p:spPr>
          <a:xfrm xmlns:a="http://schemas.openxmlformats.org/drawingml/2006/main">
            <a:off x="5059680" y="2362200"/>
            <a:ext cx="6477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750" b="1" spc="100">
                <a:solidFill>
                  <a:srgbClr val="6B7280"/>
                </a:solidFill>
                <a:latin typeface="Poppins"/>
                <a:ea typeface="Poppins"/>
              </a:rPr>
              <a:t>TOTAL</a:t>
            </a:r>
          </a:p>
        </p:txBody>
      </p:sp>
      <p:sp>
        <p:nvSpPr>
          <p:cNvPr id="100309" name="TextBox 12"/>
          <p:cNvSpPr txBox="1"/>
          <p:nvPr/>
        </p:nvSpPr>
        <p:spPr>
          <a:xfrm xmlns:a="http://schemas.openxmlformats.org/drawingml/2006/main">
            <a:off x="894080" y="2616200"/>
            <a:ext cx="2006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Bella da Ju</a:t>
            </a:r>
          </a:p>
        </p:txBody>
      </p:sp>
      <p:sp>
        <p:nvSpPr>
          <p:cNvPr id="100310" name="TextBox 13"/>
          <p:cNvSpPr txBox="1"/>
          <p:nvPr/>
        </p:nvSpPr>
        <p:spPr>
          <a:xfrm xmlns:a="http://schemas.openxmlformats.org/drawingml/2006/main">
            <a:off x="2951480" y="2616200"/>
            <a:ext cx="990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30/06 → 30/07</a:t>
            </a:r>
          </a:p>
        </p:txBody>
      </p:sp>
      <p:sp>
        <p:nvSpPr>
          <p:cNvPr id="100311" name="TextBox 14"/>
          <p:cNvSpPr txBox="1"/>
          <p:nvPr/>
        </p:nvSpPr>
        <p:spPr>
          <a:xfrm xmlns:a="http://schemas.openxmlformats.org/drawingml/2006/main">
            <a:off x="3967480" y="2616200"/>
            <a:ext cx="381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30</a:t>
            </a:r>
          </a:p>
        </p:txBody>
      </p:sp>
      <p:sp>
        <p:nvSpPr>
          <p:cNvPr id="100312" name="TextBox 15"/>
          <p:cNvSpPr txBox="1"/>
          <p:nvPr/>
        </p:nvSpPr>
        <p:spPr>
          <a:xfrm xmlns:a="http://schemas.openxmlformats.org/drawingml/2006/main">
            <a:off x="4373880" y="2616200"/>
            <a:ext cx="635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9</a:t>
            </a:r>
          </a:p>
        </p:txBody>
      </p:sp>
      <p:sp>
        <p:nvSpPr>
          <p:cNvPr id="100313" name="TextBox 16"/>
          <p:cNvSpPr txBox="1"/>
          <p:nvPr/>
        </p:nvSpPr>
        <p:spPr>
          <a:xfrm xmlns:a="http://schemas.openxmlformats.org/drawingml/2006/main">
            <a:off x="5059680" y="2616200"/>
            <a:ext cx="6477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272</a:t>
            </a:r>
          </a:p>
        </p:txBody>
      </p:sp>
      <p:sp>
        <p:nvSpPr>
          <p:cNvPr id="100314" name="TextBox 17"/>
          <p:cNvSpPr txBox="1"/>
          <p:nvPr/>
        </p:nvSpPr>
        <p:spPr>
          <a:xfrm xmlns:a="http://schemas.openxmlformats.org/drawingml/2006/main">
            <a:off x="894080" y="2921000"/>
            <a:ext cx="2006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De Meninas</a:t>
            </a:r>
          </a:p>
        </p:txBody>
      </p:sp>
      <p:sp>
        <p:nvSpPr>
          <p:cNvPr id="100315" name="TextBox 18"/>
          <p:cNvSpPr txBox="1"/>
          <p:nvPr/>
        </p:nvSpPr>
        <p:spPr>
          <a:xfrm xmlns:a="http://schemas.openxmlformats.org/drawingml/2006/main">
            <a:off x="2951480" y="2921000"/>
            <a:ext cx="990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24/06 → 23/07</a:t>
            </a:r>
          </a:p>
        </p:txBody>
      </p:sp>
      <p:sp>
        <p:nvSpPr>
          <p:cNvPr id="100316" name="TextBox 19"/>
          <p:cNvSpPr txBox="1"/>
          <p:nvPr/>
        </p:nvSpPr>
        <p:spPr>
          <a:xfrm xmlns:a="http://schemas.openxmlformats.org/drawingml/2006/main">
            <a:off x="3967480" y="2921000"/>
            <a:ext cx="381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23</a:t>
            </a:r>
          </a:p>
        </p:txBody>
      </p:sp>
      <p:sp>
        <p:nvSpPr>
          <p:cNvPr id="100317" name="TextBox 20"/>
          <p:cNvSpPr txBox="1"/>
          <p:nvPr/>
        </p:nvSpPr>
        <p:spPr>
          <a:xfrm xmlns:a="http://schemas.openxmlformats.org/drawingml/2006/main">
            <a:off x="4373880" y="2921000"/>
            <a:ext cx="635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10</a:t>
            </a:r>
          </a:p>
        </p:txBody>
      </p:sp>
      <p:sp>
        <p:nvSpPr>
          <p:cNvPr id="100318" name="TextBox 21"/>
          <p:cNvSpPr txBox="1"/>
          <p:nvPr/>
        </p:nvSpPr>
        <p:spPr>
          <a:xfrm xmlns:a="http://schemas.openxmlformats.org/drawingml/2006/main">
            <a:off x="5059680" y="2921000"/>
            <a:ext cx="6477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222</a:t>
            </a:r>
          </a:p>
        </p:txBody>
      </p:sp>
      <p:sp>
        <p:nvSpPr>
          <p:cNvPr id="100319" name="TextBox 22"/>
          <p:cNvSpPr txBox="1"/>
          <p:nvPr/>
        </p:nvSpPr>
        <p:spPr>
          <a:xfrm xmlns:a="http://schemas.openxmlformats.org/drawingml/2006/main">
            <a:off x="894080" y="3225800"/>
            <a:ext cx="2006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Ivare</a:t>
            </a:r>
          </a:p>
        </p:txBody>
      </p:sp>
      <p:sp>
        <p:nvSpPr>
          <p:cNvPr id="100320" name="TextBox 23"/>
          <p:cNvSpPr txBox="1"/>
          <p:nvPr/>
        </p:nvSpPr>
        <p:spPr>
          <a:xfrm xmlns:a="http://schemas.openxmlformats.org/drawingml/2006/main">
            <a:off x="2951480" y="3225800"/>
            <a:ext cx="990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15/06 → 15/07</a:t>
            </a:r>
          </a:p>
        </p:txBody>
      </p:sp>
      <p:sp>
        <p:nvSpPr>
          <p:cNvPr id="100321" name="TextBox 24"/>
          <p:cNvSpPr txBox="1"/>
          <p:nvPr/>
        </p:nvSpPr>
        <p:spPr>
          <a:xfrm xmlns:a="http://schemas.openxmlformats.org/drawingml/2006/main">
            <a:off x="3967480" y="3225800"/>
            <a:ext cx="381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15</a:t>
            </a:r>
          </a:p>
        </p:txBody>
      </p:sp>
      <p:sp>
        <p:nvSpPr>
          <p:cNvPr id="100322" name="TextBox 25"/>
          <p:cNvSpPr txBox="1"/>
          <p:nvPr/>
        </p:nvSpPr>
        <p:spPr>
          <a:xfrm xmlns:a="http://schemas.openxmlformats.org/drawingml/2006/main">
            <a:off x="4373880" y="3225800"/>
            <a:ext cx="635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10</a:t>
            </a:r>
          </a:p>
        </p:txBody>
      </p:sp>
      <p:sp>
        <p:nvSpPr>
          <p:cNvPr id="100323" name="TextBox 26"/>
          <p:cNvSpPr txBox="1"/>
          <p:nvPr/>
        </p:nvSpPr>
        <p:spPr>
          <a:xfrm xmlns:a="http://schemas.openxmlformats.org/drawingml/2006/main">
            <a:off x="5059680" y="3225800"/>
            <a:ext cx="6477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143</a:t>
            </a:r>
          </a:p>
        </p:txBody>
      </p:sp>
      <p:sp>
        <p:nvSpPr>
          <p:cNvPr id="100324" name="TextBox 27"/>
          <p:cNvSpPr txBox="1"/>
          <p:nvPr/>
        </p:nvSpPr>
        <p:spPr>
          <a:xfrm xmlns:a="http://schemas.openxmlformats.org/drawingml/2006/main">
            <a:off x="894080" y="3530600"/>
            <a:ext cx="2006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Sol Kids</a:t>
            </a:r>
          </a:p>
        </p:txBody>
      </p:sp>
      <p:sp>
        <p:nvSpPr>
          <p:cNvPr id="100325" name="TextBox 28"/>
          <p:cNvSpPr txBox="1"/>
          <p:nvPr/>
        </p:nvSpPr>
        <p:spPr>
          <a:xfrm xmlns:a="http://schemas.openxmlformats.org/drawingml/2006/main">
            <a:off x="2951480" y="3530600"/>
            <a:ext cx="990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16/06 → 16/07</a:t>
            </a:r>
          </a:p>
        </p:txBody>
      </p:sp>
      <p:sp>
        <p:nvSpPr>
          <p:cNvPr id="100326" name="TextBox 29"/>
          <p:cNvSpPr txBox="1"/>
          <p:nvPr/>
        </p:nvSpPr>
        <p:spPr>
          <a:xfrm xmlns:a="http://schemas.openxmlformats.org/drawingml/2006/main">
            <a:off x="3967480" y="3530600"/>
            <a:ext cx="381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16</a:t>
            </a:r>
          </a:p>
        </p:txBody>
      </p:sp>
      <p:sp>
        <p:nvSpPr>
          <p:cNvPr id="100327" name="TextBox 30"/>
          <p:cNvSpPr txBox="1"/>
          <p:nvPr/>
        </p:nvSpPr>
        <p:spPr>
          <a:xfrm xmlns:a="http://schemas.openxmlformats.org/drawingml/2006/main">
            <a:off x="4373880" y="3530600"/>
            <a:ext cx="635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7</a:t>
            </a:r>
          </a:p>
        </p:txBody>
      </p:sp>
      <p:sp>
        <p:nvSpPr>
          <p:cNvPr id="100328" name="TextBox 31"/>
          <p:cNvSpPr txBox="1"/>
          <p:nvPr/>
        </p:nvSpPr>
        <p:spPr>
          <a:xfrm xmlns:a="http://schemas.openxmlformats.org/drawingml/2006/main">
            <a:off x="5059680" y="3530600"/>
            <a:ext cx="6477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107</a:t>
            </a:r>
          </a:p>
        </p:txBody>
      </p:sp>
      <p:sp>
        <p:nvSpPr>
          <p:cNvPr id="100329" name="TextBox 32"/>
          <p:cNvSpPr txBox="1"/>
          <p:nvPr/>
        </p:nvSpPr>
        <p:spPr>
          <a:xfrm xmlns:a="http://schemas.openxmlformats.org/drawingml/2006/main">
            <a:off x="894080" y="3835400"/>
            <a:ext cx="2006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Mercadão dos Celulares</a:t>
            </a:r>
          </a:p>
        </p:txBody>
      </p:sp>
      <p:sp>
        <p:nvSpPr>
          <p:cNvPr id="100330" name="TextBox 33"/>
          <p:cNvSpPr txBox="1"/>
          <p:nvPr/>
        </p:nvSpPr>
        <p:spPr>
          <a:xfrm xmlns:a="http://schemas.openxmlformats.org/drawingml/2006/main">
            <a:off x="2951480" y="3835400"/>
            <a:ext cx="990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10/06 → 10/07</a:t>
            </a:r>
          </a:p>
        </p:txBody>
      </p:sp>
      <p:sp>
        <p:nvSpPr>
          <p:cNvPr id="100331" name="TextBox 34"/>
          <p:cNvSpPr txBox="1"/>
          <p:nvPr/>
        </p:nvSpPr>
        <p:spPr>
          <a:xfrm xmlns:a="http://schemas.openxmlformats.org/drawingml/2006/main">
            <a:off x="3967480" y="3835400"/>
            <a:ext cx="381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10</a:t>
            </a:r>
          </a:p>
        </p:txBody>
      </p:sp>
      <p:sp>
        <p:nvSpPr>
          <p:cNvPr id="100332" name="TextBox 35"/>
          <p:cNvSpPr txBox="1"/>
          <p:nvPr/>
        </p:nvSpPr>
        <p:spPr>
          <a:xfrm xmlns:a="http://schemas.openxmlformats.org/drawingml/2006/main">
            <a:off x="4373880" y="3835400"/>
            <a:ext cx="635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7</a:t>
            </a:r>
          </a:p>
        </p:txBody>
      </p:sp>
      <p:sp>
        <p:nvSpPr>
          <p:cNvPr id="100333" name="TextBox 36"/>
          <p:cNvSpPr txBox="1"/>
          <p:nvPr/>
        </p:nvSpPr>
        <p:spPr>
          <a:xfrm xmlns:a="http://schemas.openxmlformats.org/drawingml/2006/main">
            <a:off x="5059680" y="3835400"/>
            <a:ext cx="6477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65</a:t>
            </a:r>
          </a:p>
        </p:txBody>
      </p:sp>
      <p:sp>
        <p:nvSpPr>
          <p:cNvPr id="100334" name="TextBox 37"/>
          <p:cNvSpPr txBox="1"/>
          <p:nvPr/>
        </p:nvSpPr>
        <p:spPr>
          <a:xfrm xmlns:a="http://schemas.openxmlformats.org/drawingml/2006/main">
            <a:off x="894080" y="4140200"/>
            <a:ext cx="2006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Top Livros</a:t>
            </a:r>
          </a:p>
        </p:txBody>
      </p:sp>
      <p:sp>
        <p:nvSpPr>
          <p:cNvPr id="100335" name="TextBox 38"/>
          <p:cNvSpPr txBox="1"/>
          <p:nvPr/>
        </p:nvSpPr>
        <p:spPr>
          <a:xfrm xmlns:a="http://schemas.openxmlformats.org/drawingml/2006/main">
            <a:off x="2951480" y="4140200"/>
            <a:ext cx="990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21/07 → 20/08</a:t>
            </a:r>
          </a:p>
        </p:txBody>
      </p:sp>
      <p:sp>
        <p:nvSpPr>
          <p:cNvPr id="100336" name="TextBox 39"/>
          <p:cNvSpPr txBox="1"/>
          <p:nvPr/>
        </p:nvSpPr>
        <p:spPr>
          <a:xfrm xmlns:a="http://schemas.openxmlformats.org/drawingml/2006/main">
            <a:off x="3967480" y="4140200"/>
            <a:ext cx="381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11</a:t>
            </a:r>
          </a:p>
        </p:txBody>
      </p:sp>
      <p:sp>
        <p:nvSpPr>
          <p:cNvPr id="100337" name="TextBox 40"/>
          <p:cNvSpPr txBox="1"/>
          <p:nvPr/>
        </p:nvSpPr>
        <p:spPr>
          <a:xfrm xmlns:a="http://schemas.openxmlformats.org/drawingml/2006/main">
            <a:off x="4373880" y="4140200"/>
            <a:ext cx="635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6</a:t>
            </a:r>
          </a:p>
        </p:txBody>
      </p:sp>
      <p:sp>
        <p:nvSpPr>
          <p:cNvPr id="100338" name="TextBox 41"/>
          <p:cNvSpPr txBox="1"/>
          <p:nvPr/>
        </p:nvSpPr>
        <p:spPr>
          <a:xfrm xmlns:a="http://schemas.openxmlformats.org/drawingml/2006/main">
            <a:off x="5059680" y="4140200"/>
            <a:ext cx="6477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64</a:t>
            </a:r>
          </a:p>
        </p:txBody>
      </p:sp>
      <p:sp>
        <p:nvSpPr>
          <p:cNvPr id="100339" name="TextBox 42"/>
          <p:cNvSpPr txBox="1"/>
          <p:nvPr/>
        </p:nvSpPr>
        <p:spPr>
          <a:xfrm xmlns:a="http://schemas.openxmlformats.org/drawingml/2006/main">
            <a:off x="894080" y="4445000"/>
            <a:ext cx="2006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Urban Market</a:t>
            </a:r>
          </a:p>
        </p:txBody>
      </p:sp>
      <p:sp>
        <p:nvSpPr>
          <p:cNvPr id="100340" name="TextBox 43"/>
          <p:cNvSpPr txBox="1"/>
          <p:nvPr/>
        </p:nvSpPr>
        <p:spPr>
          <a:xfrm xmlns:a="http://schemas.openxmlformats.org/drawingml/2006/main">
            <a:off x="2951480" y="4445000"/>
            <a:ext cx="990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21/07 → 20/08</a:t>
            </a:r>
          </a:p>
        </p:txBody>
      </p:sp>
      <p:sp>
        <p:nvSpPr>
          <p:cNvPr id="100341" name="TextBox 44"/>
          <p:cNvSpPr txBox="1"/>
          <p:nvPr/>
        </p:nvSpPr>
        <p:spPr>
          <a:xfrm xmlns:a="http://schemas.openxmlformats.org/drawingml/2006/main">
            <a:off x="3967480" y="4445000"/>
            <a:ext cx="381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11</a:t>
            </a:r>
          </a:p>
        </p:txBody>
      </p:sp>
      <p:sp>
        <p:nvSpPr>
          <p:cNvPr id="100342" name="TextBox 45"/>
          <p:cNvSpPr txBox="1"/>
          <p:nvPr/>
        </p:nvSpPr>
        <p:spPr>
          <a:xfrm xmlns:a="http://schemas.openxmlformats.org/drawingml/2006/main">
            <a:off x="4373880" y="4445000"/>
            <a:ext cx="635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6</a:t>
            </a:r>
          </a:p>
        </p:txBody>
      </p:sp>
      <p:sp>
        <p:nvSpPr>
          <p:cNvPr id="100343" name="TextBox 46"/>
          <p:cNvSpPr txBox="1"/>
          <p:nvPr/>
        </p:nvSpPr>
        <p:spPr>
          <a:xfrm xmlns:a="http://schemas.openxmlformats.org/drawingml/2006/main">
            <a:off x="5059680" y="4445000"/>
            <a:ext cx="6477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64</a:t>
            </a:r>
          </a:p>
        </p:txBody>
      </p:sp>
      <p:sp>
        <p:nvSpPr>
          <p:cNvPr id="100344" name="TextBox 47"/>
          <p:cNvSpPr txBox="1"/>
          <p:nvPr/>
        </p:nvSpPr>
        <p:spPr>
          <a:xfrm xmlns:a="http://schemas.openxmlformats.org/drawingml/2006/main">
            <a:off x="894080" y="4749800"/>
            <a:ext cx="2006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Alice Boutique</a:t>
            </a:r>
          </a:p>
        </p:txBody>
      </p:sp>
      <p:sp>
        <p:nvSpPr>
          <p:cNvPr id="100345" name="TextBox 48"/>
          <p:cNvSpPr txBox="1"/>
          <p:nvPr/>
        </p:nvSpPr>
        <p:spPr>
          <a:xfrm xmlns:a="http://schemas.openxmlformats.org/drawingml/2006/main">
            <a:off x="2951480" y="4749800"/>
            <a:ext cx="990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24/07 → 25/08</a:t>
            </a:r>
          </a:p>
        </p:txBody>
      </p:sp>
      <p:sp>
        <p:nvSpPr>
          <p:cNvPr id="100346" name="TextBox 49"/>
          <p:cNvSpPr txBox="1"/>
          <p:nvPr/>
        </p:nvSpPr>
        <p:spPr>
          <a:xfrm xmlns:a="http://schemas.openxmlformats.org/drawingml/2006/main">
            <a:off x="3967480" y="4749800"/>
            <a:ext cx="381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8</a:t>
            </a:r>
          </a:p>
        </p:txBody>
      </p:sp>
      <p:sp>
        <p:nvSpPr>
          <p:cNvPr id="100347" name="TextBox 50"/>
          <p:cNvSpPr txBox="1"/>
          <p:nvPr/>
        </p:nvSpPr>
        <p:spPr>
          <a:xfrm xmlns:a="http://schemas.openxmlformats.org/drawingml/2006/main">
            <a:off x="4373880" y="4749800"/>
            <a:ext cx="635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6</a:t>
            </a:r>
          </a:p>
        </p:txBody>
      </p:sp>
      <p:sp>
        <p:nvSpPr>
          <p:cNvPr id="100348" name="TextBox 51"/>
          <p:cNvSpPr txBox="1"/>
          <p:nvPr/>
        </p:nvSpPr>
        <p:spPr>
          <a:xfrm xmlns:a="http://schemas.openxmlformats.org/drawingml/2006/main">
            <a:off x="5059680" y="4749800"/>
            <a:ext cx="6477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48</a:t>
            </a:r>
          </a:p>
        </p:txBody>
      </p:sp>
      <p:sp>
        <p:nvSpPr>
          <p:cNvPr id="100349" name="TextBox 52"/>
          <p:cNvSpPr txBox="1"/>
          <p:nvPr/>
        </p:nvSpPr>
        <p:spPr>
          <a:xfrm xmlns:a="http://schemas.openxmlformats.org/drawingml/2006/main">
            <a:off x="894080" y="5054600"/>
            <a:ext cx="2006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Beck Decorhome</a:t>
            </a:r>
          </a:p>
        </p:txBody>
      </p:sp>
      <p:sp>
        <p:nvSpPr>
          <p:cNvPr id="100350" name="TextBox 53"/>
          <p:cNvSpPr txBox="1"/>
          <p:nvPr/>
        </p:nvSpPr>
        <p:spPr>
          <a:xfrm xmlns:a="http://schemas.openxmlformats.org/drawingml/2006/main">
            <a:off x="2951480" y="5054600"/>
            <a:ext cx="990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05/06 → 07/07</a:t>
            </a:r>
          </a:p>
        </p:txBody>
      </p:sp>
      <p:sp>
        <p:nvSpPr>
          <p:cNvPr id="100351" name="TextBox 54"/>
          <p:cNvSpPr txBox="1"/>
          <p:nvPr/>
        </p:nvSpPr>
        <p:spPr>
          <a:xfrm xmlns:a="http://schemas.openxmlformats.org/drawingml/2006/main">
            <a:off x="3967480" y="5054600"/>
            <a:ext cx="381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7</a:t>
            </a:r>
          </a:p>
        </p:txBody>
      </p:sp>
      <p:sp>
        <p:nvSpPr>
          <p:cNvPr id="100352" name="TextBox 55"/>
          <p:cNvSpPr txBox="1"/>
          <p:nvPr/>
        </p:nvSpPr>
        <p:spPr>
          <a:xfrm xmlns:a="http://schemas.openxmlformats.org/drawingml/2006/main">
            <a:off x="4373880" y="5054600"/>
            <a:ext cx="635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6</a:t>
            </a:r>
          </a:p>
        </p:txBody>
      </p:sp>
      <p:sp>
        <p:nvSpPr>
          <p:cNvPr id="100353" name="TextBox 56"/>
          <p:cNvSpPr txBox="1"/>
          <p:nvPr/>
        </p:nvSpPr>
        <p:spPr>
          <a:xfrm xmlns:a="http://schemas.openxmlformats.org/drawingml/2006/main">
            <a:off x="5059680" y="5054600"/>
            <a:ext cx="6477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37</a:t>
            </a:r>
          </a:p>
        </p:txBody>
      </p:sp>
      <p:sp>
        <p:nvSpPr>
          <p:cNvPr id="100354" name="TextBox 57"/>
          <p:cNvSpPr/>
          <p:nvPr/>
        </p:nvSpPr>
        <p:spPr>
          <a:xfrm xmlns:a="http://schemas.openxmlformats.org/drawingml/2006/main">
            <a:off x="6228080" y="1854200"/>
            <a:ext cx="5323840" cy="4191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55" name="TextBox 58"/>
          <p:cNvSpPr txBox="1"/>
          <p:nvPr/>
        </p:nvSpPr>
        <p:spPr>
          <a:xfrm xmlns:a="http://schemas.openxmlformats.org/drawingml/2006/main">
            <a:off x="6482080" y="2006600"/>
            <a:ext cx="317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b="1" spc="100">
                <a:solidFill>
                  <a:srgbClr val="E01C4C"/>
                </a:solidFill>
                <a:latin typeface="Poppins"/>
                <a:ea typeface="Poppins"/>
              </a:rPr>
              <a:t>POSTAGENS DO SHOPPING  ·  9 peças</a:t>
            </a:r>
          </a:p>
        </p:txBody>
      </p:sp>
      <p:sp>
        <p:nvSpPr>
          <p:cNvPr id="100356" name="TextBox 59"/>
          <p:cNvSpPr txBox="1"/>
          <p:nvPr/>
        </p:nvSpPr>
        <p:spPr>
          <a:xfrm xmlns:a="http://schemas.openxmlformats.org/drawingml/2006/main">
            <a:off x="9657080" y="2006600"/>
            <a:ext cx="162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1000" b="1">
                <a:solidFill>
                  <a:srgbClr val="093652"/>
                </a:solidFill>
                <a:latin typeface="Poppins"/>
                <a:ea typeface="Poppins"/>
              </a:rPr>
              <a:t>R$ 1.326  ·  56,5%</a:t>
            </a:r>
          </a:p>
        </p:txBody>
      </p:sp>
      <p:sp>
        <p:nvSpPr>
          <p:cNvPr id="100357" name="TextBox 60"/>
          <p:cNvSpPr txBox="1"/>
          <p:nvPr/>
        </p:nvSpPr>
        <p:spPr>
          <a:xfrm xmlns:a="http://schemas.openxmlformats.org/drawingml/2006/main">
            <a:off x="6482080" y="2362200"/>
            <a:ext cx="20066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750" b="1" spc="100">
                <a:solidFill>
                  <a:srgbClr val="6B7280"/>
                </a:solidFill>
                <a:latin typeface="Poppins"/>
                <a:ea typeface="Poppins"/>
              </a:rPr>
              <a:t>PEÇA</a:t>
            </a:r>
          </a:p>
        </p:txBody>
      </p:sp>
      <p:sp>
        <p:nvSpPr>
          <p:cNvPr id="100358" name="TextBox 61"/>
          <p:cNvSpPr txBox="1"/>
          <p:nvPr/>
        </p:nvSpPr>
        <p:spPr>
          <a:xfrm xmlns:a="http://schemas.openxmlformats.org/drawingml/2006/main">
            <a:off x="8539480" y="2362200"/>
            <a:ext cx="9906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750" b="1" spc="100">
                <a:solidFill>
                  <a:srgbClr val="6B7280"/>
                </a:solidFill>
                <a:latin typeface="Poppins"/>
                <a:ea typeface="Poppins"/>
              </a:rPr>
              <a:t>PERÍODO</a:t>
            </a:r>
          </a:p>
        </p:txBody>
      </p:sp>
      <p:sp>
        <p:nvSpPr>
          <p:cNvPr id="100359" name="TextBox 62"/>
          <p:cNvSpPr txBox="1"/>
          <p:nvPr/>
        </p:nvSpPr>
        <p:spPr>
          <a:xfrm xmlns:a="http://schemas.openxmlformats.org/drawingml/2006/main">
            <a:off x="9555480" y="2362200"/>
            <a:ext cx="381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750" b="1" spc="100">
                <a:solidFill>
                  <a:srgbClr val="6B7280"/>
                </a:solidFill>
                <a:latin typeface="Poppins"/>
                <a:ea typeface="Poppins"/>
              </a:rPr>
              <a:t>DIAS</a:t>
            </a:r>
          </a:p>
        </p:txBody>
      </p:sp>
      <p:sp>
        <p:nvSpPr>
          <p:cNvPr id="100360" name="TextBox 63"/>
          <p:cNvSpPr txBox="1"/>
          <p:nvPr/>
        </p:nvSpPr>
        <p:spPr>
          <a:xfrm xmlns:a="http://schemas.openxmlformats.org/drawingml/2006/main">
            <a:off x="9961880" y="2362200"/>
            <a:ext cx="635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750" b="1" spc="100">
                <a:solidFill>
                  <a:srgbClr val="6B7280"/>
                </a:solidFill>
                <a:latin typeface="Poppins"/>
                <a:ea typeface="Poppins"/>
              </a:rPr>
              <a:t>R$/DIA</a:t>
            </a:r>
          </a:p>
        </p:txBody>
      </p:sp>
      <p:sp>
        <p:nvSpPr>
          <p:cNvPr id="100361" name="TextBox 64"/>
          <p:cNvSpPr txBox="1"/>
          <p:nvPr/>
        </p:nvSpPr>
        <p:spPr>
          <a:xfrm xmlns:a="http://schemas.openxmlformats.org/drawingml/2006/main">
            <a:off x="10647680" y="2362200"/>
            <a:ext cx="6477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750" b="1" spc="100">
                <a:solidFill>
                  <a:srgbClr val="6B7280"/>
                </a:solidFill>
                <a:latin typeface="Poppins"/>
                <a:ea typeface="Poppins"/>
              </a:rPr>
              <a:t>TOTAL</a:t>
            </a:r>
          </a:p>
        </p:txBody>
      </p:sp>
      <p:sp>
        <p:nvSpPr>
          <p:cNvPr id="100362" name="TextBox 65"/>
          <p:cNvSpPr txBox="1"/>
          <p:nvPr/>
        </p:nvSpPr>
        <p:spPr>
          <a:xfrm xmlns:a="http://schemas.openxmlformats.org/drawingml/2006/main">
            <a:off x="6482080" y="2616200"/>
            <a:ext cx="2006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Feira Coreana</a:t>
            </a:r>
          </a:p>
        </p:txBody>
      </p:sp>
      <p:sp>
        <p:nvSpPr>
          <p:cNvPr id="100363" name="TextBox 66"/>
          <p:cNvSpPr txBox="1"/>
          <p:nvPr/>
        </p:nvSpPr>
        <p:spPr>
          <a:xfrm xmlns:a="http://schemas.openxmlformats.org/drawingml/2006/main">
            <a:off x="8539480" y="2616200"/>
            <a:ext cx="990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22/07 → 27/07</a:t>
            </a:r>
          </a:p>
        </p:txBody>
      </p:sp>
      <p:sp>
        <p:nvSpPr>
          <p:cNvPr id="100364" name="TextBox 67"/>
          <p:cNvSpPr txBox="1"/>
          <p:nvPr/>
        </p:nvSpPr>
        <p:spPr>
          <a:xfrm xmlns:a="http://schemas.openxmlformats.org/drawingml/2006/main">
            <a:off x="9555480" y="2616200"/>
            <a:ext cx="381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6</a:t>
            </a:r>
          </a:p>
        </p:txBody>
      </p:sp>
      <p:sp>
        <p:nvSpPr>
          <p:cNvPr id="100365" name="TextBox 68"/>
          <p:cNvSpPr txBox="1"/>
          <p:nvPr/>
        </p:nvSpPr>
        <p:spPr>
          <a:xfrm xmlns:a="http://schemas.openxmlformats.org/drawingml/2006/main">
            <a:off x="9961880" y="2616200"/>
            <a:ext cx="635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50</a:t>
            </a:r>
          </a:p>
        </p:txBody>
      </p:sp>
      <p:sp>
        <p:nvSpPr>
          <p:cNvPr id="100366" name="TextBox 69"/>
          <p:cNvSpPr txBox="1"/>
          <p:nvPr/>
        </p:nvSpPr>
        <p:spPr>
          <a:xfrm xmlns:a="http://schemas.openxmlformats.org/drawingml/2006/main">
            <a:off x="10647680" y="2616200"/>
            <a:ext cx="6477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283</a:t>
            </a:r>
          </a:p>
        </p:txBody>
      </p:sp>
      <p:sp>
        <p:nvSpPr>
          <p:cNvPr id="100367" name="TextBox 70"/>
          <p:cNvSpPr txBox="1"/>
          <p:nvPr/>
        </p:nvSpPr>
        <p:spPr>
          <a:xfrm xmlns:a="http://schemas.openxmlformats.org/drawingml/2006/main">
            <a:off x="6482080" y="2921000"/>
            <a:ext cx="2006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Oficina de Slime</a:t>
            </a:r>
          </a:p>
        </p:txBody>
      </p:sp>
      <p:sp>
        <p:nvSpPr>
          <p:cNvPr id="100368" name="TextBox 71"/>
          <p:cNvSpPr txBox="1"/>
          <p:nvPr/>
        </p:nvSpPr>
        <p:spPr>
          <a:xfrm xmlns:a="http://schemas.openxmlformats.org/drawingml/2006/main">
            <a:off x="8539480" y="2921000"/>
            <a:ext cx="990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14/07 → 17/07</a:t>
            </a:r>
          </a:p>
        </p:txBody>
      </p:sp>
      <p:sp>
        <p:nvSpPr>
          <p:cNvPr id="100369" name="TextBox 72"/>
          <p:cNvSpPr txBox="1"/>
          <p:nvPr/>
        </p:nvSpPr>
        <p:spPr>
          <a:xfrm xmlns:a="http://schemas.openxmlformats.org/drawingml/2006/main">
            <a:off x="9555480" y="2921000"/>
            <a:ext cx="381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4</a:t>
            </a:r>
          </a:p>
        </p:txBody>
      </p:sp>
      <p:sp>
        <p:nvSpPr>
          <p:cNvPr id="100370" name="TextBox 73"/>
          <p:cNvSpPr txBox="1"/>
          <p:nvPr/>
        </p:nvSpPr>
        <p:spPr>
          <a:xfrm xmlns:a="http://schemas.openxmlformats.org/drawingml/2006/main">
            <a:off x="9961880" y="2921000"/>
            <a:ext cx="635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80</a:t>
            </a:r>
          </a:p>
        </p:txBody>
      </p:sp>
      <p:sp>
        <p:nvSpPr>
          <p:cNvPr id="100371" name="TextBox 74"/>
          <p:cNvSpPr txBox="1"/>
          <p:nvPr/>
        </p:nvSpPr>
        <p:spPr>
          <a:xfrm xmlns:a="http://schemas.openxmlformats.org/drawingml/2006/main">
            <a:off x="10647680" y="2921000"/>
            <a:ext cx="6477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240</a:t>
            </a:r>
          </a:p>
        </p:txBody>
      </p:sp>
      <p:sp>
        <p:nvSpPr>
          <p:cNvPr id="100372" name="TextBox 75"/>
          <p:cNvSpPr txBox="1"/>
          <p:nvPr/>
        </p:nvSpPr>
        <p:spPr>
          <a:xfrm xmlns:a="http://schemas.openxmlformats.org/drawingml/2006/main">
            <a:off x="6482080" y="3225800"/>
            <a:ext cx="2006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Concorra a um iPhone</a:t>
            </a:r>
          </a:p>
        </p:txBody>
      </p:sp>
      <p:sp>
        <p:nvSpPr>
          <p:cNvPr id="100373" name="TextBox 76"/>
          <p:cNvSpPr txBox="1"/>
          <p:nvPr/>
        </p:nvSpPr>
        <p:spPr>
          <a:xfrm xmlns:a="http://schemas.openxmlformats.org/drawingml/2006/main">
            <a:off x="8539480" y="3225800"/>
            <a:ext cx="990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24/06 → 24/07</a:t>
            </a:r>
          </a:p>
        </p:txBody>
      </p:sp>
      <p:sp>
        <p:nvSpPr>
          <p:cNvPr id="100374" name="TextBox 77"/>
          <p:cNvSpPr txBox="1"/>
          <p:nvPr/>
        </p:nvSpPr>
        <p:spPr>
          <a:xfrm xmlns:a="http://schemas.openxmlformats.org/drawingml/2006/main">
            <a:off x="9555480" y="3225800"/>
            <a:ext cx="381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24</a:t>
            </a:r>
          </a:p>
        </p:txBody>
      </p:sp>
      <p:sp>
        <p:nvSpPr>
          <p:cNvPr id="100375" name="TextBox 78"/>
          <p:cNvSpPr txBox="1"/>
          <p:nvPr/>
        </p:nvSpPr>
        <p:spPr>
          <a:xfrm xmlns:a="http://schemas.openxmlformats.org/drawingml/2006/main">
            <a:off x="9961880" y="3225800"/>
            <a:ext cx="635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10</a:t>
            </a:r>
          </a:p>
        </p:txBody>
      </p:sp>
      <p:sp>
        <p:nvSpPr>
          <p:cNvPr id="100376" name="TextBox 79"/>
          <p:cNvSpPr txBox="1"/>
          <p:nvPr/>
        </p:nvSpPr>
        <p:spPr>
          <a:xfrm xmlns:a="http://schemas.openxmlformats.org/drawingml/2006/main">
            <a:off x="10647680" y="3225800"/>
            <a:ext cx="6477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235</a:t>
            </a:r>
          </a:p>
        </p:txBody>
      </p:sp>
      <p:sp>
        <p:nvSpPr>
          <p:cNvPr id="100377" name="TextBox 80"/>
          <p:cNvSpPr txBox="1"/>
          <p:nvPr/>
        </p:nvSpPr>
        <p:spPr>
          <a:xfrm xmlns:a="http://schemas.openxmlformats.org/drawingml/2006/main">
            <a:off x="6482080" y="3530600"/>
            <a:ext cx="2006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Artesanato Kids e Peteca</a:t>
            </a:r>
          </a:p>
        </p:txBody>
      </p:sp>
      <p:sp>
        <p:nvSpPr>
          <p:cNvPr id="100378" name="TextBox 81"/>
          <p:cNvSpPr txBox="1"/>
          <p:nvPr/>
        </p:nvSpPr>
        <p:spPr>
          <a:xfrm xmlns:a="http://schemas.openxmlformats.org/drawingml/2006/main">
            <a:off x="8539480" y="3530600"/>
            <a:ext cx="990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07/07 → 11/07</a:t>
            </a:r>
          </a:p>
        </p:txBody>
      </p:sp>
      <p:sp>
        <p:nvSpPr>
          <p:cNvPr id="100379" name="TextBox 82"/>
          <p:cNvSpPr txBox="1"/>
          <p:nvPr/>
        </p:nvSpPr>
        <p:spPr>
          <a:xfrm xmlns:a="http://schemas.openxmlformats.org/drawingml/2006/main">
            <a:off x="9555480" y="3530600"/>
            <a:ext cx="381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5</a:t>
            </a:r>
          </a:p>
        </p:txBody>
      </p:sp>
      <p:sp>
        <p:nvSpPr>
          <p:cNvPr id="100380" name="TextBox 83"/>
          <p:cNvSpPr txBox="1"/>
          <p:nvPr/>
        </p:nvSpPr>
        <p:spPr>
          <a:xfrm xmlns:a="http://schemas.openxmlformats.org/drawingml/2006/main">
            <a:off x="9961880" y="3530600"/>
            <a:ext cx="635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25 e 150</a:t>
            </a:r>
          </a:p>
        </p:txBody>
      </p:sp>
      <p:sp>
        <p:nvSpPr>
          <p:cNvPr id="100381" name="TextBox 84"/>
          <p:cNvSpPr txBox="1"/>
          <p:nvPr/>
        </p:nvSpPr>
        <p:spPr>
          <a:xfrm xmlns:a="http://schemas.openxmlformats.org/drawingml/2006/main">
            <a:off x="10647680" y="3530600"/>
            <a:ext cx="6477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217</a:t>
            </a:r>
          </a:p>
        </p:txBody>
      </p:sp>
      <p:sp>
        <p:nvSpPr>
          <p:cNvPr id="100382" name="TextBox 85"/>
          <p:cNvSpPr txBox="1"/>
          <p:nvPr/>
        </p:nvSpPr>
        <p:spPr>
          <a:xfrm xmlns:a="http://schemas.openxmlformats.org/drawingml/2006/main">
            <a:off x="6482080" y="3835400"/>
            <a:ext cx="2006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Operação Férias · calendário</a:t>
            </a:r>
          </a:p>
        </p:txBody>
      </p:sp>
      <p:sp>
        <p:nvSpPr>
          <p:cNvPr id="100383" name="TextBox 86"/>
          <p:cNvSpPr txBox="1"/>
          <p:nvPr/>
        </p:nvSpPr>
        <p:spPr>
          <a:xfrm xmlns:a="http://schemas.openxmlformats.org/drawingml/2006/main">
            <a:off x="8539480" y="3835400"/>
            <a:ext cx="990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03/07 → 20/07</a:t>
            </a:r>
          </a:p>
        </p:txBody>
      </p:sp>
      <p:sp>
        <p:nvSpPr>
          <p:cNvPr id="100384" name="TextBox 87"/>
          <p:cNvSpPr txBox="1"/>
          <p:nvPr/>
        </p:nvSpPr>
        <p:spPr>
          <a:xfrm xmlns:a="http://schemas.openxmlformats.org/drawingml/2006/main">
            <a:off x="9555480" y="3835400"/>
            <a:ext cx="381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18</a:t>
            </a:r>
          </a:p>
        </p:txBody>
      </p:sp>
      <p:sp>
        <p:nvSpPr>
          <p:cNvPr id="100385" name="TextBox 88"/>
          <p:cNvSpPr txBox="1"/>
          <p:nvPr/>
        </p:nvSpPr>
        <p:spPr>
          <a:xfrm xmlns:a="http://schemas.openxmlformats.org/drawingml/2006/main">
            <a:off x="9961880" y="3835400"/>
            <a:ext cx="635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6</a:t>
            </a:r>
          </a:p>
        </p:txBody>
      </p:sp>
      <p:sp>
        <p:nvSpPr>
          <p:cNvPr id="100386" name="TextBox 89"/>
          <p:cNvSpPr txBox="1"/>
          <p:nvPr/>
        </p:nvSpPr>
        <p:spPr>
          <a:xfrm xmlns:a="http://schemas.openxmlformats.org/drawingml/2006/main">
            <a:off x="10647680" y="3835400"/>
            <a:ext cx="6477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101</a:t>
            </a:r>
          </a:p>
        </p:txBody>
      </p:sp>
      <p:sp>
        <p:nvSpPr>
          <p:cNvPr id="100387" name="TextBox 90"/>
          <p:cNvSpPr txBox="1"/>
          <p:nvPr/>
        </p:nvSpPr>
        <p:spPr>
          <a:xfrm xmlns:a="http://schemas.openxmlformats.org/drawingml/2006/main">
            <a:off x="6482080" y="4140200"/>
            <a:ext cx="2006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Feira Artesanato Fazendo Arte</a:t>
            </a:r>
          </a:p>
        </p:txBody>
      </p:sp>
      <p:sp>
        <p:nvSpPr>
          <p:cNvPr id="100388" name="TextBox 91"/>
          <p:cNvSpPr txBox="1"/>
          <p:nvPr/>
        </p:nvSpPr>
        <p:spPr>
          <a:xfrm xmlns:a="http://schemas.openxmlformats.org/drawingml/2006/main">
            <a:off x="8539480" y="4140200"/>
            <a:ext cx="990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13/07 → 15/07</a:t>
            </a:r>
          </a:p>
        </p:txBody>
      </p:sp>
      <p:sp>
        <p:nvSpPr>
          <p:cNvPr id="100389" name="TextBox 92"/>
          <p:cNvSpPr txBox="1"/>
          <p:nvPr/>
        </p:nvSpPr>
        <p:spPr>
          <a:xfrm xmlns:a="http://schemas.openxmlformats.org/drawingml/2006/main">
            <a:off x="9555480" y="4140200"/>
            <a:ext cx="381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3</a:t>
            </a:r>
          </a:p>
        </p:txBody>
      </p:sp>
      <p:sp>
        <p:nvSpPr>
          <p:cNvPr id="100390" name="TextBox 93"/>
          <p:cNvSpPr txBox="1"/>
          <p:nvPr/>
        </p:nvSpPr>
        <p:spPr>
          <a:xfrm xmlns:a="http://schemas.openxmlformats.org/drawingml/2006/main">
            <a:off x="9961880" y="4140200"/>
            <a:ext cx="635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50</a:t>
            </a:r>
          </a:p>
        </p:txBody>
      </p:sp>
      <p:sp>
        <p:nvSpPr>
          <p:cNvPr id="100391" name="TextBox 94"/>
          <p:cNvSpPr txBox="1"/>
          <p:nvPr/>
        </p:nvSpPr>
        <p:spPr>
          <a:xfrm xmlns:a="http://schemas.openxmlformats.org/drawingml/2006/main">
            <a:off x="10647680" y="4140200"/>
            <a:ext cx="6477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100</a:t>
            </a:r>
          </a:p>
        </p:txBody>
      </p:sp>
      <p:sp>
        <p:nvSpPr>
          <p:cNvPr id="100392" name="TextBox 95"/>
          <p:cNvSpPr txBox="1"/>
          <p:nvPr/>
        </p:nvSpPr>
        <p:spPr>
          <a:xfrm xmlns:a="http://schemas.openxmlformats.org/drawingml/2006/main">
            <a:off x="6482080" y="4445000"/>
            <a:ext cx="2006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Oficina Sapinho</a:t>
            </a:r>
          </a:p>
        </p:txBody>
      </p:sp>
      <p:sp>
        <p:nvSpPr>
          <p:cNvPr id="100393" name="TextBox 96"/>
          <p:cNvSpPr txBox="1"/>
          <p:nvPr/>
        </p:nvSpPr>
        <p:spPr>
          <a:xfrm xmlns:a="http://schemas.openxmlformats.org/drawingml/2006/main">
            <a:off x="8539480" y="4445000"/>
            <a:ext cx="990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23/07 → 24/07</a:t>
            </a:r>
          </a:p>
        </p:txBody>
      </p:sp>
      <p:sp>
        <p:nvSpPr>
          <p:cNvPr id="100394" name="TextBox 97"/>
          <p:cNvSpPr txBox="1"/>
          <p:nvPr/>
        </p:nvSpPr>
        <p:spPr>
          <a:xfrm xmlns:a="http://schemas.openxmlformats.org/drawingml/2006/main">
            <a:off x="9555480" y="4445000"/>
            <a:ext cx="381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2</a:t>
            </a:r>
          </a:p>
        </p:txBody>
      </p:sp>
      <p:sp>
        <p:nvSpPr>
          <p:cNvPr id="100395" name="TextBox 98"/>
          <p:cNvSpPr txBox="1"/>
          <p:nvPr/>
        </p:nvSpPr>
        <p:spPr>
          <a:xfrm xmlns:a="http://schemas.openxmlformats.org/drawingml/2006/main">
            <a:off x="9961880" y="4445000"/>
            <a:ext cx="635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40 e 50</a:t>
            </a:r>
          </a:p>
        </p:txBody>
      </p:sp>
      <p:sp>
        <p:nvSpPr>
          <p:cNvPr id="100396" name="TextBox 99"/>
          <p:cNvSpPr txBox="1"/>
          <p:nvPr/>
        </p:nvSpPr>
        <p:spPr>
          <a:xfrm xmlns:a="http://schemas.openxmlformats.org/drawingml/2006/main">
            <a:off x="10647680" y="4445000"/>
            <a:ext cx="6477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87</a:t>
            </a:r>
          </a:p>
        </p:txBody>
      </p:sp>
      <p:sp>
        <p:nvSpPr>
          <p:cNvPr id="100397" name="TextBox 100"/>
          <p:cNvSpPr txBox="1"/>
          <p:nvPr/>
        </p:nvSpPr>
        <p:spPr>
          <a:xfrm xmlns:a="http://schemas.openxmlformats.org/drawingml/2006/main">
            <a:off x="6482080" y="4749800"/>
            <a:ext cx="2006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Operação Férias · ofertas</a:t>
            </a:r>
          </a:p>
        </p:txBody>
      </p:sp>
      <p:sp>
        <p:nvSpPr>
          <p:cNvPr id="100398" name="TextBox 101"/>
          <p:cNvSpPr txBox="1"/>
          <p:nvPr/>
        </p:nvSpPr>
        <p:spPr>
          <a:xfrm xmlns:a="http://schemas.openxmlformats.org/drawingml/2006/main">
            <a:off x="8539480" y="4749800"/>
            <a:ext cx="990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01/07 → 07/07</a:t>
            </a:r>
          </a:p>
        </p:txBody>
      </p:sp>
      <p:sp>
        <p:nvSpPr>
          <p:cNvPr id="100399" name="TextBox 102"/>
          <p:cNvSpPr txBox="1"/>
          <p:nvPr/>
        </p:nvSpPr>
        <p:spPr>
          <a:xfrm xmlns:a="http://schemas.openxmlformats.org/drawingml/2006/main">
            <a:off x="9555480" y="4749800"/>
            <a:ext cx="381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7</a:t>
            </a:r>
          </a:p>
        </p:txBody>
      </p:sp>
      <p:sp>
        <p:nvSpPr>
          <p:cNvPr id="100400" name="TextBox 103"/>
          <p:cNvSpPr txBox="1"/>
          <p:nvPr/>
        </p:nvSpPr>
        <p:spPr>
          <a:xfrm xmlns:a="http://schemas.openxmlformats.org/drawingml/2006/main">
            <a:off x="9961880" y="4749800"/>
            <a:ext cx="635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7</a:t>
            </a:r>
          </a:p>
        </p:txBody>
      </p:sp>
      <p:sp>
        <p:nvSpPr>
          <p:cNvPr id="100401" name="TextBox 104"/>
          <p:cNvSpPr txBox="1"/>
          <p:nvPr/>
        </p:nvSpPr>
        <p:spPr>
          <a:xfrm xmlns:a="http://schemas.openxmlformats.org/drawingml/2006/main">
            <a:off x="10647680" y="4749800"/>
            <a:ext cx="6477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42</a:t>
            </a:r>
          </a:p>
        </p:txBody>
      </p:sp>
      <p:sp>
        <p:nvSpPr>
          <p:cNvPr id="100402" name="TextBox 105"/>
          <p:cNvSpPr txBox="1"/>
          <p:nvPr/>
        </p:nvSpPr>
        <p:spPr>
          <a:xfrm xmlns:a="http://schemas.openxmlformats.org/drawingml/2006/main">
            <a:off x="6482080" y="5054600"/>
            <a:ext cx="2006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Teaser Minions</a:t>
            </a:r>
          </a:p>
        </p:txBody>
      </p:sp>
      <p:sp>
        <p:nvSpPr>
          <p:cNvPr id="100403" name="TextBox 106"/>
          <p:cNvSpPr txBox="1"/>
          <p:nvPr/>
        </p:nvSpPr>
        <p:spPr>
          <a:xfrm xmlns:a="http://schemas.openxmlformats.org/drawingml/2006/main">
            <a:off x="8539480" y="5054600"/>
            <a:ext cx="990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01/07 → 04/07</a:t>
            </a:r>
          </a:p>
        </p:txBody>
      </p:sp>
      <p:sp>
        <p:nvSpPr>
          <p:cNvPr id="100404" name="TextBox 107"/>
          <p:cNvSpPr txBox="1"/>
          <p:nvPr/>
        </p:nvSpPr>
        <p:spPr>
          <a:xfrm xmlns:a="http://schemas.openxmlformats.org/drawingml/2006/main">
            <a:off x="9555480" y="5054600"/>
            <a:ext cx="381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4</a:t>
            </a:r>
          </a:p>
        </p:txBody>
      </p:sp>
      <p:sp>
        <p:nvSpPr>
          <p:cNvPr id="100405" name="TextBox 108"/>
          <p:cNvSpPr txBox="1"/>
          <p:nvPr/>
        </p:nvSpPr>
        <p:spPr>
          <a:xfrm xmlns:a="http://schemas.openxmlformats.org/drawingml/2006/main">
            <a:off x="9961880" y="5054600"/>
            <a:ext cx="635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7</a:t>
            </a:r>
          </a:p>
        </p:txBody>
      </p:sp>
      <p:sp>
        <p:nvSpPr>
          <p:cNvPr id="100406" name="TextBox 109"/>
          <p:cNvSpPr txBox="1"/>
          <p:nvPr/>
        </p:nvSpPr>
        <p:spPr>
          <a:xfrm xmlns:a="http://schemas.openxmlformats.org/drawingml/2006/main">
            <a:off x="10647680" y="5054600"/>
            <a:ext cx="6477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21</a:t>
            </a:r>
          </a:p>
        </p:txBody>
      </p:sp>
      <p:sp>
        <p:nvSpPr>
          <p:cNvPr id="100407" name="TextBox 110"/>
          <p:cNvSpPr/>
          <p:nvPr/>
        </p:nvSpPr>
        <p:spPr>
          <a:xfrm xmlns:a="http://schemas.openxmlformats.org/drawingml/2006/main">
            <a:off x="640080" y="6197600"/>
            <a:ext cx="10911840" cy="431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9365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408" name="TextBox 111"/>
          <p:cNvSpPr txBox="1"/>
          <p:nvPr/>
        </p:nvSpPr>
        <p:spPr>
          <a:xfrm xmlns:a="http://schemas.openxmlformats.org/drawingml/2006/main">
            <a:off x="894080" y="6273800"/>
            <a:ext cx="1040384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FFFFFF"/>
                </a:solidFill>
                <a:latin typeface="Poppins"/>
                <a:ea typeface="Poppins"/>
              </a:rPr>
              <a:t>Total do turbinar em julho: R$ 2.348 em 18 peças, contra R$ 2.200 em 10 peças previstos no alinhamento de 06/07.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OfficeCLI/1.0.141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2026-07-24T16:04:14Z</dcterms:created>
  <cp:lastModifiedBy>OfficeCLI</cp:lastModifiedBy>
  <dcterms:modified xsi:type="dcterms:W3CDTF">2026-07-24T16:04:14Z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1.0.141</vt:lpwstr>
  </op:property>
  <op:property fmtid="{D5CDD505-2E9C-101B-9397-08002B2CF9AE}" pid="3" name="OfficeCLI.LastModified">
    <vt:lpwstr xmlns:vt="http://schemas.openxmlformats.org/officeDocument/2006/docPropsVTypes">2026-07-24T16:04:19Z</vt:lpwstr>
  </op:property>
</op:Properties>
</file>