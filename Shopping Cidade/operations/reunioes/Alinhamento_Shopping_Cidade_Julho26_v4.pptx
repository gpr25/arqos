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50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6618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Capa. Tom de alinhamento. Junho x Julho, agosto e a visao ate dezembro.</a:t>
            </a:r>
          </a:p>
        </p:txBody>
      </p:sp>
    </p:spTree>
    <p:extLst>
      <p:ext uri="{BB962C8B-B14F-4D97-AF65-F5344CB8AC3E}">
        <p14:creationId xmlns:p14="http://schemas.microsoft.com/office/powerpoint/2010/main" val="2129956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Contexto. Reguas diferentes, frentes sempre separadas.</a:t>
            </a:r>
          </a:p>
        </p:txBody>
      </p:sp>
    </p:spTree>
    <p:extLst>
      <p:ext uri="{BB962C8B-B14F-4D97-AF65-F5344CB8AC3E}">
        <p14:creationId xmlns:p14="http://schemas.microsoft.com/office/powerpoint/2010/main" val="743245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B2C. Escopo definido mais tempo de performar entrega resultado.</a:t>
            </a:r>
          </a:p>
        </p:txBody>
      </p:sp>
    </p:spTree>
    <p:extLst>
      <p:ext uri="{BB962C8B-B14F-4D97-AF65-F5344CB8AC3E}">
        <p14:creationId xmlns:p14="http://schemas.microsoft.com/office/powerpoint/2010/main" val="2597765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B2B. A campanha nova ainda nao subiu: roda estrutura herdada.</a:t>
            </a:r>
          </a:p>
        </p:txBody>
      </p:sp>
    </p:spTree>
    <p:extLst>
      <p:ext uri="{BB962C8B-B14F-4D97-AF65-F5344CB8AC3E}">
        <p14:creationId xmlns:p14="http://schemas.microsoft.com/office/powerpoint/2010/main" val="245241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didatico. Explica para que serve cada campanha para a gestao decidir. Nunca acusar: o quadro existe para eles escolherem.</a:t>
            </a:r>
          </a:p>
        </p:txBody>
      </p:sp>
    </p:spTree>
    <p:extLst>
      <p:ext uri="{BB962C8B-B14F-4D97-AF65-F5344CB8AC3E}">
        <p14:creationId xmlns:p14="http://schemas.microsoft.com/office/powerpoint/2010/main" val="816066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Turbinar SOMENTE julho. A tese: verba e divisao ficaram onde o plano previu; o que dobrou foi a quantidade de pecas. Zero culpado, zero acusacao.</a:t>
            </a:r>
          </a:p>
        </p:txBody>
      </p:sp>
    </p:spTree>
    <p:extLst>
      <p:ext uri="{BB962C8B-B14F-4D97-AF65-F5344CB8AC3E}">
        <p14:creationId xmlns:p14="http://schemas.microsoft.com/office/powerpoint/2010/main" val="38219852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Agosto B2C. Nao cria estrutura nova. NAO citar contador de fluxo como promessa.</a:t>
            </a:r>
          </a:p>
        </p:txBody>
      </p:sp>
    </p:spTree>
    <p:extLst>
      <p:ext uri="{BB962C8B-B14F-4D97-AF65-F5344CB8AC3E}">
        <p14:creationId xmlns:p14="http://schemas.microsoft.com/office/powerpoint/2010/main" val="2341411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Agosto B2B. Um entregavel por semana. Google gasta pouco por opcao consciente.</a:t>
            </a:r>
          </a:p>
        </p:txBody>
      </p:sp>
    </p:spTree>
    <p:extLst>
      <p:ext uri="{BB962C8B-B14F-4D97-AF65-F5344CB8AC3E}">
        <p14:creationId xmlns:p14="http://schemas.microsoft.com/office/powerpoint/2010/main" val="32387348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SUGESTAO, </a:t>
            </a:r>
            <a:r>
              <a:rPr lang="en-US" dirty="0" err="1"/>
              <a:t>nao</a:t>
            </a:r>
            <a:r>
              <a:rPr lang="en-US" dirty="0"/>
              <a:t> </a:t>
            </a:r>
            <a:r>
              <a:rPr lang="en-US" dirty="0" err="1"/>
              <a:t>pedido</a:t>
            </a:r>
            <a:r>
              <a:rPr lang="en-US" dirty="0"/>
              <a:t>. </a:t>
            </a:r>
            <a:r>
              <a:rPr lang="en-US" dirty="0" err="1"/>
              <a:t>Regra</a:t>
            </a:r>
            <a:r>
              <a:rPr lang="en-US" dirty="0"/>
              <a:t> dos 15 </a:t>
            </a:r>
            <a:r>
              <a:rPr lang="en-US" dirty="0" err="1"/>
              <a:t>dias</a:t>
            </a:r>
            <a:r>
              <a:rPr lang="en-US" dirty="0"/>
              <a:t> </a:t>
            </a:r>
            <a:r>
              <a:rPr lang="en-US" dirty="0" err="1"/>
              <a:t>minimos</a:t>
            </a:r>
            <a:r>
              <a:rPr lang="en-US" dirty="0"/>
              <a:t>. Se </a:t>
            </a:r>
            <a:r>
              <a:rPr lang="en-US" dirty="0" err="1"/>
              <a:t>nao</a:t>
            </a:r>
            <a:r>
              <a:rPr lang="en-US" dirty="0"/>
              <a:t> </a:t>
            </a:r>
            <a:r>
              <a:rPr lang="en-US" dirty="0" err="1"/>
              <a:t>agradar</a:t>
            </a:r>
            <a:r>
              <a:rPr lang="en-US" dirty="0"/>
              <a:t>, </a:t>
            </a:r>
            <a:r>
              <a:rPr lang="en-US" dirty="0" err="1"/>
              <a:t>sai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7753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Fecho. O que destrava os proximos meses, em tom de colaboracao.</a:t>
            </a:r>
          </a:p>
        </p:txBody>
      </p:sp>
    </p:spTree>
    <p:extLst>
      <p:ext uri="{BB962C8B-B14F-4D97-AF65-F5344CB8AC3E}">
        <p14:creationId xmlns:p14="http://schemas.microsoft.com/office/powerpoint/2010/main" val="1938773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ANEXO. So abrir se pedirem o detalhe. Somente julho/2026.</a:t>
            </a:r>
          </a:p>
        </p:txBody>
      </p:sp>
    </p:spTree>
    <p:extLst>
      <p:ext uri="{BB962C8B-B14F-4D97-AF65-F5344CB8AC3E}">
        <p14:creationId xmlns:p14="http://schemas.microsoft.com/office/powerpoint/2010/main" val="11154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6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TextBox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1C4C"/>
          </a:solidFill>
        </p:spPr>
        <p:txBody>
          <a:bodyPr/>
          <a:lstStyle/>
          <a:p>
            <a:endParaRPr/>
          </a:p>
        </p:txBody>
      </p:sp>
      <p:sp>
        <p:nvSpPr>
          <p:cNvPr id="100001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300" b="1" spc="300">
                <a:solidFill>
                  <a:srgbClr val="1DAFE0"/>
                </a:solidFill>
                <a:latin typeface="Poppins"/>
                <a:ea typeface="Poppins"/>
              </a:rPr>
              <a:t>SHOPPING CIDADE</a:t>
            </a:r>
          </a:p>
        </p:txBody>
      </p:sp>
      <p:sp>
        <p:nvSpPr>
          <p:cNvPr id="100002" name="TextBox 3"/>
          <p:cNvSpPr txBox="1"/>
          <p:nvPr/>
        </p:nvSpPr>
        <p:spPr>
          <a:xfrm>
            <a:off x="822960" y="1905000"/>
            <a:ext cx="105156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4000" b="1">
                <a:solidFill>
                  <a:srgbClr val="FFFFFF"/>
                </a:solidFill>
                <a:latin typeface="Poppins"/>
                <a:ea typeface="Poppins"/>
              </a:rPr>
              <a:t>ALINHAMENTO DE MÍDIA PAGA</a:t>
            </a:r>
          </a:p>
        </p:txBody>
      </p:sp>
      <p:sp>
        <p:nvSpPr>
          <p:cNvPr id="100003" name="TextBox 4"/>
          <p:cNvSpPr txBox="1"/>
          <p:nvPr/>
        </p:nvSpPr>
        <p:spPr>
          <a:xfrm>
            <a:off x="822960" y="2743200"/>
            <a:ext cx="10515600" cy="431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000">
                <a:solidFill>
                  <a:srgbClr val="E6E7E7"/>
                </a:solidFill>
                <a:latin typeface="Poppins"/>
                <a:ea typeface="Poppins"/>
              </a:rPr>
              <a:t>Junho × Julho  ·  Agosto em plano  ·  Visão até dezembro</a:t>
            </a:r>
          </a:p>
        </p:txBody>
      </p:sp>
      <p:sp>
        <p:nvSpPr>
          <p:cNvPr id="100004" name="TextBox 5"/>
          <p:cNvSpPr txBox="1"/>
          <p:nvPr/>
        </p:nvSpPr>
        <p:spPr>
          <a:xfrm>
            <a:off x="822960" y="5303520"/>
            <a:ext cx="105156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500" b="1">
                <a:solidFill>
                  <a:srgbClr val="FC496C"/>
                </a:solidFill>
                <a:latin typeface="Poppins"/>
                <a:ea typeface="Poppins"/>
              </a:rPr>
              <a:t>B2C (fluxo)  ·  B2B (leads)</a:t>
            </a:r>
          </a:p>
        </p:txBody>
      </p:sp>
      <p:sp>
        <p:nvSpPr>
          <p:cNvPr id="100005" name="TextBox 6"/>
          <p:cNvSpPr txBox="1"/>
          <p:nvPr/>
        </p:nvSpPr>
        <p:spPr>
          <a:xfrm>
            <a:off x="822960" y="5740400"/>
            <a:ext cx="10515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>
                <a:solidFill>
                  <a:srgbClr val="8FA6B5"/>
                </a:solidFill>
                <a:latin typeface="Poppins"/>
                <a:ea typeface="Poppins"/>
              </a:rPr>
              <a:t>Meta Ads e Google Ads · dados até 21/07/2026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6" name="TextBox 1"/>
          <p:cNvSpPr txBox="1"/>
          <p:nvPr/>
        </p:nvSpPr>
        <p:spPr>
          <a:xfrm>
            <a:off x="640080" y="431800"/>
            <a:ext cx="1091184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AS DUAS FRENTES</a:t>
            </a:r>
          </a:p>
        </p:txBody>
      </p:sp>
      <p:sp>
        <p:nvSpPr>
          <p:cNvPr id="100007" name="TextBox 2"/>
          <p:cNvSpPr txBox="1"/>
          <p:nvPr/>
        </p:nvSpPr>
        <p:spPr>
          <a:xfrm>
            <a:off x="640080" y="812800"/>
            <a:ext cx="1091184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Duas operações na mesma conta, com réguas diferentes</a:t>
            </a:r>
          </a:p>
        </p:txBody>
      </p:sp>
      <p:sp>
        <p:nvSpPr>
          <p:cNvPr id="100008" name="TextBox 3"/>
          <p:cNvSpPr txBox="1"/>
          <p:nvPr/>
        </p:nvSpPr>
        <p:spPr>
          <a:xfrm>
            <a:off x="640080" y="1397000"/>
            <a:ext cx="1091184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Por verba, a frente principal é o B2C. Por criticidade de resultado, é o B2B.</a:t>
            </a:r>
          </a:p>
        </p:txBody>
      </p:sp>
      <p:sp>
        <p:nvSpPr>
          <p:cNvPr id="100009" name="TextBox 4"/>
          <p:cNvSpPr/>
          <p:nvPr/>
        </p:nvSpPr>
        <p:spPr>
          <a:xfrm>
            <a:off x="640080" y="1905000"/>
            <a:ext cx="5323840" cy="3657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010" name="TextBox 5"/>
          <p:cNvSpPr txBox="1"/>
          <p:nvPr/>
        </p:nvSpPr>
        <p:spPr>
          <a:xfrm>
            <a:off x="970280" y="2133600"/>
            <a:ext cx="4572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300" b="1" spc="200">
                <a:solidFill>
                  <a:srgbClr val="157DBF"/>
                </a:solidFill>
                <a:latin typeface="Poppins"/>
                <a:ea typeface="Poppins"/>
              </a:rPr>
              <a:t>B2C  ·  CONSUMIDOR</a:t>
            </a:r>
          </a:p>
        </p:txBody>
      </p:sp>
      <p:sp>
        <p:nvSpPr>
          <p:cNvPr id="100011" name="TextBox 6"/>
          <p:cNvSpPr txBox="1"/>
          <p:nvPr/>
        </p:nvSpPr>
        <p:spPr>
          <a:xfrm>
            <a:off x="970280" y="25654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Objetivo</a:t>
            </a:r>
          </a:p>
        </p:txBody>
      </p:sp>
      <p:sp>
        <p:nvSpPr>
          <p:cNvPr id="100012" name="TextBox 7"/>
          <p:cNvSpPr txBox="1"/>
          <p:nvPr/>
        </p:nvSpPr>
        <p:spPr>
          <a:xfrm>
            <a:off x="970280" y="2768600"/>
            <a:ext cx="4673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Fluxo de pessoas no shopping</a:t>
            </a:r>
          </a:p>
        </p:txBody>
      </p:sp>
      <p:sp>
        <p:nvSpPr>
          <p:cNvPr id="100013" name="TextBox 8"/>
          <p:cNvSpPr txBox="1"/>
          <p:nvPr/>
        </p:nvSpPr>
        <p:spPr>
          <a:xfrm>
            <a:off x="970280" y="31750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Métrica de hoje</a:t>
            </a:r>
          </a:p>
        </p:txBody>
      </p:sp>
      <p:sp>
        <p:nvSpPr>
          <p:cNvPr id="100014" name="TextBox 9"/>
          <p:cNvSpPr txBox="1"/>
          <p:nvPr/>
        </p:nvSpPr>
        <p:spPr>
          <a:xfrm>
            <a:off x="970280" y="3378200"/>
            <a:ext cx="4673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Alcance (régua definida na última reunião)</a:t>
            </a:r>
          </a:p>
        </p:txBody>
      </p:sp>
      <p:sp>
        <p:nvSpPr>
          <p:cNvPr id="100015" name="TextBox 10"/>
          <p:cNvSpPr txBox="1"/>
          <p:nvPr/>
        </p:nvSpPr>
        <p:spPr>
          <a:xfrm>
            <a:off x="970280" y="37846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Verba Meta</a:t>
            </a:r>
          </a:p>
        </p:txBody>
      </p:sp>
      <p:sp>
        <p:nvSpPr>
          <p:cNvPr id="100016" name="TextBox 11"/>
          <p:cNvSpPr txBox="1"/>
          <p:nvPr/>
        </p:nvSpPr>
        <p:spPr>
          <a:xfrm>
            <a:off x="970280" y="3987800"/>
            <a:ext cx="4673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R$ 20.000 / mês</a:t>
            </a:r>
          </a:p>
        </p:txBody>
      </p:sp>
      <p:sp>
        <p:nvSpPr>
          <p:cNvPr id="100017" name="TextBox 12"/>
          <p:cNvSpPr txBox="1"/>
          <p:nvPr/>
        </p:nvSpPr>
        <p:spPr>
          <a:xfrm>
            <a:off x="970280" y="43942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Verba Google</a:t>
            </a:r>
          </a:p>
        </p:txBody>
      </p:sp>
      <p:sp>
        <p:nvSpPr>
          <p:cNvPr id="100018" name="TextBox 13"/>
          <p:cNvSpPr txBox="1"/>
          <p:nvPr/>
        </p:nvSpPr>
        <p:spPr>
          <a:xfrm>
            <a:off x="970280" y="4597400"/>
            <a:ext cx="4673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R$ 5.000 / mês</a:t>
            </a:r>
          </a:p>
        </p:txBody>
      </p:sp>
      <p:sp>
        <p:nvSpPr>
          <p:cNvPr id="100019" name="TextBox 14"/>
          <p:cNvSpPr txBox="1"/>
          <p:nvPr/>
        </p:nvSpPr>
        <p:spPr>
          <a:xfrm>
            <a:off x="970280" y="50038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Ciclo até o resultado</a:t>
            </a:r>
          </a:p>
        </p:txBody>
      </p:sp>
      <p:sp>
        <p:nvSpPr>
          <p:cNvPr id="100020" name="TextBox 15"/>
          <p:cNvSpPr txBox="1"/>
          <p:nvPr/>
        </p:nvSpPr>
        <p:spPr>
          <a:xfrm>
            <a:off x="970280" y="5207000"/>
            <a:ext cx="4673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Imediato</a:t>
            </a:r>
          </a:p>
        </p:txBody>
      </p:sp>
      <p:sp>
        <p:nvSpPr>
          <p:cNvPr id="100021" name="TextBox 16"/>
          <p:cNvSpPr/>
          <p:nvPr/>
        </p:nvSpPr>
        <p:spPr>
          <a:xfrm>
            <a:off x="6228080" y="1905000"/>
            <a:ext cx="5323840" cy="3657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022" name="TextBox 17"/>
          <p:cNvSpPr txBox="1"/>
          <p:nvPr/>
        </p:nvSpPr>
        <p:spPr>
          <a:xfrm>
            <a:off x="6558280" y="2133600"/>
            <a:ext cx="4572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300" b="1" spc="200">
                <a:solidFill>
                  <a:srgbClr val="E01C4C"/>
                </a:solidFill>
                <a:latin typeface="Poppins"/>
                <a:ea typeface="Poppins"/>
              </a:rPr>
              <a:t>B2B  ·  LOJISTA</a:t>
            </a:r>
          </a:p>
        </p:txBody>
      </p:sp>
      <p:sp>
        <p:nvSpPr>
          <p:cNvPr id="100023" name="TextBox 18"/>
          <p:cNvSpPr txBox="1"/>
          <p:nvPr/>
        </p:nvSpPr>
        <p:spPr>
          <a:xfrm>
            <a:off x="6558280" y="25654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Objetivo</a:t>
            </a:r>
          </a:p>
        </p:txBody>
      </p:sp>
      <p:sp>
        <p:nvSpPr>
          <p:cNvPr id="100024" name="TextBox 19"/>
          <p:cNvSpPr txBox="1"/>
          <p:nvPr/>
        </p:nvSpPr>
        <p:spPr>
          <a:xfrm>
            <a:off x="6558280" y="2768600"/>
            <a:ext cx="4673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Leads qualificados de locação</a:t>
            </a:r>
          </a:p>
        </p:txBody>
      </p:sp>
      <p:sp>
        <p:nvSpPr>
          <p:cNvPr id="100025" name="TextBox 20"/>
          <p:cNvSpPr txBox="1"/>
          <p:nvPr/>
        </p:nvSpPr>
        <p:spPr>
          <a:xfrm>
            <a:off x="6558280" y="31750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Métrica de hoje</a:t>
            </a:r>
          </a:p>
        </p:txBody>
      </p:sp>
      <p:sp>
        <p:nvSpPr>
          <p:cNvPr id="100026" name="TextBox 21"/>
          <p:cNvSpPr txBox="1"/>
          <p:nvPr/>
        </p:nvSpPr>
        <p:spPr>
          <a:xfrm>
            <a:off x="6558280" y="3378200"/>
            <a:ext cx="4673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CPL, o custo por lead</a:t>
            </a:r>
          </a:p>
        </p:txBody>
      </p:sp>
      <p:sp>
        <p:nvSpPr>
          <p:cNvPr id="100027" name="TextBox 22"/>
          <p:cNvSpPr txBox="1"/>
          <p:nvPr/>
        </p:nvSpPr>
        <p:spPr>
          <a:xfrm>
            <a:off x="6558280" y="37846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Verba Meta</a:t>
            </a:r>
          </a:p>
        </p:txBody>
      </p:sp>
      <p:sp>
        <p:nvSpPr>
          <p:cNvPr id="100028" name="TextBox 23"/>
          <p:cNvSpPr txBox="1"/>
          <p:nvPr/>
        </p:nvSpPr>
        <p:spPr>
          <a:xfrm>
            <a:off x="6558280" y="3987800"/>
            <a:ext cx="4673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R$ 10.000 / mês</a:t>
            </a:r>
          </a:p>
        </p:txBody>
      </p:sp>
      <p:sp>
        <p:nvSpPr>
          <p:cNvPr id="100029" name="TextBox 24"/>
          <p:cNvSpPr txBox="1"/>
          <p:nvPr/>
        </p:nvSpPr>
        <p:spPr>
          <a:xfrm>
            <a:off x="6558280" y="43942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Verba Google</a:t>
            </a:r>
          </a:p>
        </p:txBody>
      </p:sp>
      <p:sp>
        <p:nvSpPr>
          <p:cNvPr id="100030" name="TextBox 25"/>
          <p:cNvSpPr txBox="1"/>
          <p:nvPr/>
        </p:nvSpPr>
        <p:spPr>
          <a:xfrm>
            <a:off x="6558280" y="4597400"/>
            <a:ext cx="4673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R$ 15.000 / mês</a:t>
            </a:r>
          </a:p>
        </p:txBody>
      </p:sp>
      <p:sp>
        <p:nvSpPr>
          <p:cNvPr id="100031" name="TextBox 26"/>
          <p:cNvSpPr txBox="1"/>
          <p:nvPr/>
        </p:nvSpPr>
        <p:spPr>
          <a:xfrm>
            <a:off x="6558280" y="50038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Ciclo até o resultado</a:t>
            </a:r>
          </a:p>
        </p:txBody>
      </p:sp>
      <p:sp>
        <p:nvSpPr>
          <p:cNvPr id="100032" name="TextBox 27"/>
          <p:cNvSpPr txBox="1"/>
          <p:nvPr/>
        </p:nvSpPr>
        <p:spPr>
          <a:xfrm>
            <a:off x="6558280" y="5207000"/>
            <a:ext cx="4673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Longo, de semanas a meses</a:t>
            </a:r>
          </a:p>
        </p:txBody>
      </p:sp>
      <p:sp>
        <p:nvSpPr>
          <p:cNvPr id="100033" name="TextBox 28"/>
          <p:cNvSpPr/>
          <p:nvPr/>
        </p:nvSpPr>
        <p:spPr>
          <a:xfrm>
            <a:off x="640080" y="5791200"/>
            <a:ext cx="10911840" cy="711200"/>
          </a:xfrm>
          <a:prstGeom prst="roundRect">
            <a:avLst>
              <a:gd name="adj" fmla="val 4000"/>
            </a:avLst>
          </a:prstGeom>
          <a:solidFill>
            <a:srgbClr val="093652"/>
          </a:solidFill>
        </p:spPr>
        <p:txBody>
          <a:bodyPr/>
          <a:lstStyle/>
          <a:p>
            <a:endParaRPr/>
          </a:p>
        </p:txBody>
      </p:sp>
      <p:sp>
        <p:nvSpPr>
          <p:cNvPr id="100034" name="TextBox 29"/>
          <p:cNvSpPr txBox="1"/>
          <p:nvPr/>
        </p:nvSpPr>
        <p:spPr>
          <a:xfrm>
            <a:off x="970280" y="5918200"/>
            <a:ext cx="1025144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just">
              <a:lnSpc>
                <a:spcPct val="125000"/>
              </a:lnSpc>
            </a:pP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Custo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por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 mil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pessoas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alcançadas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 e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custo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por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 lead de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locação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medem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coisas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diferentes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.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Por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isso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 as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duas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frentes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aparecem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sempre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separadas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aqui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: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assim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cada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uma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 é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lida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 pela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régua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 que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faz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sentido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 para </a:t>
            </a:r>
            <a:r>
              <a:rPr lang="en-US" sz="1250" dirty="0" err="1">
                <a:solidFill>
                  <a:srgbClr val="FFFFFF"/>
                </a:solidFill>
                <a:latin typeface="Poppins"/>
                <a:ea typeface="Poppins"/>
              </a:rPr>
              <a:t>ela</a:t>
            </a:r>
            <a:r>
              <a:rPr lang="en-US" sz="1250" dirty="0">
                <a:solidFill>
                  <a:srgbClr val="FFFFFF"/>
                </a:solidFill>
                <a:latin typeface="Poppins"/>
                <a:ea typeface="Poppi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5" name="TextBox 1"/>
          <p:cNvSpPr txBox="1"/>
          <p:nvPr/>
        </p:nvSpPr>
        <p:spPr>
          <a:xfrm>
            <a:off x="640080" y="431800"/>
            <a:ext cx="1091184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RESULTADO · B2C (CONSUMIDOR)</a:t>
            </a:r>
          </a:p>
        </p:txBody>
      </p:sp>
      <p:sp>
        <p:nvSpPr>
          <p:cNvPr id="100036" name="TextBox 2"/>
          <p:cNvSpPr txBox="1"/>
          <p:nvPr/>
        </p:nvSpPr>
        <p:spPr>
          <a:xfrm>
            <a:off x="640080" y="812800"/>
            <a:ext cx="1091184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Em 21 dias, julho já passou o alcance de junho</a:t>
            </a:r>
          </a:p>
        </p:txBody>
      </p:sp>
      <p:sp>
        <p:nvSpPr>
          <p:cNvPr id="100037" name="TextBox 3"/>
          <p:cNvSpPr txBox="1"/>
          <p:nvPr/>
        </p:nvSpPr>
        <p:spPr>
          <a:xfrm>
            <a:off x="640080" y="1397000"/>
            <a:ext cx="1091184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Apenas Meta Ads. Google aparece separado, embaixo: as duas plataformas nunca são somadas.</a:t>
            </a:r>
          </a:p>
        </p:txBody>
      </p:sp>
      <p:sp>
        <p:nvSpPr>
          <p:cNvPr id="100038" name="TextBox 4"/>
          <p:cNvSpPr/>
          <p:nvPr/>
        </p:nvSpPr>
        <p:spPr>
          <a:xfrm>
            <a:off x="640080" y="1930400"/>
            <a:ext cx="4953000" cy="3175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</p:spPr>
        <p:txBody>
          <a:bodyPr/>
          <a:lstStyle/>
          <a:p>
            <a:endParaRPr/>
          </a:p>
        </p:txBody>
      </p:sp>
      <p:sp>
        <p:nvSpPr>
          <p:cNvPr id="100039" name="TextBox 5"/>
          <p:cNvSpPr txBox="1"/>
          <p:nvPr/>
        </p:nvSpPr>
        <p:spPr>
          <a:xfrm>
            <a:off x="970280" y="2133600"/>
            <a:ext cx="4318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100">
                <a:solidFill>
                  <a:srgbClr val="093652"/>
                </a:solidFill>
                <a:latin typeface="Poppins"/>
                <a:ea typeface="Poppins"/>
              </a:rPr>
              <a:t>JUNHO  ·  30 dias, mês fechado</a:t>
            </a:r>
          </a:p>
        </p:txBody>
      </p:sp>
      <p:sp>
        <p:nvSpPr>
          <p:cNvPr id="100040" name="TextBox 6"/>
          <p:cNvSpPr txBox="1"/>
          <p:nvPr/>
        </p:nvSpPr>
        <p:spPr>
          <a:xfrm>
            <a:off x="970280" y="25400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1A1A1A"/>
                </a:solidFill>
                <a:latin typeface="Poppins"/>
                <a:ea typeface="Poppins"/>
              </a:rPr>
              <a:t>1,05 mi</a:t>
            </a:r>
          </a:p>
        </p:txBody>
      </p:sp>
      <p:sp>
        <p:nvSpPr>
          <p:cNvPr id="100041" name="TextBox 7"/>
          <p:cNvSpPr txBox="1"/>
          <p:nvPr/>
        </p:nvSpPr>
        <p:spPr>
          <a:xfrm>
            <a:off x="3586480" y="2565400"/>
            <a:ext cx="17780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050">
                <a:solidFill>
                  <a:srgbClr val="6B7280"/>
                </a:solidFill>
                <a:latin typeface="Poppins"/>
                <a:ea typeface="Poppins"/>
              </a:rPr>
              <a:t>pessoas alcançadas</a:t>
            </a:r>
          </a:p>
        </p:txBody>
      </p:sp>
      <p:sp>
        <p:nvSpPr>
          <p:cNvPr id="100042" name="TextBox 8"/>
          <p:cNvSpPr txBox="1"/>
          <p:nvPr/>
        </p:nvSpPr>
        <p:spPr>
          <a:xfrm>
            <a:off x="970280" y="33274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1A1A1A"/>
                </a:solidFill>
                <a:latin typeface="Poppins"/>
                <a:ea typeface="Poppins"/>
              </a:rPr>
              <a:t>R$ 14,09</a:t>
            </a:r>
          </a:p>
        </p:txBody>
      </p:sp>
      <p:sp>
        <p:nvSpPr>
          <p:cNvPr id="100043" name="TextBox 9"/>
          <p:cNvSpPr txBox="1"/>
          <p:nvPr/>
        </p:nvSpPr>
        <p:spPr>
          <a:xfrm>
            <a:off x="3586480" y="3352800"/>
            <a:ext cx="17780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050">
                <a:solidFill>
                  <a:srgbClr val="6B7280"/>
                </a:solidFill>
                <a:latin typeface="Poppins"/>
                <a:ea typeface="Poppins"/>
              </a:rPr>
              <a:t>custo por mil pessoas alcançadas</a:t>
            </a:r>
          </a:p>
        </p:txBody>
      </p:sp>
      <p:sp>
        <p:nvSpPr>
          <p:cNvPr id="100044" name="TextBox 10"/>
          <p:cNvSpPr txBox="1"/>
          <p:nvPr/>
        </p:nvSpPr>
        <p:spPr>
          <a:xfrm>
            <a:off x="970280" y="41148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1A1A1A"/>
                </a:solidFill>
                <a:latin typeface="Poppins"/>
                <a:ea typeface="Poppins"/>
              </a:rPr>
              <a:t>R$ 14.830</a:t>
            </a:r>
          </a:p>
        </p:txBody>
      </p:sp>
      <p:sp>
        <p:nvSpPr>
          <p:cNvPr id="100045" name="TextBox 11"/>
          <p:cNvSpPr txBox="1"/>
          <p:nvPr/>
        </p:nvSpPr>
        <p:spPr>
          <a:xfrm>
            <a:off x="3586480" y="4140200"/>
            <a:ext cx="17780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050">
                <a:solidFill>
                  <a:srgbClr val="6B7280"/>
                </a:solidFill>
                <a:latin typeface="Poppins"/>
                <a:ea typeface="Poppins"/>
              </a:rPr>
              <a:t>investidos no Meta</a:t>
            </a:r>
          </a:p>
        </p:txBody>
      </p:sp>
      <p:sp>
        <p:nvSpPr>
          <p:cNvPr id="100046" name="TextBox 12"/>
          <p:cNvSpPr/>
          <p:nvPr/>
        </p:nvSpPr>
        <p:spPr>
          <a:xfrm>
            <a:off x="6598920" y="1930400"/>
            <a:ext cx="4953000" cy="3175000"/>
          </a:xfrm>
          <a:prstGeom prst="roundRect">
            <a:avLst>
              <a:gd name="adj" fmla="val 4000"/>
            </a:avLst>
          </a:prstGeom>
          <a:solidFill>
            <a:srgbClr val="E01C4C"/>
          </a:solidFill>
        </p:spPr>
        <p:txBody>
          <a:bodyPr/>
          <a:lstStyle/>
          <a:p>
            <a:endParaRPr/>
          </a:p>
        </p:txBody>
      </p:sp>
      <p:sp>
        <p:nvSpPr>
          <p:cNvPr id="100047" name="TextBox 13"/>
          <p:cNvSpPr txBox="1"/>
          <p:nvPr/>
        </p:nvSpPr>
        <p:spPr>
          <a:xfrm>
            <a:off x="6929120" y="2133600"/>
            <a:ext cx="4318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100">
                <a:solidFill>
                  <a:srgbClr val="FFFFFF"/>
                </a:solidFill>
                <a:latin typeface="Poppins"/>
                <a:ea typeface="Poppins"/>
              </a:rPr>
              <a:t>JULHO  ·  1 a 21, mês em andamento</a:t>
            </a:r>
          </a:p>
        </p:txBody>
      </p:sp>
      <p:sp>
        <p:nvSpPr>
          <p:cNvPr id="100048" name="TextBox 14"/>
          <p:cNvSpPr txBox="1"/>
          <p:nvPr/>
        </p:nvSpPr>
        <p:spPr>
          <a:xfrm>
            <a:off x="6929120" y="25400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1,08 mi</a:t>
            </a:r>
          </a:p>
        </p:txBody>
      </p:sp>
      <p:sp>
        <p:nvSpPr>
          <p:cNvPr id="100049" name="TextBox 15"/>
          <p:cNvSpPr txBox="1"/>
          <p:nvPr/>
        </p:nvSpPr>
        <p:spPr>
          <a:xfrm>
            <a:off x="9545320" y="2565400"/>
            <a:ext cx="17780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050">
                <a:solidFill>
                  <a:srgbClr val="FFD7E0"/>
                </a:solidFill>
                <a:latin typeface="Poppins"/>
                <a:ea typeface="Poppins"/>
              </a:rPr>
              <a:t>pessoas alcançadas</a:t>
            </a:r>
          </a:p>
        </p:txBody>
      </p:sp>
      <p:sp>
        <p:nvSpPr>
          <p:cNvPr id="100050" name="TextBox 16"/>
          <p:cNvSpPr txBox="1"/>
          <p:nvPr/>
        </p:nvSpPr>
        <p:spPr>
          <a:xfrm>
            <a:off x="6929120" y="33274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R$ 11,41</a:t>
            </a:r>
          </a:p>
        </p:txBody>
      </p:sp>
      <p:sp>
        <p:nvSpPr>
          <p:cNvPr id="100051" name="TextBox 17"/>
          <p:cNvSpPr txBox="1"/>
          <p:nvPr/>
        </p:nvSpPr>
        <p:spPr>
          <a:xfrm>
            <a:off x="9545320" y="3352800"/>
            <a:ext cx="17780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050" dirty="0" smtClean="0">
                <a:solidFill>
                  <a:srgbClr val="FFD7E0"/>
                </a:solidFill>
                <a:latin typeface="Poppins"/>
                <a:ea typeface="Poppins"/>
              </a:rPr>
              <a:t>CPM </a:t>
            </a:r>
            <a:r>
              <a:rPr lang="en-US" sz="1400" b="1" dirty="0">
                <a:solidFill>
                  <a:srgbClr val="FFD7E0"/>
                </a:solidFill>
                <a:latin typeface="Poppins"/>
                <a:ea typeface="Poppins"/>
              </a:rPr>
              <a:t>19% </a:t>
            </a:r>
            <a:r>
              <a:rPr lang="en-US" sz="1400" b="1" dirty="0" err="1">
                <a:solidFill>
                  <a:srgbClr val="FFD7E0"/>
                </a:solidFill>
                <a:latin typeface="Poppins"/>
                <a:ea typeface="Poppins"/>
              </a:rPr>
              <a:t>mais</a:t>
            </a:r>
            <a:r>
              <a:rPr lang="en-US" sz="1400" b="1" dirty="0">
                <a:solidFill>
                  <a:srgbClr val="FFD7E0"/>
                </a:solidFill>
                <a:latin typeface="Poppins"/>
                <a:ea typeface="Poppins"/>
              </a:rPr>
              <a:t> </a:t>
            </a:r>
            <a:r>
              <a:rPr lang="en-US" sz="1400" b="1" dirty="0" err="1">
                <a:solidFill>
                  <a:srgbClr val="FFD7E0"/>
                </a:solidFill>
                <a:latin typeface="Poppins"/>
                <a:ea typeface="Poppins"/>
              </a:rPr>
              <a:t>barato</a:t>
            </a:r>
            <a:endParaRPr lang="en-US" sz="1400" b="1" dirty="0">
              <a:solidFill>
                <a:srgbClr val="FFD7E0"/>
              </a:solidFill>
              <a:latin typeface="Poppins"/>
              <a:ea typeface="Poppins"/>
            </a:endParaRPr>
          </a:p>
        </p:txBody>
      </p:sp>
      <p:sp>
        <p:nvSpPr>
          <p:cNvPr id="100052" name="TextBox 18"/>
          <p:cNvSpPr txBox="1"/>
          <p:nvPr/>
        </p:nvSpPr>
        <p:spPr>
          <a:xfrm>
            <a:off x="6929120" y="41148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R$ 12.324</a:t>
            </a:r>
          </a:p>
        </p:txBody>
      </p:sp>
      <p:sp>
        <p:nvSpPr>
          <p:cNvPr id="100053" name="TextBox 19"/>
          <p:cNvSpPr txBox="1"/>
          <p:nvPr/>
        </p:nvSpPr>
        <p:spPr>
          <a:xfrm>
            <a:off x="9545320" y="4140200"/>
            <a:ext cx="17780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050">
                <a:solidFill>
                  <a:srgbClr val="FFD7E0"/>
                </a:solidFill>
                <a:latin typeface="Poppins"/>
                <a:ea typeface="Poppins"/>
              </a:rPr>
              <a:t>investidos no Meta</a:t>
            </a:r>
          </a:p>
        </p:txBody>
      </p:sp>
      <p:sp>
        <p:nvSpPr>
          <p:cNvPr id="100054" name="TextBox 20"/>
          <p:cNvSpPr txBox="1"/>
          <p:nvPr/>
        </p:nvSpPr>
        <p:spPr>
          <a:xfrm>
            <a:off x="5669280" y="3238500"/>
            <a:ext cx="85344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2800" b="1">
                <a:solidFill>
                  <a:srgbClr val="6B7280"/>
                </a:solidFill>
                <a:latin typeface="Poppins"/>
                <a:ea typeface="Poppins"/>
              </a:rPr>
              <a:t>→</a:t>
            </a:r>
          </a:p>
        </p:txBody>
      </p:sp>
      <p:sp>
        <p:nvSpPr>
          <p:cNvPr id="100055" name="TextBox 21"/>
          <p:cNvSpPr/>
          <p:nvPr/>
        </p:nvSpPr>
        <p:spPr>
          <a:xfrm>
            <a:off x="640080" y="5207000"/>
            <a:ext cx="10911840" cy="12954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056" name="TextBox 22"/>
          <p:cNvSpPr txBox="1"/>
          <p:nvPr/>
        </p:nvSpPr>
        <p:spPr>
          <a:xfrm>
            <a:off x="970280" y="5334000"/>
            <a:ext cx="1025144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093652"/>
                </a:solidFill>
                <a:latin typeface="Poppins"/>
                <a:ea typeface="Poppins"/>
              </a:rPr>
              <a:t>As mudanças se mostram eficientes quando o escopo está definido e a campanha tem tempo de performar.</a:t>
            </a:r>
          </a:p>
        </p:txBody>
      </p:sp>
      <p:sp>
        <p:nvSpPr>
          <p:cNvPr id="100057" name="TextBox 23"/>
          <p:cNvSpPr txBox="1"/>
          <p:nvPr/>
        </p:nvSpPr>
        <p:spPr>
          <a:xfrm>
            <a:off x="970280" y="5638800"/>
            <a:ext cx="1025144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just">
              <a:lnSpc>
                <a:spcPct val="130000"/>
              </a:lnSpc>
            </a:pP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No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ritmo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atual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,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julho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projeta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cerca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de 1,59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milhão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de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pessoas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alcançadas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com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cerca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de R$ 18,2 mil. Google B2C: a </a:t>
            </a:r>
            <a:r>
              <a:rPr lang="en-US" sz="1150" dirty="0" err="1" smtClean="0">
                <a:solidFill>
                  <a:srgbClr val="4A5568"/>
                </a:solidFill>
                <a:latin typeface="Poppins"/>
                <a:ea typeface="Poppins"/>
              </a:rPr>
              <a:t>PMax</a:t>
            </a:r>
            <a: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gastou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R$ 15.306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em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junho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e </a:t>
            </a:r>
            <a: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  <a:t/>
            </a:r>
            <a:b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</a:br>
            <a: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  <a:t>R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$ 0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em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julho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,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pausada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de </a:t>
            </a:r>
            <a:r>
              <a:rPr lang="en-US" sz="1150" dirty="0" err="1" smtClean="0">
                <a:solidFill>
                  <a:srgbClr val="4A5568"/>
                </a:solidFill>
                <a:latin typeface="Poppins"/>
                <a:ea typeface="Poppins"/>
              </a:rPr>
              <a:t>propósito</a:t>
            </a:r>
            <a: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porque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as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conversões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seguem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contaminadas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e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ainda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não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servem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de base para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decidir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. A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verba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está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guardada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como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reserva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de </a:t>
            </a:r>
            <a: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  <a:t>teste e </a:t>
            </a:r>
            <a:r>
              <a:rPr lang="en-US" sz="1150" dirty="0" err="1" smtClean="0">
                <a:solidFill>
                  <a:srgbClr val="4A5568"/>
                </a:solidFill>
                <a:latin typeface="Poppins"/>
                <a:ea typeface="Poppins"/>
              </a:rPr>
              <a:t>escala</a:t>
            </a:r>
            <a: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  <a:t>.</a:t>
            </a:r>
            <a:endParaRPr lang="en-US" sz="1150" dirty="0">
              <a:solidFill>
                <a:srgbClr val="4A5568"/>
              </a:solidFill>
              <a:latin typeface="Poppins"/>
              <a:ea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8" name="TextBox 1"/>
          <p:cNvSpPr txBox="1"/>
          <p:nvPr/>
        </p:nvSpPr>
        <p:spPr>
          <a:xfrm>
            <a:off x="640080" y="431800"/>
            <a:ext cx="1091184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RESULTADO · B2B (LOCAÇÃO)</a:t>
            </a:r>
          </a:p>
        </p:txBody>
      </p:sp>
      <p:sp>
        <p:nvSpPr>
          <p:cNvPr id="100059" name="TextBox 2"/>
          <p:cNvSpPr txBox="1"/>
          <p:nvPr/>
        </p:nvSpPr>
        <p:spPr>
          <a:xfrm>
            <a:off x="640080" y="812800"/>
            <a:ext cx="1091184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Mais leads e custo menor, pelo segundo mês seguido</a:t>
            </a:r>
          </a:p>
        </p:txBody>
      </p:sp>
      <p:sp>
        <p:nvSpPr>
          <p:cNvPr id="100060" name="TextBox 3"/>
          <p:cNvSpPr txBox="1"/>
          <p:nvPr/>
        </p:nvSpPr>
        <p:spPr>
          <a:xfrm>
            <a:off x="640080" y="1397000"/>
            <a:ext cx="1091184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Meta Ads, campanha de formulário. Google aparece separado, embaixo.</a:t>
            </a:r>
          </a:p>
        </p:txBody>
      </p:sp>
      <p:sp>
        <p:nvSpPr>
          <p:cNvPr id="100061" name="TextBox 4"/>
          <p:cNvSpPr/>
          <p:nvPr/>
        </p:nvSpPr>
        <p:spPr>
          <a:xfrm>
            <a:off x="640080" y="1930400"/>
            <a:ext cx="4953000" cy="3175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</p:spPr>
        <p:txBody>
          <a:bodyPr/>
          <a:lstStyle/>
          <a:p>
            <a:endParaRPr/>
          </a:p>
        </p:txBody>
      </p:sp>
      <p:sp>
        <p:nvSpPr>
          <p:cNvPr id="100062" name="TextBox 5"/>
          <p:cNvSpPr txBox="1"/>
          <p:nvPr/>
        </p:nvSpPr>
        <p:spPr>
          <a:xfrm>
            <a:off x="970280" y="2133600"/>
            <a:ext cx="4318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100">
                <a:solidFill>
                  <a:srgbClr val="093652"/>
                </a:solidFill>
                <a:latin typeface="Poppins"/>
                <a:ea typeface="Poppins"/>
              </a:rPr>
              <a:t>JUNHO  ·  30 dias, mês fechado</a:t>
            </a:r>
          </a:p>
        </p:txBody>
      </p:sp>
      <p:sp>
        <p:nvSpPr>
          <p:cNvPr id="100063" name="TextBox 6"/>
          <p:cNvSpPr txBox="1"/>
          <p:nvPr/>
        </p:nvSpPr>
        <p:spPr>
          <a:xfrm>
            <a:off x="970280" y="25400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1A1A1A"/>
                </a:solidFill>
                <a:latin typeface="Poppins"/>
                <a:ea typeface="Poppins"/>
              </a:rPr>
              <a:t>161</a:t>
            </a:r>
          </a:p>
        </p:txBody>
      </p:sp>
      <p:sp>
        <p:nvSpPr>
          <p:cNvPr id="100064" name="TextBox 7"/>
          <p:cNvSpPr txBox="1"/>
          <p:nvPr/>
        </p:nvSpPr>
        <p:spPr>
          <a:xfrm>
            <a:off x="3586480" y="2565400"/>
            <a:ext cx="17780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050">
                <a:solidFill>
                  <a:srgbClr val="6B7280"/>
                </a:solidFill>
                <a:latin typeface="Poppins"/>
                <a:ea typeface="Poppins"/>
              </a:rPr>
              <a:t>leads de locação</a:t>
            </a:r>
          </a:p>
        </p:txBody>
      </p:sp>
      <p:sp>
        <p:nvSpPr>
          <p:cNvPr id="100065" name="TextBox 8"/>
          <p:cNvSpPr txBox="1"/>
          <p:nvPr/>
        </p:nvSpPr>
        <p:spPr>
          <a:xfrm>
            <a:off x="970280" y="33274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1A1A1A"/>
                </a:solidFill>
                <a:latin typeface="Poppins"/>
                <a:ea typeface="Poppins"/>
              </a:rPr>
              <a:t>R$ 47,90</a:t>
            </a:r>
          </a:p>
        </p:txBody>
      </p:sp>
      <p:sp>
        <p:nvSpPr>
          <p:cNvPr id="100066" name="TextBox 9"/>
          <p:cNvSpPr txBox="1"/>
          <p:nvPr/>
        </p:nvSpPr>
        <p:spPr>
          <a:xfrm>
            <a:off x="3586480" y="3352800"/>
            <a:ext cx="17780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050">
                <a:solidFill>
                  <a:srgbClr val="6B7280"/>
                </a:solidFill>
                <a:latin typeface="Poppins"/>
                <a:ea typeface="Poppins"/>
              </a:rPr>
              <a:t>custo por lead</a:t>
            </a:r>
          </a:p>
        </p:txBody>
      </p:sp>
      <p:sp>
        <p:nvSpPr>
          <p:cNvPr id="100067" name="TextBox 10"/>
          <p:cNvSpPr txBox="1"/>
          <p:nvPr/>
        </p:nvSpPr>
        <p:spPr>
          <a:xfrm>
            <a:off x="970280" y="41148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1A1A1A"/>
                </a:solidFill>
                <a:latin typeface="Poppins"/>
                <a:ea typeface="Poppins"/>
              </a:rPr>
              <a:t>R$ 7.713</a:t>
            </a:r>
          </a:p>
        </p:txBody>
      </p:sp>
      <p:sp>
        <p:nvSpPr>
          <p:cNvPr id="100068" name="TextBox 11"/>
          <p:cNvSpPr txBox="1"/>
          <p:nvPr/>
        </p:nvSpPr>
        <p:spPr>
          <a:xfrm>
            <a:off x="3586480" y="4140200"/>
            <a:ext cx="17780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050">
                <a:solidFill>
                  <a:srgbClr val="6B7280"/>
                </a:solidFill>
                <a:latin typeface="Poppins"/>
                <a:ea typeface="Poppins"/>
              </a:rPr>
              <a:t>investidos no Meta</a:t>
            </a:r>
          </a:p>
        </p:txBody>
      </p:sp>
      <p:sp>
        <p:nvSpPr>
          <p:cNvPr id="100069" name="TextBox 12"/>
          <p:cNvSpPr/>
          <p:nvPr/>
        </p:nvSpPr>
        <p:spPr>
          <a:xfrm>
            <a:off x="6598920" y="1930400"/>
            <a:ext cx="4953000" cy="3175000"/>
          </a:xfrm>
          <a:prstGeom prst="roundRect">
            <a:avLst>
              <a:gd name="adj" fmla="val 4000"/>
            </a:avLst>
          </a:prstGeom>
          <a:solidFill>
            <a:srgbClr val="E01C4C"/>
          </a:solidFill>
        </p:spPr>
        <p:txBody>
          <a:bodyPr/>
          <a:lstStyle/>
          <a:p>
            <a:endParaRPr/>
          </a:p>
        </p:txBody>
      </p:sp>
      <p:sp>
        <p:nvSpPr>
          <p:cNvPr id="100070" name="TextBox 13"/>
          <p:cNvSpPr txBox="1"/>
          <p:nvPr/>
        </p:nvSpPr>
        <p:spPr>
          <a:xfrm>
            <a:off x="6929120" y="2133600"/>
            <a:ext cx="4318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100">
                <a:solidFill>
                  <a:srgbClr val="FFFFFF"/>
                </a:solidFill>
                <a:latin typeface="Poppins"/>
                <a:ea typeface="Poppins"/>
              </a:rPr>
              <a:t>JULHO  ·  1 a 21, mês em andamento</a:t>
            </a:r>
          </a:p>
        </p:txBody>
      </p:sp>
      <p:sp>
        <p:nvSpPr>
          <p:cNvPr id="100071" name="TextBox 14"/>
          <p:cNvSpPr txBox="1"/>
          <p:nvPr/>
        </p:nvSpPr>
        <p:spPr>
          <a:xfrm>
            <a:off x="6929120" y="25400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121</a:t>
            </a:r>
          </a:p>
        </p:txBody>
      </p:sp>
      <p:sp>
        <p:nvSpPr>
          <p:cNvPr id="100072" name="TextBox 15"/>
          <p:cNvSpPr txBox="1"/>
          <p:nvPr/>
        </p:nvSpPr>
        <p:spPr>
          <a:xfrm>
            <a:off x="9545320" y="2565400"/>
            <a:ext cx="17780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050">
                <a:solidFill>
                  <a:srgbClr val="FFD7E0"/>
                </a:solidFill>
                <a:latin typeface="Poppins"/>
                <a:ea typeface="Poppins"/>
              </a:rPr>
              <a:t>leads em 21 dias, ritmo de ~178 no mês</a:t>
            </a:r>
          </a:p>
        </p:txBody>
      </p:sp>
      <p:sp>
        <p:nvSpPr>
          <p:cNvPr id="100073" name="TextBox 16"/>
          <p:cNvSpPr txBox="1"/>
          <p:nvPr/>
        </p:nvSpPr>
        <p:spPr>
          <a:xfrm>
            <a:off x="6929120" y="33274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R$ 33,41</a:t>
            </a:r>
          </a:p>
        </p:txBody>
      </p:sp>
      <p:sp>
        <p:nvSpPr>
          <p:cNvPr id="100074" name="TextBox 17"/>
          <p:cNvSpPr txBox="1"/>
          <p:nvPr/>
        </p:nvSpPr>
        <p:spPr>
          <a:xfrm>
            <a:off x="9545320" y="3352800"/>
            <a:ext cx="17780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050" dirty="0" smtClean="0">
                <a:solidFill>
                  <a:srgbClr val="FFD7E0"/>
                </a:solidFill>
                <a:latin typeface="Poppins"/>
                <a:ea typeface="Poppins"/>
              </a:rPr>
              <a:t>CPL </a:t>
            </a:r>
            <a:r>
              <a:rPr lang="en-US" sz="1400" b="1" dirty="0">
                <a:solidFill>
                  <a:srgbClr val="FFD7E0"/>
                </a:solidFill>
                <a:latin typeface="Poppins"/>
                <a:ea typeface="Poppins"/>
              </a:rPr>
              <a:t>30% </a:t>
            </a:r>
            <a:r>
              <a:rPr lang="en-US" sz="1400" b="1" dirty="0" err="1">
                <a:solidFill>
                  <a:srgbClr val="FFD7E0"/>
                </a:solidFill>
                <a:latin typeface="Poppins"/>
                <a:ea typeface="Poppins"/>
              </a:rPr>
              <a:t>mais</a:t>
            </a:r>
            <a:r>
              <a:rPr lang="en-US" sz="1400" b="1" dirty="0">
                <a:solidFill>
                  <a:srgbClr val="FFD7E0"/>
                </a:solidFill>
                <a:latin typeface="Poppins"/>
                <a:ea typeface="Poppins"/>
              </a:rPr>
              <a:t> </a:t>
            </a:r>
            <a:r>
              <a:rPr lang="en-US" sz="1400" b="1" dirty="0" err="1">
                <a:solidFill>
                  <a:srgbClr val="FFD7E0"/>
                </a:solidFill>
                <a:latin typeface="Poppins"/>
                <a:ea typeface="Poppins"/>
              </a:rPr>
              <a:t>barato</a:t>
            </a:r>
            <a:endParaRPr lang="en-US" sz="1050" b="1" dirty="0">
              <a:solidFill>
                <a:srgbClr val="FFD7E0"/>
              </a:solidFill>
              <a:latin typeface="Poppins"/>
              <a:ea typeface="Poppins"/>
            </a:endParaRPr>
          </a:p>
        </p:txBody>
      </p:sp>
      <p:sp>
        <p:nvSpPr>
          <p:cNvPr id="100075" name="TextBox 18"/>
          <p:cNvSpPr txBox="1"/>
          <p:nvPr/>
        </p:nvSpPr>
        <p:spPr>
          <a:xfrm>
            <a:off x="6929120" y="41148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R$ 4.042</a:t>
            </a:r>
          </a:p>
        </p:txBody>
      </p:sp>
      <p:sp>
        <p:nvSpPr>
          <p:cNvPr id="100076" name="TextBox 19"/>
          <p:cNvSpPr txBox="1"/>
          <p:nvPr/>
        </p:nvSpPr>
        <p:spPr>
          <a:xfrm>
            <a:off x="9545320" y="4140200"/>
            <a:ext cx="17780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050">
                <a:solidFill>
                  <a:srgbClr val="FFD7E0"/>
                </a:solidFill>
                <a:latin typeface="Poppins"/>
                <a:ea typeface="Poppins"/>
              </a:rPr>
              <a:t>investidos no Meta</a:t>
            </a:r>
          </a:p>
        </p:txBody>
      </p:sp>
      <p:sp>
        <p:nvSpPr>
          <p:cNvPr id="100077" name="TextBox 20"/>
          <p:cNvSpPr txBox="1"/>
          <p:nvPr/>
        </p:nvSpPr>
        <p:spPr>
          <a:xfrm>
            <a:off x="5669280" y="3238500"/>
            <a:ext cx="85344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2800" b="1">
                <a:solidFill>
                  <a:srgbClr val="6B7280"/>
                </a:solidFill>
                <a:latin typeface="Poppins"/>
                <a:ea typeface="Poppins"/>
              </a:rPr>
              <a:t>→</a:t>
            </a:r>
          </a:p>
        </p:txBody>
      </p:sp>
      <p:sp>
        <p:nvSpPr>
          <p:cNvPr id="100078" name="TextBox 21"/>
          <p:cNvSpPr/>
          <p:nvPr/>
        </p:nvSpPr>
        <p:spPr>
          <a:xfrm>
            <a:off x="640080" y="5207000"/>
            <a:ext cx="10911840" cy="12954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079" name="TextBox 22"/>
          <p:cNvSpPr txBox="1"/>
          <p:nvPr/>
        </p:nvSpPr>
        <p:spPr>
          <a:xfrm>
            <a:off x="970280" y="5334000"/>
            <a:ext cx="1025144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E a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campanha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 nova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ainda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nem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subiu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: o que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roda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hoje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 é a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estrutura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herdada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,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otimizada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até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 o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limite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dela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.</a:t>
            </a:r>
          </a:p>
        </p:txBody>
      </p:sp>
      <p:sp>
        <p:nvSpPr>
          <p:cNvPr id="100080" name="TextBox 23"/>
          <p:cNvSpPr txBox="1"/>
          <p:nvPr/>
        </p:nvSpPr>
        <p:spPr>
          <a:xfrm>
            <a:off x="970280" y="5638800"/>
            <a:ext cx="1025144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just">
              <a:lnSpc>
                <a:spcPct val="130000"/>
              </a:lnSpc>
            </a:pP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A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série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de CPL é R$ 58,69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em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maio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, R$ 47,90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em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 smtClean="0">
                <a:solidFill>
                  <a:srgbClr val="4A5568"/>
                </a:solidFill>
                <a:latin typeface="Poppins"/>
                <a:ea typeface="Poppins"/>
              </a:rPr>
              <a:t>junho</a:t>
            </a:r>
            <a: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com a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primeira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otimização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, e R$ 33,41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em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julho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. O Google B2B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gastou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R$ 4.571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em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junho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e </a:t>
            </a:r>
            <a: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  <a:t/>
            </a:r>
            <a:b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</a:br>
            <a: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  <a:t>R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$ 1.746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em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julho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,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pausado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em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22/07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enquanto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a landing page nova é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finalizada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.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Ressalva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que continua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valendo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: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custo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por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lead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mede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custo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, e é o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retorno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do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comercial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que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fecha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a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conta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da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qualidade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81" name="TextBox 1"/>
          <p:cNvSpPr txBox="1"/>
          <p:nvPr/>
        </p:nvSpPr>
        <p:spPr>
          <a:xfrm>
            <a:off x="640080" y="431800"/>
            <a:ext cx="1091184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COMO O TRÁFEGO PAGO PERFORMA MELHOR</a:t>
            </a:r>
          </a:p>
        </p:txBody>
      </p:sp>
      <p:sp>
        <p:nvSpPr>
          <p:cNvPr id="100082" name="TextBox 2"/>
          <p:cNvSpPr txBox="1"/>
          <p:nvPr/>
        </p:nvSpPr>
        <p:spPr>
          <a:xfrm>
            <a:off x="640080" y="812800"/>
            <a:ext cx="1091184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É funil completo, com rastreamento até a conversão</a:t>
            </a:r>
          </a:p>
        </p:txBody>
      </p:sp>
      <p:sp>
        <p:nvSpPr>
          <p:cNvPr id="100083" name="TextBox 3"/>
          <p:cNvSpPr txBox="1"/>
          <p:nvPr/>
        </p:nvSpPr>
        <p:spPr>
          <a:xfrm>
            <a:off x="640080" y="1397000"/>
            <a:ext cx="1091184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Cada formato entrega uma coisa diferente. Saber o que cada um faz melhor é o que permite escolher.</a:t>
            </a:r>
          </a:p>
        </p:txBody>
      </p:sp>
      <p:sp>
        <p:nvSpPr>
          <p:cNvPr id="100084" name="TextBox 4"/>
          <p:cNvSpPr/>
          <p:nvPr/>
        </p:nvSpPr>
        <p:spPr>
          <a:xfrm>
            <a:off x="640080" y="1778000"/>
            <a:ext cx="10911840" cy="20574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085" name="TextBox 5"/>
          <p:cNvSpPr txBox="1"/>
          <p:nvPr/>
        </p:nvSpPr>
        <p:spPr>
          <a:xfrm>
            <a:off x="944880" y="19050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E01C4C"/>
                </a:solidFill>
                <a:latin typeface="Poppins"/>
                <a:ea typeface="Poppins"/>
              </a:rPr>
              <a:t>OS TRÊS PRINCÍPIOS</a:t>
            </a:r>
          </a:p>
        </p:txBody>
      </p:sp>
      <p:sp>
        <p:nvSpPr>
          <p:cNvPr id="100086" name="TextBox 6"/>
          <p:cNvSpPr txBox="1"/>
          <p:nvPr/>
        </p:nvSpPr>
        <p:spPr>
          <a:xfrm>
            <a:off x="944880" y="2184400"/>
            <a:ext cx="2794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950" b="1">
                <a:solidFill>
                  <a:srgbClr val="093652"/>
                </a:solidFill>
                <a:latin typeface="Poppins"/>
                <a:ea typeface="Poppins"/>
              </a:rPr>
              <a:t>FUNIL COMPLETO</a:t>
            </a:r>
          </a:p>
        </p:txBody>
      </p:sp>
      <p:sp>
        <p:nvSpPr>
          <p:cNvPr id="100087" name="TextBox 7"/>
          <p:cNvSpPr txBox="1"/>
          <p:nvPr/>
        </p:nvSpPr>
        <p:spPr>
          <a:xfrm>
            <a:off x="3865880" y="2184400"/>
            <a:ext cx="7112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just">
              <a:lnSpc>
                <a:spcPct val="120000"/>
              </a:lnSpc>
            </a:pPr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Alcance, visita, contato e resultado somam entre si quando cada campanha tem um papel definido, em vez de disputarem a mesma verba.</a:t>
            </a:r>
          </a:p>
        </p:txBody>
      </p:sp>
      <p:sp>
        <p:nvSpPr>
          <p:cNvPr id="100088" name="TextBox 8"/>
          <p:cNvSpPr txBox="1"/>
          <p:nvPr/>
        </p:nvSpPr>
        <p:spPr>
          <a:xfrm>
            <a:off x="944880" y="2705100"/>
            <a:ext cx="2794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950" b="1">
                <a:solidFill>
                  <a:srgbClr val="093652"/>
                </a:solidFill>
                <a:latin typeface="Poppins"/>
                <a:ea typeface="Poppins"/>
              </a:rPr>
              <a:t>UM PLANO E UM CICLO DE APRENDIZADO</a:t>
            </a:r>
          </a:p>
        </p:txBody>
      </p:sp>
      <p:sp>
        <p:nvSpPr>
          <p:cNvPr id="100089" name="TextBox 9"/>
          <p:cNvSpPr txBox="1"/>
          <p:nvPr/>
        </p:nvSpPr>
        <p:spPr>
          <a:xfrm>
            <a:off x="3865880" y="2705100"/>
            <a:ext cx="7112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just">
              <a:lnSpc>
                <a:spcPct val="120000"/>
              </a:lnSpc>
            </a:pP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Com a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verba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950" dirty="0" err="1" smtClean="0">
                <a:solidFill>
                  <a:srgbClr val="1A1A1A"/>
                </a:solidFill>
                <a:latin typeface="Poppins"/>
                <a:ea typeface="Poppins"/>
              </a:rPr>
              <a:t>definida</a:t>
            </a:r>
            <a:r>
              <a:rPr lang="en-US" sz="950" dirty="0" smtClean="0">
                <a:solidFill>
                  <a:srgbClr val="1A1A1A"/>
                </a:solidFill>
                <a:latin typeface="Poppins"/>
                <a:ea typeface="Poppins"/>
              </a:rPr>
              <a:t>,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temos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planejamento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real e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conseguimos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comparar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projeção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com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realidade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.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Quando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a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direção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950" dirty="0" err="1" smtClean="0">
                <a:solidFill>
                  <a:srgbClr val="1A1A1A"/>
                </a:solidFill>
                <a:latin typeface="Poppins"/>
                <a:ea typeface="Poppins"/>
              </a:rPr>
              <a:t>muda</a:t>
            </a:r>
            <a:r>
              <a:rPr lang="en-US" sz="950" dirty="0" smtClean="0">
                <a:solidFill>
                  <a:srgbClr val="1A1A1A"/>
                </a:solidFill>
                <a:latin typeface="Poppins"/>
                <a:ea typeface="Poppins"/>
              </a:rPr>
              <a:t>,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os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dados se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perdem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e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demora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mais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para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entender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o que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funciona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. A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reserva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para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imprevistos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rende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mais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como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exceção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.</a:t>
            </a:r>
          </a:p>
        </p:txBody>
      </p:sp>
      <p:sp>
        <p:nvSpPr>
          <p:cNvPr id="100090" name="TextBox 10"/>
          <p:cNvSpPr txBox="1"/>
          <p:nvPr/>
        </p:nvSpPr>
        <p:spPr>
          <a:xfrm>
            <a:off x="944880" y="3225800"/>
            <a:ext cx="2794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950" b="1">
                <a:solidFill>
                  <a:srgbClr val="093652"/>
                </a:solidFill>
                <a:latin typeface="Poppins"/>
                <a:ea typeface="Poppins"/>
              </a:rPr>
              <a:t>MEDIÇÃO E COLABORAÇÃO</a:t>
            </a:r>
          </a:p>
        </p:txBody>
      </p:sp>
      <p:sp>
        <p:nvSpPr>
          <p:cNvPr id="100091" name="TextBox 11"/>
          <p:cNvSpPr txBox="1"/>
          <p:nvPr/>
        </p:nvSpPr>
        <p:spPr>
          <a:xfrm>
            <a:off x="3865880" y="3225800"/>
            <a:ext cx="71120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just">
              <a:lnSpc>
                <a:spcPct val="120000"/>
              </a:lnSpc>
            </a:pP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Com a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informação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950" dirty="0" err="1" smtClean="0">
                <a:solidFill>
                  <a:srgbClr val="1A1A1A"/>
                </a:solidFill>
                <a:latin typeface="Poppins"/>
                <a:ea typeface="Poppins"/>
              </a:rPr>
              <a:t>circulando</a:t>
            </a:r>
            <a:r>
              <a:rPr lang="en-US" sz="950" dirty="0" smtClean="0">
                <a:solidFill>
                  <a:srgbClr val="1A1A1A"/>
                </a:solidFill>
                <a:latin typeface="Poppins"/>
                <a:ea typeface="Poppins"/>
              </a:rPr>
              <a:t> entre </a:t>
            </a:r>
            <a:r>
              <a:rPr lang="en-US" sz="950" dirty="0" err="1" smtClean="0">
                <a:solidFill>
                  <a:srgbClr val="1A1A1A"/>
                </a:solidFill>
                <a:latin typeface="Poppins"/>
                <a:ea typeface="Poppins"/>
              </a:rPr>
              <a:t>todas</a:t>
            </a:r>
            <a:r>
              <a:rPr lang="en-US" sz="950" dirty="0" smtClean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as </a:t>
            </a:r>
            <a:r>
              <a:rPr lang="en-US" sz="950" dirty="0" err="1" smtClean="0">
                <a:solidFill>
                  <a:srgbClr val="1A1A1A"/>
                </a:solidFill>
                <a:latin typeface="Poppins"/>
                <a:ea typeface="Poppins"/>
              </a:rPr>
              <a:t>pontas</a:t>
            </a:r>
            <a:r>
              <a:rPr lang="en-US" sz="950" dirty="0" smtClean="0">
                <a:solidFill>
                  <a:srgbClr val="1A1A1A"/>
                </a:solidFill>
                <a:latin typeface="Poppins"/>
                <a:ea typeface="Poppins"/>
              </a:rPr>
              <a:t> (</a:t>
            </a:r>
            <a:r>
              <a:rPr lang="en-US" sz="950" dirty="0" err="1" smtClean="0">
                <a:solidFill>
                  <a:srgbClr val="1A1A1A"/>
                </a:solidFill>
                <a:latin typeface="Poppins"/>
                <a:ea typeface="Poppins"/>
              </a:rPr>
              <a:t>comercial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,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lojistas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e </a:t>
            </a:r>
            <a:r>
              <a:rPr lang="en-US" sz="950" dirty="0" err="1" smtClean="0">
                <a:solidFill>
                  <a:srgbClr val="1A1A1A"/>
                </a:solidFill>
                <a:latin typeface="Poppins"/>
                <a:ea typeface="Poppins"/>
              </a:rPr>
              <a:t>mídia</a:t>
            </a:r>
            <a:r>
              <a:rPr lang="en-US" sz="950" dirty="0" smtClean="0">
                <a:solidFill>
                  <a:srgbClr val="1A1A1A"/>
                </a:solidFill>
                <a:latin typeface="Poppins"/>
                <a:ea typeface="Poppins"/>
              </a:rPr>
              <a:t>),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conseguimos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otimizar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por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resultado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e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não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apenas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por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1A1A1A"/>
                </a:solidFill>
                <a:latin typeface="Poppins"/>
                <a:ea typeface="Poppins"/>
              </a:rPr>
              <a:t>custo</a:t>
            </a:r>
            <a:r>
              <a:rPr lang="en-US" sz="950" dirty="0">
                <a:solidFill>
                  <a:srgbClr val="1A1A1A"/>
                </a:solidFill>
                <a:latin typeface="Poppins"/>
                <a:ea typeface="Poppins"/>
              </a:rPr>
              <a:t>.</a:t>
            </a:r>
          </a:p>
        </p:txBody>
      </p:sp>
      <p:sp>
        <p:nvSpPr>
          <p:cNvPr id="100092" name="TextBox 12"/>
          <p:cNvSpPr/>
          <p:nvPr/>
        </p:nvSpPr>
        <p:spPr>
          <a:xfrm>
            <a:off x="640080" y="3937000"/>
            <a:ext cx="10911840" cy="19304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093" name="TextBox 13"/>
          <p:cNvSpPr txBox="1"/>
          <p:nvPr/>
        </p:nvSpPr>
        <p:spPr>
          <a:xfrm>
            <a:off x="944880" y="4064000"/>
            <a:ext cx="6350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E01C4C"/>
                </a:solidFill>
                <a:latin typeface="Poppins"/>
                <a:ea typeface="Poppins"/>
              </a:rPr>
              <a:t>O QUE CADA FORMATO FAZ MELHOR NA NOSSA ESTRUTURA</a:t>
            </a:r>
          </a:p>
        </p:txBody>
      </p:sp>
      <p:sp>
        <p:nvSpPr>
          <p:cNvPr id="100094" name="TextBox 14"/>
          <p:cNvSpPr txBox="1"/>
          <p:nvPr/>
        </p:nvSpPr>
        <p:spPr>
          <a:xfrm>
            <a:off x="9784080" y="4064000"/>
            <a:ext cx="14605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00" b="1" spc="100">
                <a:solidFill>
                  <a:srgbClr val="6B7280"/>
                </a:solidFill>
                <a:latin typeface="Poppins"/>
                <a:ea typeface="Poppins"/>
              </a:rPr>
              <a:t>TEMPO NO AR</a:t>
            </a:r>
          </a:p>
        </p:txBody>
      </p:sp>
      <p:sp>
        <p:nvSpPr>
          <p:cNvPr id="100095" name="TextBox 15"/>
          <p:cNvSpPr txBox="1"/>
          <p:nvPr/>
        </p:nvSpPr>
        <p:spPr>
          <a:xfrm>
            <a:off x="944880" y="4343400"/>
            <a:ext cx="2667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093652"/>
                </a:solidFill>
                <a:latin typeface="Poppins"/>
                <a:ea typeface="Poppins"/>
              </a:rPr>
              <a:t>Engajamento no Instagram</a:t>
            </a:r>
          </a:p>
        </p:txBody>
      </p:sp>
      <p:sp>
        <p:nvSpPr>
          <p:cNvPr id="100096" name="TextBox 16"/>
          <p:cNvSpPr txBox="1"/>
          <p:nvPr/>
        </p:nvSpPr>
        <p:spPr>
          <a:xfrm>
            <a:off x="3738880" y="4343400"/>
            <a:ext cx="5969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dirty="0" err="1">
                <a:solidFill>
                  <a:srgbClr val="1A1A1A"/>
                </a:solidFill>
                <a:latin typeface="Poppins"/>
                <a:ea typeface="Poppins"/>
              </a:rPr>
              <a:t>Crescimento</a:t>
            </a:r>
            <a:r>
              <a:rPr lang="en-US" sz="1000" dirty="0">
                <a:solidFill>
                  <a:srgbClr val="1A1A1A"/>
                </a:solidFill>
                <a:latin typeface="Poppins"/>
                <a:ea typeface="Poppins"/>
              </a:rPr>
              <a:t> de </a:t>
            </a:r>
            <a:r>
              <a:rPr lang="en-US" sz="1000" dirty="0" err="1">
                <a:solidFill>
                  <a:srgbClr val="1A1A1A"/>
                </a:solidFill>
                <a:latin typeface="Poppins"/>
                <a:ea typeface="Poppins"/>
              </a:rPr>
              <a:t>perfil</a:t>
            </a:r>
            <a:r>
              <a:rPr lang="en-US" sz="1000" dirty="0">
                <a:solidFill>
                  <a:srgbClr val="1A1A1A"/>
                </a:solidFill>
                <a:latin typeface="Poppins"/>
                <a:ea typeface="Poppins"/>
              </a:rPr>
              <a:t> e </a:t>
            </a:r>
            <a:r>
              <a:rPr lang="en-US" sz="1000" dirty="0" err="1">
                <a:solidFill>
                  <a:srgbClr val="1A1A1A"/>
                </a:solidFill>
                <a:latin typeface="Poppins"/>
                <a:ea typeface="Poppins"/>
              </a:rPr>
              <a:t>presença</a:t>
            </a:r>
            <a:r>
              <a:rPr lang="en-US" sz="10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000" dirty="0" err="1">
                <a:solidFill>
                  <a:srgbClr val="1A1A1A"/>
                </a:solidFill>
                <a:latin typeface="Poppins"/>
                <a:ea typeface="Poppins"/>
              </a:rPr>
              <a:t>constante</a:t>
            </a:r>
            <a:r>
              <a:rPr lang="en-US" sz="1000" dirty="0">
                <a:solidFill>
                  <a:srgbClr val="1A1A1A"/>
                </a:solidFill>
                <a:latin typeface="Poppins"/>
                <a:ea typeface="Poppins"/>
              </a:rPr>
              <a:t> com </a:t>
            </a:r>
            <a:r>
              <a:rPr lang="en-US" sz="1000" dirty="0" err="1">
                <a:solidFill>
                  <a:srgbClr val="1A1A1A"/>
                </a:solidFill>
                <a:latin typeface="Poppins"/>
                <a:ea typeface="Poppins"/>
              </a:rPr>
              <a:t>quem</a:t>
            </a:r>
            <a:r>
              <a:rPr lang="en-US" sz="10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000" dirty="0" err="1">
                <a:solidFill>
                  <a:srgbClr val="1A1A1A"/>
                </a:solidFill>
                <a:latin typeface="Poppins"/>
                <a:ea typeface="Poppins"/>
              </a:rPr>
              <a:t>já</a:t>
            </a:r>
            <a:r>
              <a:rPr lang="en-US" sz="10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000" dirty="0" err="1">
                <a:solidFill>
                  <a:srgbClr val="1A1A1A"/>
                </a:solidFill>
                <a:latin typeface="Poppins"/>
                <a:ea typeface="Poppins"/>
              </a:rPr>
              <a:t>conhece</a:t>
            </a:r>
            <a:r>
              <a:rPr lang="en-US" sz="1000" dirty="0">
                <a:solidFill>
                  <a:srgbClr val="1A1A1A"/>
                </a:solidFill>
                <a:latin typeface="Poppins"/>
                <a:ea typeface="Poppins"/>
              </a:rPr>
              <a:t> o shopping</a:t>
            </a:r>
          </a:p>
        </p:txBody>
      </p:sp>
      <p:sp>
        <p:nvSpPr>
          <p:cNvPr id="100097" name="TextBox 17"/>
          <p:cNvSpPr txBox="1"/>
          <p:nvPr/>
        </p:nvSpPr>
        <p:spPr>
          <a:xfrm>
            <a:off x="9784080" y="4343400"/>
            <a:ext cx="1460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50" b="1">
                <a:solidFill>
                  <a:srgbClr val="E01C4C"/>
                </a:solidFill>
                <a:latin typeface="Poppins"/>
                <a:ea typeface="Poppins"/>
              </a:rPr>
              <a:t>contínuo</a:t>
            </a:r>
          </a:p>
        </p:txBody>
      </p:sp>
      <p:sp>
        <p:nvSpPr>
          <p:cNvPr id="100098" name="TextBox 18"/>
          <p:cNvSpPr txBox="1"/>
          <p:nvPr/>
        </p:nvSpPr>
        <p:spPr>
          <a:xfrm>
            <a:off x="944880" y="4635500"/>
            <a:ext cx="2667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093652"/>
                </a:solidFill>
                <a:latin typeface="Poppins"/>
                <a:ea typeface="Poppins"/>
              </a:rPr>
              <a:t>Ofertas semanais</a:t>
            </a:r>
          </a:p>
        </p:txBody>
      </p:sp>
      <p:sp>
        <p:nvSpPr>
          <p:cNvPr id="100099" name="TextBox 19"/>
          <p:cNvSpPr txBox="1"/>
          <p:nvPr/>
        </p:nvSpPr>
        <p:spPr>
          <a:xfrm>
            <a:off x="3738880" y="4635500"/>
            <a:ext cx="5969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>
                <a:solidFill>
                  <a:srgbClr val="1A1A1A"/>
                </a:solidFill>
                <a:latin typeface="Poppins"/>
                <a:ea typeface="Poppins"/>
              </a:rPr>
              <a:t>Vitrine para as ofertas dos lojistas, com giro semanal de criativo</a:t>
            </a:r>
          </a:p>
        </p:txBody>
      </p:sp>
      <p:sp>
        <p:nvSpPr>
          <p:cNvPr id="100100" name="TextBox 20"/>
          <p:cNvSpPr txBox="1"/>
          <p:nvPr/>
        </p:nvSpPr>
        <p:spPr>
          <a:xfrm>
            <a:off x="9123528" y="4635500"/>
            <a:ext cx="2121052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50" b="1" dirty="0" err="1" smtClean="0">
                <a:solidFill>
                  <a:srgbClr val="E01C4C"/>
                </a:solidFill>
                <a:latin typeface="Poppins"/>
                <a:ea typeface="Poppins"/>
              </a:rPr>
              <a:t>contínuo</a:t>
            </a:r>
            <a:r>
              <a:rPr lang="en-US" sz="950" b="1" dirty="0" smtClean="0">
                <a:solidFill>
                  <a:srgbClr val="E01C4C"/>
                </a:solidFill>
                <a:latin typeface="Poppins"/>
                <a:ea typeface="Poppins"/>
              </a:rPr>
              <a:t>, com </a:t>
            </a:r>
            <a:r>
              <a:rPr lang="en-US" sz="950" b="1" dirty="0" err="1" smtClean="0">
                <a:solidFill>
                  <a:srgbClr val="E01C4C"/>
                </a:solidFill>
                <a:latin typeface="Poppins"/>
                <a:ea typeface="Poppins"/>
              </a:rPr>
              <a:t>troca</a:t>
            </a:r>
            <a:r>
              <a:rPr lang="en-US" sz="950" b="1" dirty="0" smtClean="0">
                <a:solidFill>
                  <a:srgbClr val="E01C4C"/>
                </a:solidFill>
                <a:latin typeface="Poppins"/>
                <a:ea typeface="Poppins"/>
              </a:rPr>
              <a:t> </a:t>
            </a:r>
            <a:r>
              <a:rPr lang="en-US" sz="950" b="1" dirty="0" err="1" smtClean="0">
                <a:solidFill>
                  <a:srgbClr val="E01C4C"/>
                </a:solidFill>
                <a:latin typeface="Poppins"/>
                <a:ea typeface="Poppins"/>
              </a:rPr>
              <a:t>criativa</a:t>
            </a:r>
            <a:r>
              <a:rPr lang="en-US" sz="950" b="1" dirty="0" smtClean="0">
                <a:solidFill>
                  <a:srgbClr val="E01C4C"/>
                </a:solidFill>
                <a:latin typeface="Poppins"/>
                <a:ea typeface="Poppins"/>
              </a:rPr>
              <a:t> </a:t>
            </a:r>
            <a:r>
              <a:rPr lang="en-US" sz="950" b="1" dirty="0" err="1" smtClean="0">
                <a:solidFill>
                  <a:srgbClr val="E01C4C"/>
                </a:solidFill>
                <a:latin typeface="Poppins"/>
                <a:ea typeface="Poppins"/>
              </a:rPr>
              <a:t>semanal</a:t>
            </a:r>
            <a:endParaRPr lang="en-US" sz="950" b="1" dirty="0">
              <a:solidFill>
                <a:srgbClr val="E01C4C"/>
              </a:solidFill>
              <a:latin typeface="Poppins"/>
              <a:ea typeface="Poppins"/>
            </a:endParaRPr>
          </a:p>
        </p:txBody>
      </p:sp>
      <p:sp>
        <p:nvSpPr>
          <p:cNvPr id="100101" name="TextBox 21"/>
          <p:cNvSpPr txBox="1"/>
          <p:nvPr/>
        </p:nvSpPr>
        <p:spPr>
          <a:xfrm>
            <a:off x="944880" y="4927600"/>
            <a:ext cx="2667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093652"/>
                </a:solidFill>
                <a:latin typeface="Poppins"/>
                <a:ea typeface="Poppins"/>
              </a:rPr>
              <a:t>Reconhecimento institucional</a:t>
            </a:r>
          </a:p>
        </p:txBody>
      </p:sp>
      <p:sp>
        <p:nvSpPr>
          <p:cNvPr id="100102" name="TextBox 22"/>
          <p:cNvSpPr txBox="1"/>
          <p:nvPr/>
        </p:nvSpPr>
        <p:spPr>
          <a:xfrm>
            <a:off x="3738880" y="4927600"/>
            <a:ext cx="5969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>
                <a:solidFill>
                  <a:srgbClr val="1A1A1A"/>
                </a:solidFill>
                <a:latin typeface="Poppins"/>
                <a:ea typeface="Poppins"/>
              </a:rPr>
              <a:t>Alcançar o maior número de pessoas da região pelo menor custo</a:t>
            </a:r>
          </a:p>
        </p:txBody>
      </p:sp>
      <p:sp>
        <p:nvSpPr>
          <p:cNvPr id="100103" name="TextBox 23"/>
          <p:cNvSpPr txBox="1"/>
          <p:nvPr/>
        </p:nvSpPr>
        <p:spPr>
          <a:xfrm>
            <a:off x="9784080" y="4927600"/>
            <a:ext cx="1460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50" b="1">
                <a:solidFill>
                  <a:srgbClr val="E01C4C"/>
                </a:solidFill>
                <a:latin typeface="Poppins"/>
                <a:ea typeface="Poppins"/>
              </a:rPr>
              <a:t>contínuo</a:t>
            </a:r>
          </a:p>
        </p:txBody>
      </p:sp>
      <p:sp>
        <p:nvSpPr>
          <p:cNvPr id="100104" name="TextBox 24"/>
          <p:cNvSpPr txBox="1"/>
          <p:nvPr/>
        </p:nvSpPr>
        <p:spPr>
          <a:xfrm>
            <a:off x="944880" y="5219700"/>
            <a:ext cx="2667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093652"/>
                </a:solidFill>
                <a:latin typeface="Poppins"/>
                <a:ea typeface="Poppins"/>
              </a:rPr>
              <a:t>Turbinar post</a:t>
            </a:r>
          </a:p>
        </p:txBody>
      </p:sp>
      <p:sp>
        <p:nvSpPr>
          <p:cNvPr id="100105" name="TextBox 25"/>
          <p:cNvSpPr txBox="1"/>
          <p:nvPr/>
        </p:nvSpPr>
        <p:spPr>
          <a:xfrm>
            <a:off x="3738880" y="5219700"/>
            <a:ext cx="5969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>
                <a:solidFill>
                  <a:srgbClr val="1A1A1A"/>
                </a:solidFill>
                <a:latin typeface="Poppins"/>
                <a:ea typeface="Poppins"/>
              </a:rPr>
              <a:t>Dar volume a um conteúdo específico do orgânico, com data e público definidos</a:t>
            </a:r>
          </a:p>
        </p:txBody>
      </p:sp>
      <p:sp>
        <p:nvSpPr>
          <p:cNvPr id="100106" name="TextBox 26"/>
          <p:cNvSpPr txBox="1"/>
          <p:nvPr/>
        </p:nvSpPr>
        <p:spPr>
          <a:xfrm>
            <a:off x="9784080" y="5219700"/>
            <a:ext cx="1460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50" b="1">
                <a:solidFill>
                  <a:srgbClr val="E01C4C"/>
                </a:solidFill>
                <a:latin typeface="Poppins"/>
                <a:ea typeface="Poppins"/>
              </a:rPr>
              <a:t>7 dias ou mais</a:t>
            </a:r>
          </a:p>
        </p:txBody>
      </p:sp>
      <p:sp>
        <p:nvSpPr>
          <p:cNvPr id="100107" name="TextBox 27"/>
          <p:cNvSpPr txBox="1"/>
          <p:nvPr/>
        </p:nvSpPr>
        <p:spPr>
          <a:xfrm>
            <a:off x="944880" y="5511800"/>
            <a:ext cx="2667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>
                <a:solidFill>
                  <a:srgbClr val="093652"/>
                </a:solidFill>
                <a:latin typeface="Poppins"/>
                <a:ea typeface="Poppins"/>
              </a:rPr>
              <a:t>Formulário no Meta (B2B)</a:t>
            </a:r>
          </a:p>
        </p:txBody>
      </p:sp>
      <p:sp>
        <p:nvSpPr>
          <p:cNvPr id="100108" name="TextBox 28"/>
          <p:cNvSpPr txBox="1"/>
          <p:nvPr/>
        </p:nvSpPr>
        <p:spPr>
          <a:xfrm>
            <a:off x="3738880" y="5511800"/>
            <a:ext cx="5969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>
                <a:solidFill>
                  <a:srgbClr val="1A1A1A"/>
                </a:solidFill>
                <a:latin typeface="Poppins"/>
                <a:ea typeface="Poppins"/>
              </a:rPr>
              <a:t>Captar lead de locação sem o lojista precisar sair do aplicativo</a:t>
            </a:r>
          </a:p>
        </p:txBody>
      </p:sp>
      <p:sp>
        <p:nvSpPr>
          <p:cNvPr id="100109" name="TextBox 29"/>
          <p:cNvSpPr txBox="1"/>
          <p:nvPr/>
        </p:nvSpPr>
        <p:spPr>
          <a:xfrm>
            <a:off x="9784080" y="5511800"/>
            <a:ext cx="14605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50" b="1">
                <a:solidFill>
                  <a:srgbClr val="E01C4C"/>
                </a:solidFill>
                <a:latin typeface="Poppins"/>
                <a:ea typeface="Poppins"/>
              </a:rPr>
              <a:t>contínuo</a:t>
            </a:r>
          </a:p>
        </p:txBody>
      </p:sp>
      <p:sp>
        <p:nvSpPr>
          <p:cNvPr id="100110" name="TextBox 30"/>
          <p:cNvSpPr/>
          <p:nvPr/>
        </p:nvSpPr>
        <p:spPr>
          <a:xfrm>
            <a:off x="640080" y="5969000"/>
            <a:ext cx="10911840" cy="533400"/>
          </a:xfrm>
          <a:prstGeom prst="roundRect">
            <a:avLst>
              <a:gd name="adj" fmla="val 4000"/>
            </a:avLst>
          </a:prstGeom>
          <a:solidFill>
            <a:srgbClr val="093652"/>
          </a:solidFill>
        </p:spPr>
        <p:txBody>
          <a:bodyPr/>
          <a:lstStyle/>
          <a:p>
            <a:endParaRPr/>
          </a:p>
        </p:txBody>
      </p:sp>
      <p:sp>
        <p:nvSpPr>
          <p:cNvPr id="100111" name="TextBox 31"/>
          <p:cNvSpPr txBox="1"/>
          <p:nvPr/>
        </p:nvSpPr>
        <p:spPr>
          <a:xfrm>
            <a:off x="944880" y="6045200"/>
            <a:ext cx="1030224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just">
              <a:lnSpc>
                <a:spcPct val="125000"/>
              </a:lnSpc>
            </a:pPr>
            <a:r>
              <a:rPr lang="en-US" sz="1050" dirty="0" err="1">
                <a:solidFill>
                  <a:srgbClr val="FFFFFF"/>
                </a:solidFill>
                <a:latin typeface="Poppins"/>
                <a:ea typeface="Poppins"/>
              </a:rPr>
              <a:t>Hoje</a:t>
            </a:r>
            <a:r>
              <a:rPr lang="en-US" sz="10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050" b="1" dirty="0">
                <a:solidFill>
                  <a:srgbClr val="FFFFFF"/>
                </a:solidFill>
                <a:latin typeface="Poppins"/>
                <a:ea typeface="Poppins"/>
              </a:rPr>
              <a:t>97% da </a:t>
            </a:r>
            <a:r>
              <a:rPr lang="en-US" sz="1050" b="1" dirty="0" err="1">
                <a:solidFill>
                  <a:srgbClr val="FFFFFF"/>
                </a:solidFill>
                <a:latin typeface="Poppins"/>
                <a:ea typeface="Poppins"/>
              </a:rPr>
              <a:t>verba</a:t>
            </a:r>
            <a:r>
              <a:rPr lang="en-US" sz="1050" b="1" dirty="0">
                <a:solidFill>
                  <a:srgbClr val="FFFFFF"/>
                </a:solidFill>
                <a:latin typeface="Poppins"/>
                <a:ea typeface="Poppins"/>
              </a:rPr>
              <a:t> do B2C </a:t>
            </a:r>
            <a:r>
              <a:rPr lang="en-US" sz="1050" b="1" dirty="0" err="1">
                <a:solidFill>
                  <a:srgbClr val="FFFFFF"/>
                </a:solidFill>
                <a:latin typeface="Poppins"/>
                <a:ea typeface="Poppins"/>
              </a:rPr>
              <a:t>roda</a:t>
            </a:r>
            <a:r>
              <a:rPr lang="en-US" sz="1050" b="1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latin typeface="Poppins"/>
                <a:ea typeface="Poppins"/>
              </a:rPr>
              <a:t>em</a:t>
            </a:r>
            <a:r>
              <a:rPr lang="en-US" sz="1050" b="1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latin typeface="Poppins"/>
                <a:ea typeface="Poppins"/>
              </a:rPr>
              <a:t>objetivos</a:t>
            </a:r>
            <a:r>
              <a:rPr lang="en-US" sz="1050" b="1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latin typeface="Poppins"/>
                <a:ea typeface="Poppins"/>
              </a:rPr>
              <a:t>ligados</a:t>
            </a:r>
            <a:r>
              <a:rPr lang="en-US" sz="1050" b="1" dirty="0">
                <a:solidFill>
                  <a:srgbClr val="FFFFFF"/>
                </a:solidFill>
                <a:latin typeface="Poppins"/>
                <a:ea typeface="Poppins"/>
              </a:rPr>
              <a:t> a </a:t>
            </a:r>
            <a:r>
              <a:rPr lang="en-US" sz="1050" b="1" dirty="0" err="1">
                <a:solidFill>
                  <a:srgbClr val="FFFFFF"/>
                </a:solidFill>
                <a:latin typeface="Poppins"/>
                <a:ea typeface="Poppins"/>
              </a:rPr>
              <a:t>perfil</a:t>
            </a:r>
            <a:r>
              <a:rPr lang="en-US" sz="1050" b="1" dirty="0">
                <a:solidFill>
                  <a:srgbClr val="FFFFFF"/>
                </a:solidFill>
                <a:latin typeface="Poppins"/>
                <a:ea typeface="Poppins"/>
              </a:rPr>
              <a:t> e clique</a:t>
            </a:r>
            <a:r>
              <a:rPr lang="en-US" sz="1050" dirty="0">
                <a:solidFill>
                  <a:srgbClr val="FFFFFF"/>
                </a:solidFill>
                <a:latin typeface="Poppins"/>
                <a:ea typeface="Poppins"/>
              </a:rPr>
              <a:t>, e 3% </a:t>
            </a:r>
            <a:r>
              <a:rPr lang="en-US" sz="1050" dirty="0" err="1">
                <a:solidFill>
                  <a:srgbClr val="FFFFFF"/>
                </a:solidFill>
                <a:latin typeface="Poppins"/>
                <a:ea typeface="Poppins"/>
              </a:rPr>
              <a:t>em</a:t>
            </a:r>
            <a:r>
              <a:rPr lang="en-US" sz="10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Poppins"/>
                <a:ea typeface="Poppins"/>
              </a:rPr>
              <a:t>alcance</a:t>
            </a:r>
            <a:r>
              <a:rPr lang="en-US" sz="1050" dirty="0">
                <a:solidFill>
                  <a:srgbClr val="FFFFFF"/>
                </a:solidFill>
                <a:latin typeface="Poppins"/>
                <a:ea typeface="Poppins"/>
              </a:rPr>
              <a:t>. </a:t>
            </a:r>
            <a:r>
              <a:rPr lang="en-US" sz="1050" dirty="0" err="1">
                <a:solidFill>
                  <a:srgbClr val="FFFFFF"/>
                </a:solidFill>
                <a:latin typeface="Poppins"/>
                <a:ea typeface="Poppins"/>
              </a:rPr>
              <a:t>Apoiar</a:t>
            </a:r>
            <a:r>
              <a:rPr lang="en-US" sz="1050" dirty="0">
                <a:solidFill>
                  <a:srgbClr val="FFFFFF"/>
                </a:solidFill>
                <a:latin typeface="Poppins"/>
                <a:ea typeface="Poppins"/>
              </a:rPr>
              <a:t> o </a:t>
            </a:r>
            <a:r>
              <a:rPr lang="en-US" sz="1050" dirty="0" err="1">
                <a:solidFill>
                  <a:srgbClr val="FFFFFF"/>
                </a:solidFill>
                <a:latin typeface="Poppins"/>
                <a:ea typeface="Poppins"/>
              </a:rPr>
              <a:t>crescimento</a:t>
            </a:r>
            <a:r>
              <a:rPr lang="en-US" sz="1050" dirty="0">
                <a:solidFill>
                  <a:srgbClr val="FFFFFF"/>
                </a:solidFill>
                <a:latin typeface="Poppins"/>
                <a:ea typeface="Poppins"/>
              </a:rPr>
              <a:t> do </a:t>
            </a:r>
            <a:r>
              <a:rPr lang="en-US" sz="1050" dirty="0" err="1">
                <a:solidFill>
                  <a:srgbClr val="FFFFFF"/>
                </a:solidFill>
                <a:latin typeface="Poppins"/>
                <a:ea typeface="Poppins"/>
              </a:rPr>
              <a:t>orgânico</a:t>
            </a:r>
            <a:r>
              <a:rPr lang="en-US" sz="1050" dirty="0">
                <a:solidFill>
                  <a:srgbClr val="FFFFFF"/>
                </a:solidFill>
                <a:latin typeface="Poppins"/>
                <a:ea typeface="Poppins"/>
              </a:rPr>
              <a:t> é </a:t>
            </a:r>
            <a:r>
              <a:rPr lang="en-US" sz="1050" dirty="0" err="1">
                <a:solidFill>
                  <a:srgbClr val="FFFFFF"/>
                </a:solidFill>
                <a:latin typeface="Poppins"/>
                <a:ea typeface="Poppins"/>
              </a:rPr>
              <a:t>uma</a:t>
            </a:r>
            <a:r>
              <a:rPr lang="en-US" sz="10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Poppins"/>
                <a:ea typeface="Poppins"/>
              </a:rPr>
              <a:t>decisão</a:t>
            </a:r>
            <a:r>
              <a:rPr lang="en-US" sz="1050" dirty="0">
                <a:solidFill>
                  <a:srgbClr val="FFFFFF"/>
                </a:solidFill>
                <a:latin typeface="Poppins"/>
                <a:ea typeface="Poppins"/>
              </a:rPr>
              <a:t> da </a:t>
            </a:r>
            <a:r>
              <a:rPr lang="en-US" sz="1050" dirty="0" err="1">
                <a:solidFill>
                  <a:srgbClr val="FFFFFF"/>
                </a:solidFill>
                <a:latin typeface="Poppins"/>
                <a:ea typeface="Poppins"/>
              </a:rPr>
              <a:t>gestão</a:t>
            </a:r>
            <a:r>
              <a:rPr lang="en-US" sz="1050" dirty="0">
                <a:solidFill>
                  <a:srgbClr val="FFFFFF"/>
                </a:solidFill>
                <a:latin typeface="Poppins"/>
                <a:ea typeface="Poppins"/>
              </a:rPr>
              <a:t> e </a:t>
            </a:r>
            <a:r>
              <a:rPr lang="en-US" sz="1050" dirty="0" err="1">
                <a:solidFill>
                  <a:srgbClr val="FFFFFF"/>
                </a:solidFill>
                <a:latin typeface="Poppins"/>
                <a:ea typeface="Poppins"/>
              </a:rPr>
              <a:t>ela</a:t>
            </a:r>
            <a:r>
              <a:rPr lang="en-US" sz="10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Poppins"/>
                <a:ea typeface="Poppins"/>
              </a:rPr>
              <a:t>está</a:t>
            </a:r>
            <a:r>
              <a:rPr lang="en-US" sz="10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Poppins"/>
                <a:ea typeface="Poppins"/>
              </a:rPr>
              <a:t>sendo</a:t>
            </a:r>
            <a:r>
              <a:rPr lang="en-US" sz="10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Poppins"/>
                <a:ea typeface="Poppins"/>
              </a:rPr>
              <a:t>executada</a:t>
            </a:r>
            <a:r>
              <a:rPr lang="en-US" sz="1050" dirty="0">
                <a:solidFill>
                  <a:srgbClr val="FFFFFF"/>
                </a:solidFill>
                <a:latin typeface="Poppins"/>
                <a:ea typeface="Poppins"/>
              </a:rPr>
              <a:t>. O </a:t>
            </a:r>
            <a:r>
              <a:rPr lang="en-US" sz="1050" dirty="0" err="1">
                <a:solidFill>
                  <a:srgbClr val="FFFFFF"/>
                </a:solidFill>
                <a:latin typeface="Poppins"/>
                <a:ea typeface="Poppins"/>
              </a:rPr>
              <a:t>quadro</a:t>
            </a:r>
            <a:r>
              <a:rPr lang="en-US" sz="10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Poppins"/>
                <a:ea typeface="Poppins"/>
              </a:rPr>
              <a:t>acima</a:t>
            </a:r>
            <a:r>
              <a:rPr lang="en-US" sz="10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Poppins"/>
                <a:ea typeface="Poppins"/>
              </a:rPr>
              <a:t>mostra</a:t>
            </a:r>
            <a:r>
              <a:rPr lang="en-US" sz="1050" dirty="0">
                <a:solidFill>
                  <a:srgbClr val="FFFFFF"/>
                </a:solidFill>
                <a:latin typeface="Poppins"/>
                <a:ea typeface="Poppins"/>
              </a:rPr>
              <a:t> que </a:t>
            </a:r>
            <a:r>
              <a:rPr lang="en-US" sz="1050" dirty="0" err="1">
                <a:solidFill>
                  <a:srgbClr val="FFFFFF"/>
                </a:solidFill>
                <a:latin typeface="Poppins"/>
                <a:ea typeface="Poppins"/>
              </a:rPr>
              <a:t>existe</a:t>
            </a:r>
            <a:r>
              <a:rPr lang="en-US" sz="10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Poppins"/>
                <a:ea typeface="Poppins"/>
              </a:rPr>
              <a:t>mais</a:t>
            </a:r>
            <a:r>
              <a:rPr lang="en-US" sz="1050" dirty="0">
                <a:solidFill>
                  <a:srgbClr val="FFFFFF"/>
                </a:solidFill>
                <a:latin typeface="Poppins"/>
                <a:ea typeface="Poppins"/>
              </a:rPr>
              <a:t> de </a:t>
            </a:r>
            <a:r>
              <a:rPr lang="en-US" sz="1050" dirty="0" err="1">
                <a:solidFill>
                  <a:srgbClr val="FFFFFF"/>
                </a:solidFill>
                <a:latin typeface="Poppins"/>
                <a:ea typeface="Poppins"/>
              </a:rPr>
              <a:t>uma</a:t>
            </a:r>
            <a:r>
              <a:rPr lang="en-US" sz="1050" dirty="0">
                <a:solidFill>
                  <a:srgbClr val="FFFFFF"/>
                </a:solidFill>
                <a:latin typeface="Poppins"/>
                <a:ea typeface="Poppins"/>
              </a:rPr>
              <a:t> forma de </a:t>
            </a:r>
            <a:r>
              <a:rPr lang="en-US" sz="1050" dirty="0" err="1">
                <a:solidFill>
                  <a:srgbClr val="FFFFFF"/>
                </a:solidFill>
                <a:latin typeface="Poppins"/>
                <a:ea typeface="Poppins"/>
              </a:rPr>
              <a:t>fazer</a:t>
            </a:r>
            <a:r>
              <a:rPr lang="en-US" sz="10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Poppins"/>
                <a:ea typeface="Poppins"/>
              </a:rPr>
              <a:t>isso</a:t>
            </a:r>
            <a:r>
              <a:rPr lang="en-US" sz="1050" dirty="0">
                <a:solidFill>
                  <a:srgbClr val="FFFFFF"/>
                </a:solidFill>
                <a:latin typeface="Poppins"/>
                <a:ea typeface="Poppins"/>
              </a:rPr>
              <a:t>, e a </a:t>
            </a:r>
            <a:r>
              <a:rPr lang="en-US" sz="1050" dirty="0" err="1">
                <a:solidFill>
                  <a:srgbClr val="FFFFFF"/>
                </a:solidFill>
                <a:latin typeface="Poppins"/>
                <a:ea typeface="Poppins"/>
              </a:rPr>
              <a:t>escolha</a:t>
            </a:r>
            <a:r>
              <a:rPr lang="en-US" sz="10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050" dirty="0" err="1" smtClean="0">
                <a:solidFill>
                  <a:srgbClr val="FFFFFF"/>
                </a:solidFill>
                <a:latin typeface="Poppins"/>
                <a:ea typeface="Poppins"/>
              </a:rPr>
              <a:t>precisa</a:t>
            </a:r>
            <a:r>
              <a:rPr lang="en-US" sz="1050" dirty="0" smtClean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050" dirty="0" err="1" smtClean="0">
                <a:solidFill>
                  <a:srgbClr val="FFFFFF"/>
                </a:solidFill>
                <a:latin typeface="Poppins"/>
                <a:ea typeface="Poppins"/>
              </a:rPr>
              <a:t>ser</a:t>
            </a:r>
            <a:r>
              <a:rPr lang="en-US" sz="1050" dirty="0" smtClean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1050" dirty="0" err="1" smtClean="0">
                <a:solidFill>
                  <a:srgbClr val="FFFFFF"/>
                </a:solidFill>
                <a:latin typeface="Poppins"/>
                <a:ea typeface="Poppins"/>
              </a:rPr>
              <a:t>estratégica</a:t>
            </a:r>
            <a:r>
              <a:rPr lang="en-US" sz="1050" dirty="0" smtClean="0">
                <a:solidFill>
                  <a:srgbClr val="FFFFFF"/>
                </a:solidFill>
                <a:latin typeface="Poppins"/>
                <a:ea typeface="Poppins"/>
              </a:rPr>
              <a:t>.</a:t>
            </a:r>
            <a:endParaRPr lang="en-US" sz="1050" dirty="0">
              <a:solidFill>
                <a:srgbClr val="FFFFFF"/>
              </a:solidFill>
              <a:latin typeface="Poppins"/>
              <a:ea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12" name="TextBox 1"/>
          <p:cNvSpPr txBox="1"/>
          <p:nvPr/>
        </p:nvSpPr>
        <p:spPr>
          <a:xfrm>
            <a:off x="640080" y="431800"/>
            <a:ext cx="1091184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TURBINAR · SOMENTE JULHO / 2026</a:t>
            </a:r>
          </a:p>
        </p:txBody>
      </p:sp>
      <p:sp>
        <p:nvSpPr>
          <p:cNvPr id="100113" name="TextBox 2"/>
          <p:cNvSpPr txBox="1"/>
          <p:nvPr/>
        </p:nvSpPr>
        <p:spPr>
          <a:xfrm>
            <a:off x="640080" y="812800"/>
            <a:ext cx="1091184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O combinado em 06/07 e o realizado em julho</a:t>
            </a:r>
          </a:p>
        </p:txBody>
      </p:sp>
      <p:sp>
        <p:nvSpPr>
          <p:cNvPr id="100114" name="TextBox 3"/>
          <p:cNvSpPr txBox="1"/>
          <p:nvPr/>
        </p:nvSpPr>
        <p:spPr>
          <a:xfrm>
            <a:off x="640080" y="1397000"/>
            <a:ext cx="1091184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Considera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apenas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julho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: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realizado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smtClean="0">
                <a:solidFill>
                  <a:srgbClr val="4A5568"/>
                </a:solidFill>
                <a:latin typeface="Poppins"/>
                <a:ea typeface="Poppins"/>
              </a:rPr>
              <a:t>entre 01 e 24/07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mais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 o que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ainda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roda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até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 31/07.</a:t>
            </a:r>
          </a:p>
        </p:txBody>
      </p:sp>
      <p:sp>
        <p:nvSpPr>
          <p:cNvPr id="100115" name="TextBox 4"/>
          <p:cNvSpPr/>
          <p:nvPr/>
        </p:nvSpPr>
        <p:spPr>
          <a:xfrm>
            <a:off x="640080" y="1752600"/>
            <a:ext cx="2604135" cy="7874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116" name="TextBox 5"/>
          <p:cNvSpPr txBox="1"/>
          <p:nvPr/>
        </p:nvSpPr>
        <p:spPr>
          <a:xfrm>
            <a:off x="843280" y="1879600"/>
            <a:ext cx="2197735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 b="1" spc="100">
                <a:solidFill>
                  <a:srgbClr val="6B7280"/>
                </a:solidFill>
                <a:latin typeface="Poppins"/>
                <a:ea typeface="Poppins"/>
              </a:rPr>
              <a:t>VERBA DO MÊS</a:t>
            </a:r>
          </a:p>
        </p:txBody>
      </p:sp>
      <p:sp>
        <p:nvSpPr>
          <p:cNvPr id="100117" name="TextBox 6"/>
          <p:cNvSpPr txBox="1"/>
          <p:nvPr/>
        </p:nvSpPr>
        <p:spPr>
          <a:xfrm>
            <a:off x="843280" y="2108200"/>
            <a:ext cx="2197735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093652"/>
                </a:solidFill>
                <a:latin typeface="Poppins"/>
                <a:ea typeface="Poppins"/>
              </a:rPr>
              <a:t>R$ 2.200  →  R$ 2.348</a:t>
            </a:r>
          </a:p>
        </p:txBody>
      </p:sp>
      <p:sp>
        <p:nvSpPr>
          <p:cNvPr id="100118" name="TextBox 7"/>
          <p:cNvSpPr/>
          <p:nvPr/>
        </p:nvSpPr>
        <p:spPr>
          <a:xfrm>
            <a:off x="3409315" y="1752600"/>
            <a:ext cx="2604135" cy="7874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119" name="TextBox 8"/>
          <p:cNvSpPr txBox="1"/>
          <p:nvPr/>
        </p:nvSpPr>
        <p:spPr>
          <a:xfrm>
            <a:off x="3612515" y="1879600"/>
            <a:ext cx="2197735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 b="1" spc="100">
                <a:solidFill>
                  <a:srgbClr val="6B7280"/>
                </a:solidFill>
                <a:latin typeface="Poppins"/>
                <a:ea typeface="Poppins"/>
              </a:rPr>
              <a:t>PEÇAS NO AR</a:t>
            </a:r>
          </a:p>
        </p:txBody>
      </p:sp>
      <p:sp>
        <p:nvSpPr>
          <p:cNvPr id="100120" name="TextBox 9"/>
          <p:cNvSpPr txBox="1"/>
          <p:nvPr/>
        </p:nvSpPr>
        <p:spPr>
          <a:xfrm>
            <a:off x="3612515" y="2108200"/>
            <a:ext cx="2197735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093652"/>
                </a:solidFill>
                <a:latin typeface="Poppins"/>
                <a:ea typeface="Poppins"/>
              </a:rPr>
              <a:t>10  →  18</a:t>
            </a:r>
          </a:p>
        </p:txBody>
      </p:sp>
      <p:sp>
        <p:nvSpPr>
          <p:cNvPr id="100121" name="TextBox 10"/>
          <p:cNvSpPr/>
          <p:nvPr/>
        </p:nvSpPr>
        <p:spPr>
          <a:xfrm>
            <a:off x="6178550" y="1752600"/>
            <a:ext cx="2604135" cy="7874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122" name="TextBox 11"/>
          <p:cNvSpPr txBox="1"/>
          <p:nvPr/>
        </p:nvSpPr>
        <p:spPr>
          <a:xfrm>
            <a:off x="6381750" y="1879600"/>
            <a:ext cx="2197735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 b="1" spc="100">
                <a:solidFill>
                  <a:srgbClr val="6B7280"/>
                </a:solidFill>
                <a:latin typeface="Poppins"/>
                <a:ea typeface="Poppins"/>
              </a:rPr>
              <a:t>VERBA POR PEÇA</a:t>
            </a:r>
          </a:p>
        </p:txBody>
      </p:sp>
      <p:sp>
        <p:nvSpPr>
          <p:cNvPr id="100123" name="TextBox 12"/>
          <p:cNvSpPr txBox="1"/>
          <p:nvPr/>
        </p:nvSpPr>
        <p:spPr>
          <a:xfrm>
            <a:off x="6381750" y="2108200"/>
            <a:ext cx="2197735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093652"/>
                </a:solidFill>
                <a:latin typeface="Poppins"/>
                <a:ea typeface="Poppins"/>
              </a:rPr>
              <a:t>R$ 220  →  R$ 130</a:t>
            </a:r>
          </a:p>
        </p:txBody>
      </p:sp>
      <p:sp>
        <p:nvSpPr>
          <p:cNvPr id="100124" name="TextBox 13"/>
          <p:cNvSpPr/>
          <p:nvPr/>
        </p:nvSpPr>
        <p:spPr>
          <a:xfrm>
            <a:off x="8947785" y="1752600"/>
            <a:ext cx="2604135" cy="7874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125" name="TextBox 14"/>
          <p:cNvSpPr txBox="1"/>
          <p:nvPr/>
        </p:nvSpPr>
        <p:spPr>
          <a:xfrm>
            <a:off x="9150985" y="1879600"/>
            <a:ext cx="2197735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 b="1" spc="100">
                <a:solidFill>
                  <a:srgbClr val="6B7280"/>
                </a:solidFill>
                <a:latin typeface="Poppins"/>
                <a:ea typeface="Poppins"/>
              </a:rPr>
              <a:t>DIAS NO AR POR PEÇA</a:t>
            </a:r>
          </a:p>
        </p:txBody>
      </p:sp>
      <p:sp>
        <p:nvSpPr>
          <p:cNvPr id="100126" name="TextBox 15"/>
          <p:cNvSpPr txBox="1"/>
          <p:nvPr/>
        </p:nvSpPr>
        <p:spPr>
          <a:xfrm>
            <a:off x="9150985" y="2108200"/>
            <a:ext cx="2197735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093652"/>
                </a:solidFill>
                <a:latin typeface="Poppins"/>
                <a:ea typeface="Poppins"/>
              </a:rPr>
              <a:t>17,5  →  11,3</a:t>
            </a:r>
          </a:p>
        </p:txBody>
      </p:sp>
      <p:sp>
        <p:nvSpPr>
          <p:cNvPr id="100127" name="TextBox 16"/>
          <p:cNvSpPr/>
          <p:nvPr/>
        </p:nvSpPr>
        <p:spPr>
          <a:xfrm>
            <a:off x="640080" y="2667000"/>
            <a:ext cx="5323840" cy="24892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128" name="TextBox 17"/>
          <p:cNvSpPr txBox="1"/>
          <p:nvPr/>
        </p:nvSpPr>
        <p:spPr>
          <a:xfrm>
            <a:off x="919480" y="28194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157DBF"/>
                </a:solidFill>
                <a:latin typeface="Poppins"/>
                <a:ea typeface="Poppins"/>
              </a:rPr>
              <a:t>LOJAS  ·  9 peças</a:t>
            </a:r>
          </a:p>
        </p:txBody>
      </p:sp>
      <p:sp>
        <p:nvSpPr>
          <p:cNvPr id="100129" name="TextBox 18"/>
          <p:cNvSpPr txBox="1"/>
          <p:nvPr/>
        </p:nvSpPr>
        <p:spPr>
          <a:xfrm>
            <a:off x="4094480" y="2819400"/>
            <a:ext cx="1587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050" b="1">
                <a:solidFill>
                  <a:srgbClr val="093652"/>
                </a:solidFill>
                <a:latin typeface="Poppins"/>
                <a:ea typeface="Poppins"/>
              </a:rPr>
              <a:t>R$ 1.022  ·  43,5%</a:t>
            </a:r>
          </a:p>
        </p:txBody>
      </p:sp>
      <p:sp>
        <p:nvSpPr>
          <p:cNvPr id="100130" name="TextBox 19"/>
          <p:cNvSpPr txBox="1"/>
          <p:nvPr/>
        </p:nvSpPr>
        <p:spPr>
          <a:xfrm>
            <a:off x="919480" y="317500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Bella da Ju</a:t>
            </a:r>
          </a:p>
        </p:txBody>
      </p:sp>
      <p:sp>
        <p:nvSpPr>
          <p:cNvPr id="100131" name="TextBox 20"/>
          <p:cNvSpPr txBox="1"/>
          <p:nvPr/>
        </p:nvSpPr>
        <p:spPr>
          <a:xfrm>
            <a:off x="4729480" y="317500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30 dias</a:t>
            </a:r>
          </a:p>
        </p:txBody>
      </p:sp>
      <p:sp>
        <p:nvSpPr>
          <p:cNvPr id="100132" name="TextBox 21"/>
          <p:cNvSpPr txBox="1"/>
          <p:nvPr/>
        </p:nvSpPr>
        <p:spPr>
          <a:xfrm>
            <a:off x="919480" y="337820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De Meninas</a:t>
            </a:r>
          </a:p>
        </p:txBody>
      </p:sp>
      <p:sp>
        <p:nvSpPr>
          <p:cNvPr id="100133" name="TextBox 22"/>
          <p:cNvSpPr txBox="1"/>
          <p:nvPr/>
        </p:nvSpPr>
        <p:spPr>
          <a:xfrm>
            <a:off x="4729480" y="337820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23 dias</a:t>
            </a:r>
          </a:p>
        </p:txBody>
      </p:sp>
      <p:sp>
        <p:nvSpPr>
          <p:cNvPr id="100134" name="TextBox 23"/>
          <p:cNvSpPr txBox="1"/>
          <p:nvPr/>
        </p:nvSpPr>
        <p:spPr>
          <a:xfrm>
            <a:off x="919480" y="358140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Ivare</a:t>
            </a:r>
          </a:p>
        </p:txBody>
      </p:sp>
      <p:sp>
        <p:nvSpPr>
          <p:cNvPr id="100135" name="TextBox 24"/>
          <p:cNvSpPr txBox="1"/>
          <p:nvPr/>
        </p:nvSpPr>
        <p:spPr>
          <a:xfrm>
            <a:off x="4729480" y="358140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15 dias</a:t>
            </a:r>
          </a:p>
        </p:txBody>
      </p:sp>
      <p:sp>
        <p:nvSpPr>
          <p:cNvPr id="100136" name="TextBox 25"/>
          <p:cNvSpPr txBox="1"/>
          <p:nvPr/>
        </p:nvSpPr>
        <p:spPr>
          <a:xfrm>
            <a:off x="919480" y="378460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Sol Kids</a:t>
            </a:r>
          </a:p>
        </p:txBody>
      </p:sp>
      <p:sp>
        <p:nvSpPr>
          <p:cNvPr id="100137" name="TextBox 26"/>
          <p:cNvSpPr txBox="1"/>
          <p:nvPr/>
        </p:nvSpPr>
        <p:spPr>
          <a:xfrm>
            <a:off x="4729480" y="378460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16 dias</a:t>
            </a:r>
          </a:p>
        </p:txBody>
      </p:sp>
      <p:sp>
        <p:nvSpPr>
          <p:cNvPr id="100138" name="TextBox 27"/>
          <p:cNvSpPr txBox="1"/>
          <p:nvPr/>
        </p:nvSpPr>
        <p:spPr>
          <a:xfrm>
            <a:off x="919480" y="398780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Mercadão dos Celulares</a:t>
            </a:r>
          </a:p>
        </p:txBody>
      </p:sp>
      <p:sp>
        <p:nvSpPr>
          <p:cNvPr id="100139" name="TextBox 28"/>
          <p:cNvSpPr txBox="1"/>
          <p:nvPr/>
        </p:nvSpPr>
        <p:spPr>
          <a:xfrm>
            <a:off x="4729480" y="398780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10 dias</a:t>
            </a:r>
          </a:p>
        </p:txBody>
      </p:sp>
      <p:sp>
        <p:nvSpPr>
          <p:cNvPr id="100140" name="TextBox 29"/>
          <p:cNvSpPr txBox="1"/>
          <p:nvPr/>
        </p:nvSpPr>
        <p:spPr>
          <a:xfrm>
            <a:off x="919480" y="419100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Top Livros</a:t>
            </a:r>
          </a:p>
        </p:txBody>
      </p:sp>
      <p:sp>
        <p:nvSpPr>
          <p:cNvPr id="100141" name="TextBox 30"/>
          <p:cNvSpPr txBox="1"/>
          <p:nvPr/>
        </p:nvSpPr>
        <p:spPr>
          <a:xfrm>
            <a:off x="4729480" y="419100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11 dias</a:t>
            </a:r>
          </a:p>
        </p:txBody>
      </p:sp>
      <p:sp>
        <p:nvSpPr>
          <p:cNvPr id="100142" name="TextBox 31"/>
          <p:cNvSpPr txBox="1"/>
          <p:nvPr/>
        </p:nvSpPr>
        <p:spPr>
          <a:xfrm>
            <a:off x="919480" y="439420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Urban Market</a:t>
            </a:r>
          </a:p>
        </p:txBody>
      </p:sp>
      <p:sp>
        <p:nvSpPr>
          <p:cNvPr id="100143" name="TextBox 32"/>
          <p:cNvSpPr txBox="1"/>
          <p:nvPr/>
        </p:nvSpPr>
        <p:spPr>
          <a:xfrm>
            <a:off x="4729480" y="439420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11 dias</a:t>
            </a:r>
          </a:p>
        </p:txBody>
      </p:sp>
      <p:sp>
        <p:nvSpPr>
          <p:cNvPr id="100144" name="TextBox 33"/>
          <p:cNvSpPr txBox="1"/>
          <p:nvPr/>
        </p:nvSpPr>
        <p:spPr>
          <a:xfrm>
            <a:off x="919480" y="459740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Alice Boutique</a:t>
            </a:r>
          </a:p>
        </p:txBody>
      </p:sp>
      <p:sp>
        <p:nvSpPr>
          <p:cNvPr id="100145" name="TextBox 34"/>
          <p:cNvSpPr txBox="1"/>
          <p:nvPr/>
        </p:nvSpPr>
        <p:spPr>
          <a:xfrm>
            <a:off x="4729480" y="459740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8 dias</a:t>
            </a:r>
          </a:p>
        </p:txBody>
      </p:sp>
      <p:sp>
        <p:nvSpPr>
          <p:cNvPr id="100146" name="TextBox 35"/>
          <p:cNvSpPr txBox="1"/>
          <p:nvPr/>
        </p:nvSpPr>
        <p:spPr>
          <a:xfrm>
            <a:off x="919480" y="480060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Beck Decorhome</a:t>
            </a:r>
          </a:p>
        </p:txBody>
      </p:sp>
      <p:sp>
        <p:nvSpPr>
          <p:cNvPr id="100147" name="TextBox 36"/>
          <p:cNvSpPr txBox="1"/>
          <p:nvPr/>
        </p:nvSpPr>
        <p:spPr>
          <a:xfrm>
            <a:off x="4729480" y="480060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7 dias</a:t>
            </a:r>
          </a:p>
        </p:txBody>
      </p:sp>
      <p:sp>
        <p:nvSpPr>
          <p:cNvPr id="100148" name="TextBox 37"/>
          <p:cNvSpPr/>
          <p:nvPr/>
        </p:nvSpPr>
        <p:spPr>
          <a:xfrm>
            <a:off x="6228080" y="2667000"/>
            <a:ext cx="5323840" cy="24892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149" name="TextBox 38"/>
          <p:cNvSpPr txBox="1"/>
          <p:nvPr/>
        </p:nvSpPr>
        <p:spPr>
          <a:xfrm>
            <a:off x="6507480" y="28194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 dirty="0">
                <a:solidFill>
                  <a:srgbClr val="E01C4C"/>
                </a:solidFill>
                <a:latin typeface="Poppins"/>
                <a:ea typeface="Poppins"/>
              </a:rPr>
              <a:t>POSTAGENS DO SHOPPING  ·  9 </a:t>
            </a:r>
            <a:r>
              <a:rPr lang="en-US" sz="1000" b="1" spc="100" dirty="0" err="1">
                <a:solidFill>
                  <a:srgbClr val="E01C4C"/>
                </a:solidFill>
                <a:latin typeface="Poppins"/>
                <a:ea typeface="Poppins"/>
              </a:rPr>
              <a:t>peças</a:t>
            </a:r>
            <a:endParaRPr lang="en-US" sz="1000" b="1" spc="100" dirty="0">
              <a:solidFill>
                <a:srgbClr val="E01C4C"/>
              </a:solidFill>
              <a:latin typeface="Poppins"/>
              <a:ea typeface="Poppins"/>
            </a:endParaRPr>
          </a:p>
        </p:txBody>
      </p:sp>
      <p:sp>
        <p:nvSpPr>
          <p:cNvPr id="100150" name="TextBox 39"/>
          <p:cNvSpPr txBox="1"/>
          <p:nvPr/>
        </p:nvSpPr>
        <p:spPr>
          <a:xfrm>
            <a:off x="9682480" y="2819400"/>
            <a:ext cx="15875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050" b="1">
                <a:solidFill>
                  <a:srgbClr val="093652"/>
                </a:solidFill>
                <a:latin typeface="Poppins"/>
                <a:ea typeface="Poppins"/>
              </a:rPr>
              <a:t>R$ 1.326  ·  56,5%</a:t>
            </a:r>
          </a:p>
        </p:txBody>
      </p:sp>
      <p:sp>
        <p:nvSpPr>
          <p:cNvPr id="100151" name="TextBox 40"/>
          <p:cNvSpPr txBox="1"/>
          <p:nvPr/>
        </p:nvSpPr>
        <p:spPr>
          <a:xfrm>
            <a:off x="6507480" y="317500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Feira Coreana</a:t>
            </a:r>
          </a:p>
        </p:txBody>
      </p:sp>
      <p:sp>
        <p:nvSpPr>
          <p:cNvPr id="100152" name="TextBox 41"/>
          <p:cNvSpPr txBox="1"/>
          <p:nvPr/>
        </p:nvSpPr>
        <p:spPr>
          <a:xfrm>
            <a:off x="10317480" y="317500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6 dias</a:t>
            </a:r>
          </a:p>
        </p:txBody>
      </p:sp>
      <p:sp>
        <p:nvSpPr>
          <p:cNvPr id="100153" name="TextBox 42"/>
          <p:cNvSpPr txBox="1"/>
          <p:nvPr/>
        </p:nvSpPr>
        <p:spPr>
          <a:xfrm>
            <a:off x="6507480" y="337820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Oficina de Slime</a:t>
            </a:r>
          </a:p>
        </p:txBody>
      </p:sp>
      <p:sp>
        <p:nvSpPr>
          <p:cNvPr id="100154" name="TextBox 43"/>
          <p:cNvSpPr txBox="1"/>
          <p:nvPr/>
        </p:nvSpPr>
        <p:spPr>
          <a:xfrm>
            <a:off x="10317480" y="337820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4 dias</a:t>
            </a:r>
          </a:p>
        </p:txBody>
      </p:sp>
      <p:sp>
        <p:nvSpPr>
          <p:cNvPr id="100155" name="TextBox 44"/>
          <p:cNvSpPr txBox="1"/>
          <p:nvPr/>
        </p:nvSpPr>
        <p:spPr>
          <a:xfrm>
            <a:off x="6507480" y="358140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Concorra a um iPhone</a:t>
            </a:r>
          </a:p>
        </p:txBody>
      </p:sp>
      <p:sp>
        <p:nvSpPr>
          <p:cNvPr id="100156" name="TextBox 45"/>
          <p:cNvSpPr txBox="1"/>
          <p:nvPr/>
        </p:nvSpPr>
        <p:spPr>
          <a:xfrm>
            <a:off x="10317480" y="358140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24 dias</a:t>
            </a:r>
          </a:p>
        </p:txBody>
      </p:sp>
      <p:sp>
        <p:nvSpPr>
          <p:cNvPr id="100157" name="TextBox 46"/>
          <p:cNvSpPr txBox="1"/>
          <p:nvPr/>
        </p:nvSpPr>
        <p:spPr>
          <a:xfrm>
            <a:off x="6507480" y="378460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Artesanato Kids e Oficina Peteca</a:t>
            </a:r>
          </a:p>
        </p:txBody>
      </p:sp>
      <p:sp>
        <p:nvSpPr>
          <p:cNvPr id="100158" name="TextBox 47"/>
          <p:cNvSpPr txBox="1"/>
          <p:nvPr/>
        </p:nvSpPr>
        <p:spPr>
          <a:xfrm>
            <a:off x="10317480" y="378460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5 dias</a:t>
            </a:r>
          </a:p>
        </p:txBody>
      </p:sp>
      <p:sp>
        <p:nvSpPr>
          <p:cNvPr id="100159" name="TextBox 48"/>
          <p:cNvSpPr txBox="1"/>
          <p:nvPr/>
        </p:nvSpPr>
        <p:spPr>
          <a:xfrm>
            <a:off x="6507480" y="398780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Operação Férias · calendário</a:t>
            </a:r>
          </a:p>
        </p:txBody>
      </p:sp>
      <p:sp>
        <p:nvSpPr>
          <p:cNvPr id="100160" name="TextBox 49"/>
          <p:cNvSpPr txBox="1"/>
          <p:nvPr/>
        </p:nvSpPr>
        <p:spPr>
          <a:xfrm>
            <a:off x="10317480" y="398780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18 dias</a:t>
            </a:r>
          </a:p>
        </p:txBody>
      </p:sp>
      <p:sp>
        <p:nvSpPr>
          <p:cNvPr id="100161" name="TextBox 50"/>
          <p:cNvSpPr txBox="1"/>
          <p:nvPr/>
        </p:nvSpPr>
        <p:spPr>
          <a:xfrm>
            <a:off x="6507480" y="419100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Feira de Artesanato Fazendo Arte</a:t>
            </a:r>
          </a:p>
        </p:txBody>
      </p:sp>
      <p:sp>
        <p:nvSpPr>
          <p:cNvPr id="100162" name="TextBox 51"/>
          <p:cNvSpPr txBox="1"/>
          <p:nvPr/>
        </p:nvSpPr>
        <p:spPr>
          <a:xfrm>
            <a:off x="10317480" y="419100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3 dias</a:t>
            </a:r>
          </a:p>
        </p:txBody>
      </p:sp>
      <p:sp>
        <p:nvSpPr>
          <p:cNvPr id="100163" name="TextBox 52"/>
          <p:cNvSpPr txBox="1"/>
          <p:nvPr/>
        </p:nvSpPr>
        <p:spPr>
          <a:xfrm>
            <a:off x="6507480" y="439420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Oficina Sapinho</a:t>
            </a:r>
          </a:p>
        </p:txBody>
      </p:sp>
      <p:sp>
        <p:nvSpPr>
          <p:cNvPr id="100164" name="TextBox 53"/>
          <p:cNvSpPr txBox="1"/>
          <p:nvPr/>
        </p:nvSpPr>
        <p:spPr>
          <a:xfrm>
            <a:off x="10317480" y="439420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2 dias</a:t>
            </a:r>
          </a:p>
        </p:txBody>
      </p:sp>
      <p:sp>
        <p:nvSpPr>
          <p:cNvPr id="100165" name="TextBox 54"/>
          <p:cNvSpPr txBox="1"/>
          <p:nvPr/>
        </p:nvSpPr>
        <p:spPr>
          <a:xfrm>
            <a:off x="6507480" y="459740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Operação Férias · ofertas</a:t>
            </a:r>
          </a:p>
        </p:txBody>
      </p:sp>
      <p:sp>
        <p:nvSpPr>
          <p:cNvPr id="100166" name="TextBox 55"/>
          <p:cNvSpPr txBox="1"/>
          <p:nvPr/>
        </p:nvSpPr>
        <p:spPr>
          <a:xfrm>
            <a:off x="10317480" y="459740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7 dias</a:t>
            </a:r>
          </a:p>
        </p:txBody>
      </p:sp>
      <p:sp>
        <p:nvSpPr>
          <p:cNvPr id="100167" name="TextBox 56"/>
          <p:cNvSpPr txBox="1"/>
          <p:nvPr/>
        </p:nvSpPr>
        <p:spPr>
          <a:xfrm>
            <a:off x="6507480" y="480060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1A1A1A"/>
                </a:solidFill>
                <a:latin typeface="Poppins"/>
                <a:ea typeface="Poppins"/>
              </a:rPr>
              <a:t>Teaser Minions</a:t>
            </a:r>
          </a:p>
        </p:txBody>
      </p:sp>
      <p:sp>
        <p:nvSpPr>
          <p:cNvPr id="100168" name="TextBox 57"/>
          <p:cNvSpPr txBox="1"/>
          <p:nvPr/>
        </p:nvSpPr>
        <p:spPr>
          <a:xfrm>
            <a:off x="10317480" y="480060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50" b="1">
                <a:solidFill>
                  <a:srgbClr val="4A5568"/>
                </a:solidFill>
                <a:latin typeface="Poppins"/>
                <a:ea typeface="Poppins"/>
              </a:rPr>
              <a:t>4 dias</a:t>
            </a:r>
          </a:p>
        </p:txBody>
      </p:sp>
      <p:sp>
        <p:nvSpPr>
          <p:cNvPr id="100169" name="TextBox 58"/>
          <p:cNvSpPr/>
          <p:nvPr/>
        </p:nvSpPr>
        <p:spPr>
          <a:xfrm>
            <a:off x="640080" y="5232400"/>
            <a:ext cx="3467100" cy="1270000"/>
          </a:xfrm>
          <a:prstGeom prst="roundRect">
            <a:avLst>
              <a:gd name="adj" fmla="val 4000"/>
            </a:avLst>
          </a:prstGeom>
          <a:solidFill>
            <a:srgbClr val="093652"/>
          </a:solidFill>
        </p:spPr>
        <p:txBody>
          <a:bodyPr/>
          <a:lstStyle/>
          <a:p>
            <a:endParaRPr/>
          </a:p>
        </p:txBody>
      </p:sp>
      <p:sp>
        <p:nvSpPr>
          <p:cNvPr id="100170" name="TextBox 59"/>
          <p:cNvSpPr txBox="1"/>
          <p:nvPr/>
        </p:nvSpPr>
        <p:spPr>
          <a:xfrm>
            <a:off x="868680" y="5359400"/>
            <a:ext cx="3048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00" b="1" spc="100">
                <a:solidFill>
                  <a:srgbClr val="1DAFE0"/>
                </a:solidFill>
                <a:latin typeface="Poppins"/>
                <a:ea typeface="Poppins"/>
              </a:rPr>
              <a:t>A RÉGUA DE R$ 6/DIA ESTÁ VALENDO</a:t>
            </a:r>
          </a:p>
        </p:txBody>
      </p:sp>
      <p:sp>
        <p:nvSpPr>
          <p:cNvPr id="100171" name="TextBox 60"/>
          <p:cNvSpPr txBox="1"/>
          <p:nvPr/>
        </p:nvSpPr>
        <p:spPr>
          <a:xfrm>
            <a:off x="868680" y="5588000"/>
            <a:ext cx="3048000" cy="863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just">
              <a:lnSpc>
                <a:spcPct val="128000"/>
              </a:lnSpc>
            </a:pP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Ela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passou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a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valer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em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06/07 e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vem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sendo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seguida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: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todas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as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lojas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que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entraram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depois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do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alinhamento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estão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em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R$ 6/dia. As que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aparecem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acima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começaram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antes e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seguem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com a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diária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anterior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até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encerrar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o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período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.</a:t>
            </a:r>
          </a:p>
        </p:txBody>
      </p:sp>
      <p:sp>
        <p:nvSpPr>
          <p:cNvPr id="100172" name="TextBox 61"/>
          <p:cNvSpPr/>
          <p:nvPr/>
        </p:nvSpPr>
        <p:spPr>
          <a:xfrm>
            <a:off x="4362450" y="5232400"/>
            <a:ext cx="3467100" cy="1270000"/>
          </a:xfrm>
          <a:prstGeom prst="roundRect">
            <a:avLst>
              <a:gd name="adj" fmla="val 4000"/>
            </a:avLst>
          </a:prstGeom>
          <a:solidFill>
            <a:srgbClr val="093652"/>
          </a:solidFill>
        </p:spPr>
        <p:txBody>
          <a:bodyPr/>
          <a:lstStyle/>
          <a:p>
            <a:endParaRPr/>
          </a:p>
        </p:txBody>
      </p:sp>
      <p:sp>
        <p:nvSpPr>
          <p:cNvPr id="100173" name="TextBox 62"/>
          <p:cNvSpPr txBox="1"/>
          <p:nvPr/>
        </p:nvSpPr>
        <p:spPr>
          <a:xfrm>
            <a:off x="4591050" y="5359400"/>
            <a:ext cx="3048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00" b="1" spc="100">
                <a:solidFill>
                  <a:srgbClr val="1DAFE0"/>
                </a:solidFill>
                <a:latin typeface="Poppins"/>
                <a:ea typeface="Poppins"/>
              </a:rPr>
              <a:t>O VALOR DO MÊS FECHOU PERTO DO PLANO</a:t>
            </a:r>
          </a:p>
        </p:txBody>
      </p:sp>
      <p:sp>
        <p:nvSpPr>
          <p:cNvPr id="100174" name="TextBox 63"/>
          <p:cNvSpPr txBox="1"/>
          <p:nvPr/>
        </p:nvSpPr>
        <p:spPr>
          <a:xfrm>
            <a:off x="4591050" y="5588000"/>
            <a:ext cx="3048000" cy="863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just">
              <a:lnSpc>
                <a:spcPct val="128000"/>
              </a:lnSpc>
            </a:pP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Julho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fecha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em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R$ 2.348 contra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os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R$ 2.200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previstos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. A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diferença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está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na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quantidade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: 18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peças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no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lugar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de 10, e é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isso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que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reduz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a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verba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disponível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para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cada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uma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.</a:t>
            </a:r>
          </a:p>
        </p:txBody>
      </p:sp>
      <p:sp>
        <p:nvSpPr>
          <p:cNvPr id="100175" name="TextBox 64"/>
          <p:cNvSpPr/>
          <p:nvPr/>
        </p:nvSpPr>
        <p:spPr>
          <a:xfrm>
            <a:off x="8084820" y="5232400"/>
            <a:ext cx="3467100" cy="1270000"/>
          </a:xfrm>
          <a:prstGeom prst="roundRect">
            <a:avLst>
              <a:gd name="adj" fmla="val 4000"/>
            </a:avLst>
          </a:prstGeom>
          <a:solidFill>
            <a:srgbClr val="093652"/>
          </a:solidFill>
        </p:spPr>
        <p:txBody>
          <a:bodyPr/>
          <a:lstStyle/>
          <a:p>
            <a:endParaRPr/>
          </a:p>
        </p:txBody>
      </p:sp>
      <p:sp>
        <p:nvSpPr>
          <p:cNvPr id="100176" name="TextBox 65"/>
          <p:cNvSpPr txBox="1"/>
          <p:nvPr/>
        </p:nvSpPr>
        <p:spPr>
          <a:xfrm>
            <a:off x="8313420" y="5359400"/>
            <a:ext cx="3048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00" b="1" spc="100">
                <a:solidFill>
                  <a:srgbClr val="1DAFE0"/>
                </a:solidFill>
                <a:latin typeface="Poppins"/>
                <a:ea typeface="Poppins"/>
              </a:rPr>
              <a:t>TEMPO NO AR É O AJUSTE MAIS FÁCIL</a:t>
            </a:r>
          </a:p>
        </p:txBody>
      </p:sp>
      <p:sp>
        <p:nvSpPr>
          <p:cNvPr id="100177" name="TextBox 66"/>
          <p:cNvSpPr txBox="1"/>
          <p:nvPr/>
        </p:nvSpPr>
        <p:spPr>
          <a:xfrm>
            <a:off x="8313420" y="5588000"/>
            <a:ext cx="3048000" cy="863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just">
              <a:lnSpc>
                <a:spcPct val="128000"/>
              </a:lnSpc>
            </a:pP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Quatro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oficinas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e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feiras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somam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R$ 644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em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campanhas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de 2 a 6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dias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.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Nesse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prazo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sobra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pouco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tempo de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otimização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: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menos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peças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com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mais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dias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tende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a render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mais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pelo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850" dirty="0" err="1">
                <a:solidFill>
                  <a:srgbClr val="FFFFFF"/>
                </a:solidFill>
                <a:latin typeface="Poppins"/>
                <a:ea typeface="Poppins"/>
              </a:rPr>
              <a:t>mesmo</a:t>
            </a:r>
            <a:r>
              <a:rPr lang="en-US" sz="850" dirty="0">
                <a:solidFill>
                  <a:srgbClr val="FFFFFF"/>
                </a:solidFill>
                <a:latin typeface="Poppins"/>
                <a:ea typeface="Poppins"/>
              </a:rPr>
              <a:t> valor.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78" name="TextBox 1"/>
          <p:cNvSpPr txBox="1"/>
          <p:nvPr/>
        </p:nvSpPr>
        <p:spPr>
          <a:xfrm>
            <a:off x="640080" y="431800"/>
            <a:ext cx="1091184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PLANO DE AGOSTO · B2C</a:t>
            </a:r>
          </a:p>
        </p:txBody>
      </p:sp>
      <p:sp>
        <p:nvSpPr>
          <p:cNvPr id="100179" name="TextBox 2"/>
          <p:cNvSpPr txBox="1"/>
          <p:nvPr/>
        </p:nvSpPr>
        <p:spPr>
          <a:xfrm>
            <a:off x="640080" y="812800"/>
            <a:ext cx="1091184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Agosto otimiza o que já roda e mede o que vem depois</a:t>
            </a:r>
          </a:p>
        </p:txBody>
      </p:sp>
      <p:sp>
        <p:nvSpPr>
          <p:cNvPr id="100180" name="TextBox 3"/>
          <p:cNvSpPr txBox="1"/>
          <p:nvPr/>
        </p:nvSpPr>
        <p:spPr>
          <a:xfrm>
            <a:off x="640080" y="1397000"/>
            <a:ext cx="1091184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Sem estrutura nova neste mês. O foco é ajustar o que roda e coletar o dado que ainda falta.</a:t>
            </a:r>
          </a:p>
        </p:txBody>
      </p:sp>
      <p:sp>
        <p:nvSpPr>
          <p:cNvPr id="100181" name="TextBox 4"/>
          <p:cNvSpPr/>
          <p:nvPr/>
        </p:nvSpPr>
        <p:spPr>
          <a:xfrm>
            <a:off x="640080" y="1854200"/>
            <a:ext cx="5969000" cy="30988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182" name="TextBox 5"/>
          <p:cNvSpPr txBox="1"/>
          <p:nvPr/>
        </p:nvSpPr>
        <p:spPr>
          <a:xfrm>
            <a:off x="970280" y="2032000"/>
            <a:ext cx="533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50" b="1" spc="100">
                <a:solidFill>
                  <a:srgbClr val="E01C4C"/>
                </a:solidFill>
                <a:latin typeface="Poppins"/>
                <a:ea typeface="Poppins"/>
              </a:rPr>
              <a:t>META ADS  ·  R$ 20.000 NO MÊS</a:t>
            </a:r>
          </a:p>
        </p:txBody>
      </p:sp>
      <p:sp>
        <p:nvSpPr>
          <p:cNvPr id="100183" name="TextBox 6"/>
          <p:cNvSpPr txBox="1"/>
          <p:nvPr/>
        </p:nvSpPr>
        <p:spPr>
          <a:xfrm>
            <a:off x="970280" y="2387600"/>
            <a:ext cx="3403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Engajamento no Instagram</a:t>
            </a:r>
          </a:p>
        </p:txBody>
      </p:sp>
      <p:sp>
        <p:nvSpPr>
          <p:cNvPr id="100184" name="TextBox 7"/>
          <p:cNvSpPr txBox="1"/>
          <p:nvPr/>
        </p:nvSpPr>
        <p:spPr>
          <a:xfrm>
            <a:off x="4450080" y="23876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200" b="1">
                <a:solidFill>
                  <a:srgbClr val="093652"/>
                </a:solidFill>
                <a:latin typeface="Poppins"/>
                <a:ea typeface="Poppins"/>
              </a:rPr>
              <a:t>R$ 350 / dia</a:t>
            </a:r>
          </a:p>
        </p:txBody>
      </p:sp>
      <p:sp>
        <p:nvSpPr>
          <p:cNvPr id="100185" name="TextBox 8"/>
          <p:cNvSpPr txBox="1"/>
          <p:nvPr/>
        </p:nvSpPr>
        <p:spPr>
          <a:xfrm>
            <a:off x="970280" y="2603500"/>
            <a:ext cx="5308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concentra a verba onde estão os ~10 criativos em rotação</a:t>
            </a:r>
          </a:p>
        </p:txBody>
      </p:sp>
      <p:sp>
        <p:nvSpPr>
          <p:cNvPr id="100186" name="TextBox 9"/>
          <p:cNvSpPr txBox="1"/>
          <p:nvPr/>
        </p:nvSpPr>
        <p:spPr>
          <a:xfrm>
            <a:off x="970280" y="3022600"/>
            <a:ext cx="3403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Ofertas semanais</a:t>
            </a:r>
          </a:p>
        </p:txBody>
      </p:sp>
      <p:sp>
        <p:nvSpPr>
          <p:cNvPr id="100187" name="TextBox 10"/>
          <p:cNvSpPr txBox="1"/>
          <p:nvPr/>
        </p:nvSpPr>
        <p:spPr>
          <a:xfrm>
            <a:off x="4450080" y="30226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200" b="1">
                <a:solidFill>
                  <a:srgbClr val="093652"/>
                </a:solidFill>
                <a:latin typeface="Poppins"/>
                <a:ea typeface="Poppins"/>
              </a:rPr>
              <a:t>R$ 70 / dia</a:t>
            </a:r>
          </a:p>
        </p:txBody>
      </p:sp>
      <p:sp>
        <p:nvSpPr>
          <p:cNvPr id="100188" name="TextBox 11"/>
          <p:cNvSpPr txBox="1"/>
          <p:nvPr/>
        </p:nvSpPr>
        <p:spPr>
          <a:xfrm>
            <a:off x="970280" y="3238500"/>
            <a:ext cx="5308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n-US" sz="950" dirty="0" err="1" smtClean="0">
                <a:solidFill>
                  <a:srgbClr val="6B7280"/>
                </a:solidFill>
                <a:latin typeface="Poppins"/>
                <a:ea typeface="Poppins"/>
              </a:rPr>
              <a:t>consolidadas</a:t>
            </a:r>
            <a:r>
              <a:rPr lang="en-US" sz="950" dirty="0" smtClean="0">
                <a:solidFill>
                  <a:srgbClr val="6B7280"/>
                </a:solidFill>
                <a:latin typeface="Poppins"/>
                <a:ea typeface="Poppins"/>
              </a:rPr>
              <a:t>: </a:t>
            </a:r>
            <a:r>
              <a:rPr lang="en-US" sz="950" dirty="0" err="1" smtClean="0">
                <a:solidFill>
                  <a:srgbClr val="6B7280"/>
                </a:solidFill>
                <a:latin typeface="Poppins"/>
                <a:ea typeface="Poppins"/>
              </a:rPr>
              <a:t>hoje</a:t>
            </a:r>
            <a:r>
              <a:rPr lang="en-US" sz="950" dirty="0" smtClean="0">
                <a:solidFill>
                  <a:srgbClr val="6B7280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são</a:t>
            </a:r>
            <a:r>
              <a:rPr lang="en-US" sz="950" dirty="0">
                <a:solidFill>
                  <a:srgbClr val="6B7280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dois</a:t>
            </a:r>
            <a:r>
              <a:rPr lang="en-US" sz="950" dirty="0">
                <a:solidFill>
                  <a:srgbClr val="6B7280"/>
                </a:solidFill>
                <a:latin typeface="Poppins"/>
                <a:ea typeface="Poppins"/>
              </a:rPr>
              <a:t> com </a:t>
            </a: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os</a:t>
            </a:r>
            <a:r>
              <a:rPr lang="en-US" sz="950" dirty="0">
                <a:solidFill>
                  <a:srgbClr val="6B7280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mesmos</a:t>
            </a:r>
            <a:r>
              <a:rPr lang="en-US" sz="950" dirty="0">
                <a:solidFill>
                  <a:srgbClr val="6B7280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criativos</a:t>
            </a:r>
            <a:r>
              <a:rPr lang="en-US" sz="950" dirty="0">
                <a:solidFill>
                  <a:srgbClr val="6B7280"/>
                </a:solidFill>
                <a:latin typeface="Poppins"/>
                <a:ea typeface="Poppins"/>
              </a:rPr>
              <a:t>, </a:t>
            </a: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disputando</a:t>
            </a:r>
            <a:r>
              <a:rPr lang="en-US" sz="950" dirty="0">
                <a:solidFill>
                  <a:srgbClr val="6B7280"/>
                </a:solidFill>
                <a:latin typeface="Poppins"/>
                <a:ea typeface="Poppins"/>
              </a:rPr>
              <a:t> o </a:t>
            </a: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mesmo</a:t>
            </a:r>
            <a:r>
              <a:rPr lang="en-US" sz="950" dirty="0">
                <a:solidFill>
                  <a:srgbClr val="6B7280"/>
                </a:solidFill>
                <a:latin typeface="Poppins"/>
                <a:ea typeface="Poppins"/>
              </a:rPr>
              <a:t> </a:t>
            </a:r>
            <a:r>
              <a:rPr lang="en-US" sz="950" dirty="0" err="1" smtClean="0">
                <a:solidFill>
                  <a:srgbClr val="6B7280"/>
                </a:solidFill>
                <a:latin typeface="Poppins"/>
                <a:ea typeface="Poppins"/>
              </a:rPr>
              <a:t>leilão</a:t>
            </a:r>
            <a:endParaRPr lang="en-US" sz="950" dirty="0">
              <a:solidFill>
                <a:srgbClr val="6B7280"/>
              </a:solidFill>
              <a:latin typeface="Poppins"/>
              <a:ea typeface="Poppins"/>
            </a:endParaRPr>
          </a:p>
        </p:txBody>
      </p:sp>
      <p:sp>
        <p:nvSpPr>
          <p:cNvPr id="100189" name="TextBox 12"/>
          <p:cNvSpPr txBox="1"/>
          <p:nvPr/>
        </p:nvSpPr>
        <p:spPr>
          <a:xfrm>
            <a:off x="970280" y="3657600"/>
            <a:ext cx="3403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dirty="0" err="1">
                <a:solidFill>
                  <a:srgbClr val="1A1A1A"/>
                </a:solidFill>
                <a:latin typeface="Poppins"/>
                <a:ea typeface="Poppins"/>
              </a:rPr>
              <a:t>Reconhecimento</a:t>
            </a:r>
            <a:r>
              <a:rPr lang="en-US" sz="1200" b="1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200" b="1" dirty="0" err="1">
                <a:solidFill>
                  <a:srgbClr val="1A1A1A"/>
                </a:solidFill>
                <a:latin typeface="Poppins"/>
                <a:ea typeface="Poppins"/>
              </a:rPr>
              <a:t>institucional</a:t>
            </a:r>
            <a:endParaRPr lang="en-US" sz="1200" b="1" dirty="0">
              <a:solidFill>
                <a:srgbClr val="1A1A1A"/>
              </a:solidFill>
              <a:latin typeface="Poppins"/>
              <a:ea typeface="Poppins"/>
            </a:endParaRPr>
          </a:p>
        </p:txBody>
      </p:sp>
      <p:sp>
        <p:nvSpPr>
          <p:cNvPr id="100190" name="TextBox 13"/>
          <p:cNvSpPr txBox="1"/>
          <p:nvPr/>
        </p:nvSpPr>
        <p:spPr>
          <a:xfrm>
            <a:off x="4450080" y="36576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200" b="1">
                <a:solidFill>
                  <a:srgbClr val="093652"/>
                </a:solidFill>
                <a:latin typeface="Poppins"/>
                <a:ea typeface="Poppins"/>
              </a:rPr>
              <a:t>R$ 150 / dia</a:t>
            </a:r>
          </a:p>
        </p:txBody>
      </p:sp>
      <p:sp>
        <p:nvSpPr>
          <p:cNvPr id="100191" name="TextBox 14"/>
          <p:cNvSpPr txBox="1"/>
          <p:nvPr/>
        </p:nvSpPr>
        <p:spPr>
          <a:xfrm>
            <a:off x="970280" y="3873500"/>
            <a:ext cx="5308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recebe</a:t>
            </a:r>
            <a:r>
              <a:rPr lang="en-US" sz="950" dirty="0">
                <a:solidFill>
                  <a:srgbClr val="6B7280"/>
                </a:solidFill>
                <a:latin typeface="Poppins"/>
                <a:ea typeface="Poppins"/>
              </a:rPr>
              <a:t> o que a </a:t>
            </a: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consolidação</a:t>
            </a:r>
            <a:r>
              <a:rPr lang="en-US" sz="950" dirty="0">
                <a:solidFill>
                  <a:srgbClr val="6B7280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liberou</a:t>
            </a:r>
            <a:r>
              <a:rPr lang="en-US" sz="950" dirty="0">
                <a:solidFill>
                  <a:srgbClr val="6B7280"/>
                </a:solidFill>
                <a:latin typeface="Poppins"/>
                <a:ea typeface="Poppins"/>
              </a:rPr>
              <a:t>, e é a </a:t>
            </a: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linha</a:t>
            </a:r>
            <a:r>
              <a:rPr lang="en-US" sz="950" dirty="0">
                <a:solidFill>
                  <a:srgbClr val="6B7280"/>
                </a:solidFill>
                <a:latin typeface="Poppins"/>
                <a:ea typeface="Poppins"/>
              </a:rPr>
              <a:t> que </a:t>
            </a: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entrega</a:t>
            </a:r>
            <a:r>
              <a:rPr lang="en-US" sz="950" dirty="0">
                <a:solidFill>
                  <a:srgbClr val="6B7280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alcance</a:t>
            </a:r>
            <a:r>
              <a:rPr lang="en-US" sz="950" dirty="0">
                <a:solidFill>
                  <a:srgbClr val="6B7280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mais</a:t>
            </a:r>
            <a:r>
              <a:rPr lang="en-US" sz="950" dirty="0">
                <a:solidFill>
                  <a:srgbClr val="6B7280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barato</a:t>
            </a:r>
            <a:endParaRPr lang="en-US" sz="950" dirty="0">
              <a:solidFill>
                <a:srgbClr val="6B7280"/>
              </a:solidFill>
              <a:latin typeface="Poppins"/>
              <a:ea typeface="Poppins"/>
            </a:endParaRPr>
          </a:p>
        </p:txBody>
      </p:sp>
      <p:sp>
        <p:nvSpPr>
          <p:cNvPr id="100192" name="TextBox 15"/>
          <p:cNvSpPr txBox="1"/>
          <p:nvPr/>
        </p:nvSpPr>
        <p:spPr>
          <a:xfrm>
            <a:off x="970280" y="4292600"/>
            <a:ext cx="3403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Turbinar posts</a:t>
            </a:r>
          </a:p>
        </p:txBody>
      </p:sp>
      <p:sp>
        <p:nvSpPr>
          <p:cNvPr id="100193" name="TextBox 16"/>
          <p:cNvSpPr txBox="1"/>
          <p:nvPr/>
        </p:nvSpPr>
        <p:spPr>
          <a:xfrm>
            <a:off x="4450080" y="42926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200" b="1">
                <a:solidFill>
                  <a:srgbClr val="093652"/>
                </a:solidFill>
                <a:latin typeface="Poppins"/>
                <a:ea typeface="Poppins"/>
              </a:rPr>
              <a:t>R$ 2.200</a:t>
            </a:r>
          </a:p>
        </p:txBody>
      </p:sp>
      <p:sp>
        <p:nvSpPr>
          <p:cNvPr id="100194" name="TextBox 17"/>
          <p:cNvSpPr txBox="1"/>
          <p:nvPr/>
        </p:nvSpPr>
        <p:spPr>
          <a:xfrm>
            <a:off x="970280" y="4508500"/>
            <a:ext cx="5308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conforme</a:t>
            </a:r>
            <a:r>
              <a:rPr lang="en-US" sz="950" dirty="0">
                <a:solidFill>
                  <a:srgbClr val="6B7280"/>
                </a:solidFill>
                <a:latin typeface="Poppins"/>
                <a:ea typeface="Poppins"/>
              </a:rPr>
              <a:t> o </a:t>
            </a: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plano</a:t>
            </a:r>
            <a:r>
              <a:rPr lang="en-US" sz="950" dirty="0">
                <a:solidFill>
                  <a:srgbClr val="6B7280"/>
                </a:solidFill>
                <a:latin typeface="Poppins"/>
                <a:ea typeface="Poppins"/>
              </a:rPr>
              <a:t> da </a:t>
            </a: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gestão</a:t>
            </a:r>
            <a:r>
              <a:rPr lang="en-US" sz="950" dirty="0">
                <a:solidFill>
                  <a:srgbClr val="6B7280"/>
                </a:solidFill>
                <a:latin typeface="Poppins"/>
                <a:ea typeface="Poppins"/>
              </a:rPr>
              <a:t>, com a </a:t>
            </a: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divisão</a:t>
            </a:r>
            <a:r>
              <a:rPr lang="en-US" sz="950" dirty="0">
                <a:solidFill>
                  <a:srgbClr val="6B7280"/>
                </a:solidFill>
                <a:latin typeface="Poppins"/>
                <a:ea typeface="Poppins"/>
              </a:rPr>
              <a:t> a </a:t>
            </a: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combinar</a:t>
            </a:r>
            <a:endParaRPr lang="en-US" sz="950" dirty="0">
              <a:solidFill>
                <a:srgbClr val="6B7280"/>
              </a:solidFill>
              <a:latin typeface="Poppins"/>
              <a:ea typeface="Poppins"/>
            </a:endParaRPr>
          </a:p>
        </p:txBody>
      </p:sp>
      <p:sp>
        <p:nvSpPr>
          <p:cNvPr id="100195" name="TextBox 18"/>
          <p:cNvSpPr/>
          <p:nvPr/>
        </p:nvSpPr>
        <p:spPr>
          <a:xfrm>
            <a:off x="6888480" y="1854200"/>
            <a:ext cx="4663440" cy="3098800"/>
          </a:xfrm>
          <a:prstGeom prst="roundRect">
            <a:avLst>
              <a:gd name="adj" fmla="val 4000"/>
            </a:avLst>
          </a:prstGeom>
          <a:solidFill>
            <a:srgbClr val="093652"/>
          </a:solidFill>
        </p:spPr>
        <p:txBody>
          <a:bodyPr/>
          <a:lstStyle/>
          <a:p>
            <a:endParaRPr/>
          </a:p>
        </p:txBody>
      </p:sp>
      <p:sp>
        <p:nvSpPr>
          <p:cNvPr id="100196" name="TextBox 19"/>
          <p:cNvSpPr txBox="1"/>
          <p:nvPr/>
        </p:nvSpPr>
        <p:spPr>
          <a:xfrm>
            <a:off x="7218680" y="203200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00" b="1" spc="100">
                <a:solidFill>
                  <a:srgbClr val="1DAFE0"/>
                </a:solidFill>
                <a:latin typeface="Poppins"/>
                <a:ea typeface="Poppins"/>
              </a:rPr>
              <a:t>ONDE QUEREMOS CHEGAR EM AGOSTO</a:t>
            </a:r>
          </a:p>
        </p:txBody>
      </p:sp>
      <p:sp>
        <p:nvSpPr>
          <p:cNvPr id="100197" name="TextBox 20"/>
          <p:cNvSpPr txBox="1"/>
          <p:nvPr/>
        </p:nvSpPr>
        <p:spPr>
          <a:xfrm>
            <a:off x="7218680" y="24638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100" b="1">
                <a:solidFill>
                  <a:srgbClr val="FFFFFF"/>
                </a:solidFill>
                <a:latin typeface="Poppins"/>
                <a:ea typeface="Poppins"/>
              </a:rPr>
              <a:t>1,8 mi</a:t>
            </a:r>
          </a:p>
        </p:txBody>
      </p:sp>
      <p:sp>
        <p:nvSpPr>
          <p:cNvPr id="100198" name="TextBox 21"/>
          <p:cNvSpPr txBox="1"/>
          <p:nvPr/>
        </p:nvSpPr>
        <p:spPr>
          <a:xfrm>
            <a:off x="8768080" y="2438400"/>
            <a:ext cx="25146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</a:pP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de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alcance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no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mês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, contra ~1,59 mi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projetados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em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julho</a:t>
            </a:r>
            <a:endParaRPr lang="en-US" sz="1050" dirty="0">
              <a:solidFill>
                <a:srgbClr val="B9CBD6"/>
              </a:solidFill>
              <a:latin typeface="Poppins"/>
              <a:ea typeface="Poppins"/>
            </a:endParaRPr>
          </a:p>
        </p:txBody>
      </p:sp>
      <p:sp>
        <p:nvSpPr>
          <p:cNvPr id="100199" name="TextBox 22"/>
          <p:cNvSpPr txBox="1"/>
          <p:nvPr/>
        </p:nvSpPr>
        <p:spPr>
          <a:xfrm>
            <a:off x="7218680" y="32766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100" b="1">
                <a:solidFill>
                  <a:srgbClr val="FFFFFF"/>
                </a:solidFill>
                <a:latin typeface="Poppins"/>
                <a:ea typeface="Poppins"/>
              </a:rPr>
              <a:t>R$ 9,50</a:t>
            </a:r>
          </a:p>
        </p:txBody>
      </p:sp>
      <p:sp>
        <p:nvSpPr>
          <p:cNvPr id="100200" name="TextBox 23"/>
          <p:cNvSpPr txBox="1"/>
          <p:nvPr/>
        </p:nvSpPr>
        <p:spPr>
          <a:xfrm>
            <a:off x="8768080" y="3251200"/>
            <a:ext cx="25146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</a:pPr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de teto no custo por mil pessoas alcançadas</a:t>
            </a:r>
          </a:p>
        </p:txBody>
      </p:sp>
      <p:sp>
        <p:nvSpPr>
          <p:cNvPr id="100201" name="TextBox 24"/>
          <p:cNvSpPr txBox="1"/>
          <p:nvPr/>
        </p:nvSpPr>
        <p:spPr>
          <a:xfrm>
            <a:off x="7218680" y="40894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100" b="1">
                <a:solidFill>
                  <a:srgbClr val="FFFFFF"/>
                </a:solidFill>
                <a:latin typeface="Poppins"/>
                <a:ea typeface="Poppins"/>
              </a:rPr>
              <a:t>R$ 0</a:t>
            </a:r>
          </a:p>
        </p:txBody>
      </p:sp>
      <p:sp>
        <p:nvSpPr>
          <p:cNvPr id="100202" name="TextBox 25"/>
          <p:cNvSpPr txBox="1"/>
          <p:nvPr/>
        </p:nvSpPr>
        <p:spPr>
          <a:xfrm>
            <a:off x="8768080" y="4064000"/>
            <a:ext cx="25146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</a:pPr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no Google B2C, com a verba guardada como reserva de teste</a:t>
            </a:r>
          </a:p>
        </p:txBody>
      </p:sp>
      <p:sp>
        <p:nvSpPr>
          <p:cNvPr id="100203" name="TextBox 26"/>
          <p:cNvSpPr/>
          <p:nvPr/>
        </p:nvSpPr>
        <p:spPr>
          <a:xfrm>
            <a:off x="640080" y="5003800"/>
            <a:ext cx="5969000" cy="1498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204" name="TextBox 27"/>
          <p:cNvSpPr txBox="1"/>
          <p:nvPr/>
        </p:nvSpPr>
        <p:spPr>
          <a:xfrm>
            <a:off x="970280" y="515620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00" b="1" spc="100">
                <a:solidFill>
                  <a:srgbClr val="E01C4C"/>
                </a:solidFill>
                <a:latin typeface="Poppins"/>
                <a:ea typeface="Poppins"/>
              </a:rPr>
              <a:t>AGOSTO: OTIMIZAR E MEDIR</a:t>
            </a:r>
          </a:p>
        </p:txBody>
      </p:sp>
      <p:sp>
        <p:nvSpPr>
          <p:cNvPr id="100205" name="TextBox 28"/>
          <p:cNvSpPr txBox="1"/>
          <p:nvPr/>
        </p:nvSpPr>
        <p:spPr>
          <a:xfrm>
            <a:off x="970280" y="5435600"/>
            <a:ext cx="53340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just">
              <a:lnSpc>
                <a:spcPct val="130000"/>
              </a:lnSpc>
            </a:pP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O </a:t>
            </a:r>
            <a:r>
              <a:rPr lang="en-US" sz="1050" dirty="0" err="1">
                <a:solidFill>
                  <a:srgbClr val="4A5568"/>
                </a:solidFill>
                <a:latin typeface="Poppins"/>
                <a:ea typeface="Poppins"/>
              </a:rPr>
              <a:t>mês</a:t>
            </a: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4A5568"/>
                </a:solidFill>
                <a:latin typeface="Poppins"/>
                <a:ea typeface="Poppins"/>
              </a:rPr>
              <a:t>não</a:t>
            </a: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4A5568"/>
                </a:solidFill>
                <a:latin typeface="Poppins"/>
                <a:ea typeface="Poppins"/>
              </a:rPr>
              <a:t>cria</a:t>
            </a: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4A5568"/>
                </a:solidFill>
                <a:latin typeface="Poppins"/>
                <a:ea typeface="Poppins"/>
              </a:rPr>
              <a:t>estrutura</a:t>
            </a: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 nova. </a:t>
            </a:r>
            <a:r>
              <a:rPr lang="en-US" sz="1050" dirty="0" err="1">
                <a:solidFill>
                  <a:srgbClr val="4A5568"/>
                </a:solidFill>
                <a:latin typeface="Poppins"/>
                <a:ea typeface="Poppins"/>
              </a:rPr>
              <a:t>Ajusta</a:t>
            </a: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 o que </a:t>
            </a:r>
            <a:r>
              <a:rPr lang="en-US" sz="1050" dirty="0" err="1">
                <a:solidFill>
                  <a:srgbClr val="4A5568"/>
                </a:solidFill>
                <a:latin typeface="Poppins"/>
                <a:ea typeface="Poppins"/>
              </a:rPr>
              <a:t>já</a:t>
            </a: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4A5568"/>
                </a:solidFill>
                <a:latin typeface="Poppins"/>
                <a:ea typeface="Poppins"/>
              </a:rPr>
              <a:t>roda</a:t>
            </a: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 e </a:t>
            </a:r>
            <a:r>
              <a:rPr lang="en-US" sz="1050" dirty="0" err="1">
                <a:solidFill>
                  <a:srgbClr val="4A5568"/>
                </a:solidFill>
                <a:latin typeface="Poppins"/>
                <a:ea typeface="Poppins"/>
              </a:rPr>
              <a:t>coleta</a:t>
            </a: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 o dado que </a:t>
            </a:r>
            <a:r>
              <a:rPr lang="en-US" sz="1050" dirty="0" err="1">
                <a:solidFill>
                  <a:srgbClr val="4A5568"/>
                </a:solidFill>
                <a:latin typeface="Poppins"/>
                <a:ea typeface="Poppins"/>
              </a:rPr>
              <a:t>falta</a:t>
            </a: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. Com </a:t>
            </a:r>
            <a:r>
              <a:rPr lang="en-US" sz="1050" dirty="0" err="1">
                <a:solidFill>
                  <a:srgbClr val="4A5568"/>
                </a:solidFill>
                <a:latin typeface="Poppins"/>
                <a:ea typeface="Poppins"/>
              </a:rPr>
              <a:t>esse</a:t>
            </a: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 dado </a:t>
            </a:r>
            <a:r>
              <a:rPr lang="en-US" sz="1050" dirty="0" err="1">
                <a:solidFill>
                  <a:srgbClr val="4A5568"/>
                </a:solidFill>
                <a:latin typeface="Poppins"/>
                <a:ea typeface="Poppins"/>
              </a:rPr>
              <a:t>em</a:t>
            </a: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4A5568"/>
                </a:solidFill>
                <a:latin typeface="Poppins"/>
                <a:ea typeface="Poppins"/>
              </a:rPr>
              <a:t>mãos</a:t>
            </a: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, </a:t>
            </a:r>
            <a:r>
              <a:rPr lang="en-US" sz="1050" dirty="0" err="1">
                <a:solidFill>
                  <a:srgbClr val="4A5568"/>
                </a:solidFill>
                <a:latin typeface="Poppins"/>
                <a:ea typeface="Poppins"/>
              </a:rPr>
              <a:t>os</a:t>
            </a: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4A5568"/>
                </a:solidFill>
                <a:latin typeface="Poppins"/>
                <a:ea typeface="Poppins"/>
              </a:rPr>
              <a:t>próximos</a:t>
            </a: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4A5568"/>
                </a:solidFill>
                <a:latin typeface="Poppins"/>
                <a:ea typeface="Poppins"/>
              </a:rPr>
              <a:t>meses</a:t>
            </a: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4A5568"/>
                </a:solidFill>
                <a:latin typeface="Poppins"/>
                <a:ea typeface="Poppins"/>
              </a:rPr>
              <a:t>transicionam</a:t>
            </a: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 para um </a:t>
            </a:r>
            <a:r>
              <a:rPr lang="en-US" sz="1050" dirty="0" err="1">
                <a:solidFill>
                  <a:srgbClr val="4A5568"/>
                </a:solidFill>
                <a:latin typeface="Poppins"/>
                <a:ea typeface="Poppins"/>
              </a:rPr>
              <a:t>funil</a:t>
            </a: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4A5568"/>
                </a:solidFill>
                <a:latin typeface="Poppins"/>
                <a:ea typeface="Poppins"/>
              </a:rPr>
              <a:t>mais</a:t>
            </a: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4A5568"/>
                </a:solidFill>
                <a:latin typeface="Poppins"/>
                <a:ea typeface="Poppins"/>
              </a:rPr>
              <a:t>sólido</a:t>
            </a: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, com </a:t>
            </a:r>
            <a:r>
              <a:rPr lang="en-US" sz="1050" dirty="0" err="1">
                <a:solidFill>
                  <a:srgbClr val="4A5568"/>
                </a:solidFill>
                <a:latin typeface="Poppins"/>
                <a:ea typeface="Poppins"/>
              </a:rPr>
              <a:t>etapas</a:t>
            </a: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4A5568"/>
                </a:solidFill>
                <a:latin typeface="Poppins"/>
                <a:ea typeface="Poppins"/>
              </a:rPr>
              <a:t>medidas</a:t>
            </a: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 e </a:t>
            </a:r>
            <a:r>
              <a:rPr lang="en-US" sz="1050" dirty="0" err="1">
                <a:solidFill>
                  <a:srgbClr val="4A5568"/>
                </a:solidFill>
                <a:latin typeface="Poppins"/>
                <a:ea typeface="Poppins"/>
              </a:rPr>
              <a:t>não</a:t>
            </a: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4A5568"/>
                </a:solidFill>
                <a:latin typeface="Poppins"/>
                <a:ea typeface="Poppins"/>
              </a:rPr>
              <a:t>apenas</a:t>
            </a: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4A5568"/>
                </a:solidFill>
                <a:latin typeface="Poppins"/>
                <a:ea typeface="Poppins"/>
              </a:rPr>
              <a:t>alcance</a:t>
            </a:r>
            <a:r>
              <a:rPr lang="en-US" sz="1050" dirty="0">
                <a:solidFill>
                  <a:srgbClr val="4A5568"/>
                </a:solidFill>
                <a:latin typeface="Poppins"/>
                <a:ea typeface="Poppins"/>
              </a:rPr>
              <a:t>.</a:t>
            </a:r>
          </a:p>
        </p:txBody>
      </p:sp>
      <p:sp>
        <p:nvSpPr>
          <p:cNvPr id="100206" name="TextBox 29"/>
          <p:cNvSpPr/>
          <p:nvPr/>
        </p:nvSpPr>
        <p:spPr>
          <a:xfrm>
            <a:off x="6888480" y="5003800"/>
            <a:ext cx="4663440" cy="1498600"/>
          </a:xfrm>
          <a:prstGeom prst="roundRect">
            <a:avLst>
              <a:gd name="adj" fmla="val 4000"/>
            </a:avLst>
          </a:prstGeom>
          <a:solidFill>
            <a:srgbClr val="093652"/>
          </a:solidFill>
        </p:spPr>
        <p:txBody>
          <a:bodyPr/>
          <a:lstStyle/>
          <a:p>
            <a:endParaRPr/>
          </a:p>
        </p:txBody>
      </p:sp>
      <p:sp>
        <p:nvSpPr>
          <p:cNvPr id="100207" name="TextBox 30"/>
          <p:cNvSpPr txBox="1"/>
          <p:nvPr/>
        </p:nvSpPr>
        <p:spPr>
          <a:xfrm>
            <a:off x="7218680" y="5156200"/>
            <a:ext cx="4064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00" b="1" spc="100">
                <a:solidFill>
                  <a:srgbClr val="1DAFE0"/>
                </a:solidFill>
                <a:latin typeface="Poppins"/>
                <a:ea typeface="Poppins"/>
              </a:rPr>
              <a:t>O QUE AGOSTO NOS DEIXA</a:t>
            </a:r>
          </a:p>
        </p:txBody>
      </p:sp>
      <p:sp>
        <p:nvSpPr>
          <p:cNvPr id="100208" name="TextBox 31"/>
          <p:cNvSpPr txBox="1"/>
          <p:nvPr/>
        </p:nvSpPr>
        <p:spPr>
          <a:xfrm>
            <a:off x="7218680" y="5435600"/>
            <a:ext cx="40640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just">
              <a:lnSpc>
                <a:spcPct val="125000"/>
              </a:lnSpc>
            </a:pPr>
            <a:r>
              <a:rPr lang="en-US" sz="1000" dirty="0">
                <a:solidFill>
                  <a:srgbClr val="B9CBD6"/>
                </a:solidFill>
                <a:latin typeface="Poppins"/>
                <a:ea typeface="Poppins"/>
              </a:rPr>
              <a:t>Com a </a:t>
            </a:r>
            <a:r>
              <a:rPr lang="en-US" sz="1000" dirty="0" err="1">
                <a:solidFill>
                  <a:srgbClr val="B9CBD6"/>
                </a:solidFill>
                <a:latin typeface="Poppins"/>
                <a:ea typeface="Poppins"/>
              </a:rPr>
              <a:t>estrutura</a:t>
            </a:r>
            <a:r>
              <a:rPr lang="en-US" sz="100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00" dirty="0" err="1">
                <a:solidFill>
                  <a:srgbClr val="B9CBD6"/>
                </a:solidFill>
                <a:latin typeface="Poppins"/>
                <a:ea typeface="Poppins"/>
              </a:rPr>
              <a:t>estável</a:t>
            </a:r>
            <a:r>
              <a:rPr lang="en-US" sz="1000" dirty="0">
                <a:solidFill>
                  <a:srgbClr val="B9CBD6"/>
                </a:solidFill>
                <a:latin typeface="Poppins"/>
                <a:ea typeface="Poppins"/>
              </a:rPr>
              <a:t> o </a:t>
            </a:r>
            <a:r>
              <a:rPr lang="en-US" sz="1000" dirty="0" err="1">
                <a:solidFill>
                  <a:srgbClr val="B9CBD6"/>
                </a:solidFill>
                <a:latin typeface="Poppins"/>
                <a:ea typeface="Poppins"/>
              </a:rPr>
              <a:t>mês</a:t>
            </a:r>
            <a:r>
              <a:rPr lang="en-US" sz="100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00" dirty="0" err="1">
                <a:solidFill>
                  <a:srgbClr val="B9CBD6"/>
                </a:solidFill>
                <a:latin typeface="Poppins"/>
                <a:ea typeface="Poppins"/>
              </a:rPr>
              <a:t>inteiro</a:t>
            </a:r>
            <a:r>
              <a:rPr lang="en-US" sz="1000" dirty="0">
                <a:solidFill>
                  <a:srgbClr val="B9CBD6"/>
                </a:solidFill>
                <a:latin typeface="Poppins"/>
                <a:ea typeface="Poppins"/>
              </a:rPr>
              <a:t>, </a:t>
            </a:r>
            <a:r>
              <a:rPr lang="en-US" sz="1000" dirty="0" err="1">
                <a:solidFill>
                  <a:srgbClr val="B9CBD6"/>
                </a:solidFill>
                <a:latin typeface="Poppins"/>
                <a:ea typeface="Poppins"/>
              </a:rPr>
              <a:t>agosto</a:t>
            </a:r>
            <a:r>
              <a:rPr lang="en-US" sz="100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00" dirty="0" err="1">
                <a:solidFill>
                  <a:srgbClr val="B9CBD6"/>
                </a:solidFill>
                <a:latin typeface="Poppins"/>
                <a:ea typeface="Poppins"/>
              </a:rPr>
              <a:t>entrega</a:t>
            </a:r>
            <a:r>
              <a:rPr lang="en-US" sz="1000" dirty="0">
                <a:solidFill>
                  <a:srgbClr val="B9CBD6"/>
                </a:solidFill>
                <a:latin typeface="Poppins"/>
                <a:ea typeface="Poppins"/>
              </a:rPr>
              <a:t> a </a:t>
            </a:r>
            <a:r>
              <a:rPr lang="en-US" sz="1000" dirty="0" err="1">
                <a:solidFill>
                  <a:srgbClr val="B9CBD6"/>
                </a:solidFill>
                <a:latin typeface="Poppins"/>
                <a:ea typeface="Poppins"/>
              </a:rPr>
              <a:t>primeira</a:t>
            </a:r>
            <a:r>
              <a:rPr lang="en-US" sz="100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00" dirty="0" err="1">
                <a:solidFill>
                  <a:srgbClr val="B9CBD6"/>
                </a:solidFill>
                <a:latin typeface="Poppins"/>
                <a:ea typeface="Poppins"/>
              </a:rPr>
              <a:t>leitura</a:t>
            </a:r>
            <a:r>
              <a:rPr lang="en-US" sz="100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00" dirty="0" err="1">
                <a:solidFill>
                  <a:srgbClr val="B9CBD6"/>
                </a:solidFill>
                <a:latin typeface="Poppins"/>
                <a:ea typeface="Poppins"/>
              </a:rPr>
              <a:t>limpa</a:t>
            </a:r>
            <a:r>
              <a:rPr lang="en-US" sz="1000" dirty="0">
                <a:solidFill>
                  <a:srgbClr val="B9CBD6"/>
                </a:solidFill>
                <a:latin typeface="Poppins"/>
                <a:ea typeface="Poppins"/>
              </a:rPr>
              <a:t> de </a:t>
            </a:r>
            <a:r>
              <a:rPr lang="en-US" sz="1000" dirty="0" err="1">
                <a:solidFill>
                  <a:srgbClr val="B9CBD6"/>
                </a:solidFill>
                <a:latin typeface="Poppins"/>
                <a:ea typeface="Poppins"/>
              </a:rPr>
              <a:t>alcance</a:t>
            </a:r>
            <a:r>
              <a:rPr lang="en-US" sz="1000" dirty="0">
                <a:solidFill>
                  <a:srgbClr val="B9CBD6"/>
                </a:solidFill>
                <a:latin typeface="Poppins"/>
                <a:ea typeface="Poppins"/>
              </a:rPr>
              <a:t> e de </a:t>
            </a:r>
            <a:r>
              <a:rPr lang="en-US" sz="1000" dirty="0" smtClean="0">
                <a:solidFill>
                  <a:srgbClr val="B9CBD6"/>
                </a:solidFill>
                <a:latin typeface="Poppins"/>
                <a:ea typeface="Poppins"/>
              </a:rPr>
              <a:t>CPM</a:t>
            </a:r>
            <a:r>
              <a:rPr lang="en-US" sz="1000" dirty="0" smtClean="0">
                <a:solidFill>
                  <a:srgbClr val="B9CBD6"/>
                </a:solidFill>
                <a:latin typeface="Poppins"/>
                <a:ea typeface="Poppins"/>
              </a:rPr>
              <a:t>. </a:t>
            </a:r>
            <a:r>
              <a:rPr lang="en-US" sz="1000" dirty="0">
                <a:solidFill>
                  <a:srgbClr val="B9CBD6"/>
                </a:solidFill>
                <a:latin typeface="Poppins"/>
                <a:ea typeface="Poppins"/>
              </a:rPr>
              <a:t>É </a:t>
            </a:r>
            <a:r>
              <a:rPr lang="en-US" sz="1000" dirty="0" err="1">
                <a:solidFill>
                  <a:srgbClr val="B9CBD6"/>
                </a:solidFill>
                <a:latin typeface="Poppins"/>
                <a:ea typeface="Poppins"/>
              </a:rPr>
              <a:t>essa</a:t>
            </a:r>
            <a:r>
              <a:rPr lang="en-US" sz="1000" dirty="0">
                <a:solidFill>
                  <a:srgbClr val="B9CBD6"/>
                </a:solidFill>
                <a:latin typeface="Poppins"/>
                <a:ea typeface="Poppins"/>
              </a:rPr>
              <a:t> base que </a:t>
            </a:r>
            <a:r>
              <a:rPr lang="en-US" sz="1000" dirty="0" err="1">
                <a:solidFill>
                  <a:srgbClr val="B9CBD6"/>
                </a:solidFill>
                <a:latin typeface="Poppins"/>
                <a:ea typeface="Poppins"/>
              </a:rPr>
              <a:t>permite</a:t>
            </a:r>
            <a:r>
              <a:rPr lang="en-US" sz="100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00" dirty="0" err="1">
                <a:solidFill>
                  <a:srgbClr val="B9CBD6"/>
                </a:solidFill>
                <a:latin typeface="Poppins"/>
                <a:ea typeface="Poppins"/>
              </a:rPr>
              <a:t>comparar</a:t>
            </a:r>
            <a:r>
              <a:rPr lang="en-US" sz="100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00" dirty="0" err="1">
                <a:solidFill>
                  <a:srgbClr val="B9CBD6"/>
                </a:solidFill>
                <a:latin typeface="Poppins"/>
                <a:ea typeface="Poppins"/>
              </a:rPr>
              <a:t>setembro</a:t>
            </a:r>
            <a:r>
              <a:rPr lang="en-US" sz="1000" dirty="0">
                <a:solidFill>
                  <a:srgbClr val="B9CBD6"/>
                </a:solidFill>
                <a:latin typeface="Poppins"/>
                <a:ea typeface="Poppins"/>
              </a:rPr>
              <a:t> com </a:t>
            </a:r>
            <a:r>
              <a:rPr lang="en-US" sz="1000" dirty="0" err="1">
                <a:solidFill>
                  <a:srgbClr val="B9CBD6"/>
                </a:solidFill>
                <a:latin typeface="Poppins"/>
                <a:ea typeface="Poppins"/>
              </a:rPr>
              <a:t>agosto</a:t>
            </a:r>
            <a:r>
              <a:rPr lang="en-US" sz="1000" dirty="0">
                <a:solidFill>
                  <a:srgbClr val="B9CBD6"/>
                </a:solidFill>
                <a:latin typeface="Poppins"/>
                <a:ea typeface="Poppins"/>
              </a:rPr>
              <a:t> e </a:t>
            </a:r>
            <a:r>
              <a:rPr lang="en-US" sz="1000" dirty="0" err="1">
                <a:solidFill>
                  <a:srgbClr val="B9CBD6"/>
                </a:solidFill>
                <a:latin typeface="Poppins"/>
                <a:ea typeface="Poppins"/>
              </a:rPr>
              <a:t>decidir</a:t>
            </a:r>
            <a:r>
              <a:rPr lang="en-US" sz="1000" dirty="0">
                <a:solidFill>
                  <a:srgbClr val="B9CBD6"/>
                </a:solidFill>
                <a:latin typeface="Poppins"/>
                <a:ea typeface="Poppins"/>
              </a:rPr>
              <a:t> o </a:t>
            </a:r>
            <a:r>
              <a:rPr lang="en-US" sz="1000" dirty="0" err="1">
                <a:solidFill>
                  <a:srgbClr val="B9CBD6"/>
                </a:solidFill>
                <a:latin typeface="Poppins"/>
                <a:ea typeface="Poppins"/>
              </a:rPr>
              <a:t>passo</a:t>
            </a:r>
            <a:r>
              <a:rPr lang="en-US" sz="100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00" dirty="0" err="1">
                <a:solidFill>
                  <a:srgbClr val="B9CBD6"/>
                </a:solidFill>
                <a:latin typeface="Poppins"/>
                <a:ea typeface="Poppins"/>
              </a:rPr>
              <a:t>seguinte</a:t>
            </a:r>
            <a:r>
              <a:rPr lang="en-US" sz="1000" dirty="0">
                <a:solidFill>
                  <a:srgbClr val="B9CBD6"/>
                </a:solidFill>
                <a:latin typeface="Poppins"/>
                <a:ea typeface="Poppins"/>
              </a:rPr>
              <a:t> com dado, e </a:t>
            </a:r>
            <a:r>
              <a:rPr lang="en-US" sz="1000" dirty="0" err="1">
                <a:solidFill>
                  <a:srgbClr val="B9CBD6"/>
                </a:solidFill>
                <a:latin typeface="Poppins"/>
                <a:ea typeface="Poppins"/>
              </a:rPr>
              <a:t>não</a:t>
            </a:r>
            <a:r>
              <a:rPr lang="en-US" sz="1000" dirty="0">
                <a:solidFill>
                  <a:srgbClr val="B9CBD6"/>
                </a:solidFill>
                <a:latin typeface="Poppins"/>
                <a:ea typeface="Poppins"/>
              </a:rPr>
              <a:t> com </a:t>
            </a:r>
            <a:r>
              <a:rPr lang="en-US" sz="1000" dirty="0" err="1">
                <a:solidFill>
                  <a:srgbClr val="B9CBD6"/>
                </a:solidFill>
                <a:latin typeface="Poppins"/>
                <a:ea typeface="Poppins"/>
              </a:rPr>
              <a:t>impressão</a:t>
            </a:r>
            <a:r>
              <a:rPr lang="en-US" sz="1000" dirty="0">
                <a:solidFill>
                  <a:srgbClr val="B9CBD6"/>
                </a:solidFill>
                <a:latin typeface="Poppins"/>
                <a:ea typeface="Poppins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09" name="TextBox 1"/>
          <p:cNvSpPr txBox="1"/>
          <p:nvPr/>
        </p:nvSpPr>
        <p:spPr>
          <a:xfrm>
            <a:off x="640080" y="431800"/>
            <a:ext cx="1091184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PLANO DE AGOSTO · B2B</a:t>
            </a:r>
          </a:p>
        </p:txBody>
      </p:sp>
      <p:sp>
        <p:nvSpPr>
          <p:cNvPr id="100210" name="TextBox 2"/>
          <p:cNvSpPr txBox="1"/>
          <p:nvPr/>
        </p:nvSpPr>
        <p:spPr>
          <a:xfrm>
            <a:off x="640080" y="812800"/>
            <a:ext cx="1091184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Agosto fecha a captura e reconstrói o Google</a:t>
            </a:r>
          </a:p>
        </p:txBody>
      </p:sp>
      <p:sp>
        <p:nvSpPr>
          <p:cNvPr id="100211" name="TextBox 3"/>
          <p:cNvSpPr txBox="1"/>
          <p:nvPr/>
        </p:nvSpPr>
        <p:spPr>
          <a:xfrm>
            <a:off x="640080" y="1397000"/>
            <a:ext cx="1091184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A ordem das etapas importa mais que a data: cada uma depende da anterior.</a:t>
            </a:r>
          </a:p>
        </p:txBody>
      </p:sp>
      <p:sp>
        <p:nvSpPr>
          <p:cNvPr id="100212" name="TextBox 4"/>
          <p:cNvSpPr/>
          <p:nvPr/>
        </p:nvSpPr>
        <p:spPr>
          <a:xfrm>
            <a:off x="640080" y="1905000"/>
            <a:ext cx="6604000" cy="3403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213" name="TextBox 5"/>
          <p:cNvSpPr txBox="1"/>
          <p:nvPr/>
        </p:nvSpPr>
        <p:spPr>
          <a:xfrm>
            <a:off x="944880" y="2108200"/>
            <a:ext cx="5969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E01C4C"/>
                </a:solidFill>
                <a:latin typeface="Poppins"/>
                <a:ea typeface="Poppins"/>
              </a:rPr>
              <a:t>SEMANA 1  ·  03 a 07/08</a:t>
            </a:r>
          </a:p>
        </p:txBody>
      </p:sp>
      <p:sp>
        <p:nvSpPr>
          <p:cNvPr id="100214" name="TextBox 6"/>
          <p:cNvSpPr txBox="1"/>
          <p:nvPr/>
        </p:nvSpPr>
        <p:spPr>
          <a:xfrm>
            <a:off x="944880" y="2311400"/>
            <a:ext cx="5994400" cy="431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just">
              <a:lnSpc>
                <a:spcPct val="125000"/>
              </a:lnSpc>
            </a:pPr>
            <a:r>
              <a:rPr lang="en-US" sz="1150" dirty="0" err="1">
                <a:solidFill>
                  <a:srgbClr val="1A1A1A"/>
                </a:solidFill>
                <a:latin typeface="Poppins"/>
                <a:ea typeface="Poppins"/>
              </a:rPr>
              <a:t>Mapear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50" dirty="0" smtClean="0">
                <a:solidFill>
                  <a:srgbClr val="1A1A1A"/>
                </a:solidFill>
                <a:latin typeface="Poppins"/>
                <a:ea typeface="Poppins"/>
              </a:rPr>
              <a:t>leads 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do </a:t>
            </a:r>
            <a:r>
              <a:rPr lang="en-US" sz="1150" dirty="0" err="1">
                <a:solidFill>
                  <a:srgbClr val="1A1A1A"/>
                </a:solidFill>
                <a:latin typeface="Poppins"/>
                <a:ea typeface="Poppins"/>
              </a:rPr>
              <a:t>formulário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1A1A1A"/>
                </a:solidFill>
                <a:latin typeface="Poppins"/>
                <a:ea typeface="Poppins"/>
              </a:rPr>
              <a:t>atual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 e </a:t>
            </a:r>
            <a:r>
              <a:rPr lang="en-US" sz="1150" dirty="0" err="1">
                <a:solidFill>
                  <a:srgbClr val="1A1A1A"/>
                </a:solidFill>
                <a:latin typeface="Poppins"/>
                <a:ea typeface="Poppins"/>
              </a:rPr>
              <a:t>concluir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 a </a:t>
            </a:r>
            <a:r>
              <a:rPr lang="en-US" sz="1150" dirty="0" err="1">
                <a:solidFill>
                  <a:srgbClr val="1A1A1A"/>
                </a:solidFill>
                <a:latin typeface="Poppins"/>
                <a:ea typeface="Poppins"/>
              </a:rPr>
              <a:t>integração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 com o CRM do </a:t>
            </a:r>
            <a:r>
              <a:rPr lang="en-US" sz="1150" dirty="0" err="1">
                <a:solidFill>
                  <a:srgbClr val="1A1A1A"/>
                </a:solidFill>
                <a:latin typeface="Poppins"/>
                <a:ea typeface="Poppins"/>
              </a:rPr>
              <a:t>comercial</a:t>
            </a:r>
            <a:endParaRPr lang="en-US" sz="1150" dirty="0">
              <a:solidFill>
                <a:srgbClr val="1A1A1A"/>
              </a:solidFill>
              <a:latin typeface="Poppins"/>
              <a:ea typeface="Poppins"/>
            </a:endParaRPr>
          </a:p>
        </p:txBody>
      </p:sp>
      <p:sp>
        <p:nvSpPr>
          <p:cNvPr id="100215" name="TextBox 7"/>
          <p:cNvSpPr txBox="1"/>
          <p:nvPr/>
        </p:nvSpPr>
        <p:spPr>
          <a:xfrm>
            <a:off x="944880" y="2895600"/>
            <a:ext cx="5969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E01C4C"/>
                </a:solidFill>
                <a:latin typeface="Poppins"/>
                <a:ea typeface="Poppins"/>
              </a:rPr>
              <a:t>SEMANA 2  ·  10 a 14/08</a:t>
            </a:r>
          </a:p>
        </p:txBody>
      </p:sp>
      <p:sp>
        <p:nvSpPr>
          <p:cNvPr id="100216" name="TextBox 8"/>
          <p:cNvSpPr txBox="1"/>
          <p:nvPr/>
        </p:nvSpPr>
        <p:spPr>
          <a:xfrm>
            <a:off x="944880" y="3060700"/>
            <a:ext cx="5994400" cy="431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just">
              <a:lnSpc>
                <a:spcPct val="125000"/>
              </a:lnSpc>
            </a:pPr>
            <a:r>
              <a:rPr lang="en-US" sz="1150" dirty="0" err="1">
                <a:solidFill>
                  <a:srgbClr val="1A1A1A"/>
                </a:solidFill>
                <a:latin typeface="Poppins"/>
                <a:ea typeface="Poppins"/>
              </a:rPr>
              <a:t>Subir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 a </a:t>
            </a:r>
            <a:r>
              <a:rPr lang="en-US" sz="1150" dirty="0" err="1">
                <a:solidFill>
                  <a:srgbClr val="1A1A1A"/>
                </a:solidFill>
                <a:latin typeface="Poppins"/>
                <a:ea typeface="Poppins"/>
              </a:rPr>
              <a:t>campanha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 nova do Meta e </a:t>
            </a:r>
            <a:r>
              <a:rPr lang="en-US" sz="1150" dirty="0" err="1">
                <a:solidFill>
                  <a:srgbClr val="1A1A1A"/>
                </a:solidFill>
                <a:latin typeface="Poppins"/>
                <a:ea typeface="Poppins"/>
              </a:rPr>
              <a:t>terminar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 a </a:t>
            </a:r>
            <a:r>
              <a:rPr lang="en-US" sz="1150" dirty="0" err="1">
                <a:solidFill>
                  <a:srgbClr val="1A1A1A"/>
                </a:solidFill>
                <a:latin typeface="Poppins"/>
                <a:ea typeface="Poppins"/>
              </a:rPr>
              <a:t>configuração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 da landing page</a:t>
            </a:r>
          </a:p>
        </p:txBody>
      </p:sp>
      <p:sp>
        <p:nvSpPr>
          <p:cNvPr id="100217" name="TextBox 9"/>
          <p:cNvSpPr txBox="1"/>
          <p:nvPr/>
        </p:nvSpPr>
        <p:spPr>
          <a:xfrm>
            <a:off x="944880" y="3683000"/>
            <a:ext cx="5969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E01C4C"/>
                </a:solidFill>
                <a:latin typeface="Poppins"/>
                <a:ea typeface="Poppins"/>
              </a:rPr>
              <a:t>SEMANA 3  ·  17 a 21/08</a:t>
            </a:r>
          </a:p>
        </p:txBody>
      </p:sp>
      <p:sp>
        <p:nvSpPr>
          <p:cNvPr id="100218" name="TextBox 10"/>
          <p:cNvSpPr txBox="1"/>
          <p:nvPr/>
        </p:nvSpPr>
        <p:spPr>
          <a:xfrm>
            <a:off x="944880" y="3886200"/>
            <a:ext cx="5994400" cy="431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just">
              <a:lnSpc>
                <a:spcPct val="125000"/>
              </a:lnSpc>
            </a:pP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Google: </a:t>
            </a:r>
            <a:r>
              <a:rPr lang="en-US" sz="1150" dirty="0" err="1" smtClean="0">
                <a:solidFill>
                  <a:srgbClr val="1A1A1A"/>
                </a:solidFill>
                <a:latin typeface="Poppins"/>
                <a:ea typeface="Poppins"/>
              </a:rPr>
              <a:t>início</a:t>
            </a:r>
            <a:r>
              <a:rPr lang="en-US" sz="1150" dirty="0" smtClean="0">
                <a:solidFill>
                  <a:srgbClr val="1A1A1A"/>
                </a:solidFill>
                <a:latin typeface="Poppins"/>
                <a:ea typeface="Poppins"/>
              </a:rPr>
              <a:t> da </a:t>
            </a:r>
            <a:r>
              <a:rPr lang="en-US" sz="1150" dirty="0" err="1" smtClean="0">
                <a:solidFill>
                  <a:srgbClr val="1A1A1A"/>
                </a:solidFill>
                <a:latin typeface="Poppins"/>
                <a:ea typeface="Poppins"/>
              </a:rPr>
              <a:t>revisão</a:t>
            </a:r>
            <a:r>
              <a:rPr lang="en-US" sz="1150" dirty="0" smtClean="0">
                <a:solidFill>
                  <a:srgbClr val="1A1A1A"/>
                </a:solidFill>
                <a:latin typeface="Poppins"/>
                <a:ea typeface="Poppins"/>
              </a:rPr>
              <a:t> do </a:t>
            </a:r>
            <a:r>
              <a:rPr lang="en-US" sz="1150" dirty="0" err="1">
                <a:solidFill>
                  <a:srgbClr val="1A1A1A"/>
                </a:solidFill>
                <a:latin typeface="Poppins"/>
                <a:ea typeface="Poppins"/>
              </a:rPr>
              <a:t>rastreamento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50" dirty="0" smtClean="0">
                <a:solidFill>
                  <a:srgbClr val="1A1A1A"/>
                </a:solidFill>
                <a:latin typeface="Poppins"/>
                <a:ea typeface="Poppins"/>
              </a:rPr>
              <a:t>e </a:t>
            </a:r>
            <a:r>
              <a:rPr lang="en-US" sz="1150" dirty="0" err="1" smtClean="0">
                <a:solidFill>
                  <a:srgbClr val="1A1A1A"/>
                </a:solidFill>
                <a:latin typeface="Poppins"/>
                <a:ea typeface="Poppins"/>
              </a:rPr>
              <a:t>preparação</a:t>
            </a:r>
            <a:r>
              <a:rPr lang="en-US" sz="1150" dirty="0" smtClean="0">
                <a:solidFill>
                  <a:srgbClr val="1A1A1A"/>
                </a:solidFill>
                <a:latin typeface="Poppins"/>
                <a:ea typeface="Poppins"/>
              </a:rPr>
              <a:t> da </a:t>
            </a:r>
            <a:r>
              <a:rPr lang="en-US" sz="1150" dirty="0" err="1">
                <a:solidFill>
                  <a:srgbClr val="1A1A1A"/>
                </a:solidFill>
                <a:latin typeface="Poppins"/>
                <a:ea typeface="Poppins"/>
              </a:rPr>
              <a:t>conversão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 nova, </a:t>
            </a:r>
            <a:r>
              <a:rPr lang="en-US" sz="1150" dirty="0" err="1">
                <a:solidFill>
                  <a:srgbClr val="1A1A1A"/>
                </a:solidFill>
                <a:latin typeface="Poppins"/>
                <a:ea typeface="Poppins"/>
              </a:rPr>
              <a:t>rebaixando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 o </a:t>
            </a:r>
            <a:r>
              <a:rPr lang="en-US" sz="1150" dirty="0" err="1">
                <a:solidFill>
                  <a:srgbClr val="1A1A1A"/>
                </a:solidFill>
                <a:latin typeface="Poppins"/>
                <a:ea typeface="Poppins"/>
              </a:rPr>
              <a:t>sinal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 de </a:t>
            </a:r>
            <a:r>
              <a:rPr lang="en-US" sz="1150" dirty="0" err="1">
                <a:solidFill>
                  <a:srgbClr val="1A1A1A"/>
                </a:solidFill>
                <a:latin typeface="Poppins"/>
                <a:ea typeface="Poppins"/>
              </a:rPr>
              <a:t>Visitas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 à </a:t>
            </a:r>
            <a:r>
              <a:rPr lang="en-US" sz="1150" dirty="0" err="1" smtClean="0">
                <a:solidFill>
                  <a:srgbClr val="1A1A1A"/>
                </a:solidFill>
                <a:latin typeface="Poppins"/>
                <a:ea typeface="Poppins"/>
              </a:rPr>
              <a:t>loja</a:t>
            </a:r>
            <a:r>
              <a:rPr lang="en-US" sz="1150" dirty="0" smtClean="0">
                <a:solidFill>
                  <a:srgbClr val="1A1A1A"/>
                </a:solidFill>
                <a:latin typeface="Poppins"/>
                <a:ea typeface="Poppins"/>
              </a:rPr>
              <a:t> e </a:t>
            </a:r>
            <a:r>
              <a:rPr lang="en-US" sz="1150" dirty="0" err="1" smtClean="0">
                <a:solidFill>
                  <a:srgbClr val="1A1A1A"/>
                </a:solidFill>
                <a:latin typeface="Poppins"/>
                <a:ea typeface="Poppins"/>
              </a:rPr>
              <a:t>demais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50" dirty="0" err="1" smtClean="0">
                <a:solidFill>
                  <a:srgbClr val="1A1A1A"/>
                </a:solidFill>
                <a:latin typeface="Poppins"/>
                <a:ea typeface="Poppins"/>
              </a:rPr>
              <a:t>poluições</a:t>
            </a:r>
            <a:r>
              <a:rPr lang="en-US" sz="1150" dirty="0" smtClean="0">
                <a:solidFill>
                  <a:srgbClr val="1A1A1A"/>
                </a:solidFill>
                <a:latin typeface="Poppins"/>
                <a:ea typeface="Poppins"/>
              </a:rPr>
              <a:t>.</a:t>
            </a:r>
            <a:endParaRPr lang="en-US" sz="1150" dirty="0">
              <a:solidFill>
                <a:srgbClr val="1A1A1A"/>
              </a:solidFill>
              <a:latin typeface="Poppins"/>
              <a:ea typeface="Poppins"/>
            </a:endParaRPr>
          </a:p>
        </p:txBody>
      </p:sp>
      <p:sp>
        <p:nvSpPr>
          <p:cNvPr id="100219" name="TextBox 11"/>
          <p:cNvSpPr txBox="1"/>
          <p:nvPr/>
        </p:nvSpPr>
        <p:spPr>
          <a:xfrm>
            <a:off x="944880" y="4470400"/>
            <a:ext cx="5969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E01C4C"/>
                </a:solidFill>
                <a:latin typeface="Poppins"/>
                <a:ea typeface="Poppins"/>
              </a:rPr>
              <a:t>SEMANA 4  ·  24 a 28/08</a:t>
            </a:r>
          </a:p>
        </p:txBody>
      </p:sp>
      <p:sp>
        <p:nvSpPr>
          <p:cNvPr id="100220" name="TextBox 12"/>
          <p:cNvSpPr txBox="1"/>
          <p:nvPr/>
        </p:nvSpPr>
        <p:spPr>
          <a:xfrm>
            <a:off x="944880" y="4673600"/>
            <a:ext cx="5994400" cy="431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just">
              <a:lnSpc>
                <a:spcPct val="125000"/>
              </a:lnSpc>
            </a:pP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Google: </a:t>
            </a:r>
            <a:r>
              <a:rPr lang="en-US" sz="1150" dirty="0" err="1">
                <a:solidFill>
                  <a:srgbClr val="1A1A1A"/>
                </a:solidFill>
                <a:latin typeface="Poppins"/>
                <a:ea typeface="Poppins"/>
              </a:rPr>
              <a:t>finalizar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 a </a:t>
            </a:r>
            <a:r>
              <a:rPr lang="en-US" sz="1150" dirty="0" err="1">
                <a:solidFill>
                  <a:srgbClr val="1A1A1A"/>
                </a:solidFill>
                <a:latin typeface="Poppins"/>
                <a:ea typeface="Poppins"/>
              </a:rPr>
              <a:t>validação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 da </a:t>
            </a:r>
            <a:r>
              <a:rPr lang="en-US" sz="1150" dirty="0" err="1">
                <a:solidFill>
                  <a:srgbClr val="1A1A1A"/>
                </a:solidFill>
                <a:latin typeface="Poppins"/>
                <a:ea typeface="Poppins"/>
              </a:rPr>
              <a:t>conversão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, do GA4 e do GTM</a:t>
            </a:r>
          </a:p>
        </p:txBody>
      </p:sp>
      <p:sp>
        <p:nvSpPr>
          <p:cNvPr id="100221" name="TextBox 13"/>
          <p:cNvSpPr/>
          <p:nvPr/>
        </p:nvSpPr>
        <p:spPr>
          <a:xfrm>
            <a:off x="7523480" y="1905000"/>
            <a:ext cx="4028440" cy="3403600"/>
          </a:xfrm>
          <a:prstGeom prst="roundRect">
            <a:avLst>
              <a:gd name="adj" fmla="val 4000"/>
            </a:avLst>
          </a:prstGeom>
          <a:solidFill>
            <a:srgbClr val="093652"/>
          </a:solidFill>
        </p:spPr>
        <p:txBody>
          <a:bodyPr/>
          <a:lstStyle/>
          <a:p>
            <a:endParaRPr/>
          </a:p>
        </p:txBody>
      </p:sp>
      <p:sp>
        <p:nvSpPr>
          <p:cNvPr id="100222" name="TextBox 14"/>
          <p:cNvSpPr txBox="1"/>
          <p:nvPr/>
        </p:nvSpPr>
        <p:spPr>
          <a:xfrm>
            <a:off x="7853680" y="2108200"/>
            <a:ext cx="3429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00" b="1" spc="100">
                <a:solidFill>
                  <a:srgbClr val="1DAFE0"/>
                </a:solidFill>
                <a:latin typeface="Poppins"/>
                <a:ea typeface="Poppins"/>
              </a:rPr>
              <a:t>ONDE QUEREMOS CHEGAR EM AGOSTO</a:t>
            </a:r>
          </a:p>
        </p:txBody>
      </p:sp>
      <p:sp>
        <p:nvSpPr>
          <p:cNvPr id="100223" name="TextBox 15"/>
          <p:cNvSpPr txBox="1"/>
          <p:nvPr/>
        </p:nvSpPr>
        <p:spPr>
          <a:xfrm>
            <a:off x="7853680" y="2540000"/>
            <a:ext cx="1905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Poppins"/>
                <a:ea typeface="Poppins"/>
              </a:rPr>
              <a:t>180</a:t>
            </a:r>
          </a:p>
        </p:txBody>
      </p:sp>
      <p:sp>
        <p:nvSpPr>
          <p:cNvPr id="100224" name="TextBox 16"/>
          <p:cNvSpPr txBox="1"/>
          <p:nvPr/>
        </p:nvSpPr>
        <p:spPr>
          <a:xfrm>
            <a:off x="7853680" y="2870200"/>
            <a:ext cx="330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leads de locação no mês</a:t>
            </a:r>
          </a:p>
        </p:txBody>
      </p:sp>
      <p:sp>
        <p:nvSpPr>
          <p:cNvPr id="100225" name="TextBox 17"/>
          <p:cNvSpPr txBox="1"/>
          <p:nvPr/>
        </p:nvSpPr>
        <p:spPr>
          <a:xfrm>
            <a:off x="7853680" y="3327400"/>
            <a:ext cx="1905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Poppins"/>
                <a:ea typeface="Poppins"/>
              </a:rPr>
              <a:t>R$ 40</a:t>
            </a:r>
          </a:p>
        </p:txBody>
      </p:sp>
      <p:sp>
        <p:nvSpPr>
          <p:cNvPr id="100226" name="TextBox 18"/>
          <p:cNvSpPr txBox="1"/>
          <p:nvPr/>
        </p:nvSpPr>
        <p:spPr>
          <a:xfrm>
            <a:off x="7853680" y="3657600"/>
            <a:ext cx="330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de teto no custo por lead</a:t>
            </a:r>
          </a:p>
        </p:txBody>
      </p:sp>
      <p:sp>
        <p:nvSpPr>
          <p:cNvPr id="100227" name="TextBox 19"/>
          <p:cNvSpPr txBox="1"/>
          <p:nvPr/>
        </p:nvSpPr>
        <p:spPr>
          <a:xfrm>
            <a:off x="7853680" y="4114800"/>
            <a:ext cx="1905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Poppins"/>
                <a:ea typeface="Poppins"/>
              </a:rPr>
              <a:t>R$ 10 mil</a:t>
            </a:r>
          </a:p>
        </p:txBody>
      </p:sp>
      <p:sp>
        <p:nvSpPr>
          <p:cNvPr id="100228" name="TextBox 20"/>
          <p:cNvSpPr txBox="1"/>
          <p:nvPr/>
        </p:nvSpPr>
        <p:spPr>
          <a:xfrm>
            <a:off x="7853680" y="4445000"/>
            <a:ext cx="330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investidos no Meta, verba cheia</a:t>
            </a:r>
          </a:p>
        </p:txBody>
      </p:sp>
      <p:sp>
        <p:nvSpPr>
          <p:cNvPr id="100229" name="TextBox 21"/>
          <p:cNvSpPr/>
          <p:nvPr/>
        </p:nvSpPr>
        <p:spPr>
          <a:xfrm>
            <a:off x="640080" y="5486400"/>
            <a:ext cx="10911840" cy="1016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230" name="TextBox 22"/>
          <p:cNvSpPr txBox="1"/>
          <p:nvPr/>
        </p:nvSpPr>
        <p:spPr>
          <a:xfrm>
            <a:off x="970280" y="5613400"/>
            <a:ext cx="1025144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093652"/>
                </a:solidFill>
                <a:latin typeface="Poppins"/>
                <a:ea typeface="Poppins"/>
              </a:rPr>
              <a:t>Em agosto o Google B2B segue com a verba guardada, enquanto o rastreamento é reconstruído.</a:t>
            </a:r>
          </a:p>
        </p:txBody>
      </p:sp>
      <p:sp>
        <p:nvSpPr>
          <p:cNvPr id="100231" name="TextBox 23"/>
          <p:cNvSpPr txBox="1"/>
          <p:nvPr/>
        </p:nvSpPr>
        <p:spPr>
          <a:xfrm>
            <a:off x="970280" y="5892800"/>
            <a:ext cx="1025144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just">
              <a:lnSpc>
                <a:spcPct val="130000"/>
              </a:lnSpc>
            </a:pP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A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campanha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anterior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otimizava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por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um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sinal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que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não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representava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lead. As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campanhas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novas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sobem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quando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a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medição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estiver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validada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, e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não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antes: é o que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evita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repetir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o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mesmo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problema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com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uma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verba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maior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.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Até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lá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a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diferença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fica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como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reserva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de teste.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32" name="TextBox 1"/>
          <p:cNvSpPr txBox="1"/>
          <p:nvPr/>
        </p:nvSpPr>
        <p:spPr>
          <a:xfrm>
            <a:off x="640080" y="431800"/>
            <a:ext cx="1091184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SUGESTÃO · SEGUNDO SEMESTRE</a:t>
            </a:r>
          </a:p>
        </p:txBody>
      </p:sp>
      <p:sp>
        <p:nvSpPr>
          <p:cNvPr id="100233" name="TextBox 2"/>
          <p:cNvSpPr txBox="1"/>
          <p:nvPr/>
        </p:nvSpPr>
        <p:spPr>
          <a:xfrm>
            <a:off x="640080" y="812800"/>
            <a:ext cx="1091184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Uma sugestão de calendário para o segundo semestre</a:t>
            </a:r>
          </a:p>
        </p:txBody>
      </p:sp>
      <p:sp>
        <p:nvSpPr>
          <p:cNvPr id="100234" name="TextBox 3"/>
          <p:cNvSpPr txBox="1"/>
          <p:nvPr/>
        </p:nvSpPr>
        <p:spPr>
          <a:xfrm>
            <a:off x="640080" y="1397000"/>
            <a:ext cx="1091184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Nada aqui está fechado. É um ponto de partida para alinharmos as datas com calma.</a:t>
            </a:r>
          </a:p>
        </p:txBody>
      </p:sp>
      <p:sp>
        <p:nvSpPr>
          <p:cNvPr id="100235" name="TextBox 4"/>
          <p:cNvSpPr/>
          <p:nvPr/>
        </p:nvSpPr>
        <p:spPr>
          <a:xfrm>
            <a:off x="640080" y="1854200"/>
            <a:ext cx="5323840" cy="3175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236" name="TextBox 5"/>
          <p:cNvSpPr txBox="1"/>
          <p:nvPr/>
        </p:nvSpPr>
        <p:spPr>
          <a:xfrm>
            <a:off x="944880" y="2057400"/>
            <a:ext cx="4572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50" b="1" spc="200">
                <a:solidFill>
                  <a:srgbClr val="157DBF"/>
                </a:solidFill>
                <a:latin typeface="Poppins"/>
                <a:ea typeface="Poppins"/>
              </a:rPr>
              <a:t>B2C  ·  CONSUMIDOR</a:t>
            </a:r>
          </a:p>
        </p:txBody>
      </p:sp>
      <p:sp>
        <p:nvSpPr>
          <p:cNvPr id="100237" name="TextBox 6"/>
          <p:cNvSpPr txBox="1"/>
          <p:nvPr/>
        </p:nvSpPr>
        <p:spPr>
          <a:xfrm>
            <a:off x="944880" y="24638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Dia das Crianças</a:t>
            </a:r>
          </a:p>
        </p:txBody>
      </p:sp>
      <p:sp>
        <p:nvSpPr>
          <p:cNvPr id="100238" name="TextBox 7"/>
          <p:cNvSpPr txBox="1"/>
          <p:nvPr/>
        </p:nvSpPr>
        <p:spPr>
          <a:xfrm>
            <a:off x="4119880" y="24638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050" b="1">
                <a:solidFill>
                  <a:srgbClr val="157DBF"/>
                </a:solidFill>
                <a:latin typeface="Poppins"/>
                <a:ea typeface="Poppins"/>
              </a:rPr>
              <a:t>28/09 a 12/10</a:t>
            </a:r>
          </a:p>
        </p:txBody>
      </p:sp>
      <p:sp>
        <p:nvSpPr>
          <p:cNvPr id="100239" name="TextBox 8"/>
          <p:cNvSpPr txBox="1"/>
          <p:nvPr/>
        </p:nvSpPr>
        <p:spPr>
          <a:xfrm>
            <a:off x="944880" y="2679700"/>
            <a:ext cx="4699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15 dias, coberto pelas ofertas semanais</a:t>
            </a:r>
          </a:p>
        </p:txBody>
      </p:sp>
      <p:sp>
        <p:nvSpPr>
          <p:cNvPr id="100240" name="TextBox 9"/>
          <p:cNvSpPr txBox="1"/>
          <p:nvPr/>
        </p:nvSpPr>
        <p:spPr>
          <a:xfrm>
            <a:off x="944880" y="30734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Black Friday</a:t>
            </a:r>
          </a:p>
        </p:txBody>
      </p:sp>
      <p:sp>
        <p:nvSpPr>
          <p:cNvPr id="100241" name="TextBox 10"/>
          <p:cNvSpPr txBox="1"/>
          <p:nvPr/>
        </p:nvSpPr>
        <p:spPr>
          <a:xfrm>
            <a:off x="4119880" y="30734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050" b="1">
                <a:solidFill>
                  <a:srgbClr val="157DBF"/>
                </a:solidFill>
                <a:latin typeface="Poppins"/>
                <a:ea typeface="Poppins"/>
              </a:rPr>
              <a:t>01 a 30/11</a:t>
            </a:r>
          </a:p>
        </p:txBody>
      </p:sp>
      <p:sp>
        <p:nvSpPr>
          <p:cNvPr id="100242" name="TextBox 11"/>
          <p:cNvSpPr txBox="1"/>
          <p:nvPr/>
        </p:nvSpPr>
        <p:spPr>
          <a:xfrm>
            <a:off x="944880" y="3289300"/>
            <a:ext cx="4699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30 dias, cobre as duas janelas de pagamento</a:t>
            </a:r>
          </a:p>
        </p:txBody>
      </p:sp>
      <p:sp>
        <p:nvSpPr>
          <p:cNvPr id="100243" name="TextBox 12"/>
          <p:cNvSpPr txBox="1"/>
          <p:nvPr/>
        </p:nvSpPr>
        <p:spPr>
          <a:xfrm>
            <a:off x="944880" y="36830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Natal</a:t>
            </a:r>
          </a:p>
        </p:txBody>
      </p:sp>
      <p:sp>
        <p:nvSpPr>
          <p:cNvPr id="100244" name="TextBox 13"/>
          <p:cNvSpPr txBox="1"/>
          <p:nvPr/>
        </p:nvSpPr>
        <p:spPr>
          <a:xfrm>
            <a:off x="4119880" y="36830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050" b="1">
                <a:solidFill>
                  <a:srgbClr val="157DBF"/>
                </a:solidFill>
                <a:latin typeface="Poppins"/>
                <a:ea typeface="Poppins"/>
              </a:rPr>
              <a:t>01 a 25/12</a:t>
            </a:r>
          </a:p>
        </p:txBody>
      </p:sp>
      <p:sp>
        <p:nvSpPr>
          <p:cNvPr id="100245" name="TextBox 14"/>
          <p:cNvSpPr txBox="1"/>
          <p:nvPr/>
        </p:nvSpPr>
        <p:spPr>
          <a:xfrm>
            <a:off x="944880" y="3898900"/>
            <a:ext cx="4699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o pico de compra é a partir do dia 15</a:t>
            </a:r>
          </a:p>
        </p:txBody>
      </p:sp>
      <p:sp>
        <p:nvSpPr>
          <p:cNvPr id="100246" name="TextBox 15"/>
          <p:cNvSpPr txBox="1"/>
          <p:nvPr/>
        </p:nvSpPr>
        <p:spPr>
          <a:xfrm>
            <a:off x="944880" y="42926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Liquidação e volta às aulas</a:t>
            </a:r>
          </a:p>
        </p:txBody>
      </p:sp>
      <p:sp>
        <p:nvSpPr>
          <p:cNvPr id="100247" name="TextBox 16"/>
          <p:cNvSpPr txBox="1"/>
          <p:nvPr/>
        </p:nvSpPr>
        <p:spPr>
          <a:xfrm>
            <a:off x="4119880" y="42926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050" b="1">
                <a:solidFill>
                  <a:srgbClr val="157DBF"/>
                </a:solidFill>
                <a:latin typeface="Poppins"/>
                <a:ea typeface="Poppins"/>
              </a:rPr>
              <a:t>26/12 a 15/02</a:t>
            </a:r>
          </a:p>
        </p:txBody>
      </p:sp>
      <p:sp>
        <p:nvSpPr>
          <p:cNvPr id="100248" name="TextBox 17"/>
          <p:cNvSpPr txBox="1"/>
          <p:nvPr/>
        </p:nvSpPr>
        <p:spPr>
          <a:xfrm>
            <a:off x="944880" y="4508500"/>
            <a:ext cx="4699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a semana entre Natal e Ano Novo tem fluxo alto</a:t>
            </a:r>
          </a:p>
        </p:txBody>
      </p:sp>
      <p:sp>
        <p:nvSpPr>
          <p:cNvPr id="100249" name="TextBox 18"/>
          <p:cNvSpPr/>
          <p:nvPr/>
        </p:nvSpPr>
        <p:spPr>
          <a:xfrm>
            <a:off x="6228080" y="1854200"/>
            <a:ext cx="5323840" cy="3175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250" name="TextBox 19"/>
          <p:cNvSpPr txBox="1"/>
          <p:nvPr/>
        </p:nvSpPr>
        <p:spPr>
          <a:xfrm>
            <a:off x="6532880" y="2057400"/>
            <a:ext cx="4572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50" b="1" spc="200">
                <a:solidFill>
                  <a:srgbClr val="E01C4C"/>
                </a:solidFill>
                <a:latin typeface="Poppins"/>
                <a:ea typeface="Poppins"/>
              </a:rPr>
              <a:t>B2B  ·  LOJISTA</a:t>
            </a:r>
          </a:p>
        </p:txBody>
      </p:sp>
      <p:sp>
        <p:nvSpPr>
          <p:cNvPr id="100251" name="TextBox 20"/>
          <p:cNvSpPr txBox="1"/>
          <p:nvPr/>
        </p:nvSpPr>
        <p:spPr>
          <a:xfrm>
            <a:off x="6532880" y="24638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Loja pronta pro Natal</a:t>
            </a:r>
          </a:p>
        </p:txBody>
      </p:sp>
      <p:sp>
        <p:nvSpPr>
          <p:cNvPr id="100252" name="TextBox 21"/>
          <p:cNvSpPr txBox="1"/>
          <p:nvPr/>
        </p:nvSpPr>
        <p:spPr>
          <a:xfrm>
            <a:off x="9707880" y="24638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050" b="1" dirty="0" smtClean="0">
                <a:solidFill>
                  <a:srgbClr val="E01C4C"/>
                </a:solidFill>
                <a:latin typeface="Poppins"/>
                <a:ea typeface="Poppins"/>
              </a:rPr>
              <a:t>01/10 </a:t>
            </a:r>
            <a:r>
              <a:rPr lang="en-US" sz="1050" b="1" dirty="0">
                <a:solidFill>
                  <a:srgbClr val="E01C4C"/>
                </a:solidFill>
                <a:latin typeface="Poppins"/>
                <a:ea typeface="Poppins"/>
              </a:rPr>
              <a:t>a 30/11</a:t>
            </a:r>
          </a:p>
        </p:txBody>
      </p:sp>
      <p:sp>
        <p:nvSpPr>
          <p:cNvPr id="100253" name="TextBox 22"/>
          <p:cNvSpPr txBox="1"/>
          <p:nvPr/>
        </p:nvSpPr>
        <p:spPr>
          <a:xfrm>
            <a:off x="6532880" y="2679700"/>
            <a:ext cx="4699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quem quer vender no Natal decide em outubro</a:t>
            </a:r>
          </a:p>
        </p:txBody>
      </p:sp>
      <p:sp>
        <p:nvSpPr>
          <p:cNvPr id="100254" name="TextBox 23"/>
          <p:cNvSpPr txBox="1"/>
          <p:nvPr/>
        </p:nvSpPr>
        <p:spPr>
          <a:xfrm>
            <a:off x="6532880" y="30734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Comece o ano no ponto certo</a:t>
            </a:r>
          </a:p>
        </p:txBody>
      </p:sp>
      <p:sp>
        <p:nvSpPr>
          <p:cNvPr id="100255" name="TextBox 24"/>
          <p:cNvSpPr txBox="1"/>
          <p:nvPr/>
        </p:nvSpPr>
        <p:spPr>
          <a:xfrm>
            <a:off x="9707880" y="30734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050" b="1" dirty="0" smtClean="0">
                <a:solidFill>
                  <a:srgbClr val="E01C4C"/>
                </a:solidFill>
                <a:latin typeface="Poppins"/>
                <a:ea typeface="Poppins"/>
              </a:rPr>
              <a:t>31/12 </a:t>
            </a:r>
            <a:r>
              <a:rPr lang="en-US" sz="1050" b="1" dirty="0">
                <a:solidFill>
                  <a:srgbClr val="E01C4C"/>
                </a:solidFill>
                <a:latin typeface="Poppins"/>
                <a:ea typeface="Poppins"/>
              </a:rPr>
              <a:t>a 20/02</a:t>
            </a:r>
          </a:p>
        </p:txBody>
      </p:sp>
      <p:sp>
        <p:nvSpPr>
          <p:cNvPr id="100256" name="TextBox 25"/>
          <p:cNvSpPr txBox="1"/>
          <p:nvPr/>
        </p:nvSpPr>
        <p:spPr>
          <a:xfrm>
            <a:off x="6532880" y="3289300"/>
            <a:ext cx="4699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janeiro é quando o ponto vaga e o lojista decide o ano</a:t>
            </a:r>
          </a:p>
        </p:txBody>
      </p:sp>
      <p:sp>
        <p:nvSpPr>
          <p:cNvPr id="100257" name="TextBox 26"/>
          <p:cNvSpPr txBox="1"/>
          <p:nvPr/>
        </p:nvSpPr>
        <p:spPr>
          <a:xfrm>
            <a:off x="6532880" y="36830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Manutenção</a:t>
            </a:r>
          </a:p>
        </p:txBody>
      </p:sp>
      <p:sp>
        <p:nvSpPr>
          <p:cNvPr id="100258" name="TextBox 27"/>
          <p:cNvSpPr txBox="1"/>
          <p:nvPr/>
        </p:nvSpPr>
        <p:spPr>
          <a:xfrm>
            <a:off x="9707880" y="36830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050" b="1">
                <a:solidFill>
                  <a:srgbClr val="E01C4C"/>
                </a:solidFill>
                <a:latin typeface="Poppins"/>
                <a:ea typeface="Poppins"/>
              </a:rPr>
              <a:t>01/12 a 04/01</a:t>
            </a:r>
          </a:p>
        </p:txBody>
      </p:sp>
      <p:sp>
        <p:nvSpPr>
          <p:cNvPr id="100259" name="TextBox 28"/>
          <p:cNvSpPr txBox="1"/>
          <p:nvPr/>
        </p:nvSpPr>
        <p:spPr>
          <a:xfrm>
            <a:off x="6532880" y="3898900"/>
            <a:ext cx="3175000" cy="342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sem</a:t>
            </a:r>
            <a:r>
              <a:rPr lang="en-US" sz="950" dirty="0">
                <a:solidFill>
                  <a:srgbClr val="6B7280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campanha</a:t>
            </a:r>
            <a:r>
              <a:rPr lang="en-US" sz="950" dirty="0">
                <a:solidFill>
                  <a:srgbClr val="6B7280"/>
                </a:solidFill>
                <a:latin typeface="Poppins"/>
                <a:ea typeface="Poppins"/>
              </a:rPr>
              <a:t> de data no </a:t>
            </a: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período</a:t>
            </a:r>
            <a:r>
              <a:rPr lang="en-US" sz="950" dirty="0">
                <a:solidFill>
                  <a:srgbClr val="6B7280"/>
                </a:solidFill>
                <a:latin typeface="Poppins"/>
                <a:ea typeface="Poppins"/>
              </a:rPr>
              <a:t>; a </a:t>
            </a: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captação</a:t>
            </a:r>
            <a:r>
              <a:rPr lang="en-US" sz="950" dirty="0">
                <a:solidFill>
                  <a:srgbClr val="6B7280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contínua</a:t>
            </a:r>
            <a:r>
              <a:rPr lang="en-US" sz="950" dirty="0">
                <a:solidFill>
                  <a:srgbClr val="6B7280"/>
                </a:solidFill>
                <a:latin typeface="Poppins"/>
                <a:ea typeface="Poppins"/>
              </a:rPr>
              <a:t> segue </a:t>
            </a:r>
            <a:r>
              <a:rPr lang="en-US" sz="950" dirty="0" err="1">
                <a:solidFill>
                  <a:srgbClr val="6B7280"/>
                </a:solidFill>
                <a:latin typeface="Poppins"/>
                <a:ea typeface="Poppins"/>
              </a:rPr>
              <a:t>rodando</a:t>
            </a:r>
            <a:endParaRPr lang="en-US" sz="950" dirty="0">
              <a:solidFill>
                <a:srgbClr val="6B7280"/>
              </a:solidFill>
              <a:latin typeface="Poppins"/>
              <a:ea typeface="Poppins"/>
            </a:endParaRPr>
          </a:p>
        </p:txBody>
      </p:sp>
      <p:sp>
        <p:nvSpPr>
          <p:cNvPr id="100260" name="TextBox 29"/>
          <p:cNvSpPr/>
          <p:nvPr/>
        </p:nvSpPr>
        <p:spPr>
          <a:xfrm>
            <a:off x="640080" y="5232400"/>
            <a:ext cx="3467100" cy="1270000"/>
          </a:xfrm>
          <a:prstGeom prst="roundRect">
            <a:avLst>
              <a:gd name="adj" fmla="val 4000"/>
            </a:avLst>
          </a:prstGeom>
          <a:solidFill>
            <a:srgbClr val="093652"/>
          </a:solidFill>
        </p:spPr>
        <p:txBody>
          <a:bodyPr/>
          <a:lstStyle/>
          <a:p>
            <a:endParaRPr/>
          </a:p>
        </p:txBody>
      </p:sp>
      <p:sp>
        <p:nvSpPr>
          <p:cNvPr id="100261" name="TextBox 30"/>
          <p:cNvSpPr txBox="1"/>
          <p:nvPr/>
        </p:nvSpPr>
        <p:spPr>
          <a:xfrm>
            <a:off x="894080" y="538480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1DAFE0"/>
                </a:solidFill>
                <a:latin typeface="Poppins"/>
                <a:ea typeface="Poppins"/>
              </a:rPr>
              <a:t>MÍNIMO DE 15 DIAS NO AR</a:t>
            </a:r>
          </a:p>
        </p:txBody>
      </p:sp>
      <p:sp>
        <p:nvSpPr>
          <p:cNvPr id="100262" name="TextBox 31"/>
          <p:cNvSpPr txBox="1"/>
          <p:nvPr/>
        </p:nvSpPr>
        <p:spPr>
          <a:xfrm>
            <a:off x="894080" y="5638800"/>
            <a:ext cx="29972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just">
              <a:lnSpc>
                <a:spcPct val="130000"/>
              </a:lnSpc>
            </a:pP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Toda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campanha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de data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entra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com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pelo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menos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15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dias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.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Abaixo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disso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ela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não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sai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da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fase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de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aprendizado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, e o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resultado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não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serve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nem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para o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mês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nem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para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comparar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com </a:t>
            </a:r>
            <a:r>
              <a:rPr lang="en-US" sz="950" dirty="0" smtClean="0">
                <a:solidFill>
                  <a:srgbClr val="FFFFFF"/>
                </a:solidFill>
                <a:latin typeface="Poppins"/>
                <a:ea typeface="Poppins"/>
              </a:rPr>
              <a:t>outros </a:t>
            </a:r>
            <a:r>
              <a:rPr lang="en-US" sz="950" dirty="0" err="1" smtClean="0">
                <a:solidFill>
                  <a:srgbClr val="FFFFFF"/>
                </a:solidFill>
                <a:latin typeface="Poppins"/>
                <a:ea typeface="Poppins"/>
              </a:rPr>
              <a:t>períodos</a:t>
            </a:r>
            <a:r>
              <a:rPr lang="en-US" sz="950" dirty="0" smtClean="0">
                <a:solidFill>
                  <a:srgbClr val="FFFFFF"/>
                </a:solidFill>
                <a:latin typeface="Poppins"/>
                <a:ea typeface="Poppins"/>
              </a:rPr>
              <a:t>.</a:t>
            </a:r>
            <a:endParaRPr lang="en-US" sz="950" dirty="0">
              <a:solidFill>
                <a:srgbClr val="FFFFFF"/>
              </a:solidFill>
              <a:latin typeface="Poppins"/>
              <a:ea typeface="Poppins"/>
            </a:endParaRPr>
          </a:p>
        </p:txBody>
      </p:sp>
      <p:sp>
        <p:nvSpPr>
          <p:cNvPr id="100263" name="TextBox 32"/>
          <p:cNvSpPr/>
          <p:nvPr/>
        </p:nvSpPr>
        <p:spPr>
          <a:xfrm>
            <a:off x="4362450" y="5232400"/>
            <a:ext cx="3467100" cy="1270000"/>
          </a:xfrm>
          <a:prstGeom prst="roundRect">
            <a:avLst>
              <a:gd name="adj" fmla="val 4000"/>
            </a:avLst>
          </a:prstGeom>
          <a:solidFill>
            <a:srgbClr val="093652"/>
          </a:solidFill>
        </p:spPr>
        <p:txBody>
          <a:bodyPr/>
          <a:lstStyle/>
          <a:p>
            <a:endParaRPr/>
          </a:p>
        </p:txBody>
      </p:sp>
      <p:sp>
        <p:nvSpPr>
          <p:cNvPr id="100264" name="TextBox 33"/>
          <p:cNvSpPr txBox="1"/>
          <p:nvPr/>
        </p:nvSpPr>
        <p:spPr>
          <a:xfrm>
            <a:off x="4616450" y="538480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1DAFE0"/>
                </a:solidFill>
                <a:latin typeface="Poppins"/>
                <a:ea typeface="Poppins"/>
              </a:rPr>
              <a:t>O CAMINHO MAIS CURTO</a:t>
            </a:r>
          </a:p>
        </p:txBody>
      </p:sp>
      <p:sp>
        <p:nvSpPr>
          <p:cNvPr id="100265" name="TextBox 34"/>
          <p:cNvSpPr txBox="1"/>
          <p:nvPr/>
        </p:nvSpPr>
        <p:spPr>
          <a:xfrm>
            <a:off x="4616450" y="5638800"/>
            <a:ext cx="29972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just">
              <a:lnSpc>
                <a:spcPct val="130000"/>
              </a:lnSpc>
            </a:pP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Adaptar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para o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pago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os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momentos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que o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orgânico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já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trabalha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bem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nessas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datas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.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Aproveita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o que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já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existe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e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não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abre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uma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frente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de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produção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nova.</a:t>
            </a:r>
          </a:p>
        </p:txBody>
      </p:sp>
      <p:sp>
        <p:nvSpPr>
          <p:cNvPr id="100266" name="TextBox 35"/>
          <p:cNvSpPr/>
          <p:nvPr/>
        </p:nvSpPr>
        <p:spPr>
          <a:xfrm>
            <a:off x="8084820" y="5232400"/>
            <a:ext cx="3467100" cy="1270000"/>
          </a:xfrm>
          <a:prstGeom prst="roundRect">
            <a:avLst>
              <a:gd name="adj" fmla="val 4000"/>
            </a:avLst>
          </a:prstGeom>
          <a:solidFill>
            <a:srgbClr val="093652"/>
          </a:solidFill>
        </p:spPr>
        <p:txBody>
          <a:bodyPr/>
          <a:lstStyle/>
          <a:p>
            <a:endParaRPr/>
          </a:p>
        </p:txBody>
      </p:sp>
      <p:sp>
        <p:nvSpPr>
          <p:cNvPr id="100267" name="TextBox 36"/>
          <p:cNvSpPr txBox="1"/>
          <p:nvPr/>
        </p:nvSpPr>
        <p:spPr>
          <a:xfrm>
            <a:off x="8338820" y="538480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1DAFE0"/>
                </a:solidFill>
                <a:latin typeface="Poppins"/>
                <a:ea typeface="Poppins"/>
              </a:rPr>
              <a:t>O AVISO DE NOVEMBRO</a:t>
            </a:r>
          </a:p>
        </p:txBody>
      </p:sp>
      <p:sp>
        <p:nvSpPr>
          <p:cNvPr id="100268" name="TextBox 37"/>
          <p:cNvSpPr txBox="1"/>
          <p:nvPr/>
        </p:nvSpPr>
        <p:spPr>
          <a:xfrm>
            <a:off x="8338820" y="5638800"/>
            <a:ext cx="29972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n-US" sz="950" b="1" dirty="0" err="1">
                <a:solidFill>
                  <a:srgbClr val="FFFFFF"/>
                </a:solidFill>
                <a:latin typeface="Poppins"/>
                <a:ea typeface="Poppins"/>
              </a:rPr>
              <a:t>Novembro</a:t>
            </a:r>
            <a:r>
              <a:rPr lang="en-US" sz="950" b="1" dirty="0">
                <a:solidFill>
                  <a:srgbClr val="FFFFFF"/>
                </a:solidFill>
                <a:latin typeface="Poppins"/>
                <a:ea typeface="Poppins"/>
              </a:rPr>
              <a:t> é o </a:t>
            </a:r>
            <a:r>
              <a:rPr lang="en-US" sz="950" b="1" dirty="0" err="1">
                <a:solidFill>
                  <a:srgbClr val="FFFFFF"/>
                </a:solidFill>
                <a:latin typeface="Poppins"/>
                <a:ea typeface="Poppins"/>
              </a:rPr>
              <a:t>mês</a:t>
            </a:r>
            <a:r>
              <a:rPr lang="en-US" sz="950" b="1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950" b="1" dirty="0" err="1">
                <a:solidFill>
                  <a:srgbClr val="FFFFFF"/>
                </a:solidFill>
                <a:latin typeface="Poppins"/>
                <a:ea typeface="Poppins"/>
              </a:rPr>
              <a:t>mais</a:t>
            </a:r>
            <a:r>
              <a:rPr lang="en-US" sz="950" b="1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950" b="1" dirty="0" err="1">
                <a:solidFill>
                  <a:srgbClr val="FFFFFF"/>
                </a:solidFill>
                <a:latin typeface="Poppins"/>
                <a:ea typeface="Poppins"/>
              </a:rPr>
              <a:t>caro</a:t>
            </a:r>
            <a:r>
              <a:rPr lang="en-US" sz="950" b="1" dirty="0">
                <a:solidFill>
                  <a:srgbClr val="FFFFFF"/>
                </a:solidFill>
                <a:latin typeface="Poppins"/>
                <a:ea typeface="Poppins"/>
              </a:rPr>
              <a:t> do </a:t>
            </a:r>
            <a:r>
              <a:rPr lang="en-US" sz="950" b="1" dirty="0" err="1">
                <a:solidFill>
                  <a:srgbClr val="FFFFFF"/>
                </a:solidFill>
                <a:latin typeface="Poppins"/>
                <a:ea typeface="Poppins"/>
              </a:rPr>
              <a:t>ano</a:t>
            </a:r>
            <a:r>
              <a:rPr lang="en-US" sz="950" b="1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950" b="1" dirty="0" err="1">
                <a:solidFill>
                  <a:srgbClr val="FFFFFF"/>
                </a:solidFill>
                <a:latin typeface="Poppins"/>
                <a:ea typeface="Poppins"/>
              </a:rPr>
              <a:t>em</a:t>
            </a:r>
            <a:r>
              <a:rPr lang="en-US" sz="950" b="1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950" b="1" dirty="0" err="1">
                <a:solidFill>
                  <a:srgbClr val="FFFFFF"/>
                </a:solidFill>
                <a:latin typeface="Poppins"/>
                <a:ea typeface="Poppins"/>
              </a:rPr>
              <a:t>mídia</a:t>
            </a:r>
            <a:r>
              <a:rPr lang="en-US" sz="950" b="1" dirty="0">
                <a:solidFill>
                  <a:srgbClr val="FFFFFF"/>
                </a:solidFill>
                <a:latin typeface="Poppins"/>
                <a:ea typeface="Poppins"/>
              </a:rPr>
              <a:t>.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Com a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mesma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verba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, o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alcance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tende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a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cair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. Vale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combinar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isso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antes, para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lermos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o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mês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pela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régua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 </a:t>
            </a:r>
            <a:r>
              <a:rPr lang="en-US" sz="950" dirty="0" err="1">
                <a:solidFill>
                  <a:srgbClr val="FFFFFF"/>
                </a:solidFill>
                <a:latin typeface="Poppins"/>
                <a:ea typeface="Poppins"/>
              </a:rPr>
              <a:t>certa</a:t>
            </a:r>
            <a:r>
              <a:rPr lang="en-US" sz="950" dirty="0">
                <a:solidFill>
                  <a:srgbClr val="FFFFFF"/>
                </a:solidFill>
                <a:latin typeface="Poppins"/>
                <a:ea typeface="Poppins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6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69" name="TextBox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1C4C"/>
          </a:solidFill>
        </p:spPr>
        <p:txBody>
          <a:bodyPr/>
          <a:lstStyle/>
          <a:p>
            <a:endParaRPr/>
          </a:p>
        </p:txBody>
      </p:sp>
      <p:sp>
        <p:nvSpPr>
          <p:cNvPr id="100270" name="TextBox 2"/>
          <p:cNvSpPr txBox="1"/>
          <p:nvPr/>
        </p:nvSpPr>
        <p:spPr>
          <a:xfrm>
            <a:off x="822960" y="431800"/>
            <a:ext cx="105156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200">
                <a:solidFill>
                  <a:srgbClr val="1DAFE0"/>
                </a:solidFill>
                <a:latin typeface="Poppins"/>
                <a:ea typeface="Poppins"/>
              </a:rPr>
              <a:t>EM RESUMO</a:t>
            </a:r>
          </a:p>
        </p:txBody>
      </p:sp>
      <p:sp>
        <p:nvSpPr>
          <p:cNvPr id="100271" name="TextBox 3"/>
          <p:cNvSpPr txBox="1"/>
          <p:nvPr/>
        </p:nvSpPr>
        <p:spPr>
          <a:xfrm>
            <a:off x="822960" y="787400"/>
            <a:ext cx="105156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Julho entregou, agosto ajusta e mede, o ano já tem caminho</a:t>
            </a:r>
          </a:p>
        </p:txBody>
      </p:sp>
      <p:sp>
        <p:nvSpPr>
          <p:cNvPr id="100272" name="TextBox 4"/>
          <p:cNvSpPr/>
          <p:nvPr/>
        </p:nvSpPr>
        <p:spPr>
          <a:xfrm>
            <a:off x="822960" y="1498600"/>
            <a:ext cx="3365500" cy="1320800"/>
          </a:xfrm>
          <a:prstGeom prst="roundRect">
            <a:avLst>
              <a:gd name="adj" fmla="val 4000"/>
            </a:avLst>
          </a:prstGeom>
          <a:solidFill>
            <a:srgbClr val="0C4767"/>
          </a:solidFill>
        </p:spPr>
        <p:txBody>
          <a:bodyPr/>
          <a:lstStyle/>
          <a:p>
            <a:endParaRPr/>
          </a:p>
        </p:txBody>
      </p:sp>
      <p:sp>
        <p:nvSpPr>
          <p:cNvPr id="100273" name="TextBox 5"/>
          <p:cNvSpPr txBox="1"/>
          <p:nvPr/>
        </p:nvSpPr>
        <p:spPr>
          <a:xfrm>
            <a:off x="1076960" y="1651000"/>
            <a:ext cx="2870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00" b="1" spc="200">
                <a:solidFill>
                  <a:srgbClr val="FC496C"/>
                </a:solidFill>
                <a:latin typeface="Poppins"/>
                <a:ea typeface="Poppins"/>
              </a:rPr>
              <a:t>B2C</a:t>
            </a:r>
          </a:p>
        </p:txBody>
      </p:sp>
      <p:sp>
        <p:nvSpPr>
          <p:cNvPr id="100274" name="TextBox 6"/>
          <p:cNvSpPr txBox="1"/>
          <p:nvPr/>
        </p:nvSpPr>
        <p:spPr>
          <a:xfrm>
            <a:off x="1076960" y="1905000"/>
            <a:ext cx="2895600" cy="787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n-US" sz="1150">
                <a:solidFill>
                  <a:srgbClr val="FFFFFF"/>
                </a:solidFill>
                <a:latin typeface="Poppins"/>
                <a:ea typeface="Poppins"/>
              </a:rPr>
              <a:t>1,08 mi de pessoas alcançadas em 21 dias, a um custo por mil 19% menor que junho</a:t>
            </a:r>
          </a:p>
        </p:txBody>
      </p:sp>
      <p:sp>
        <p:nvSpPr>
          <p:cNvPr id="100275" name="TextBox 7"/>
          <p:cNvSpPr/>
          <p:nvPr/>
        </p:nvSpPr>
        <p:spPr>
          <a:xfrm>
            <a:off x="4442460" y="1498600"/>
            <a:ext cx="3365500" cy="1320800"/>
          </a:xfrm>
          <a:prstGeom prst="roundRect">
            <a:avLst>
              <a:gd name="adj" fmla="val 4000"/>
            </a:avLst>
          </a:prstGeom>
          <a:solidFill>
            <a:srgbClr val="0C4767"/>
          </a:solidFill>
        </p:spPr>
        <p:txBody>
          <a:bodyPr/>
          <a:lstStyle/>
          <a:p>
            <a:endParaRPr/>
          </a:p>
        </p:txBody>
      </p:sp>
      <p:sp>
        <p:nvSpPr>
          <p:cNvPr id="100276" name="TextBox 8"/>
          <p:cNvSpPr txBox="1"/>
          <p:nvPr/>
        </p:nvSpPr>
        <p:spPr>
          <a:xfrm>
            <a:off x="4696460" y="1651000"/>
            <a:ext cx="2870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00" b="1" spc="200">
                <a:solidFill>
                  <a:srgbClr val="FC496C"/>
                </a:solidFill>
                <a:latin typeface="Poppins"/>
                <a:ea typeface="Poppins"/>
              </a:rPr>
              <a:t>B2B</a:t>
            </a:r>
          </a:p>
        </p:txBody>
      </p:sp>
      <p:sp>
        <p:nvSpPr>
          <p:cNvPr id="100277" name="TextBox 9"/>
          <p:cNvSpPr txBox="1"/>
          <p:nvPr/>
        </p:nvSpPr>
        <p:spPr>
          <a:xfrm>
            <a:off x="4696460" y="1905000"/>
            <a:ext cx="2895600" cy="787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n-US" sz="1150">
                <a:solidFill>
                  <a:srgbClr val="FFFFFF"/>
                </a:solidFill>
                <a:latin typeface="Poppins"/>
                <a:ea typeface="Poppins"/>
              </a:rPr>
              <a:t>121 leads a R$ 33,41, com o custo por lead 30% abaixo de junho</a:t>
            </a:r>
          </a:p>
        </p:txBody>
      </p:sp>
      <p:sp>
        <p:nvSpPr>
          <p:cNvPr id="100278" name="TextBox 10"/>
          <p:cNvSpPr/>
          <p:nvPr/>
        </p:nvSpPr>
        <p:spPr>
          <a:xfrm>
            <a:off x="8061960" y="1498600"/>
            <a:ext cx="3365500" cy="1320800"/>
          </a:xfrm>
          <a:prstGeom prst="roundRect">
            <a:avLst>
              <a:gd name="adj" fmla="val 4000"/>
            </a:avLst>
          </a:prstGeom>
          <a:solidFill>
            <a:srgbClr val="0C4767"/>
          </a:solidFill>
        </p:spPr>
        <p:txBody>
          <a:bodyPr/>
          <a:lstStyle/>
          <a:p>
            <a:endParaRPr/>
          </a:p>
        </p:txBody>
      </p:sp>
      <p:sp>
        <p:nvSpPr>
          <p:cNvPr id="100279" name="TextBox 11"/>
          <p:cNvSpPr txBox="1"/>
          <p:nvPr/>
        </p:nvSpPr>
        <p:spPr>
          <a:xfrm>
            <a:off x="8315960" y="1651000"/>
            <a:ext cx="2870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00" b="1" spc="200">
                <a:solidFill>
                  <a:srgbClr val="FC496C"/>
                </a:solidFill>
                <a:latin typeface="Poppins"/>
                <a:ea typeface="Poppins"/>
              </a:rPr>
              <a:t>AGOSTO</a:t>
            </a:r>
          </a:p>
        </p:txBody>
      </p:sp>
      <p:sp>
        <p:nvSpPr>
          <p:cNvPr id="100280" name="TextBox 12"/>
          <p:cNvSpPr txBox="1"/>
          <p:nvPr/>
        </p:nvSpPr>
        <p:spPr>
          <a:xfrm>
            <a:off x="8315960" y="1905000"/>
            <a:ext cx="2895600" cy="787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n-US" sz="1150">
                <a:solidFill>
                  <a:srgbClr val="FFFFFF"/>
                </a:solidFill>
                <a:latin typeface="Poppins"/>
                <a:ea typeface="Poppins"/>
              </a:rPr>
              <a:t>otimização das duas frentes e a cadeia de captura de leads fechada</a:t>
            </a:r>
          </a:p>
        </p:txBody>
      </p:sp>
      <p:sp>
        <p:nvSpPr>
          <p:cNvPr id="100281" name="TextBox 13"/>
          <p:cNvSpPr txBox="1"/>
          <p:nvPr/>
        </p:nvSpPr>
        <p:spPr>
          <a:xfrm>
            <a:off x="822960" y="3098800"/>
            <a:ext cx="105156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200">
                <a:solidFill>
                  <a:srgbClr val="1DAFE0"/>
                </a:solidFill>
                <a:latin typeface="Poppins"/>
                <a:ea typeface="Poppins"/>
              </a:rPr>
              <a:t>O QUE DESTRAVA OS PRÓXIMOS MESES</a:t>
            </a:r>
          </a:p>
        </p:txBody>
      </p:sp>
      <p:sp>
        <p:nvSpPr>
          <p:cNvPr id="100282" name="TextBox 14"/>
          <p:cNvSpPr/>
          <p:nvPr/>
        </p:nvSpPr>
        <p:spPr>
          <a:xfrm>
            <a:off x="822960" y="3505200"/>
            <a:ext cx="381000" cy="381000"/>
          </a:xfrm>
          <a:prstGeom prst="ellipse">
            <a:avLst/>
          </a:prstGeom>
          <a:solidFill>
            <a:srgbClr val="E01C4C"/>
          </a:solidFill>
        </p:spPr>
        <p:txBody>
          <a:bodyPr/>
          <a:lstStyle/>
          <a:p>
            <a:endParaRPr/>
          </a:p>
        </p:txBody>
      </p:sp>
      <p:sp>
        <p:nvSpPr>
          <p:cNvPr id="100283" name="TextBox 15"/>
          <p:cNvSpPr txBox="1"/>
          <p:nvPr/>
        </p:nvSpPr>
        <p:spPr>
          <a:xfrm>
            <a:off x="822960" y="3505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Poppins"/>
                <a:ea typeface="Poppins"/>
              </a:rPr>
              <a:t>1</a:t>
            </a:r>
          </a:p>
        </p:txBody>
      </p:sp>
      <p:sp>
        <p:nvSpPr>
          <p:cNvPr id="100284" name="TextBox 16"/>
          <p:cNvSpPr txBox="1"/>
          <p:nvPr/>
        </p:nvSpPr>
        <p:spPr>
          <a:xfrm>
            <a:off x="1371600" y="3492500"/>
            <a:ext cx="3556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FFFFFF"/>
                </a:solidFill>
                <a:latin typeface="Poppins"/>
                <a:ea typeface="Poppins"/>
              </a:rPr>
              <a:t>Um fluxo de retorno do comercial</a:t>
            </a:r>
          </a:p>
        </p:txBody>
      </p:sp>
      <p:sp>
        <p:nvSpPr>
          <p:cNvPr id="100285" name="TextBox 17"/>
          <p:cNvSpPr txBox="1"/>
          <p:nvPr/>
        </p:nvSpPr>
        <p:spPr>
          <a:xfrm>
            <a:off x="5029200" y="3492500"/>
            <a:ext cx="62992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quais leads viram visita e quais viram contrato, de forma contínua e não pontual. É o que nos deixa otimizar por resultado, e não só por custo.</a:t>
            </a:r>
          </a:p>
        </p:txBody>
      </p:sp>
      <p:sp>
        <p:nvSpPr>
          <p:cNvPr id="100286" name="TextBox 18"/>
          <p:cNvSpPr/>
          <p:nvPr/>
        </p:nvSpPr>
        <p:spPr>
          <a:xfrm>
            <a:off x="822960" y="4191000"/>
            <a:ext cx="381000" cy="381000"/>
          </a:xfrm>
          <a:prstGeom prst="ellipse">
            <a:avLst/>
          </a:prstGeom>
          <a:solidFill>
            <a:srgbClr val="E01C4C"/>
          </a:solidFill>
        </p:spPr>
        <p:txBody>
          <a:bodyPr/>
          <a:lstStyle/>
          <a:p>
            <a:endParaRPr/>
          </a:p>
        </p:txBody>
      </p:sp>
      <p:sp>
        <p:nvSpPr>
          <p:cNvPr id="100287" name="TextBox 19"/>
          <p:cNvSpPr txBox="1"/>
          <p:nvPr/>
        </p:nvSpPr>
        <p:spPr>
          <a:xfrm>
            <a:off x="822960" y="41910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Poppins"/>
                <a:ea typeface="Poppins"/>
              </a:rPr>
              <a:t>2</a:t>
            </a:r>
          </a:p>
        </p:txBody>
      </p:sp>
      <p:sp>
        <p:nvSpPr>
          <p:cNvPr id="100288" name="TextBox 20"/>
          <p:cNvSpPr txBox="1"/>
          <p:nvPr/>
        </p:nvSpPr>
        <p:spPr>
          <a:xfrm>
            <a:off x="1371600" y="4178300"/>
            <a:ext cx="3556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FFFFFF"/>
                </a:solidFill>
                <a:latin typeface="Poppins"/>
                <a:ea typeface="Poppins"/>
              </a:rPr>
              <a:t>A base histórica de 2025</a:t>
            </a:r>
          </a:p>
        </p:txBody>
      </p:sp>
      <p:sp>
        <p:nvSpPr>
          <p:cNvPr id="100289" name="TextBox 21"/>
          <p:cNvSpPr txBox="1"/>
          <p:nvPr/>
        </p:nvSpPr>
        <p:spPr>
          <a:xfrm>
            <a:off x="5029200" y="4178300"/>
            <a:ext cx="62992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eu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levanto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50" dirty="0" smtClean="0">
                <a:solidFill>
                  <a:srgbClr val="B9CBD6"/>
                </a:solidFill>
                <a:latin typeface="Poppins"/>
                <a:ea typeface="Poppins"/>
              </a:rPr>
              <a:t>dados Meta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, Google e </a:t>
            </a:r>
            <a:r>
              <a:rPr lang="en-US" sz="1050" dirty="0" err="1" smtClean="0">
                <a:solidFill>
                  <a:srgbClr val="B9CBD6"/>
                </a:solidFill>
                <a:latin typeface="Poppins"/>
                <a:ea typeface="Poppins"/>
              </a:rPr>
              <a:t>fluxo</a:t>
            </a:r>
            <a:r>
              <a:rPr lang="en-US" sz="1050" dirty="0" smtClean="0">
                <a:solidFill>
                  <a:srgbClr val="B9CBD6"/>
                </a:solidFill>
                <a:latin typeface="Poppins"/>
                <a:ea typeface="Poppins"/>
              </a:rPr>
              <a:t> de </a:t>
            </a:r>
            <a:r>
              <a:rPr lang="en-US" sz="1050" dirty="0" err="1" smtClean="0">
                <a:solidFill>
                  <a:srgbClr val="B9CBD6"/>
                </a:solidFill>
                <a:latin typeface="Poppins"/>
                <a:ea typeface="Poppins"/>
              </a:rPr>
              <a:t>pessoas</a:t>
            </a:r>
            <a:r>
              <a:rPr lang="en-US" sz="1050" dirty="0" smtClean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50" dirty="0" err="1" smtClean="0">
                <a:solidFill>
                  <a:srgbClr val="B9CBD6"/>
                </a:solidFill>
                <a:latin typeface="Poppins"/>
                <a:ea typeface="Poppins"/>
              </a:rPr>
              <a:t>até</a:t>
            </a:r>
            <a:r>
              <a:rPr lang="en-US" sz="1050" dirty="0" smtClean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31/08. É o que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dá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base de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comparação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para a Black Friday e o Natal.</a:t>
            </a:r>
          </a:p>
        </p:txBody>
      </p:sp>
      <p:sp>
        <p:nvSpPr>
          <p:cNvPr id="100290" name="TextBox 22"/>
          <p:cNvSpPr/>
          <p:nvPr/>
        </p:nvSpPr>
        <p:spPr>
          <a:xfrm>
            <a:off x="822960" y="4876800"/>
            <a:ext cx="381000" cy="381000"/>
          </a:xfrm>
          <a:prstGeom prst="ellipse">
            <a:avLst/>
          </a:prstGeom>
          <a:solidFill>
            <a:srgbClr val="E01C4C"/>
          </a:solidFill>
        </p:spPr>
        <p:txBody>
          <a:bodyPr/>
          <a:lstStyle/>
          <a:p>
            <a:endParaRPr/>
          </a:p>
        </p:txBody>
      </p:sp>
      <p:sp>
        <p:nvSpPr>
          <p:cNvPr id="100291" name="TextBox 23"/>
          <p:cNvSpPr txBox="1"/>
          <p:nvPr/>
        </p:nvSpPr>
        <p:spPr>
          <a:xfrm>
            <a:off x="822960" y="48768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Poppins"/>
                <a:ea typeface="Poppins"/>
              </a:rPr>
              <a:t>3</a:t>
            </a:r>
          </a:p>
        </p:txBody>
      </p:sp>
      <p:sp>
        <p:nvSpPr>
          <p:cNvPr id="100292" name="TextBox 24"/>
          <p:cNvSpPr txBox="1"/>
          <p:nvPr/>
        </p:nvSpPr>
        <p:spPr>
          <a:xfrm>
            <a:off x="1371600" y="4864100"/>
            <a:ext cx="3556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FFFFFF"/>
                </a:solidFill>
                <a:latin typeface="Poppins"/>
                <a:ea typeface="Poppins"/>
              </a:rPr>
              <a:t>As datas combinadas com antecedência</a:t>
            </a:r>
          </a:p>
        </p:txBody>
      </p:sp>
      <p:sp>
        <p:nvSpPr>
          <p:cNvPr id="100293" name="TextBox 25"/>
          <p:cNvSpPr txBox="1"/>
          <p:nvPr/>
        </p:nvSpPr>
        <p:spPr>
          <a:xfrm>
            <a:off x="5029200" y="4864100"/>
            <a:ext cx="62992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quanto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antes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fecharmos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o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calendário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,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mais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fácil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encaixar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na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fila </a:t>
            </a:r>
            <a:r>
              <a:rPr lang="en-US" sz="1050" dirty="0" smtClean="0">
                <a:solidFill>
                  <a:srgbClr val="B9CBD6"/>
                </a:solidFill>
                <a:latin typeface="Poppins"/>
                <a:ea typeface="Poppins"/>
              </a:rPr>
              <a:t>de </a:t>
            </a:r>
            <a:r>
              <a:rPr lang="en-US" sz="1050" dirty="0" err="1" smtClean="0">
                <a:solidFill>
                  <a:srgbClr val="B9CBD6"/>
                </a:solidFill>
                <a:latin typeface="Poppins"/>
                <a:ea typeface="Poppins"/>
              </a:rPr>
              <a:t>produção</a:t>
            </a:r>
            <a:r>
              <a:rPr lang="en-US" sz="1050" dirty="0" smtClean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50" dirty="0" err="1" smtClean="0">
                <a:solidFill>
                  <a:srgbClr val="B9CBD6"/>
                </a:solidFill>
                <a:latin typeface="Poppins"/>
                <a:ea typeface="Poppins"/>
              </a:rPr>
              <a:t>criativa</a:t>
            </a:r>
            <a:r>
              <a:rPr lang="en-US" sz="1050" dirty="0" smtClean="0">
                <a:solidFill>
                  <a:srgbClr val="B9CBD6"/>
                </a:solidFill>
                <a:latin typeface="Poppins"/>
                <a:ea typeface="Poppins"/>
              </a:rPr>
              <a:t> e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garantir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os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15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dias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mínimos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no ar.</a:t>
            </a:r>
          </a:p>
        </p:txBody>
      </p:sp>
      <p:sp>
        <p:nvSpPr>
          <p:cNvPr id="100294" name="TextBox 26"/>
          <p:cNvSpPr/>
          <p:nvPr/>
        </p:nvSpPr>
        <p:spPr>
          <a:xfrm>
            <a:off x="822960" y="5562600"/>
            <a:ext cx="381000" cy="381000"/>
          </a:xfrm>
          <a:prstGeom prst="ellipse">
            <a:avLst/>
          </a:prstGeom>
          <a:solidFill>
            <a:srgbClr val="E01C4C"/>
          </a:solidFill>
        </p:spPr>
        <p:txBody>
          <a:bodyPr/>
          <a:lstStyle/>
          <a:p>
            <a:endParaRPr/>
          </a:p>
        </p:txBody>
      </p:sp>
      <p:sp>
        <p:nvSpPr>
          <p:cNvPr id="100295" name="TextBox 27"/>
          <p:cNvSpPr txBox="1"/>
          <p:nvPr/>
        </p:nvSpPr>
        <p:spPr>
          <a:xfrm>
            <a:off x="822960" y="5562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Poppins"/>
                <a:ea typeface="Poppins"/>
              </a:rPr>
              <a:t>4</a:t>
            </a:r>
          </a:p>
        </p:txBody>
      </p:sp>
      <p:sp>
        <p:nvSpPr>
          <p:cNvPr id="100296" name="TextBox 28"/>
          <p:cNvSpPr txBox="1"/>
          <p:nvPr/>
        </p:nvSpPr>
        <p:spPr>
          <a:xfrm>
            <a:off x="1371600" y="5549900"/>
            <a:ext cx="3556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FFFFFF"/>
                </a:solidFill>
                <a:latin typeface="Poppins"/>
                <a:ea typeface="Poppins"/>
              </a:rPr>
              <a:t>A limpeza do site</a:t>
            </a:r>
          </a:p>
        </p:txBody>
      </p:sp>
      <p:sp>
        <p:nvSpPr>
          <p:cNvPr id="100297" name="TextBox 29"/>
          <p:cNvSpPr txBox="1"/>
          <p:nvPr/>
        </p:nvSpPr>
        <p:spPr>
          <a:xfrm>
            <a:off x="5029200" y="5549900"/>
            <a:ext cx="62992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o site do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grupo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está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com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injeção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de spam de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apostas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, o que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gera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risco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de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política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no Google Ads. Vale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endereçar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com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quem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B9CBD6"/>
                </a:solidFill>
                <a:latin typeface="Poppins"/>
                <a:ea typeface="Poppins"/>
              </a:rPr>
              <a:t>mantém</a:t>
            </a:r>
            <a:r>
              <a:rPr lang="en-US" sz="1050" dirty="0">
                <a:solidFill>
                  <a:srgbClr val="B9CBD6"/>
                </a:solidFill>
                <a:latin typeface="Poppins"/>
                <a:ea typeface="Poppins"/>
              </a:rPr>
              <a:t> o site e o RD </a:t>
            </a:r>
            <a:r>
              <a:rPr lang="en-US" sz="1050" dirty="0" smtClean="0">
                <a:solidFill>
                  <a:srgbClr val="B9CBD6"/>
                </a:solidFill>
                <a:latin typeface="Poppins"/>
                <a:ea typeface="Poppins"/>
              </a:rPr>
              <a:t>Station (</a:t>
            </a:r>
            <a:r>
              <a:rPr lang="en-US" sz="1050" dirty="0" err="1" smtClean="0">
                <a:solidFill>
                  <a:srgbClr val="B9CBD6"/>
                </a:solidFill>
                <a:latin typeface="Poppins"/>
                <a:ea typeface="Poppins"/>
              </a:rPr>
              <a:t>isso</a:t>
            </a:r>
            <a:r>
              <a:rPr lang="en-US" sz="1050" dirty="0" smtClean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50" dirty="0" err="1" smtClean="0">
                <a:solidFill>
                  <a:srgbClr val="B9CBD6"/>
                </a:solidFill>
                <a:latin typeface="Poppins"/>
                <a:ea typeface="Poppins"/>
              </a:rPr>
              <a:t>inclui</a:t>
            </a:r>
            <a:r>
              <a:rPr lang="en-US" sz="1050" dirty="0" smtClean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050" dirty="0" err="1" smtClean="0">
                <a:solidFill>
                  <a:srgbClr val="B9CBD6"/>
                </a:solidFill>
                <a:latin typeface="Poppins"/>
                <a:ea typeface="Poppins"/>
              </a:rPr>
              <a:t>atual</a:t>
            </a:r>
            <a:r>
              <a:rPr lang="en-US" sz="1050" dirty="0" smtClean="0">
                <a:solidFill>
                  <a:srgbClr val="B9CBD6"/>
                </a:solidFill>
                <a:latin typeface="Poppins"/>
                <a:ea typeface="Poppins"/>
              </a:rPr>
              <a:t> LP B2B).</a:t>
            </a:r>
            <a:endParaRPr lang="en-US" sz="1050" dirty="0">
              <a:solidFill>
                <a:srgbClr val="B9CBD6"/>
              </a:solidFill>
              <a:latin typeface="Poppins"/>
              <a:ea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98" name="TextBox 1"/>
          <p:cNvSpPr txBox="1"/>
          <p:nvPr/>
        </p:nvSpPr>
        <p:spPr>
          <a:xfrm>
            <a:off x="640080" y="431800"/>
            <a:ext cx="1091184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ANEXO · TURBINAR JULHO / 2026</a:t>
            </a:r>
          </a:p>
        </p:txBody>
      </p:sp>
      <p:sp>
        <p:nvSpPr>
          <p:cNvPr id="100299" name="TextBox 2"/>
          <p:cNvSpPr txBox="1"/>
          <p:nvPr/>
        </p:nvSpPr>
        <p:spPr>
          <a:xfrm>
            <a:off x="640080" y="812800"/>
            <a:ext cx="1091184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700" b="1">
                <a:solidFill>
                  <a:srgbClr val="093652"/>
                </a:solidFill>
                <a:latin typeface="Poppins"/>
                <a:ea typeface="Poppins"/>
              </a:rPr>
              <a:t>Detalhamento peça a peça</a:t>
            </a:r>
          </a:p>
        </p:txBody>
      </p:sp>
      <p:sp>
        <p:nvSpPr>
          <p:cNvPr id="100300" name="TextBox 3"/>
          <p:cNvSpPr txBox="1"/>
          <p:nvPr/>
        </p:nvSpPr>
        <p:spPr>
          <a:xfrm>
            <a:off x="640080" y="1397000"/>
            <a:ext cx="1091184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Somente julho. Gasto realizado até 24/07 mais o previsto até 31/07.</a:t>
            </a:r>
          </a:p>
        </p:txBody>
      </p:sp>
      <p:sp>
        <p:nvSpPr>
          <p:cNvPr id="100301" name="TextBox 4"/>
          <p:cNvSpPr/>
          <p:nvPr/>
        </p:nvSpPr>
        <p:spPr>
          <a:xfrm>
            <a:off x="640080" y="1854200"/>
            <a:ext cx="5323840" cy="4191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302" name="TextBox 5"/>
          <p:cNvSpPr txBox="1"/>
          <p:nvPr/>
        </p:nvSpPr>
        <p:spPr>
          <a:xfrm>
            <a:off x="894080" y="20066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157DBF"/>
                </a:solidFill>
                <a:latin typeface="Poppins"/>
                <a:ea typeface="Poppins"/>
              </a:rPr>
              <a:t>LOJAS  ·  9 peças</a:t>
            </a:r>
          </a:p>
        </p:txBody>
      </p:sp>
      <p:sp>
        <p:nvSpPr>
          <p:cNvPr id="100303" name="TextBox 6"/>
          <p:cNvSpPr txBox="1"/>
          <p:nvPr/>
        </p:nvSpPr>
        <p:spPr>
          <a:xfrm>
            <a:off x="4069080" y="2006600"/>
            <a:ext cx="1625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000" b="1">
                <a:solidFill>
                  <a:srgbClr val="093652"/>
                </a:solidFill>
                <a:latin typeface="Poppins"/>
                <a:ea typeface="Poppins"/>
              </a:rPr>
              <a:t>R$ 1.022  ·  43,5%</a:t>
            </a:r>
          </a:p>
        </p:txBody>
      </p:sp>
      <p:sp>
        <p:nvSpPr>
          <p:cNvPr id="100304" name="TextBox 7"/>
          <p:cNvSpPr txBox="1"/>
          <p:nvPr/>
        </p:nvSpPr>
        <p:spPr>
          <a:xfrm>
            <a:off x="894080" y="2362200"/>
            <a:ext cx="20066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750" b="1" spc="100">
                <a:solidFill>
                  <a:srgbClr val="6B7280"/>
                </a:solidFill>
                <a:latin typeface="Poppins"/>
                <a:ea typeface="Poppins"/>
              </a:rPr>
              <a:t>PEÇA</a:t>
            </a:r>
          </a:p>
        </p:txBody>
      </p:sp>
      <p:sp>
        <p:nvSpPr>
          <p:cNvPr id="100305" name="TextBox 8"/>
          <p:cNvSpPr txBox="1"/>
          <p:nvPr/>
        </p:nvSpPr>
        <p:spPr>
          <a:xfrm>
            <a:off x="2951480" y="2362200"/>
            <a:ext cx="9906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750" b="1" spc="100">
                <a:solidFill>
                  <a:srgbClr val="6B7280"/>
                </a:solidFill>
                <a:latin typeface="Poppins"/>
                <a:ea typeface="Poppins"/>
              </a:rPr>
              <a:t>PERÍODO</a:t>
            </a:r>
          </a:p>
        </p:txBody>
      </p:sp>
      <p:sp>
        <p:nvSpPr>
          <p:cNvPr id="100306" name="TextBox 9"/>
          <p:cNvSpPr txBox="1"/>
          <p:nvPr/>
        </p:nvSpPr>
        <p:spPr>
          <a:xfrm>
            <a:off x="3967480" y="2362200"/>
            <a:ext cx="3810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750" b="1" spc="100">
                <a:solidFill>
                  <a:srgbClr val="6B7280"/>
                </a:solidFill>
                <a:latin typeface="Poppins"/>
                <a:ea typeface="Poppins"/>
              </a:rPr>
              <a:t>DIAS</a:t>
            </a:r>
          </a:p>
        </p:txBody>
      </p:sp>
      <p:sp>
        <p:nvSpPr>
          <p:cNvPr id="100307" name="TextBox 10"/>
          <p:cNvSpPr txBox="1"/>
          <p:nvPr/>
        </p:nvSpPr>
        <p:spPr>
          <a:xfrm>
            <a:off x="4373880" y="23622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750" b="1" spc="100">
                <a:solidFill>
                  <a:srgbClr val="6B7280"/>
                </a:solidFill>
                <a:latin typeface="Poppins"/>
                <a:ea typeface="Poppins"/>
              </a:rPr>
              <a:t>R$/DIA</a:t>
            </a:r>
          </a:p>
        </p:txBody>
      </p:sp>
      <p:sp>
        <p:nvSpPr>
          <p:cNvPr id="100308" name="TextBox 11"/>
          <p:cNvSpPr txBox="1"/>
          <p:nvPr/>
        </p:nvSpPr>
        <p:spPr>
          <a:xfrm>
            <a:off x="5059680" y="2362200"/>
            <a:ext cx="6477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750" b="1" spc="100">
                <a:solidFill>
                  <a:srgbClr val="6B7280"/>
                </a:solidFill>
                <a:latin typeface="Poppins"/>
                <a:ea typeface="Poppins"/>
              </a:rPr>
              <a:t>TOTAL</a:t>
            </a:r>
          </a:p>
        </p:txBody>
      </p:sp>
      <p:sp>
        <p:nvSpPr>
          <p:cNvPr id="100309" name="TextBox 12"/>
          <p:cNvSpPr txBox="1"/>
          <p:nvPr/>
        </p:nvSpPr>
        <p:spPr>
          <a:xfrm>
            <a:off x="894080" y="2616200"/>
            <a:ext cx="2006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Bella da Ju</a:t>
            </a:r>
          </a:p>
        </p:txBody>
      </p:sp>
      <p:sp>
        <p:nvSpPr>
          <p:cNvPr id="100310" name="TextBox 13"/>
          <p:cNvSpPr txBox="1"/>
          <p:nvPr/>
        </p:nvSpPr>
        <p:spPr>
          <a:xfrm>
            <a:off x="2951480" y="2616200"/>
            <a:ext cx="990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30/06 → 30/07</a:t>
            </a:r>
          </a:p>
        </p:txBody>
      </p:sp>
      <p:sp>
        <p:nvSpPr>
          <p:cNvPr id="100311" name="TextBox 14"/>
          <p:cNvSpPr txBox="1"/>
          <p:nvPr/>
        </p:nvSpPr>
        <p:spPr>
          <a:xfrm>
            <a:off x="3967480" y="26162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30</a:t>
            </a:r>
          </a:p>
        </p:txBody>
      </p:sp>
      <p:sp>
        <p:nvSpPr>
          <p:cNvPr id="100312" name="TextBox 15"/>
          <p:cNvSpPr txBox="1"/>
          <p:nvPr/>
        </p:nvSpPr>
        <p:spPr>
          <a:xfrm>
            <a:off x="4373880" y="26162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9</a:t>
            </a:r>
          </a:p>
        </p:txBody>
      </p:sp>
      <p:sp>
        <p:nvSpPr>
          <p:cNvPr id="100313" name="TextBox 16"/>
          <p:cNvSpPr txBox="1"/>
          <p:nvPr/>
        </p:nvSpPr>
        <p:spPr>
          <a:xfrm>
            <a:off x="5059680" y="2616200"/>
            <a:ext cx="6477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272</a:t>
            </a:r>
          </a:p>
        </p:txBody>
      </p:sp>
      <p:sp>
        <p:nvSpPr>
          <p:cNvPr id="100314" name="TextBox 17"/>
          <p:cNvSpPr txBox="1"/>
          <p:nvPr/>
        </p:nvSpPr>
        <p:spPr>
          <a:xfrm>
            <a:off x="894080" y="2921000"/>
            <a:ext cx="2006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De Meninas</a:t>
            </a:r>
          </a:p>
        </p:txBody>
      </p:sp>
      <p:sp>
        <p:nvSpPr>
          <p:cNvPr id="100315" name="TextBox 18"/>
          <p:cNvSpPr txBox="1"/>
          <p:nvPr/>
        </p:nvSpPr>
        <p:spPr>
          <a:xfrm>
            <a:off x="2951480" y="2921000"/>
            <a:ext cx="990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24/06 → 23/07</a:t>
            </a:r>
          </a:p>
        </p:txBody>
      </p:sp>
      <p:sp>
        <p:nvSpPr>
          <p:cNvPr id="100316" name="TextBox 19"/>
          <p:cNvSpPr txBox="1"/>
          <p:nvPr/>
        </p:nvSpPr>
        <p:spPr>
          <a:xfrm>
            <a:off x="3967480" y="29210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23</a:t>
            </a:r>
          </a:p>
        </p:txBody>
      </p:sp>
      <p:sp>
        <p:nvSpPr>
          <p:cNvPr id="100317" name="TextBox 20"/>
          <p:cNvSpPr txBox="1"/>
          <p:nvPr/>
        </p:nvSpPr>
        <p:spPr>
          <a:xfrm>
            <a:off x="4373880" y="29210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10</a:t>
            </a:r>
          </a:p>
        </p:txBody>
      </p:sp>
      <p:sp>
        <p:nvSpPr>
          <p:cNvPr id="100318" name="TextBox 21"/>
          <p:cNvSpPr txBox="1"/>
          <p:nvPr/>
        </p:nvSpPr>
        <p:spPr>
          <a:xfrm>
            <a:off x="5059680" y="2921000"/>
            <a:ext cx="6477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222</a:t>
            </a:r>
          </a:p>
        </p:txBody>
      </p:sp>
      <p:sp>
        <p:nvSpPr>
          <p:cNvPr id="100319" name="TextBox 22"/>
          <p:cNvSpPr txBox="1"/>
          <p:nvPr/>
        </p:nvSpPr>
        <p:spPr>
          <a:xfrm>
            <a:off x="894080" y="3225800"/>
            <a:ext cx="2006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Ivare</a:t>
            </a:r>
          </a:p>
        </p:txBody>
      </p:sp>
      <p:sp>
        <p:nvSpPr>
          <p:cNvPr id="100320" name="TextBox 23"/>
          <p:cNvSpPr txBox="1"/>
          <p:nvPr/>
        </p:nvSpPr>
        <p:spPr>
          <a:xfrm>
            <a:off x="2951480" y="3225800"/>
            <a:ext cx="990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15/06 → 15/07</a:t>
            </a:r>
          </a:p>
        </p:txBody>
      </p:sp>
      <p:sp>
        <p:nvSpPr>
          <p:cNvPr id="100321" name="TextBox 24"/>
          <p:cNvSpPr txBox="1"/>
          <p:nvPr/>
        </p:nvSpPr>
        <p:spPr>
          <a:xfrm>
            <a:off x="3967480" y="32258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15</a:t>
            </a:r>
          </a:p>
        </p:txBody>
      </p:sp>
      <p:sp>
        <p:nvSpPr>
          <p:cNvPr id="100322" name="TextBox 25"/>
          <p:cNvSpPr txBox="1"/>
          <p:nvPr/>
        </p:nvSpPr>
        <p:spPr>
          <a:xfrm>
            <a:off x="4373880" y="32258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10</a:t>
            </a:r>
          </a:p>
        </p:txBody>
      </p:sp>
      <p:sp>
        <p:nvSpPr>
          <p:cNvPr id="100323" name="TextBox 26"/>
          <p:cNvSpPr txBox="1"/>
          <p:nvPr/>
        </p:nvSpPr>
        <p:spPr>
          <a:xfrm>
            <a:off x="5059680" y="3225800"/>
            <a:ext cx="6477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143</a:t>
            </a:r>
          </a:p>
        </p:txBody>
      </p:sp>
      <p:sp>
        <p:nvSpPr>
          <p:cNvPr id="100324" name="TextBox 27"/>
          <p:cNvSpPr txBox="1"/>
          <p:nvPr/>
        </p:nvSpPr>
        <p:spPr>
          <a:xfrm>
            <a:off x="894080" y="3530600"/>
            <a:ext cx="2006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Sol Kids</a:t>
            </a:r>
          </a:p>
        </p:txBody>
      </p:sp>
      <p:sp>
        <p:nvSpPr>
          <p:cNvPr id="100325" name="TextBox 28"/>
          <p:cNvSpPr txBox="1"/>
          <p:nvPr/>
        </p:nvSpPr>
        <p:spPr>
          <a:xfrm>
            <a:off x="2951480" y="3530600"/>
            <a:ext cx="990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16/06 → 16/07</a:t>
            </a:r>
          </a:p>
        </p:txBody>
      </p:sp>
      <p:sp>
        <p:nvSpPr>
          <p:cNvPr id="100326" name="TextBox 29"/>
          <p:cNvSpPr txBox="1"/>
          <p:nvPr/>
        </p:nvSpPr>
        <p:spPr>
          <a:xfrm>
            <a:off x="3967480" y="35306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16</a:t>
            </a:r>
          </a:p>
        </p:txBody>
      </p:sp>
      <p:sp>
        <p:nvSpPr>
          <p:cNvPr id="100327" name="TextBox 30"/>
          <p:cNvSpPr txBox="1"/>
          <p:nvPr/>
        </p:nvSpPr>
        <p:spPr>
          <a:xfrm>
            <a:off x="4373880" y="35306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7</a:t>
            </a:r>
          </a:p>
        </p:txBody>
      </p:sp>
      <p:sp>
        <p:nvSpPr>
          <p:cNvPr id="100328" name="TextBox 31"/>
          <p:cNvSpPr txBox="1"/>
          <p:nvPr/>
        </p:nvSpPr>
        <p:spPr>
          <a:xfrm>
            <a:off x="5059680" y="3530600"/>
            <a:ext cx="6477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107</a:t>
            </a:r>
          </a:p>
        </p:txBody>
      </p:sp>
      <p:sp>
        <p:nvSpPr>
          <p:cNvPr id="100329" name="TextBox 32"/>
          <p:cNvSpPr txBox="1"/>
          <p:nvPr/>
        </p:nvSpPr>
        <p:spPr>
          <a:xfrm>
            <a:off x="894080" y="3835400"/>
            <a:ext cx="2006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Mercadão dos Celulares</a:t>
            </a:r>
          </a:p>
        </p:txBody>
      </p:sp>
      <p:sp>
        <p:nvSpPr>
          <p:cNvPr id="100330" name="TextBox 33"/>
          <p:cNvSpPr txBox="1"/>
          <p:nvPr/>
        </p:nvSpPr>
        <p:spPr>
          <a:xfrm>
            <a:off x="2951480" y="3835400"/>
            <a:ext cx="990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10/06 → 10/07</a:t>
            </a:r>
          </a:p>
        </p:txBody>
      </p:sp>
      <p:sp>
        <p:nvSpPr>
          <p:cNvPr id="100331" name="TextBox 34"/>
          <p:cNvSpPr txBox="1"/>
          <p:nvPr/>
        </p:nvSpPr>
        <p:spPr>
          <a:xfrm>
            <a:off x="3967480" y="38354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10</a:t>
            </a:r>
          </a:p>
        </p:txBody>
      </p:sp>
      <p:sp>
        <p:nvSpPr>
          <p:cNvPr id="100332" name="TextBox 35"/>
          <p:cNvSpPr txBox="1"/>
          <p:nvPr/>
        </p:nvSpPr>
        <p:spPr>
          <a:xfrm>
            <a:off x="4373880" y="38354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7</a:t>
            </a:r>
          </a:p>
        </p:txBody>
      </p:sp>
      <p:sp>
        <p:nvSpPr>
          <p:cNvPr id="100333" name="TextBox 36"/>
          <p:cNvSpPr txBox="1"/>
          <p:nvPr/>
        </p:nvSpPr>
        <p:spPr>
          <a:xfrm>
            <a:off x="5059680" y="3835400"/>
            <a:ext cx="6477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65</a:t>
            </a:r>
          </a:p>
        </p:txBody>
      </p:sp>
      <p:sp>
        <p:nvSpPr>
          <p:cNvPr id="100334" name="TextBox 37"/>
          <p:cNvSpPr txBox="1"/>
          <p:nvPr/>
        </p:nvSpPr>
        <p:spPr>
          <a:xfrm>
            <a:off x="894080" y="4140200"/>
            <a:ext cx="2006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Top Livros</a:t>
            </a:r>
          </a:p>
        </p:txBody>
      </p:sp>
      <p:sp>
        <p:nvSpPr>
          <p:cNvPr id="100335" name="TextBox 38"/>
          <p:cNvSpPr txBox="1"/>
          <p:nvPr/>
        </p:nvSpPr>
        <p:spPr>
          <a:xfrm>
            <a:off x="2951480" y="4140200"/>
            <a:ext cx="990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21/07 → 20/08</a:t>
            </a:r>
          </a:p>
        </p:txBody>
      </p:sp>
      <p:sp>
        <p:nvSpPr>
          <p:cNvPr id="100336" name="TextBox 39"/>
          <p:cNvSpPr txBox="1"/>
          <p:nvPr/>
        </p:nvSpPr>
        <p:spPr>
          <a:xfrm>
            <a:off x="3967480" y="41402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11</a:t>
            </a:r>
          </a:p>
        </p:txBody>
      </p:sp>
      <p:sp>
        <p:nvSpPr>
          <p:cNvPr id="100337" name="TextBox 40"/>
          <p:cNvSpPr txBox="1"/>
          <p:nvPr/>
        </p:nvSpPr>
        <p:spPr>
          <a:xfrm>
            <a:off x="4373880" y="41402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6</a:t>
            </a:r>
          </a:p>
        </p:txBody>
      </p:sp>
      <p:sp>
        <p:nvSpPr>
          <p:cNvPr id="100338" name="TextBox 41"/>
          <p:cNvSpPr txBox="1"/>
          <p:nvPr/>
        </p:nvSpPr>
        <p:spPr>
          <a:xfrm>
            <a:off x="5059680" y="4140200"/>
            <a:ext cx="6477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64</a:t>
            </a:r>
          </a:p>
        </p:txBody>
      </p:sp>
      <p:sp>
        <p:nvSpPr>
          <p:cNvPr id="100339" name="TextBox 42"/>
          <p:cNvSpPr txBox="1"/>
          <p:nvPr/>
        </p:nvSpPr>
        <p:spPr>
          <a:xfrm>
            <a:off x="894080" y="4445000"/>
            <a:ext cx="2006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Urban Market</a:t>
            </a:r>
          </a:p>
        </p:txBody>
      </p:sp>
      <p:sp>
        <p:nvSpPr>
          <p:cNvPr id="100340" name="TextBox 43"/>
          <p:cNvSpPr txBox="1"/>
          <p:nvPr/>
        </p:nvSpPr>
        <p:spPr>
          <a:xfrm>
            <a:off x="2951480" y="4445000"/>
            <a:ext cx="990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21/07 → 20/08</a:t>
            </a:r>
          </a:p>
        </p:txBody>
      </p:sp>
      <p:sp>
        <p:nvSpPr>
          <p:cNvPr id="100341" name="TextBox 44"/>
          <p:cNvSpPr txBox="1"/>
          <p:nvPr/>
        </p:nvSpPr>
        <p:spPr>
          <a:xfrm>
            <a:off x="3967480" y="44450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11</a:t>
            </a:r>
          </a:p>
        </p:txBody>
      </p:sp>
      <p:sp>
        <p:nvSpPr>
          <p:cNvPr id="100342" name="TextBox 45"/>
          <p:cNvSpPr txBox="1"/>
          <p:nvPr/>
        </p:nvSpPr>
        <p:spPr>
          <a:xfrm>
            <a:off x="4373880" y="44450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6</a:t>
            </a:r>
          </a:p>
        </p:txBody>
      </p:sp>
      <p:sp>
        <p:nvSpPr>
          <p:cNvPr id="100343" name="TextBox 46"/>
          <p:cNvSpPr txBox="1"/>
          <p:nvPr/>
        </p:nvSpPr>
        <p:spPr>
          <a:xfrm>
            <a:off x="5059680" y="4445000"/>
            <a:ext cx="6477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64</a:t>
            </a:r>
          </a:p>
        </p:txBody>
      </p:sp>
      <p:sp>
        <p:nvSpPr>
          <p:cNvPr id="100344" name="TextBox 47"/>
          <p:cNvSpPr txBox="1"/>
          <p:nvPr/>
        </p:nvSpPr>
        <p:spPr>
          <a:xfrm>
            <a:off x="894080" y="4749800"/>
            <a:ext cx="2006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Alice Boutique</a:t>
            </a:r>
          </a:p>
        </p:txBody>
      </p:sp>
      <p:sp>
        <p:nvSpPr>
          <p:cNvPr id="100345" name="TextBox 48"/>
          <p:cNvSpPr txBox="1"/>
          <p:nvPr/>
        </p:nvSpPr>
        <p:spPr>
          <a:xfrm>
            <a:off x="2951480" y="4749800"/>
            <a:ext cx="990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24/07 → 25/08</a:t>
            </a:r>
          </a:p>
        </p:txBody>
      </p:sp>
      <p:sp>
        <p:nvSpPr>
          <p:cNvPr id="100346" name="TextBox 49"/>
          <p:cNvSpPr txBox="1"/>
          <p:nvPr/>
        </p:nvSpPr>
        <p:spPr>
          <a:xfrm>
            <a:off x="3967480" y="47498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8</a:t>
            </a:r>
          </a:p>
        </p:txBody>
      </p:sp>
      <p:sp>
        <p:nvSpPr>
          <p:cNvPr id="100347" name="TextBox 50"/>
          <p:cNvSpPr txBox="1"/>
          <p:nvPr/>
        </p:nvSpPr>
        <p:spPr>
          <a:xfrm>
            <a:off x="4373880" y="47498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6</a:t>
            </a:r>
          </a:p>
        </p:txBody>
      </p:sp>
      <p:sp>
        <p:nvSpPr>
          <p:cNvPr id="100348" name="TextBox 51"/>
          <p:cNvSpPr txBox="1"/>
          <p:nvPr/>
        </p:nvSpPr>
        <p:spPr>
          <a:xfrm>
            <a:off x="5059680" y="4749800"/>
            <a:ext cx="6477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48</a:t>
            </a:r>
          </a:p>
        </p:txBody>
      </p:sp>
      <p:sp>
        <p:nvSpPr>
          <p:cNvPr id="100349" name="TextBox 52"/>
          <p:cNvSpPr txBox="1"/>
          <p:nvPr/>
        </p:nvSpPr>
        <p:spPr>
          <a:xfrm>
            <a:off x="894080" y="5054600"/>
            <a:ext cx="2006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Beck Decorhome</a:t>
            </a:r>
          </a:p>
        </p:txBody>
      </p:sp>
      <p:sp>
        <p:nvSpPr>
          <p:cNvPr id="100350" name="TextBox 53"/>
          <p:cNvSpPr txBox="1"/>
          <p:nvPr/>
        </p:nvSpPr>
        <p:spPr>
          <a:xfrm>
            <a:off x="2951480" y="5054600"/>
            <a:ext cx="990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05/06 → 07/07</a:t>
            </a:r>
          </a:p>
        </p:txBody>
      </p:sp>
      <p:sp>
        <p:nvSpPr>
          <p:cNvPr id="100351" name="TextBox 54"/>
          <p:cNvSpPr txBox="1"/>
          <p:nvPr/>
        </p:nvSpPr>
        <p:spPr>
          <a:xfrm>
            <a:off x="3967480" y="50546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7</a:t>
            </a:r>
          </a:p>
        </p:txBody>
      </p:sp>
      <p:sp>
        <p:nvSpPr>
          <p:cNvPr id="100352" name="TextBox 55"/>
          <p:cNvSpPr txBox="1"/>
          <p:nvPr/>
        </p:nvSpPr>
        <p:spPr>
          <a:xfrm>
            <a:off x="4373880" y="50546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6</a:t>
            </a:r>
          </a:p>
        </p:txBody>
      </p:sp>
      <p:sp>
        <p:nvSpPr>
          <p:cNvPr id="100353" name="TextBox 56"/>
          <p:cNvSpPr txBox="1"/>
          <p:nvPr/>
        </p:nvSpPr>
        <p:spPr>
          <a:xfrm>
            <a:off x="5059680" y="5054600"/>
            <a:ext cx="6477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37</a:t>
            </a:r>
          </a:p>
        </p:txBody>
      </p:sp>
      <p:sp>
        <p:nvSpPr>
          <p:cNvPr id="100354" name="TextBox 57"/>
          <p:cNvSpPr/>
          <p:nvPr/>
        </p:nvSpPr>
        <p:spPr>
          <a:xfrm>
            <a:off x="6228080" y="1854200"/>
            <a:ext cx="5323840" cy="4191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355" name="TextBox 58"/>
          <p:cNvSpPr txBox="1"/>
          <p:nvPr/>
        </p:nvSpPr>
        <p:spPr>
          <a:xfrm>
            <a:off x="6482080" y="20066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E01C4C"/>
                </a:solidFill>
                <a:latin typeface="Poppins"/>
                <a:ea typeface="Poppins"/>
              </a:rPr>
              <a:t>POSTAGENS DO SHOPPING  ·  9 peças</a:t>
            </a:r>
          </a:p>
        </p:txBody>
      </p:sp>
      <p:sp>
        <p:nvSpPr>
          <p:cNvPr id="100356" name="TextBox 59"/>
          <p:cNvSpPr txBox="1"/>
          <p:nvPr/>
        </p:nvSpPr>
        <p:spPr>
          <a:xfrm>
            <a:off x="9657080" y="2006600"/>
            <a:ext cx="1625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000" b="1">
                <a:solidFill>
                  <a:srgbClr val="093652"/>
                </a:solidFill>
                <a:latin typeface="Poppins"/>
                <a:ea typeface="Poppins"/>
              </a:rPr>
              <a:t>R$ 1.326  ·  56,5%</a:t>
            </a:r>
          </a:p>
        </p:txBody>
      </p:sp>
      <p:sp>
        <p:nvSpPr>
          <p:cNvPr id="100357" name="TextBox 60"/>
          <p:cNvSpPr txBox="1"/>
          <p:nvPr/>
        </p:nvSpPr>
        <p:spPr>
          <a:xfrm>
            <a:off x="6482080" y="2362200"/>
            <a:ext cx="20066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750" b="1" spc="100">
                <a:solidFill>
                  <a:srgbClr val="6B7280"/>
                </a:solidFill>
                <a:latin typeface="Poppins"/>
                <a:ea typeface="Poppins"/>
              </a:rPr>
              <a:t>PEÇA</a:t>
            </a:r>
          </a:p>
        </p:txBody>
      </p:sp>
      <p:sp>
        <p:nvSpPr>
          <p:cNvPr id="100358" name="TextBox 61"/>
          <p:cNvSpPr txBox="1"/>
          <p:nvPr/>
        </p:nvSpPr>
        <p:spPr>
          <a:xfrm>
            <a:off x="8539480" y="2362200"/>
            <a:ext cx="9906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750" b="1" spc="100">
                <a:solidFill>
                  <a:srgbClr val="6B7280"/>
                </a:solidFill>
                <a:latin typeface="Poppins"/>
                <a:ea typeface="Poppins"/>
              </a:rPr>
              <a:t>PERÍODO</a:t>
            </a:r>
          </a:p>
        </p:txBody>
      </p:sp>
      <p:sp>
        <p:nvSpPr>
          <p:cNvPr id="100359" name="TextBox 62"/>
          <p:cNvSpPr txBox="1"/>
          <p:nvPr/>
        </p:nvSpPr>
        <p:spPr>
          <a:xfrm>
            <a:off x="9555480" y="2362200"/>
            <a:ext cx="3810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750" b="1" spc="100">
                <a:solidFill>
                  <a:srgbClr val="6B7280"/>
                </a:solidFill>
                <a:latin typeface="Poppins"/>
                <a:ea typeface="Poppins"/>
              </a:rPr>
              <a:t>DIAS</a:t>
            </a:r>
          </a:p>
        </p:txBody>
      </p:sp>
      <p:sp>
        <p:nvSpPr>
          <p:cNvPr id="100360" name="TextBox 63"/>
          <p:cNvSpPr txBox="1"/>
          <p:nvPr/>
        </p:nvSpPr>
        <p:spPr>
          <a:xfrm>
            <a:off x="9961880" y="23622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750" b="1" spc="100">
                <a:solidFill>
                  <a:srgbClr val="6B7280"/>
                </a:solidFill>
                <a:latin typeface="Poppins"/>
                <a:ea typeface="Poppins"/>
              </a:rPr>
              <a:t>R$/DIA</a:t>
            </a:r>
          </a:p>
        </p:txBody>
      </p:sp>
      <p:sp>
        <p:nvSpPr>
          <p:cNvPr id="100361" name="TextBox 64"/>
          <p:cNvSpPr txBox="1"/>
          <p:nvPr/>
        </p:nvSpPr>
        <p:spPr>
          <a:xfrm>
            <a:off x="10647680" y="2362200"/>
            <a:ext cx="6477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750" b="1" spc="100">
                <a:solidFill>
                  <a:srgbClr val="6B7280"/>
                </a:solidFill>
                <a:latin typeface="Poppins"/>
                <a:ea typeface="Poppins"/>
              </a:rPr>
              <a:t>TOTAL</a:t>
            </a:r>
          </a:p>
        </p:txBody>
      </p:sp>
      <p:sp>
        <p:nvSpPr>
          <p:cNvPr id="100362" name="TextBox 65"/>
          <p:cNvSpPr txBox="1"/>
          <p:nvPr/>
        </p:nvSpPr>
        <p:spPr>
          <a:xfrm>
            <a:off x="6482080" y="2616200"/>
            <a:ext cx="2006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Feira Coreana</a:t>
            </a:r>
          </a:p>
        </p:txBody>
      </p:sp>
      <p:sp>
        <p:nvSpPr>
          <p:cNvPr id="100363" name="TextBox 66"/>
          <p:cNvSpPr txBox="1"/>
          <p:nvPr/>
        </p:nvSpPr>
        <p:spPr>
          <a:xfrm>
            <a:off x="8539480" y="2616200"/>
            <a:ext cx="990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22/07 → 27/07</a:t>
            </a:r>
          </a:p>
        </p:txBody>
      </p:sp>
      <p:sp>
        <p:nvSpPr>
          <p:cNvPr id="100364" name="TextBox 67"/>
          <p:cNvSpPr txBox="1"/>
          <p:nvPr/>
        </p:nvSpPr>
        <p:spPr>
          <a:xfrm>
            <a:off x="9555480" y="26162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6</a:t>
            </a:r>
          </a:p>
        </p:txBody>
      </p:sp>
      <p:sp>
        <p:nvSpPr>
          <p:cNvPr id="100365" name="TextBox 68"/>
          <p:cNvSpPr txBox="1"/>
          <p:nvPr/>
        </p:nvSpPr>
        <p:spPr>
          <a:xfrm>
            <a:off x="9961880" y="26162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50</a:t>
            </a:r>
          </a:p>
        </p:txBody>
      </p:sp>
      <p:sp>
        <p:nvSpPr>
          <p:cNvPr id="100366" name="TextBox 69"/>
          <p:cNvSpPr txBox="1"/>
          <p:nvPr/>
        </p:nvSpPr>
        <p:spPr>
          <a:xfrm>
            <a:off x="10647680" y="2616200"/>
            <a:ext cx="6477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283</a:t>
            </a:r>
          </a:p>
        </p:txBody>
      </p:sp>
      <p:sp>
        <p:nvSpPr>
          <p:cNvPr id="100367" name="TextBox 70"/>
          <p:cNvSpPr txBox="1"/>
          <p:nvPr/>
        </p:nvSpPr>
        <p:spPr>
          <a:xfrm>
            <a:off x="6482080" y="2921000"/>
            <a:ext cx="2006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Oficina de Slime</a:t>
            </a:r>
          </a:p>
        </p:txBody>
      </p:sp>
      <p:sp>
        <p:nvSpPr>
          <p:cNvPr id="100368" name="TextBox 71"/>
          <p:cNvSpPr txBox="1"/>
          <p:nvPr/>
        </p:nvSpPr>
        <p:spPr>
          <a:xfrm>
            <a:off x="8539480" y="2921000"/>
            <a:ext cx="990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14/07 → 17/07</a:t>
            </a:r>
          </a:p>
        </p:txBody>
      </p:sp>
      <p:sp>
        <p:nvSpPr>
          <p:cNvPr id="100369" name="TextBox 72"/>
          <p:cNvSpPr txBox="1"/>
          <p:nvPr/>
        </p:nvSpPr>
        <p:spPr>
          <a:xfrm>
            <a:off x="9555480" y="29210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4</a:t>
            </a:r>
          </a:p>
        </p:txBody>
      </p:sp>
      <p:sp>
        <p:nvSpPr>
          <p:cNvPr id="100370" name="TextBox 73"/>
          <p:cNvSpPr txBox="1"/>
          <p:nvPr/>
        </p:nvSpPr>
        <p:spPr>
          <a:xfrm>
            <a:off x="9961880" y="29210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80</a:t>
            </a:r>
          </a:p>
        </p:txBody>
      </p:sp>
      <p:sp>
        <p:nvSpPr>
          <p:cNvPr id="100371" name="TextBox 74"/>
          <p:cNvSpPr txBox="1"/>
          <p:nvPr/>
        </p:nvSpPr>
        <p:spPr>
          <a:xfrm>
            <a:off x="10647680" y="2921000"/>
            <a:ext cx="6477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240</a:t>
            </a:r>
          </a:p>
        </p:txBody>
      </p:sp>
      <p:sp>
        <p:nvSpPr>
          <p:cNvPr id="100372" name="TextBox 75"/>
          <p:cNvSpPr txBox="1"/>
          <p:nvPr/>
        </p:nvSpPr>
        <p:spPr>
          <a:xfrm>
            <a:off x="6482080" y="3225800"/>
            <a:ext cx="2006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Concorra a um iPhone</a:t>
            </a:r>
          </a:p>
        </p:txBody>
      </p:sp>
      <p:sp>
        <p:nvSpPr>
          <p:cNvPr id="100373" name="TextBox 76"/>
          <p:cNvSpPr txBox="1"/>
          <p:nvPr/>
        </p:nvSpPr>
        <p:spPr>
          <a:xfrm>
            <a:off x="8539480" y="3225800"/>
            <a:ext cx="990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24/06 → 24/07</a:t>
            </a:r>
          </a:p>
        </p:txBody>
      </p:sp>
      <p:sp>
        <p:nvSpPr>
          <p:cNvPr id="100374" name="TextBox 77"/>
          <p:cNvSpPr txBox="1"/>
          <p:nvPr/>
        </p:nvSpPr>
        <p:spPr>
          <a:xfrm>
            <a:off x="9555480" y="32258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24</a:t>
            </a:r>
          </a:p>
        </p:txBody>
      </p:sp>
      <p:sp>
        <p:nvSpPr>
          <p:cNvPr id="100375" name="TextBox 78"/>
          <p:cNvSpPr txBox="1"/>
          <p:nvPr/>
        </p:nvSpPr>
        <p:spPr>
          <a:xfrm>
            <a:off x="9961880" y="32258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10</a:t>
            </a:r>
          </a:p>
        </p:txBody>
      </p:sp>
      <p:sp>
        <p:nvSpPr>
          <p:cNvPr id="100376" name="TextBox 79"/>
          <p:cNvSpPr txBox="1"/>
          <p:nvPr/>
        </p:nvSpPr>
        <p:spPr>
          <a:xfrm>
            <a:off x="10647680" y="3225800"/>
            <a:ext cx="6477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235</a:t>
            </a:r>
          </a:p>
        </p:txBody>
      </p:sp>
      <p:sp>
        <p:nvSpPr>
          <p:cNvPr id="100377" name="TextBox 80"/>
          <p:cNvSpPr txBox="1"/>
          <p:nvPr/>
        </p:nvSpPr>
        <p:spPr>
          <a:xfrm>
            <a:off x="6482080" y="3530600"/>
            <a:ext cx="2006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Artesanato Kids e Peteca</a:t>
            </a:r>
          </a:p>
        </p:txBody>
      </p:sp>
      <p:sp>
        <p:nvSpPr>
          <p:cNvPr id="100378" name="TextBox 81"/>
          <p:cNvSpPr txBox="1"/>
          <p:nvPr/>
        </p:nvSpPr>
        <p:spPr>
          <a:xfrm>
            <a:off x="8539480" y="3530600"/>
            <a:ext cx="990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07/07 → 11/07</a:t>
            </a:r>
          </a:p>
        </p:txBody>
      </p:sp>
      <p:sp>
        <p:nvSpPr>
          <p:cNvPr id="100379" name="TextBox 82"/>
          <p:cNvSpPr txBox="1"/>
          <p:nvPr/>
        </p:nvSpPr>
        <p:spPr>
          <a:xfrm>
            <a:off x="9555480" y="35306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5</a:t>
            </a:r>
          </a:p>
        </p:txBody>
      </p:sp>
      <p:sp>
        <p:nvSpPr>
          <p:cNvPr id="100380" name="TextBox 83"/>
          <p:cNvSpPr txBox="1"/>
          <p:nvPr/>
        </p:nvSpPr>
        <p:spPr>
          <a:xfrm>
            <a:off x="9961880" y="35306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25 e 150</a:t>
            </a:r>
          </a:p>
        </p:txBody>
      </p:sp>
      <p:sp>
        <p:nvSpPr>
          <p:cNvPr id="100381" name="TextBox 84"/>
          <p:cNvSpPr txBox="1"/>
          <p:nvPr/>
        </p:nvSpPr>
        <p:spPr>
          <a:xfrm>
            <a:off x="10647680" y="3530600"/>
            <a:ext cx="6477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217</a:t>
            </a:r>
          </a:p>
        </p:txBody>
      </p:sp>
      <p:sp>
        <p:nvSpPr>
          <p:cNvPr id="100382" name="TextBox 85"/>
          <p:cNvSpPr txBox="1"/>
          <p:nvPr/>
        </p:nvSpPr>
        <p:spPr>
          <a:xfrm>
            <a:off x="6482080" y="3835400"/>
            <a:ext cx="2006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Operação Férias · calendário</a:t>
            </a:r>
          </a:p>
        </p:txBody>
      </p:sp>
      <p:sp>
        <p:nvSpPr>
          <p:cNvPr id="100383" name="TextBox 86"/>
          <p:cNvSpPr txBox="1"/>
          <p:nvPr/>
        </p:nvSpPr>
        <p:spPr>
          <a:xfrm>
            <a:off x="8539480" y="3835400"/>
            <a:ext cx="990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03/07 → 20/07</a:t>
            </a:r>
          </a:p>
        </p:txBody>
      </p:sp>
      <p:sp>
        <p:nvSpPr>
          <p:cNvPr id="100384" name="TextBox 87"/>
          <p:cNvSpPr txBox="1"/>
          <p:nvPr/>
        </p:nvSpPr>
        <p:spPr>
          <a:xfrm>
            <a:off x="9555480" y="38354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18</a:t>
            </a:r>
          </a:p>
        </p:txBody>
      </p:sp>
      <p:sp>
        <p:nvSpPr>
          <p:cNvPr id="100385" name="TextBox 88"/>
          <p:cNvSpPr txBox="1"/>
          <p:nvPr/>
        </p:nvSpPr>
        <p:spPr>
          <a:xfrm>
            <a:off x="9961880" y="38354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6</a:t>
            </a:r>
          </a:p>
        </p:txBody>
      </p:sp>
      <p:sp>
        <p:nvSpPr>
          <p:cNvPr id="100386" name="TextBox 89"/>
          <p:cNvSpPr txBox="1"/>
          <p:nvPr/>
        </p:nvSpPr>
        <p:spPr>
          <a:xfrm>
            <a:off x="10647680" y="3835400"/>
            <a:ext cx="6477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101</a:t>
            </a:r>
          </a:p>
        </p:txBody>
      </p:sp>
      <p:sp>
        <p:nvSpPr>
          <p:cNvPr id="100387" name="TextBox 90"/>
          <p:cNvSpPr txBox="1"/>
          <p:nvPr/>
        </p:nvSpPr>
        <p:spPr>
          <a:xfrm>
            <a:off x="6482080" y="4140200"/>
            <a:ext cx="2006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Feira Artesanato Fazendo Arte</a:t>
            </a:r>
          </a:p>
        </p:txBody>
      </p:sp>
      <p:sp>
        <p:nvSpPr>
          <p:cNvPr id="100388" name="TextBox 91"/>
          <p:cNvSpPr txBox="1"/>
          <p:nvPr/>
        </p:nvSpPr>
        <p:spPr>
          <a:xfrm>
            <a:off x="8539480" y="4140200"/>
            <a:ext cx="990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13/07 → 15/07</a:t>
            </a:r>
          </a:p>
        </p:txBody>
      </p:sp>
      <p:sp>
        <p:nvSpPr>
          <p:cNvPr id="100389" name="TextBox 92"/>
          <p:cNvSpPr txBox="1"/>
          <p:nvPr/>
        </p:nvSpPr>
        <p:spPr>
          <a:xfrm>
            <a:off x="9555480" y="41402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3</a:t>
            </a:r>
          </a:p>
        </p:txBody>
      </p:sp>
      <p:sp>
        <p:nvSpPr>
          <p:cNvPr id="100390" name="TextBox 93"/>
          <p:cNvSpPr txBox="1"/>
          <p:nvPr/>
        </p:nvSpPr>
        <p:spPr>
          <a:xfrm>
            <a:off x="9961880" y="41402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50</a:t>
            </a:r>
          </a:p>
        </p:txBody>
      </p:sp>
      <p:sp>
        <p:nvSpPr>
          <p:cNvPr id="100391" name="TextBox 94"/>
          <p:cNvSpPr txBox="1"/>
          <p:nvPr/>
        </p:nvSpPr>
        <p:spPr>
          <a:xfrm>
            <a:off x="10647680" y="4140200"/>
            <a:ext cx="6477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100</a:t>
            </a:r>
          </a:p>
        </p:txBody>
      </p:sp>
      <p:sp>
        <p:nvSpPr>
          <p:cNvPr id="100392" name="TextBox 95"/>
          <p:cNvSpPr txBox="1"/>
          <p:nvPr/>
        </p:nvSpPr>
        <p:spPr>
          <a:xfrm>
            <a:off x="6482080" y="4445000"/>
            <a:ext cx="2006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Oficina Sapinho</a:t>
            </a:r>
          </a:p>
        </p:txBody>
      </p:sp>
      <p:sp>
        <p:nvSpPr>
          <p:cNvPr id="100393" name="TextBox 96"/>
          <p:cNvSpPr txBox="1"/>
          <p:nvPr/>
        </p:nvSpPr>
        <p:spPr>
          <a:xfrm>
            <a:off x="8539480" y="4445000"/>
            <a:ext cx="990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23/07 → 24/07</a:t>
            </a:r>
          </a:p>
        </p:txBody>
      </p:sp>
      <p:sp>
        <p:nvSpPr>
          <p:cNvPr id="100394" name="TextBox 97"/>
          <p:cNvSpPr txBox="1"/>
          <p:nvPr/>
        </p:nvSpPr>
        <p:spPr>
          <a:xfrm>
            <a:off x="9555480" y="44450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2</a:t>
            </a:r>
          </a:p>
        </p:txBody>
      </p:sp>
      <p:sp>
        <p:nvSpPr>
          <p:cNvPr id="100395" name="TextBox 98"/>
          <p:cNvSpPr txBox="1"/>
          <p:nvPr/>
        </p:nvSpPr>
        <p:spPr>
          <a:xfrm>
            <a:off x="9961880" y="44450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40 e 50</a:t>
            </a:r>
          </a:p>
        </p:txBody>
      </p:sp>
      <p:sp>
        <p:nvSpPr>
          <p:cNvPr id="100396" name="TextBox 99"/>
          <p:cNvSpPr txBox="1"/>
          <p:nvPr/>
        </p:nvSpPr>
        <p:spPr>
          <a:xfrm>
            <a:off x="10647680" y="4445000"/>
            <a:ext cx="6477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87</a:t>
            </a:r>
          </a:p>
        </p:txBody>
      </p:sp>
      <p:sp>
        <p:nvSpPr>
          <p:cNvPr id="100397" name="TextBox 100"/>
          <p:cNvSpPr txBox="1"/>
          <p:nvPr/>
        </p:nvSpPr>
        <p:spPr>
          <a:xfrm>
            <a:off x="6482080" y="4749800"/>
            <a:ext cx="2006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Operação Férias · ofertas</a:t>
            </a:r>
          </a:p>
        </p:txBody>
      </p:sp>
      <p:sp>
        <p:nvSpPr>
          <p:cNvPr id="100398" name="TextBox 101"/>
          <p:cNvSpPr txBox="1"/>
          <p:nvPr/>
        </p:nvSpPr>
        <p:spPr>
          <a:xfrm>
            <a:off x="8539480" y="4749800"/>
            <a:ext cx="990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01/07 → 07/07</a:t>
            </a:r>
          </a:p>
        </p:txBody>
      </p:sp>
      <p:sp>
        <p:nvSpPr>
          <p:cNvPr id="100399" name="TextBox 102"/>
          <p:cNvSpPr txBox="1"/>
          <p:nvPr/>
        </p:nvSpPr>
        <p:spPr>
          <a:xfrm>
            <a:off x="9555480" y="47498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7</a:t>
            </a:r>
          </a:p>
        </p:txBody>
      </p:sp>
      <p:sp>
        <p:nvSpPr>
          <p:cNvPr id="100400" name="TextBox 103"/>
          <p:cNvSpPr txBox="1"/>
          <p:nvPr/>
        </p:nvSpPr>
        <p:spPr>
          <a:xfrm>
            <a:off x="9961880" y="47498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7</a:t>
            </a:r>
          </a:p>
        </p:txBody>
      </p:sp>
      <p:sp>
        <p:nvSpPr>
          <p:cNvPr id="100401" name="TextBox 104"/>
          <p:cNvSpPr txBox="1"/>
          <p:nvPr/>
        </p:nvSpPr>
        <p:spPr>
          <a:xfrm>
            <a:off x="10647680" y="4749800"/>
            <a:ext cx="6477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42</a:t>
            </a:r>
          </a:p>
        </p:txBody>
      </p:sp>
      <p:sp>
        <p:nvSpPr>
          <p:cNvPr id="100402" name="TextBox 105"/>
          <p:cNvSpPr txBox="1"/>
          <p:nvPr/>
        </p:nvSpPr>
        <p:spPr>
          <a:xfrm>
            <a:off x="6482080" y="5054600"/>
            <a:ext cx="2006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1A1A1A"/>
                </a:solidFill>
                <a:latin typeface="Poppins"/>
                <a:ea typeface="Poppins"/>
              </a:rPr>
              <a:t>Teaser Minions</a:t>
            </a:r>
          </a:p>
        </p:txBody>
      </p:sp>
      <p:sp>
        <p:nvSpPr>
          <p:cNvPr id="100403" name="TextBox 106"/>
          <p:cNvSpPr txBox="1"/>
          <p:nvPr/>
        </p:nvSpPr>
        <p:spPr>
          <a:xfrm>
            <a:off x="8539480" y="5054600"/>
            <a:ext cx="990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01/07 → 04/07</a:t>
            </a:r>
          </a:p>
        </p:txBody>
      </p:sp>
      <p:sp>
        <p:nvSpPr>
          <p:cNvPr id="100404" name="TextBox 107"/>
          <p:cNvSpPr txBox="1"/>
          <p:nvPr/>
        </p:nvSpPr>
        <p:spPr>
          <a:xfrm>
            <a:off x="9555480" y="5054600"/>
            <a:ext cx="38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4</a:t>
            </a:r>
          </a:p>
        </p:txBody>
      </p:sp>
      <p:sp>
        <p:nvSpPr>
          <p:cNvPr id="100405" name="TextBox 108"/>
          <p:cNvSpPr txBox="1"/>
          <p:nvPr/>
        </p:nvSpPr>
        <p:spPr>
          <a:xfrm>
            <a:off x="9961880" y="5054600"/>
            <a:ext cx="635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>
                <a:solidFill>
                  <a:srgbClr val="4A5568"/>
                </a:solidFill>
                <a:latin typeface="Poppins"/>
                <a:ea typeface="Poppins"/>
              </a:rPr>
              <a:t>7</a:t>
            </a:r>
          </a:p>
        </p:txBody>
      </p:sp>
      <p:sp>
        <p:nvSpPr>
          <p:cNvPr id="100406" name="TextBox 109"/>
          <p:cNvSpPr txBox="1"/>
          <p:nvPr/>
        </p:nvSpPr>
        <p:spPr>
          <a:xfrm>
            <a:off x="10647680" y="5054600"/>
            <a:ext cx="6477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850" b="1">
                <a:solidFill>
                  <a:srgbClr val="093652"/>
                </a:solidFill>
                <a:latin typeface="Poppins"/>
                <a:ea typeface="Poppins"/>
              </a:rPr>
              <a:t>21</a:t>
            </a:r>
          </a:p>
        </p:txBody>
      </p:sp>
      <p:sp>
        <p:nvSpPr>
          <p:cNvPr id="100407" name="TextBox 110"/>
          <p:cNvSpPr/>
          <p:nvPr/>
        </p:nvSpPr>
        <p:spPr>
          <a:xfrm>
            <a:off x="640080" y="6197600"/>
            <a:ext cx="10911840" cy="431800"/>
          </a:xfrm>
          <a:prstGeom prst="roundRect">
            <a:avLst>
              <a:gd name="adj" fmla="val 4000"/>
            </a:avLst>
          </a:prstGeom>
          <a:solidFill>
            <a:srgbClr val="093652"/>
          </a:solidFill>
        </p:spPr>
        <p:txBody>
          <a:bodyPr/>
          <a:lstStyle/>
          <a:p>
            <a:endParaRPr/>
          </a:p>
        </p:txBody>
      </p:sp>
      <p:sp>
        <p:nvSpPr>
          <p:cNvPr id="100408" name="TextBox 111"/>
          <p:cNvSpPr txBox="1"/>
          <p:nvPr/>
        </p:nvSpPr>
        <p:spPr>
          <a:xfrm>
            <a:off x="894080" y="6273800"/>
            <a:ext cx="1040384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>
                <a:solidFill>
                  <a:srgbClr val="FFFFFF"/>
                </a:solidFill>
                <a:latin typeface="Poppins"/>
                <a:ea typeface="Poppins"/>
              </a:rPr>
              <a:t>Total do turbinar em julho: R$ 2.348 em 18 peças, contra R$ 2.200 em 10 peças previstos no alinhamento de 06/07.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2469</Words>
  <Application>Microsoft Office PowerPoint</Application>
  <PresentationFormat>Widescreen</PresentationFormat>
  <Paragraphs>375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Poppins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OfficeCLI</dc:creator>
  <cp:lastModifiedBy>Gabriel Pauletto Reszka</cp:lastModifiedBy>
  <cp:revision>2</cp:revision>
  <dcterms:created xsi:type="dcterms:W3CDTF">2026-07-24T16:30:26Z</dcterms:created>
  <dcterms:modified xsi:type="dcterms:W3CDTF">2026-07-24T16:48:38Z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1.0.141</vt:lpwstr>
  </property>
  <property fmtid="{D5CDD505-2E9C-101B-9397-08002B2CF9AE}" pid="3" name="OfficeCLI.LastModified">
    <vt:lpwstr>2026-07-24T16:30:30Z</vt:lpwstr>
  </property>
</Properties>
</file>