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3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9858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Tom leve e direto. Este mes foi de reorganizacao, o resultado da estrutura nova vem nos proximos.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Numeros que a gestao quer ver, ancorados em qualidade. Repetir: Curitiba e regiao, nao o Brasil. Isso protege quando o alcance cair no mes que vem por segmentacao mais justa.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Antes/depois concreto, numeros exatos das nossas analises. Mostrar, nao justificar. Funil completo: topo meio fundo. Aprendizado mantido, organizacao legivel.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Direcionamento: o porque da melhora. Pessoas na praca, publico certo, criativos especificos, funil. Tudo que a gestao pediu para 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Balizar expectativa sem soar defensivo. Fim da fase antiga, comeco da nova, muito por fazer. A frase final protege a comparacao historica.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Plano de julho. B2B do zero, Google entra, medicao ligada. Fechar com o pedido de retorno comercial, sem isso nada valida. Esse e o pedido concreto da reuniao.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6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1C4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DAF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SHOPPING CIDADE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Relatório de junho 2026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Mídia paga · o mês em que reorganizamos a operação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303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C49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Alcance  ·  estrutura  ·  próximos passos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1C4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NÚMEROS DO MÊS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Mais gente certa, por menos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7F8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1C4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1,07 mi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Pessoas alcançadas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4114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+14% vs. maio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219456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7F8FA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7D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611880" y="32461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alcance em Curitiba e região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4114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foco na nossa praça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219456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7F8FA"/>
          </a:solidFill>
          <a:ln/>
        </p:spPr>
      </p:sp>
      <p:sp>
        <p:nvSpPr>
          <p:cNvPr id="13" name="Text 11"/>
          <p:cNvSpPr/>
          <p:nvPr/>
        </p:nvSpPr>
        <p:spPr>
          <a:xfrm>
            <a:off x="63550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41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</a:t>
            </a:r>
            <a:r>
              <a:rPr lang="en-US" sz="3000" b="1" dirty="0" smtClean="0">
                <a:solidFill>
                  <a:srgbClr val="941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0,23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55080" y="32461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clique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55080" y="4114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-25% vs. maio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69680" y="2194560"/>
            <a:ext cx="2606040" cy="2468880"/>
          </a:xfrm>
          <a:prstGeom prst="roundRect">
            <a:avLst>
              <a:gd name="adj" fmla="val 3704"/>
            </a:avLst>
          </a:prstGeom>
          <a:solidFill>
            <a:srgbClr val="F7F8FA"/>
          </a:solidFill>
          <a:ln/>
        </p:spPr>
      </p:sp>
      <p:sp>
        <p:nvSpPr>
          <p:cNvPr id="17" name="Text 15"/>
          <p:cNvSpPr/>
          <p:nvPr/>
        </p:nvSpPr>
        <p:spPr>
          <a:xfrm>
            <a:off x="90982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smtClean="0">
                <a:solidFill>
                  <a:srgbClr val="1DAF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4,52%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098280" y="32461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Taxa de clique (CTR)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98280" y="4114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+65% vs. maio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0292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Nossa métrica de foco é alcance. O que mudou não foi só o volume, foi para quem entregamos: antes espalhado pelo Brasil, agora concentrado em quem pode vir ao shopping.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1C4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FIZEMOS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Reorganizamos a operação inteira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74920" cy="4114800"/>
          </a:xfrm>
          <a:prstGeom prst="roundRect">
            <a:avLst>
              <a:gd name="adj" fmla="val 1778"/>
            </a:avLst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39" y="3017520"/>
            <a:ext cx="440024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campanha </a:t>
            </a:r>
            <a:r>
              <a:rPr lang="en-US" sz="1300" dirty="0" err="1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única</a:t>
            </a: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agrupando</a:t>
            </a:r>
            <a:r>
              <a:rPr lang="en-US" sz="130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</a:t>
            </a:r>
            <a:r>
              <a:rPr lang="en-US" sz="130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r>
              <a:rPr lang="en-US" sz="130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criativos</a:t>
            </a:r>
            <a:r>
              <a:rPr lang="en-US" sz="130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nem</a:t>
            </a:r>
            <a:r>
              <a:rPr lang="en-US" sz="130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rodavam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63931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3639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conjuntos conflitantes, com sobreposição de público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261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426110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 a 50 anúncios por conjunto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8828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48828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Turbinamento avulso, sem verba nem critério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5046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5504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Pulverização que impedia o aprendizado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97880" y="2148840"/>
            <a:ext cx="5623560" cy="4114800"/>
          </a:xfrm>
          <a:prstGeom prst="roundRect">
            <a:avLst>
              <a:gd name="adj" fmla="val 1778"/>
            </a:avLst>
          </a:prstGeom>
          <a:solidFill>
            <a:srgbClr val="E01C4C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72200" y="30175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37960" y="30175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campanhas permanentes, funil completo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172200" y="363931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37960" y="363931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Institucional (topo) · Engajamento IG com eventos e cinema (meio) · Ofertas semanais (fundo)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172200" y="426110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37960" y="4261104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Verba definida também para </a:t>
            </a:r>
            <a:r>
              <a:rPr lang="en-US" sz="125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turbinar</a:t>
            </a:r>
            <a:r>
              <a:rPr lang="en-US" sz="125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r>
              <a:rPr lang="en-US" sz="125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alguns</a:t>
            </a:r>
            <a:r>
              <a:rPr lang="en-US" sz="125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25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direcionados</a:t>
            </a:r>
            <a:r>
              <a:rPr lang="en-US" sz="125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 as </a:t>
            </a:r>
            <a:r>
              <a:rPr lang="en-US" sz="125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campanhas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72200" y="48828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37960" y="4882896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Aprendizado se mantém, conjuntos não são recriados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172200" y="550468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37960" y="55046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Organização clara: qualquer um entende onde está tudo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36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AF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A ENTREGA MELHOROU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Comunicação certa, para a pessoa certa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103F5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3774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C49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Pessoas na praça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399" y="2852928"/>
            <a:ext cx="492622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 concentrada em quem pode vir ao shopping fisicamente, não em público espalhado </a:t>
            </a:r>
            <a:r>
              <a:rPr lang="en-US" sz="1300" dirty="0" err="1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</a:t>
            </a:r>
            <a:r>
              <a:rPr lang="en-US" sz="1300" dirty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país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Ainda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otimização</a:t>
            </a:r>
            <a:r>
              <a:rPr lang="en-US" sz="1300" dirty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219456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103F5E"/>
          </a:solidFill>
          <a:ln/>
        </p:spPr>
      </p:sp>
      <p:sp>
        <p:nvSpPr>
          <p:cNvPr id="8" name="Text 6"/>
          <p:cNvSpPr/>
          <p:nvPr/>
        </p:nvSpPr>
        <p:spPr>
          <a:xfrm>
            <a:off x="6446520" y="23774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C49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Público C/D/E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46520" y="285292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Comunicação calibrada para o nosso cliente real, sem </a:t>
            </a:r>
            <a:r>
              <a:rPr lang="en-US" sz="1300" dirty="0" err="1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parecer</a:t>
            </a:r>
            <a:r>
              <a:rPr lang="en-US" sz="1300" dirty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barateiro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”.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103F5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297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C49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Criativos por necessidade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477316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Briefing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gerado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peças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específicas</a:t>
            </a:r>
            <a:r>
              <a:rPr lang="en-US" sz="1300" dirty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 avaliado, não um anúncio genérico para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Ainda</a:t>
            </a:r>
            <a:r>
              <a:rPr lang="en-US" sz="1300" dirty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produção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r>
              <a:rPr lang="en-US" sz="1300" dirty="0" err="1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implementação</a:t>
            </a:r>
            <a:r>
              <a:rPr lang="en-US" sz="1300" dirty="0" smtClean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411480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103F5E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4297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C496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Funil completo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46520" y="477316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E6E7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Topo, meio e fundo com papel claro, cada campanha faz uma coisa e faz bem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1C4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ESTAMOS NO PROCESSO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Isto é o fim de uma fase e o começo de outra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46888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E01C4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68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r>
              <a:rPr lang="en-US" sz="1200" b="1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 err="1" smtClean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Últimas</a:t>
            </a:r>
            <a:r>
              <a:rPr lang="en-US" sz="1700" b="1" dirty="0" smtClean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700" b="1" dirty="0" err="1" smtClean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otimizações</a:t>
            </a:r>
            <a:r>
              <a:rPr lang="en-US" sz="1700" b="1" dirty="0" smtClean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das </a:t>
            </a:r>
            <a:r>
              <a:rPr lang="en-US" sz="1700" b="1" dirty="0" err="1" smtClean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campanhas</a:t>
            </a:r>
            <a:r>
              <a:rPr lang="en-US" sz="1700" b="1" dirty="0" smtClean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700" b="1" dirty="0" err="1" smtClean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antiga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40233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Junho fechou o ciclo das campanhas antigas, já otimizadas ao máximo dentro do que davam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219456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7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246888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157DBF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468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início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1772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Começo das campanhas novas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40233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estrutura nova acabou de subir. Criativos ainda em produção, otimização e testes nem começaram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219456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7F8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246888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941333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468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curso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2104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Muito ainda por fazer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40233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campanhas novas não estão nem na metade do </a:t>
            </a:r>
            <a:r>
              <a:rPr lang="en-US" sz="125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processo</a:t>
            </a:r>
            <a:r>
              <a:rPr lang="en-US" sz="125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</a:t>
            </a:r>
            <a:r>
              <a:rPr lang="en-US" sz="12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melhor resultado vem pela </a:t>
            </a:r>
            <a:r>
              <a:rPr lang="en-US" sz="125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frente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6692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Comparar com meses anteriores vai parecer diferente, e tudo bem: trocamos número grande e vazio por número menor e real, que serve para </a:t>
            </a:r>
            <a:r>
              <a:rPr lang="en-US" sz="1400" i="1" dirty="0" err="1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decidir</a:t>
            </a:r>
            <a:r>
              <a:rPr lang="en-US" sz="1400" i="1" dirty="0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</a:t>
            </a:r>
            <a:r>
              <a:rPr lang="en-US" sz="1400" i="1" dirty="0" err="1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Focamos</a:t>
            </a:r>
            <a:r>
              <a:rPr lang="en-US" sz="1400" i="1" dirty="0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400" i="1" dirty="0" err="1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</a:t>
            </a:r>
            <a:r>
              <a:rPr lang="en-US" sz="1400" i="1" dirty="0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400" i="1" dirty="0" err="1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</a:t>
            </a:r>
            <a:r>
              <a:rPr lang="en-US" sz="1400" i="1" dirty="0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</a:t>
            </a:r>
            <a:r>
              <a:rPr lang="en-US" sz="1400" i="1" dirty="0" err="1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Alcance</a:t>
            </a:r>
            <a:r>
              <a:rPr lang="en-US" sz="1400" i="1" dirty="0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400" i="1" dirty="0" err="1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inicialmente</a:t>
            </a:r>
            <a:r>
              <a:rPr lang="en-US" sz="1400" i="1" dirty="0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 </a:t>
            </a:r>
            <a:r>
              <a:rPr lang="en-US" sz="1400" i="1" dirty="0" err="1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teremos</a:t>
            </a:r>
            <a:r>
              <a:rPr lang="en-US" sz="1400" i="1" dirty="0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base de </a:t>
            </a:r>
            <a:r>
              <a:rPr lang="en-US" sz="1400" i="1" dirty="0" err="1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comparação</a:t>
            </a:r>
            <a:r>
              <a:rPr lang="en-US" sz="1400" i="1" dirty="0" smtClean="0">
                <a:solidFill>
                  <a:srgbClr val="6B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real.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1C4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DE JULHO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936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 o que ainda não existe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194560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E01C4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377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1C4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B2B (locação)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023360" y="237744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Praticamente não mexemos ainda. </a:t>
            </a:r>
            <a:r>
              <a:rPr lang="en-US" sz="135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Será</a:t>
            </a:r>
            <a:r>
              <a:rPr lang="en-US" sz="135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35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criado</a:t>
            </a:r>
            <a:r>
              <a:rPr lang="en-US" sz="135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landing </a:t>
            </a:r>
            <a:r>
              <a:rPr lang="en-US" sz="13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page nova, formulários e a captação de leads do </a:t>
            </a:r>
            <a:r>
              <a:rPr lang="en-US" sz="135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zero, </a:t>
            </a:r>
            <a:r>
              <a:rPr lang="en-US" sz="135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além</a:t>
            </a:r>
            <a:r>
              <a:rPr lang="en-US" sz="135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testes de </a:t>
            </a:r>
            <a:r>
              <a:rPr lang="en-US" sz="135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</a:t>
            </a:r>
            <a:r>
              <a:rPr lang="en-US" sz="135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r>
              <a:rPr lang="en-US" sz="135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formatos</a:t>
            </a:r>
            <a:r>
              <a:rPr lang="en-US" sz="135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r>
              <a:rPr lang="en-US" sz="1350" dirty="0" err="1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plataformas</a:t>
            </a:r>
            <a:r>
              <a:rPr lang="en-US" sz="1350" dirty="0" smtClean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01568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157DB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58444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57D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Google Ads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023360" y="3584448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Entra agora nesta fase: PMax para atrair público ao shopping (B2C) e Search para locação (B2B)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60857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4608576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941333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479145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413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Medição correta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023360" y="4791456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Ligar o rastreamento desde o primeiro dia, para que todo número passe a ser real, não estimativa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8064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09365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989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AF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validar tudo isso, precisamos do comercial:  </a:t>
            </a: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retorno sobre os leads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recebidos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taxa de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agendamento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taxa de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conversão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viraram </a:t>
            </a:r>
            <a:r>
              <a:rPr lang="en-US" sz="1400" dirty="0" err="1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isso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permaneceremos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otimizando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apenas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400" dirty="0" err="1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resultado</a:t>
            </a:r>
            <a:r>
              <a:rPr lang="en-US" sz="1400" dirty="0" smtClean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753</Words>
  <Application>Microsoft Office PowerPoint</Application>
  <PresentationFormat>Widescreen</PresentationFormat>
  <Paragraphs>86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Calibri</vt:lpstr>
      <vt:lpstr>Poppins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Gabriel Pauletto Reszka</cp:lastModifiedBy>
  <cp:revision>2</cp:revision>
  <dcterms:created xsi:type="dcterms:W3CDTF">2026-07-10T15:56:45Z</dcterms:created>
  <dcterms:modified xsi:type="dcterms:W3CDTF">2026-07-14T12:11:07Z</dcterms:modified>
</cp:coreProperties>
</file>