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Leads: Abril vs Maio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A8D9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9C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Abril</c:v>
                  </c:pt>
                  <c:pt idx="1">
                    <c:v>Maio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CPL médio: Abril vs Maio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CPL (R$)</c:v>
                </c:pt>
              </c:strCache>
            </c:strRef>
          </c:tx>
          <c:spPr>
            <a:solidFill>
              <a:srgbClr val="A8D9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9C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50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Abril</c:v>
                  </c:pt>
                  <c:pt idx="1">
                    <c:v>Maio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200.77</c:v>
                </c:pt>
                <c:pt idx="1">
                  <c:v>222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Leads por mercado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EUA</c:v>
                  </c:pt>
                  <c:pt idx="1">
                    <c:v>Canadá</c:v>
                  </c:pt>
                  <c:pt idx="2">
                    <c:v>Espanha</c:v>
                  </c:pt>
                  <c:pt idx="3">
                    <c:v>Emirados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Google Ads: Abril vs Maio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Abril</c:v>
                </c:pt>
              </c:strCache>
            </c:strRef>
          </c:tx>
          <c:spPr>
            <a:solidFill>
              <a:srgbClr val="A8D9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Impressões (mil)</c:v>
                  </c:pt>
                  <c:pt idx="1">
                    <c:v>Cliques</c:v>
                  </c:pt>
                  <c:pt idx="2">
                    <c:v>CPC (R$)</c:v>
                  </c:pt>
                  <c:pt idx="3">
                    <c:v>Gasto (R$)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174</c:v>
                </c:pt>
                <c:pt idx="1">
                  <c:v>2547</c:v>
                </c:pt>
                <c:pt idx="2">
                  <c:v>1.75</c:v>
                </c:pt>
                <c:pt idx="3">
                  <c:v>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Impressões (mil)</c:v>
                  </c:pt>
                  <c:pt idx="1">
                    <c:v>Cliques</c:v>
                  </c:pt>
                  <c:pt idx="2">
                    <c:v>CPC (R$)</c:v>
                  </c:pt>
                  <c:pt idx="3">
                    <c:v>Gasto (R$)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147</c:v>
                </c:pt>
                <c:pt idx="1">
                  <c:v>2639</c:v>
                </c:pt>
                <c:pt idx="2">
                  <c:v>0.92</c:v>
                </c:pt>
                <c:pt idx="3">
                  <c:v>2435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Usuários por origem: Abril vs Maio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Abril</c:v>
                </c:pt>
              </c:strCache>
            </c:strRef>
          </c:tx>
          <c:spPr>
            <a:solidFill>
              <a:srgbClr val="A8D9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 / cpc</c:v>
                  </c:pt>
                  <c:pt idx="1">
                    <c:v>google / organic</c:v>
                  </c:pt>
                  <c:pt idx="2">
                    <c:v>(direct)</c:v>
                  </c:pt>
                  <c:pt idx="3">
                    <c:v>bing / organic</c:v>
                  </c:pt>
                  <c:pt idx="4">
                    <c:v>facebook.com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1875</c:v>
                </c:pt>
                <c:pt idx="1">
                  <c:v>228</c:v>
                </c:pt>
                <c:pt idx="2">
                  <c:v>190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Maio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 / cpc</c:v>
                  </c:pt>
                  <c:pt idx="1">
                    <c:v>google / organic</c:v>
                  </c:pt>
                  <c:pt idx="2">
                    <c:v>(direct)</c:v>
                  </c:pt>
                  <c:pt idx="3">
                    <c:v>bing / organic</c:v>
                  </c:pt>
                  <c:pt idx="4">
                    <c:v>facebook.com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2119</c:v>
                </c:pt>
                <c:pt idx="1">
                  <c:v>254</c:v>
                </c:pt>
                <c:pt idx="2">
                  <c:v>123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 · MAIO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Performance Digital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mídia paga, tráfego do site e geração de leads · Maio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01/05/2026 — 31/05/2026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Ads, Google Ads e Google Analytics — período de 01/05/2026 a 31/05/2026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exigiu mais eficiência com menos verba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R$ 4.470,66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+ Google Ads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gerados (Meta)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cadastro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R$ 222,00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 (Meta)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2084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Google Ads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internacional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2331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8F6F0"/>
          </a:solidFill>
          <a:ln w="6350">
            <a:solidFill>
              <a:srgbClr val="A8D9C3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450592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49808" y="2432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38912" y="2679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manteve volume de cliques (+3,6%) com CPC 47% menor. CPM do Meta caiu em todos os mercados, melhorando a eficiência de distribuição.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663440" y="2331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EF3E2"/>
          </a:solidFill>
          <a:ln w="6350">
            <a:solidFill>
              <a:srgbClr val="F5C382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50592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38928" y="2432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828032" y="26791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Meta caíram 40% (15 → 9) e CPL subiu 10%. Investimento menor explica parte, mas a eficiência por real gasto também piorou. Tracking do Google ainda incompleto — zero conversões registradas.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74320" y="356616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720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(GA4): 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28016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2.582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28016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 (+9% vs abr)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320040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11.213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320040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(+9% vs abr)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512064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15,5s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512064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engajamento (-8% vs abr)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04088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74,5%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704088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rejeição em Produtos (+4% vs abr)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e Google Analytics —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canais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canais ativos com papéis distintos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645920" cy="2926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1051560"/>
            <a:ext cx="1463040" cy="2926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1371600" cy="2926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097280" cy="2926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0" y="1051560"/>
            <a:ext cx="2834640" cy="292608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344168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3441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1344168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44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R$ 1.997,98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34416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3441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10.899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44168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441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34416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344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leads · CPL R$222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892808"/>
            <a:ext cx="16459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892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 de pesquisa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1892808"/>
            <a:ext cx="14630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1892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R$ 2.435,02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1892808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8928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147.448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892808"/>
            <a:ext cx="10972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892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1892808"/>
            <a:ext cx="28346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1892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R$0,92 · CTR 1,79%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441448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441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Impulsionado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ao perfil IG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2441448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24414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R$ 37,66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24414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441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441448"/>
            <a:ext cx="1097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44144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244144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2441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R$0,22 · alcance 3.262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15468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8F6F0"/>
          </a:solidFill>
          <a:ln w="6350">
            <a:solidFill>
              <a:srgbClr val="A8D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246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estratégica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34930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é o único canal com geração de leads estruturada. Google captura intenção de pesquisa internacional com volume expressivo, mas sem conversões rastreadas. O post impulsionado entrega alcance de baixo custo, porém sem objetivo comercial claro. O ganho de eficiência do Google (CPC -47%) sugere maior qualificação das buscas, mas o rastreamento precisa ser corrigido para validar.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e Google Ads —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manteve alcance com verba reduzida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6.833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(campanha)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Internacional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gerados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cadastro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R$ 222,00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R$ 1.997,98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2084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01/26 Cadastro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-34%</a:t>
            </a:r>
            <a:endParaRPr lang="en-US" sz="7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74320" y="2331720"/>
          <a:ext cx="3200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Chart 1" descr=""/>
          <p:cNvGraphicFramePr/>
          <p:nvPr/>
        </p:nvGraphicFramePr>
        <p:xfrm>
          <a:off x="3566160" y="2331720"/>
          <a:ext cx="3200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6858000" y="23317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EF3E2"/>
          </a:solidFill>
          <a:ln w="6350">
            <a:solidFill>
              <a:srgbClr val="F5C38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9516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executiva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995160" y="27889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da campanha caiu de R$3.011 para R$1.998 (-34%). O volume de leads acompanhou (-40%). O CPL subiu 10% (R$200 → R$222), indicando leve queda de eficiência relativa. Com verba equivalente, a tendência seria ~12–14 leads.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— CA 01/26 [Cadastro] [Internacional],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Plataformas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liderou volume; Facebook, eficiência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MAIOR VOLUME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R$ 187,24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no link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4.045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médio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R$ 14,98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R$ 1.123,47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515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698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MAIOR EFICIÊNCIA DE CPL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R$ 291,50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no link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médio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R$ 12,49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R$ 874,51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Facebook gerou CPL mais alto (R$291 vs R$187 no IG). Avaliar realocação de verba para Instagram nas próximas semanas.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— breakdown por plataforma, CA 01/26,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Criativos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02 – certificações concentrou todos os leads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749040" cy="2971800"/>
          </a:xfrm>
          <a:prstGeom prst="roundRect">
            <a:avLst>
              <a:gd name="adj" fmla="val 3077"/>
            </a:avLst>
          </a:prstGeom>
          <a:solidFill>
            <a:srgbClr val="1A2E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 VENCEDOR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 02 – certificações"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concentrou 100% dos leads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no período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médio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 no link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9.509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total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60520" y="1051560"/>
            <a:ext cx="2011680" cy="274320"/>
          </a:xfrm>
          <a:prstGeom prst="rect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731520" cy="274320"/>
          </a:xfrm>
          <a:prstGeom prst="rect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03720" y="1051560"/>
            <a:ext cx="822960" cy="274320"/>
          </a:xfrm>
          <a:prstGeom prst="rect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051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726680" y="1051560"/>
            <a:ext cx="914400" cy="274320"/>
          </a:xfrm>
          <a:prstGeom prst="rect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051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641080" y="1051560"/>
            <a:ext cx="731520" cy="274320"/>
          </a:xfrm>
          <a:prstGeom prst="rect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1051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60520" y="1325880"/>
            <a:ext cx="2011680" cy="438912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13258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02 – certificações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1325880"/>
            <a:ext cx="731520" cy="438912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3258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1325880"/>
            <a:ext cx="822960" cy="438912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3258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1325880"/>
            <a:ext cx="914400" cy="438912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3258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R$181,04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41080" y="1325880"/>
            <a:ext cx="731520" cy="438912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13258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60520" y="1801368"/>
            <a:ext cx="20116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8013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1801368"/>
            <a:ext cx="7315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18013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03720" y="1801368"/>
            <a:ext cx="82296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180136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26680" y="1801368"/>
            <a:ext cx="9144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180136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R$207,82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41080" y="1801368"/>
            <a:ext cx="7315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18013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60520" y="227685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22768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01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2276856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27685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03720" y="2276856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2768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726680" y="2276856"/>
            <a:ext cx="914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2276856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R$202,39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41080" y="2276856"/>
            <a:ext cx="731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227685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160520" y="2752344"/>
            <a:ext cx="20116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0" y="275234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03 – processos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72200" y="2752344"/>
            <a:ext cx="7315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275234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03720" y="2752344"/>
            <a:ext cx="82296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49440" y="275234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726680" y="2752344"/>
            <a:ext cx="9144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2752344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R$155,10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641080" y="2752344"/>
            <a:ext cx="7315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0" y="275234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160520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Ad 02 – certificações converteu. Os demais criativos geraram cliques mas zero leads. Recomendação: criar variações do Ad 02 mantendo a narrativa de certificação/credibilidade.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— breakdown por anúncio, CA 01/26,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Mercados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e Emirados lideraram geração de leads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515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051560"/>
            <a:ext cx="1188720" cy="274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26864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0720" y="1051560"/>
            <a:ext cx="731520" cy="274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5584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92240" y="1051560"/>
            <a:ext cx="1097280" cy="274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7104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89520" y="1051560"/>
            <a:ext cx="914400" cy="274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4384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503920" y="1051560"/>
            <a:ext cx="1097280" cy="274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0" y="1325880"/>
            <a:ext cx="1188720" cy="374904"/>
          </a:xfrm>
          <a:prstGeom prst="rect">
            <a:avLst/>
          </a:prstGeom>
          <a:solidFill>
            <a:srgbClr val="E8F6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26864" y="132588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1325880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132588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92240" y="132588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47104" y="132588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R$ 1.074,82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89520" y="1325880"/>
            <a:ext cx="9144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44384" y="132588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03920" y="132588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58784" y="132588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R$ 276,30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1737360"/>
            <a:ext cx="11887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26864" y="173736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Canadá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60720" y="1737360"/>
            <a:ext cx="7315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173736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92240" y="173736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47104" y="173736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R$ 248,62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89520" y="1737360"/>
            <a:ext cx="91440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44384" y="173736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503920" y="173736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58784" y="173736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R$ 163,68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0" y="2148840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26864" y="214884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Espanha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760720" y="2148840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15584" y="214884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492240" y="214884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47104" y="214884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R$ 179,30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589520" y="2148840"/>
            <a:ext cx="9144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44384" y="214884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503920" y="214884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58784" y="214884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R$ 120,17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0" y="2560320"/>
            <a:ext cx="11887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26864" y="256032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Emirados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760720" y="2560320"/>
            <a:ext cx="7315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15584" y="256032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492240" y="256032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47104" y="256032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R$ 226,94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589520" y="2560320"/>
            <a:ext cx="91440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44384" y="256032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503920" y="256032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558784" y="256032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R$ 127,64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572000" y="2971800"/>
            <a:ext cx="1188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626864" y="29718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760720" y="2971800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15584" y="297180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6492240" y="297180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47104" y="29718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R$ 114,64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7589520" y="2971800"/>
            <a:ext cx="9144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44384" y="297180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8503920" y="297180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558784" y="29718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R$ 104,79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4572000" y="3383280"/>
            <a:ext cx="11887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26864" y="338328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Japão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5760720" y="3383280"/>
            <a:ext cx="73152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815584" y="338328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6492240" y="338328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47104" y="338328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R$ 46,07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589520" y="3383280"/>
            <a:ext cx="91440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44384" y="3383280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8503920" y="3383280"/>
            <a:ext cx="1097280" cy="374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558784" y="338328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R$ 99,08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274320" y="374904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E8F6F0"/>
          </a:solidFill>
          <a:ln w="6350">
            <a:solidFill>
              <a:srgbClr val="A8D9C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57200" y="37947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concentra 44% dos leads e 54% do gasto — mercado prioritário. Emirados entregam 2 leads com custo menor. França, Alemanha e Japão não converteram; avaliar continuidade ou adequação de criativos para esses mercados.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Meta Ads — breakdown por país, CA 01/26,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· Pesquisa internacional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ampliou eficiência com menos investimento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147.448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Impressões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internacional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 vs abril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médio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-47% vs abril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0" y="105156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R$ 2.435,02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2084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 vs abril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7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74320" y="2331720"/>
          <a:ext cx="5486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5943600" y="23317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E8F6F0"/>
          </a:solidFill>
          <a:ln w="6350">
            <a:solidFill>
              <a:srgbClr val="A8D9C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2648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caiu 47% (R$1,75 → R$0,92) com cliques crescendo +3,6%. Maior volume com menor custo.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43600" y="338328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6350">
            <a:solidFill>
              <a:srgbClr val="F5C38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3474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2648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conversões registradas — acompanhamento de conversões incompleto em toda a conta.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Ads — [PESQUISA] [INTERNACIONAL],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cresceu; qualidade ainda a melhorar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ativos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vs abril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usuários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vs abril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vs abril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E8F6F0"/>
          </a:solidFill>
          <a:ln w="12700">
            <a:solidFill>
              <a:srgbClr val="E8F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0" y="10515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1161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20840" y="15544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Engaj. médio/usuário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17373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 vs abril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920240"/>
            <a:ext cx="685800" cy="18288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920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</a:t>
            </a:r>
            <a:endParaRPr lang="en-US" sz="7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74320" y="233172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5760720" y="2331720"/>
            <a:ext cx="3108960" cy="2331720"/>
          </a:xfrm>
          <a:prstGeom prst="roundRect">
            <a:avLst>
              <a:gd name="adj" fmla="val 3922"/>
            </a:avLst>
          </a:prstGeom>
          <a:solidFill>
            <a:srgbClr val="FEF3E2"/>
          </a:solidFill>
          <a:ln w="6350">
            <a:solidFill>
              <a:srgbClr val="F5C38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4360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rejeição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Produtos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43600" y="2907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74,5%</a:t>
            </a:r>
            <a:endParaRPr lang="en-US" sz="3600" dirty="0"/>
          </a:p>
        </p:txBody>
      </p:sp>
      <p:sp>
        <p:nvSpPr>
          <p:cNvPr id="34" name="Text 31"/>
          <p:cNvSpPr/>
          <p:nvPr/>
        </p:nvSpPr>
        <p:spPr>
          <a:xfrm>
            <a:off x="5943600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Abril: 71,4%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0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dos usuários saem da página de Produtos sem interagir. É o destino principal de todo o tráfego pago. Otimizar esta página é a maior alavanca disponível.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Google Analytics — GA4 Triunfo do Brasil, período de 01/05/2026 a 31/05/2026.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ciclo · Recomendações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para o próximo ciclo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6152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o rastreamento de conversões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reporta zero conversões por configuração incompleta. Sem esse dado, é impossível saber o real retorno da campanha de pesquisa. É a ação mais urgente.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E8F6F0"/>
          </a:solidFill>
          <a:ln w="8890">
            <a:solidFill>
              <a:srgbClr val="2E9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216152"/>
            <a:ext cx="347472" cy="34747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variações do Ad 02 – certificações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único criativo que gera leads. Manter e criar 2–3 variações com ângulos diferentes (ex.: rastreabilidade, ESG, qualidade da erva) para testar e sustentar resultados.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EF3E2"/>
          </a:solidFill>
          <a:ln w="8890">
            <a:solidFill>
              <a:srgbClr val="E885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E8850A"/>
          </a:solidFill>
          <a:ln w="12700">
            <a:solidFill>
              <a:srgbClr val="E885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a página de Produtos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74,5% dos visitantes saem sem interagir. Com 82% do tráfego vindo de CPC pago, cada melhoria na página tem impacto direto no custo por contato comercial.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8890">
            <a:solidFill>
              <a:srgbClr val="2D4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044952"/>
            <a:ext cx="347472" cy="347472"/>
          </a:xfrm>
          <a:prstGeom prst="ellipse">
            <a:avLst/>
          </a:prstGeom>
          <a:solidFill>
            <a:srgbClr val="2D4A5A"/>
          </a:solidFill>
          <a:ln w="12700">
            <a:solidFill>
              <a:srgbClr val="2D4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mercados sem conversão (FR, DE, JP)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747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França, Alemanha e Japão consumiram R$248 sem gerar nenhum lead. Ou os criativos precisam de adaptação para esses mercados ou a verba deve ser realocada para EUA e Emirados.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converter tráfego qualificado em pipeline comercial real — medido por leads qualificados, não por cliques.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estratégica — Triunfo do Brasil, Maio 2026.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Triunfo — Relatório de Performance Digital Maio 2026</dc:title>
  <dc:subject>PptxGenJS Presentation</dc:subject>
  <dc:creator>PptxGenJS</dc:creator>
  <cp:lastModifiedBy>PptxGenJS</cp:lastModifiedBy>
  <cp:revision>1</cp:revision>
  <dcterms:created xsi:type="dcterms:W3CDTF">2026-06-16T19:47:28Z</dcterms:created>
  <dcterms:modified xsi:type="dcterms:W3CDTF">2026-06-16T19:47:28Z</dcterms:modified>
</cp:coreProperties>
</file>