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3" y="385763"/>
            <a:ext cx="1500188" cy="52863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00788" y="385763"/>
            <a:ext cx="2286000" cy="461442"/>
          </a:xfrm>
          <a:prstGeom prst="rect">
            <a:avLst/>
          </a:prstGeom>
          <a:noFill/>
          <a:ln/>
        </p:spPr>
        <p:txBody>
          <a:bodyPr wrap="square" lIns="0" tIns="119126" rIns="0" bIns="0" rtlCol="0" anchor="t">
            <a:sp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Período analisado</a:t>
            </a:r>
            <a:r>
              <a:rPr lang="en-US" sz="9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
</a:t>
            </a:r>
            <a:r>
              <a:rPr lang="en-US" sz="900" b="1" dirty="0">
                <a:solidFill>
                  <a:srgbClr val="5F6F5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01/05/2026 — 31/05/2026</a:t>
            </a:r>
            <a:endParaRPr lang="en-US" sz="950" dirty="0"/>
          </a:p>
        </p:txBody>
      </p:sp>
      <p:sp>
        <p:nvSpPr>
          <p:cNvPr id="5" name="Text 1"/>
          <p:cNvSpPr/>
          <p:nvPr/>
        </p:nvSpPr>
        <p:spPr>
          <a:xfrm>
            <a:off x="557213" y="1700213"/>
            <a:ext cx="4818878" cy="845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1600"/>
              </a:lnSpc>
              <a:buNone/>
            </a:pPr>
            <a:r>
              <a:rPr lang="en-US" sz="2950" b="1" spc="-2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Relatório de </a:t>
            </a:r>
            <a:r>
              <a:rPr lang="en-US" sz="2950" b="1" spc="-2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Performance </a:t>
            </a:r>
            <a:r>
              <a:rPr lang="en-US" sz="2950" b="1" spc="-2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Digital</a:t>
            </a:r>
            <a:endParaRPr lang="en-US" sz="2950" dirty="0"/>
          </a:p>
        </p:txBody>
      </p:sp>
      <p:sp>
        <p:nvSpPr>
          <p:cNvPr id="6" name="Text 2"/>
          <p:cNvSpPr/>
          <p:nvPr/>
        </p:nvSpPr>
        <p:spPr>
          <a:xfrm>
            <a:off x="557213" y="2745432"/>
            <a:ext cx="4643438" cy="488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15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Atualização com dados reais de maio, com foco em leads, eficiência de custo e qualidade de tráfego para Triunfo.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5876153" y="2190452"/>
            <a:ext cx="2710635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2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TRIUNFO · MAIO 2026</a:t>
            </a:r>
            <a:endParaRPr lang="en-US" sz="750" dirty="0"/>
          </a:p>
        </p:txBody>
      </p:sp>
      <p:sp>
        <p:nvSpPr>
          <p:cNvPr id="8" name="Text 4"/>
          <p:cNvSpPr/>
          <p:nvPr/>
        </p:nvSpPr>
        <p:spPr>
          <a:xfrm>
            <a:off x="5876153" y="2499420"/>
            <a:ext cx="2710635" cy="650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1200" dirty="0">
                <a:solidFill>
                  <a:srgbClr val="17311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Apresentação executiva com dados consolidados de Meta Ads, Google Ads e Google Analytics.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57213" y="4262140"/>
            <a:ext cx="195917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Fonte: Meta Ads, Google Ads e Google Analytics — Maio 2026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7247334" y="4262140"/>
            <a:ext cx="133945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Apresentação executiva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14338"/>
            <a:ext cx="6799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3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TRIUNFO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145536" y="414338"/>
            <a:ext cx="1498402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Visão executiva · Maio 2026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00063" y="771525"/>
            <a:ext cx="8143875" cy="277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8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Maio exigiu mais eficiência com menos verba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0063" y="1134991"/>
            <a:ext cx="7000875" cy="377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10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O novo relatório mostra forte geração de visibilidade e tráfego: </a:t>
            </a:r>
            <a:r>
              <a:rPr lang="en-US" sz="10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161.978 impressões</a:t>
            </a:r>
            <a:r>
              <a:rPr lang="en-US" sz="10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 e </a:t>
            </a:r>
            <a:r>
              <a:rPr lang="en-US" sz="10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2.952 cliques</a:t>
            </a:r>
            <a:r>
              <a:rPr lang="en-US" sz="10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 com investimento consolidado em mídia paga.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0063" y="1976503"/>
            <a:ext cx="2533631" cy="3780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750" b="1" spc="-2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R$ 4.470,66</a:t>
            </a:r>
            <a:endParaRPr lang="en-US" sz="2750" dirty="0"/>
          </a:p>
        </p:txBody>
      </p:sp>
      <p:sp>
        <p:nvSpPr>
          <p:cNvPr id="8" name="Text 5"/>
          <p:cNvSpPr/>
          <p:nvPr/>
        </p:nvSpPr>
        <p:spPr>
          <a:xfrm>
            <a:off x="500063" y="2454548"/>
            <a:ext cx="253363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investimento total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00063" y="2676004"/>
            <a:ext cx="2533631" cy="274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Soma de Meta Ads, Google Ads e campanhas patrocinadas adicionais.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305156" y="1976503"/>
            <a:ext cx="2533659" cy="3780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750" b="1" spc="-2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161.978</a:t>
            </a:r>
            <a:endParaRPr lang="en-US" sz="2750" dirty="0"/>
          </a:p>
        </p:txBody>
      </p:sp>
      <p:sp>
        <p:nvSpPr>
          <p:cNvPr id="11" name="Text 8"/>
          <p:cNvSpPr/>
          <p:nvPr/>
        </p:nvSpPr>
        <p:spPr>
          <a:xfrm>
            <a:off x="3305156" y="2454548"/>
            <a:ext cx="2533659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impressões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305156" y="2676004"/>
            <a:ext cx="2533659" cy="274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Exposição consolidada do ecossistema pago no período.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6110278" y="1976503"/>
            <a:ext cx="2533631" cy="37803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750" b="1" spc="-2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2.952</a:t>
            </a:r>
            <a:endParaRPr lang="en-US" sz="2750" dirty="0"/>
          </a:p>
        </p:txBody>
      </p:sp>
      <p:sp>
        <p:nvSpPr>
          <p:cNvPr id="14" name="Text 11"/>
          <p:cNvSpPr/>
          <p:nvPr/>
        </p:nvSpPr>
        <p:spPr>
          <a:xfrm>
            <a:off x="6110278" y="2454548"/>
            <a:ext cx="2533631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cliques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110278" y="2676004"/>
            <a:ext cx="2533631" cy="274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8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Tráfego total reportado nas frentes de mídia analisadas.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500063" y="3648140"/>
            <a:ext cx="3258387" cy="1164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15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A prioridade é converter </a:t>
            </a:r>
            <a:r>
              <a:rPr lang="en-US" sz="15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alcance e cliques</a:t>
            </a:r>
            <a:r>
              <a:rPr lang="en-US" sz="15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 em </a:t>
            </a:r>
            <a:r>
              <a:rPr lang="en-US" sz="15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contacto comercial.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4144212" y="3762440"/>
            <a:ext cx="212127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 que funcionou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144212" y="3998184"/>
            <a:ext cx="2121275" cy="7657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Google Ads manteve volume de cliques (+3,6%) com CPC 47% menor. CPM do Meta caiu em todos os mercados, melhorando a eficiência de distribuição.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522662" y="3762440"/>
            <a:ext cx="2121275" cy="164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 ponto crítico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522662" y="3998184"/>
            <a:ext cx="2121275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Leads Meta caíram 40% (15 para 9) e CPL subiu 10%. Investimento menor explica parte, mas a eficiência por real gasto também piorou. Tracking do Google ainda incompleto.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00063" y="4998309"/>
            <a:ext cx="814387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Fonte: Meta Ads, Google Ads e Google Analytics — período de 01/05/2026 a 31/05/2026.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14338"/>
            <a:ext cx="6799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3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TRIUNFO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259836" y="414338"/>
            <a:ext cx="1384102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Mix de canais · Maio 2026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00063" y="771525"/>
            <a:ext cx="8143875" cy="277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8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 mix de canais teve papéis distintos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0063" y="1120704"/>
            <a:ext cx="6715125" cy="344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Meta Ads (campanha leads) e Google Ads (pesquisa) atuaram com papéis distintos em maio. O post impulsionado de Instagram teve veiculação mínima ao final do mês.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0063" y="1934087"/>
            <a:ext cx="1571625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CANAL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2257425" y="1934087"/>
            <a:ext cx="2004994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INVESTIMENTO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448156" y="1934087"/>
            <a:ext cx="2005022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IMPRESSÕES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638916" y="1934087"/>
            <a:ext cx="2004994" cy="12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CLIQUES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00063" y="2235017"/>
            <a:ext cx="67687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Meta Ads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00063" y="2470761"/>
            <a:ext cx="157162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alcance internacional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2257425" y="2210014"/>
            <a:ext cx="700088" cy="40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R$ 2.035,64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071813" y="2354675"/>
            <a:ext cx="1190606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448156" y="2310919"/>
            <a:ext cx="700088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14.530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262544" y="2354675"/>
            <a:ext cx="1190634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6638916" y="2310919"/>
            <a:ext cx="700088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313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453303" y="2354675"/>
            <a:ext cx="1190606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500063" y="2806517"/>
            <a:ext cx="80903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Google Ads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00063" y="3042261"/>
            <a:ext cx="157162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intenção de pesquisa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2257425" y="2781514"/>
            <a:ext cx="700088" cy="40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R$ 2.435,02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071813" y="2926175"/>
            <a:ext cx="1190606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4448156" y="2882419"/>
            <a:ext cx="700088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147.448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262544" y="2926175"/>
            <a:ext cx="1190634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6638916" y="2882419"/>
            <a:ext cx="700088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2.639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453303" y="2926175"/>
            <a:ext cx="1190606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500063" y="3378017"/>
            <a:ext cx="95369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Post Instagram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500063" y="3613761"/>
            <a:ext cx="157162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visitas ao perfil</a:t>
            </a:r>
            <a:endParaRPr lang="en-US" sz="650" dirty="0"/>
          </a:p>
        </p:txBody>
      </p:sp>
      <p:sp>
        <p:nvSpPr>
          <p:cNvPr id="29" name="Text 26"/>
          <p:cNvSpPr/>
          <p:nvPr/>
        </p:nvSpPr>
        <p:spPr>
          <a:xfrm>
            <a:off x="2257425" y="3353014"/>
            <a:ext cx="700088" cy="4036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R$ 37,66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071813" y="3497675"/>
            <a:ext cx="1190606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4448156" y="3453919"/>
            <a:ext cx="700088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3.631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262544" y="3497675"/>
            <a:ext cx="1190634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6638916" y="3453919"/>
            <a:ext cx="700088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168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453303" y="3497675"/>
            <a:ext cx="1190606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500063" y="4158472"/>
            <a:ext cx="2798062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Google manteve volume; 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CPC caiu 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-47% 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vs. abril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.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3669599" y="4158472"/>
            <a:ext cx="4974338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Meta concentrou os leads (9 no mês, CPL R$222). Google entregou 2.639 cliques com CPC 47% menor que em abril. O post impulsionado teve alcance de 3.262 com CPC de R$0,22, mas sem objetivo comercial.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500063" y="4922853"/>
            <a:ext cx="814387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Fonte: Meta Ads e Google Ads — período de 01/05/2026 a 31/05/2026.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14338"/>
            <a:ext cx="6799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3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TRIUNFO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497366" y="414338"/>
            <a:ext cx="1146572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Meta Ads · Maio 2026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00063" y="771525"/>
            <a:ext cx="8143875" cy="277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8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Meta Ads gerou leads com verba reduzida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0063" y="1120704"/>
            <a:ext cx="7000875" cy="344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 maio a campanha CA 01/26 manteve operação com investimento 34% menor. Volume de leads caiu 40% (15 para 9), com CPL subindo de R$200 para R$222.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0063" y="1758172"/>
            <a:ext cx="1896666" cy="3010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15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6.833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500063" y="2144911"/>
            <a:ext cx="189666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alcance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00063" y="2357438"/>
            <a:ext cx="1896666" cy="125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800"/>
              </a:lnSpc>
              <a:buNone/>
            </a:pPr>
            <a:r>
              <a:rPr lang="en-US" sz="7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-30% vs. abril.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2582466" y="1758172"/>
            <a:ext cx="1896666" cy="3010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15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10.899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2582466" y="2144911"/>
            <a:ext cx="189666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impressões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2582466" y="2357438"/>
            <a:ext cx="1896666" cy="125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800"/>
              </a:lnSpc>
              <a:buNone/>
            </a:pPr>
            <a:r>
              <a:rPr lang="en-US" sz="7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Frequência média de 1,57 no período.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664869" y="1758172"/>
            <a:ext cx="1896666" cy="3010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15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145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4664869" y="2144911"/>
            <a:ext cx="189666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cliques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664869" y="2357438"/>
            <a:ext cx="1896666" cy="2519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800"/>
              </a:lnSpc>
              <a:buNone/>
            </a:pPr>
            <a:r>
              <a:rPr lang="en-US" sz="7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Cliques da campanha CA 01/26 no mês.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6747272" y="1758172"/>
            <a:ext cx="1896666" cy="3010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15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R$ 1.997,98</a:t>
            </a:r>
            <a:endParaRPr lang="en-US" sz="2150" dirty="0"/>
          </a:p>
        </p:txBody>
      </p:sp>
      <p:sp>
        <p:nvSpPr>
          <p:cNvPr id="17" name="Text 14"/>
          <p:cNvSpPr/>
          <p:nvPr/>
        </p:nvSpPr>
        <p:spPr>
          <a:xfrm>
            <a:off x="6747272" y="2144911"/>
            <a:ext cx="189666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valor gasto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6747272" y="2357438"/>
            <a:ext cx="1896666" cy="1259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800"/>
              </a:lnSpc>
              <a:buNone/>
            </a:pPr>
            <a:r>
              <a:rPr lang="en-US" sz="7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CPM médio de R$ 183,34 no período.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00063" y="3236928"/>
            <a:ext cx="3900488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VARIAÇÃO VS. ABRIL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00063" y="3529822"/>
            <a:ext cx="107156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9422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Cliques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700213" y="3511962"/>
            <a:ext cx="64293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-73%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471738" y="3545895"/>
            <a:ext cx="1928813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500063" y="3797712"/>
            <a:ext cx="107156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9422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Alcance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700213" y="3779853"/>
            <a:ext cx="64293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-30%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471738" y="3813786"/>
            <a:ext cx="1928813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500063" y="4065603"/>
            <a:ext cx="107156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9422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Impressões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700213" y="4047744"/>
            <a:ext cx="64293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-41%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2471738" y="4081676"/>
            <a:ext cx="1928813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500063" y="4333494"/>
            <a:ext cx="107156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9422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CPM médio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1700213" y="4315634"/>
            <a:ext cx="64293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+13%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2471738" y="4349567"/>
            <a:ext cx="1928813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4743450" y="3236928"/>
            <a:ext cx="3900488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LEITURA EXECUTIVA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743450" y="3383375"/>
            <a:ext cx="3900488" cy="456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Verba caiu 34% e leads caíram 40%. 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CPL subiu 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10%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.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743450" y="3953703"/>
            <a:ext cx="3900488" cy="488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 verba equivalente à de abril, a tendência seria 12 a 14 leads. O Ad 02 (certificações) foi o único criativo com conversão — 100% dos leads no período.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43450" y="4606156"/>
            <a:ext cx="186451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1,33%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4743450" y="4827612"/>
            <a:ext cx="1864519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CTR total reportado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6779419" y="4606156"/>
            <a:ext cx="186451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R$ 13,78</a:t>
            </a:r>
            <a:endParaRPr lang="en-US" sz="1250" dirty="0"/>
          </a:p>
        </p:txBody>
      </p:sp>
      <p:sp>
        <p:nvSpPr>
          <p:cNvPr id="38" name="Text 35"/>
          <p:cNvSpPr/>
          <p:nvPr/>
        </p:nvSpPr>
        <p:spPr>
          <a:xfrm>
            <a:off x="6779419" y="4827612"/>
            <a:ext cx="1864519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CPC médio Meta Ads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500063" y="4751403"/>
            <a:ext cx="8143875" cy="210741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Fonte: Meta Ads — CA 01/26 [Cadastro] [Internacional], período de 01/05/2026 a 31/05/2026.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14338"/>
            <a:ext cx="6799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3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TRIUNFO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759773" y="414338"/>
            <a:ext cx="1884164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Meta Ads · Plataformas · Maio 2026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00063" y="771525"/>
            <a:ext cx="8143875" cy="277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8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Instagram liderou volume; Facebook, CPL mais alto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0063" y="1120704"/>
            <a:ext cx="6715125" cy="344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 maio o Instagram gerou 6 leads (CPL R$187) e o Facebook 3 leads (CPL R$291). Instagram manteve vantagem em volume e custo.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0063" y="1701022"/>
            <a:ext cx="1046559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5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Instagram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0063" y="1976056"/>
            <a:ext cx="104655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5F6F5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MAIOR VOLUME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3610440" y="1659945"/>
            <a:ext cx="768679" cy="382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210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51,7%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3610440" y="2043922"/>
            <a:ext cx="76867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650" dirty="0">
                <a:solidFill>
                  <a:srgbClr val="5F6F5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DOS CLIQUES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500063" y="2315384"/>
            <a:ext cx="18538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75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00063" y="2586847"/>
            <a:ext cx="1853803" cy="122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cliques reportados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2525316" y="2315384"/>
            <a:ext cx="18538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4.045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2525316" y="2586847"/>
            <a:ext cx="1853803" cy="122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pessoas alcançadas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00063" y="2830292"/>
            <a:ext cx="18538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R$ 14,98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00063" y="3101755"/>
            <a:ext cx="1853803" cy="122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CPC médio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2525316" y="2830292"/>
            <a:ext cx="18538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R$ 1.123,47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2525316" y="3101755"/>
            <a:ext cx="1853803" cy="122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valor gasto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764881" y="1701022"/>
            <a:ext cx="1001911" cy="2250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4000"/>
              </a:lnSpc>
              <a:buNone/>
            </a:pPr>
            <a:r>
              <a:rPr lang="en-US" sz="15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Facebook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764881" y="1976056"/>
            <a:ext cx="100191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5F6F5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MAIOR EFICIÊNCIA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7837754" y="1659945"/>
            <a:ext cx="806183" cy="3821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2100" b="1" spc="-1" kern="0" dirty="0">
                <a:solidFill>
                  <a:srgbClr val="8B5A9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48,3%</a:t>
            </a:r>
            <a:endParaRPr lang="en-US" sz="2100" dirty="0"/>
          </a:p>
        </p:txBody>
      </p:sp>
      <p:sp>
        <p:nvSpPr>
          <p:cNvPr id="22" name="Text 19"/>
          <p:cNvSpPr/>
          <p:nvPr/>
        </p:nvSpPr>
        <p:spPr>
          <a:xfrm>
            <a:off x="7837754" y="2043922"/>
            <a:ext cx="806183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650" dirty="0">
                <a:solidFill>
                  <a:srgbClr val="5F6F5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DOS CLIQUES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4764881" y="2315384"/>
            <a:ext cx="18538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" b="1" spc="-1" kern="0" dirty="0">
                <a:solidFill>
                  <a:srgbClr val="8B5A9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70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764881" y="2586847"/>
            <a:ext cx="1853803" cy="122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cliques reportados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6790134" y="2315384"/>
            <a:ext cx="18538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2.998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790134" y="2586847"/>
            <a:ext cx="1853803" cy="122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pessoas alcançadas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764881" y="2830292"/>
            <a:ext cx="18538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R$ 12,49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4764881" y="3101755"/>
            <a:ext cx="1853803" cy="122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CPC médio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790134" y="2830292"/>
            <a:ext cx="18538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R$ 874,51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790134" y="3101755"/>
            <a:ext cx="1853803" cy="1220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valor gasto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500063" y="3388063"/>
            <a:ext cx="2410681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5F6F5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DISTRIBUIÇÃO DOS CLIQUES EM META ADS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7995642" y="3388063"/>
            <a:ext cx="64829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5F6F5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TOTAL: 145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500063" y="3597018"/>
            <a:ext cx="8143875" cy="128588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500063" y="3768468"/>
            <a:ext cx="1110853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Instagram · 75 cliques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552730" y="3768468"/>
            <a:ext cx="109120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Facebook · 70 cliques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500063" y="4066719"/>
            <a:ext cx="2953494" cy="520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O volume veio do 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Instagram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; a 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custo por lead foi menor no Instagram.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3825032" y="4066719"/>
            <a:ext cx="4818906" cy="520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Facebook gerou CPL 55% mais alto (R$291 vs R$187 do Instagram). Avaliar realocação de verba para Instagram nas próximas semanas.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00063" y="4630294"/>
            <a:ext cx="814387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Fonte: Meta Ads — breakdown por plataforma, CA 01/26, período de 01/05/2026 a 31/05/2026.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14338"/>
            <a:ext cx="6799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3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TRIUNFO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938367" y="414338"/>
            <a:ext cx="1705570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Meta Ads · Criativos · Maio 2026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00063" y="771525"/>
            <a:ext cx="8143875" cy="277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8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Ad 02 – certificações concentrou todos os leads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0063" y="1120704"/>
            <a:ext cx="6715125" cy="344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 maio apenas um criativo gerou leads: Ad 02 – certificações. Os demais geraram cliques mas zero conversões.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0063" y="1772459"/>
            <a:ext cx="3025657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CRIATIVO VENCEDOR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00063" y="2038564"/>
            <a:ext cx="3025657" cy="744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5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Ad 02 – </a:t>
            </a:r>
            <a:r>
              <a:rPr lang="en-US" sz="15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certificações</a:t>
            </a:r>
            <a:r>
              <a:rPr lang="en-US" sz="15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 foi o único </a:t>
            </a:r>
            <a:r>
              <a:rPr lang="en-US" sz="15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criativo com leads.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00063" y="2954080"/>
            <a:ext cx="3025657" cy="5014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4050" b="1" spc="-4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9</a:t>
            </a:r>
            <a:endParaRPr lang="en-US" sz="4050" dirty="0"/>
          </a:p>
        </p:txBody>
      </p:sp>
      <p:sp>
        <p:nvSpPr>
          <p:cNvPr id="10" name="Text 7"/>
          <p:cNvSpPr/>
          <p:nvPr/>
        </p:nvSpPr>
        <p:spPr>
          <a:xfrm>
            <a:off x="500063" y="3527003"/>
            <a:ext cx="302565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29422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leads no período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0063" y="3935983"/>
            <a:ext cx="14199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3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9.509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0063" y="4171727"/>
            <a:ext cx="1419960" cy="1132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alcance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2105760" y="3935983"/>
            <a:ext cx="141996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3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R$ 222,00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105760" y="4171727"/>
            <a:ext cx="1419960" cy="1132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CPL médio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3911482" y="1817108"/>
            <a:ext cx="1549887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ANÚNCIO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5561381" y="1817108"/>
            <a:ext cx="53647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CLIQUES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6197873" y="1817108"/>
            <a:ext cx="53650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CPC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6834392" y="1817108"/>
            <a:ext cx="53650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ALCANCE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7470911" y="1817108"/>
            <a:ext cx="536507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FREQ.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8107431" y="1817108"/>
            <a:ext cx="53647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CPM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3911482" y="2139386"/>
            <a:ext cx="1549887" cy="104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 02 – certificações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3911482" y="2286809"/>
            <a:ext cx="1549887" cy="104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certificacoes</a:t>
            </a:r>
            <a:endParaRPr lang="en-US" sz="600" dirty="0"/>
          </a:p>
        </p:txBody>
      </p:sp>
      <p:sp>
        <p:nvSpPr>
          <p:cNvPr id="23" name="Shape 20"/>
          <p:cNvSpPr/>
          <p:nvPr/>
        </p:nvSpPr>
        <p:spPr>
          <a:xfrm>
            <a:off x="3911482" y="2441377"/>
            <a:ext cx="1549887" cy="71438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5561381" y="2231445"/>
            <a:ext cx="53647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127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197873" y="2231445"/>
            <a:ext cx="53650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R$ 13,78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834392" y="2231445"/>
            <a:ext cx="53650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7.852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470911" y="2231445"/>
            <a:ext cx="53650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1,46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8107431" y="2158222"/>
            <a:ext cx="536479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R$ 181,04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3911482" y="2753748"/>
            <a:ext cx="1549887" cy="104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safra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3911482" y="2901172"/>
            <a:ext cx="1549887" cy="104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600" dirty="0"/>
          </a:p>
        </p:txBody>
      </p:sp>
      <p:sp>
        <p:nvSpPr>
          <p:cNvPr id="31" name="Shape 28"/>
          <p:cNvSpPr/>
          <p:nvPr/>
        </p:nvSpPr>
        <p:spPr>
          <a:xfrm>
            <a:off x="3911482" y="3055739"/>
            <a:ext cx="1549887" cy="71438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5561381" y="2845808"/>
            <a:ext cx="53647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12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6197873" y="2845808"/>
            <a:ext cx="53650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R$ 15,56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834392" y="2845808"/>
            <a:ext cx="53650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5.134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470911" y="2845808"/>
            <a:ext cx="53650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1,37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8107431" y="2772584"/>
            <a:ext cx="536479" cy="2928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R$ 207,82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3911482" y="3368111"/>
            <a:ext cx="1549887" cy="104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 01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3911482" y="3515534"/>
            <a:ext cx="1549887" cy="1045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600" dirty="0"/>
          </a:p>
        </p:txBody>
      </p:sp>
      <p:sp>
        <p:nvSpPr>
          <p:cNvPr id="39" name="Shape 36"/>
          <p:cNvSpPr/>
          <p:nvPr/>
        </p:nvSpPr>
        <p:spPr>
          <a:xfrm>
            <a:off x="3911482" y="3670102"/>
            <a:ext cx="1549887" cy="71438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5561381" y="3460170"/>
            <a:ext cx="53647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197873" y="3460170"/>
            <a:ext cx="53650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R$ 202,39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6834392" y="3460170"/>
            <a:ext cx="53650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465</a:t>
            </a:r>
            <a:endParaRPr lang="en-US" sz="800" dirty="0"/>
          </a:p>
        </p:txBody>
      </p:sp>
      <p:sp>
        <p:nvSpPr>
          <p:cNvPr id="43" name="Text 40"/>
          <p:cNvSpPr/>
          <p:nvPr/>
        </p:nvSpPr>
        <p:spPr>
          <a:xfrm>
            <a:off x="7470911" y="3460170"/>
            <a:ext cx="536507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1,52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8107431" y="3460170"/>
            <a:ext cx="536479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R$ 216,77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500063" y="4265628"/>
            <a:ext cx="2958936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A mensagem de 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origem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 deve 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orientar os próximos testes.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3816186" y="4265628"/>
            <a:ext cx="4827752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anúncio vencedor gerou aproximadamente 72% dos cliques entre os três principais criativos, indicando que rastreabilidade, controlo produtivo e procedência são argumentos centrais para escalar a comunicação.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500063" y="5015722"/>
            <a:ext cx="814387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Fonte: Meta Ads — breakdown por anúncio, CA 01/26, período de 01/05/2026 a 31/05/2026.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14338"/>
            <a:ext cx="6799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3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TRIUNFO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341864" y="414338"/>
            <a:ext cx="2302073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Meta Ads · Mercados · Maio 2026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00063" y="771525"/>
            <a:ext cx="8143875" cy="277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8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EUA e Emirados lideraram em leads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0063" y="1120704"/>
            <a:ext cx="6929438" cy="344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 maio a campanha CA 01/26 gerou 9 leads distribuídos por 4 países. EUA concentrou 44% dos leads com 54% do investimento.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0063" y="1729597"/>
            <a:ext cx="3258387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LEADS POR PAÍS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00063" y="2024276"/>
            <a:ext cx="3258387" cy="5531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0400"/>
              </a:lnSpc>
              <a:buNone/>
            </a:pPr>
            <a:r>
              <a:rPr lang="en-US" sz="4550" b="1" spc="-4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44%</a:t>
            </a:r>
            <a:endParaRPr lang="en-US" sz="4550" dirty="0"/>
          </a:p>
        </p:txBody>
      </p:sp>
      <p:sp>
        <p:nvSpPr>
          <p:cNvPr id="9" name="Text 6"/>
          <p:cNvSpPr/>
          <p:nvPr/>
        </p:nvSpPr>
        <p:spPr>
          <a:xfrm>
            <a:off x="500063" y="2663196"/>
            <a:ext cx="2786063" cy="190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11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dos leads vieram dos EUA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0063" y="3116321"/>
            <a:ext cx="84296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9422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EUA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443038" y="3132395"/>
            <a:ext cx="1801062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3344112" y="3120786"/>
            <a:ext cx="4143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 leads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500063" y="3466365"/>
            <a:ext cx="84296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9422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Emirados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1443038" y="3482439"/>
            <a:ext cx="1801062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3344112" y="3470830"/>
            <a:ext cx="4143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 leads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00063" y="3816409"/>
            <a:ext cx="842963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9422D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Canadá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1443038" y="3832482"/>
            <a:ext cx="1801062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3344112" y="3820874"/>
            <a:ext cx="41433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 leads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00063" y="4168239"/>
            <a:ext cx="3258387" cy="559445"/>
          </a:xfrm>
          <a:prstGeom prst="rect">
            <a:avLst/>
          </a:prstGeom>
          <a:noFill/>
          <a:ln/>
        </p:spPr>
        <p:txBody>
          <a:bodyPr wrap="square" lIns="0" tIns="110617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8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França, Alemanha e Japão consumiram R$248 sem gerar leads. Avaliar continuidade ou adequação de criativos para esses mercados.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144212" y="1729597"/>
            <a:ext cx="1855589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PAÍSES — GASTO E LEADS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6786563" y="1729597"/>
            <a:ext cx="1857375" cy="248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lnSpc>
                <a:spcPct val="99200"/>
              </a:lnSpc>
              <a:buNone/>
            </a:pPr>
            <a:r>
              <a:rPr lang="en-US" sz="7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Dados da CA 01/26 em maio de 2026.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4144212" y="2091919"/>
            <a:ext cx="1439912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PAÍS</a:t>
            </a:r>
            <a:endParaRPr lang="en-US" sz="650" dirty="0"/>
          </a:p>
        </p:txBody>
      </p:sp>
      <p:sp>
        <p:nvSpPr>
          <p:cNvPr id="23" name="Text 20"/>
          <p:cNvSpPr/>
          <p:nvPr/>
        </p:nvSpPr>
        <p:spPr>
          <a:xfrm>
            <a:off x="5584124" y="2091919"/>
            <a:ext cx="1529907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6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LEADS</a:t>
            </a:r>
            <a:endParaRPr lang="en-US" sz="650" dirty="0"/>
          </a:p>
        </p:txBody>
      </p:sp>
      <p:sp>
        <p:nvSpPr>
          <p:cNvPr id="24" name="Text 21"/>
          <p:cNvSpPr/>
          <p:nvPr/>
        </p:nvSpPr>
        <p:spPr>
          <a:xfrm>
            <a:off x="7114031" y="2091919"/>
            <a:ext cx="76493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6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GASTO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7878970" y="2091919"/>
            <a:ext cx="76496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6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CPM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4144212" y="2306231"/>
            <a:ext cx="143991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EUA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5584124" y="2391956"/>
            <a:ext cx="1529907" cy="71438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7114031" y="2306231"/>
            <a:ext cx="76493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7878970" y="2306231"/>
            <a:ext cx="76496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1731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R$ 1.074,82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144212" y="2549119"/>
            <a:ext cx="143991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Emirados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5584124" y="2634844"/>
            <a:ext cx="1529907" cy="71438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7114031" y="2549119"/>
            <a:ext cx="76493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7878970" y="2549119"/>
            <a:ext cx="76496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1731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R$ 226,94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4144212" y="2792006"/>
            <a:ext cx="143991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Canadá</a:t>
            </a:r>
            <a:endParaRPr lang="en-US" sz="700" dirty="0"/>
          </a:p>
        </p:txBody>
      </p:sp>
      <p:sp>
        <p:nvSpPr>
          <p:cNvPr id="35" name="Shape 32"/>
          <p:cNvSpPr/>
          <p:nvPr/>
        </p:nvSpPr>
        <p:spPr>
          <a:xfrm>
            <a:off x="5584124" y="2877731"/>
            <a:ext cx="1529907" cy="71438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7114031" y="2792006"/>
            <a:ext cx="76493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7878970" y="2792006"/>
            <a:ext cx="76496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1731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R$ 248,62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4144212" y="3034894"/>
            <a:ext cx="143991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Espanha</a:t>
            </a:r>
            <a:endParaRPr lang="en-US" sz="700" dirty="0"/>
          </a:p>
        </p:txBody>
      </p:sp>
      <p:sp>
        <p:nvSpPr>
          <p:cNvPr id="39" name="Shape 36"/>
          <p:cNvSpPr/>
          <p:nvPr/>
        </p:nvSpPr>
        <p:spPr>
          <a:xfrm>
            <a:off x="5584124" y="3120619"/>
            <a:ext cx="1529907" cy="71438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7114031" y="3034894"/>
            <a:ext cx="76493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</a:t>
            </a:r>
            <a:endParaRPr lang="en-US" sz="700" dirty="0"/>
          </a:p>
        </p:txBody>
      </p:sp>
      <p:sp>
        <p:nvSpPr>
          <p:cNvPr id="41" name="Text 38"/>
          <p:cNvSpPr/>
          <p:nvPr/>
        </p:nvSpPr>
        <p:spPr>
          <a:xfrm>
            <a:off x="7878970" y="3034894"/>
            <a:ext cx="76496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1731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R$ 179,30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4144212" y="3277781"/>
            <a:ext cx="143991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França</a:t>
            </a:r>
            <a:endParaRPr lang="en-US" sz="700" dirty="0"/>
          </a:p>
        </p:txBody>
      </p:sp>
      <p:sp>
        <p:nvSpPr>
          <p:cNvPr id="43" name="Shape 40"/>
          <p:cNvSpPr/>
          <p:nvPr/>
        </p:nvSpPr>
        <p:spPr>
          <a:xfrm>
            <a:off x="5584124" y="3363506"/>
            <a:ext cx="1529907" cy="71438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44" name="Text 41"/>
          <p:cNvSpPr/>
          <p:nvPr/>
        </p:nvSpPr>
        <p:spPr>
          <a:xfrm>
            <a:off x="7114031" y="3277781"/>
            <a:ext cx="76493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7878970" y="3277781"/>
            <a:ext cx="76496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1731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R$ 114,64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4144212" y="3520669"/>
            <a:ext cx="143991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Japão</a:t>
            </a:r>
            <a:endParaRPr lang="en-US" sz="700" dirty="0"/>
          </a:p>
        </p:txBody>
      </p:sp>
      <p:sp>
        <p:nvSpPr>
          <p:cNvPr id="47" name="Shape 44"/>
          <p:cNvSpPr/>
          <p:nvPr/>
        </p:nvSpPr>
        <p:spPr>
          <a:xfrm>
            <a:off x="5584124" y="3606394"/>
            <a:ext cx="1529907" cy="71438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7114031" y="3520669"/>
            <a:ext cx="76493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7878970" y="3520669"/>
            <a:ext cx="76496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1731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R$ 100,84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4144212" y="3763556"/>
            <a:ext cx="143991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Alemanha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5584124" y="3849281"/>
            <a:ext cx="1529907" cy="71438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52" name="Text 49"/>
          <p:cNvSpPr/>
          <p:nvPr/>
        </p:nvSpPr>
        <p:spPr>
          <a:xfrm>
            <a:off x="7114031" y="3763556"/>
            <a:ext cx="76493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7878970" y="3763556"/>
            <a:ext cx="76496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1731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R$ 108,69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4144212" y="4006444"/>
            <a:ext cx="143991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Madrid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5584124" y="4092169"/>
            <a:ext cx="1529907" cy="71438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56" name="Text 53"/>
          <p:cNvSpPr/>
          <p:nvPr/>
        </p:nvSpPr>
        <p:spPr>
          <a:xfrm>
            <a:off x="7114031" y="4006444"/>
            <a:ext cx="76493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294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7878970" y="4006444"/>
            <a:ext cx="76496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17311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R$ 151,31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500063" y="4651391"/>
            <a:ext cx="2813493" cy="48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2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Emirados combinam </a:t>
            </a:r>
            <a:r>
              <a:rPr lang="en-US" sz="12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escala e </a:t>
            </a:r>
            <a:r>
              <a:rPr lang="en-US" sz="12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eficiência</a:t>
            </a:r>
            <a:r>
              <a:rPr lang="en-US" sz="12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.</a:t>
            </a:r>
            <a:endParaRPr lang="en-US" sz="1200" dirty="0"/>
          </a:p>
        </p:txBody>
      </p:sp>
      <p:sp>
        <p:nvSpPr>
          <p:cNvPr id="59" name="Text 56"/>
          <p:cNvSpPr/>
          <p:nvPr/>
        </p:nvSpPr>
        <p:spPr>
          <a:xfrm>
            <a:off x="3642168" y="4651391"/>
            <a:ext cx="5001769" cy="48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8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Dubai lidera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 o alcance e Abu Dhabi mantém CPM competitivo; a recomendação é 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aprofundar estes mercados com criativos localizados e chamadas comerciais 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diretas.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14338"/>
            <a:ext cx="6799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3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TRIUNFO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068616" y="414338"/>
            <a:ext cx="2575322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Google Ads · Pesquisa internacional · Maio 2026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00063" y="771525"/>
            <a:ext cx="8143875" cy="277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8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Google Ads ampliou eficiência com menos verba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0063" y="1120704"/>
            <a:ext cx="7000875" cy="344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 maio o Google Ads reduziu investimento em 45% mas manteve cliques (+3,6%). CPC caiu de R$1,75 para R$0,92. Zero conversões rastreadas.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0063" y="1715309"/>
            <a:ext cx="4524561" cy="977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1550" dirty="0">
                <a:solidFill>
                  <a:srgbClr val="17311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 xml:space="preserve">A pesquisa entregou </a:t>
            </a:r>
            <a:r>
              <a:rPr lang="en-US" sz="14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2.639 cliques</a:t>
            </a:r>
            <a:r>
              <a:rPr lang="en-US" sz="1550" dirty="0">
                <a:solidFill>
                  <a:srgbClr val="17311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 xml:space="preserve"> e </a:t>
            </a:r>
            <a:r>
              <a:rPr lang="en-US" sz="1550" dirty="0">
                <a:solidFill>
                  <a:srgbClr val="17311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 xml:space="preserve">reduziu o CPC em 47%, mas o rastreamento </a:t>
            </a:r>
            <a:r>
              <a:rPr lang="en-US" sz="1550" dirty="0">
                <a:solidFill>
                  <a:srgbClr val="17311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 xml:space="preserve">de conversões continua </a:t>
            </a:r>
            <a:r>
              <a:rPr lang="en-US" sz="1550" dirty="0">
                <a:solidFill>
                  <a:srgbClr val="17311B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incompleto.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367524" y="1786747"/>
            <a:ext cx="3276386" cy="1157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72000"/>
              </a:lnSpc>
              <a:buNone/>
            </a:pPr>
            <a:r>
              <a:rPr lang="en-US" sz="9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147.448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367524" y="1973907"/>
            <a:ext cx="3276386" cy="11572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72000"/>
              </a:lnSpc>
              <a:buNone/>
            </a:pPr>
            <a:r>
              <a:rPr lang="en-US" sz="9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impressões no período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0063" y="2858309"/>
            <a:ext cx="12501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5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2.639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00063" y="3151203"/>
            <a:ext cx="1250156" cy="1264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7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cliques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00063" y="3334792"/>
            <a:ext cx="1250156" cy="22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+3,6% vs. abril</a:t>
            </a:r>
            <a:endParaRPr lang="en-US" sz="650" dirty="0"/>
          </a:p>
        </p:txBody>
      </p:sp>
      <p:sp>
        <p:nvSpPr>
          <p:cNvPr id="13" name="Text 10"/>
          <p:cNvSpPr/>
          <p:nvPr/>
        </p:nvSpPr>
        <p:spPr>
          <a:xfrm>
            <a:off x="1878806" y="2858309"/>
            <a:ext cx="12501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5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1,79%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878806" y="3151203"/>
            <a:ext cx="1250156" cy="1264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7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CTR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878806" y="3334792"/>
            <a:ext cx="1250156" cy="22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Taxa de cliques da campanha</a:t>
            </a:r>
            <a:endParaRPr lang="en-US" sz="650" dirty="0"/>
          </a:p>
        </p:txBody>
      </p:sp>
      <p:sp>
        <p:nvSpPr>
          <p:cNvPr id="16" name="Text 13"/>
          <p:cNvSpPr/>
          <p:nvPr/>
        </p:nvSpPr>
        <p:spPr>
          <a:xfrm>
            <a:off x="3257550" y="2858309"/>
            <a:ext cx="12501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5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R$ 0,92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3257550" y="3151203"/>
            <a:ext cx="1250156" cy="1264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7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CPC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257550" y="3334792"/>
            <a:ext cx="1250156" cy="1116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-47,4% vs. abril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4636294" y="2858309"/>
            <a:ext cx="12501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5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R$ 16,51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4636294" y="3151203"/>
            <a:ext cx="1250156" cy="1264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7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CPM médio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4636294" y="3334792"/>
            <a:ext cx="1250156" cy="1116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 por mil impressões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6015038" y="2858309"/>
            <a:ext cx="12501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5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R$ 2.435,02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6015038" y="3151203"/>
            <a:ext cx="1250156" cy="1264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7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custo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015038" y="3334792"/>
            <a:ext cx="1250156" cy="2232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Investimento total em Google Ads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7393781" y="2858309"/>
            <a:ext cx="12501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5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</a:t>
            </a:r>
            <a:endParaRPr lang="en-US" sz="1550" dirty="0"/>
          </a:p>
        </p:txBody>
      </p:sp>
      <p:sp>
        <p:nvSpPr>
          <p:cNvPr id="26" name="Text 23"/>
          <p:cNvSpPr/>
          <p:nvPr/>
        </p:nvSpPr>
        <p:spPr>
          <a:xfrm>
            <a:off x="7393781" y="3151203"/>
            <a:ext cx="1250156" cy="1264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4400"/>
              </a:lnSpc>
              <a:buNone/>
            </a:pPr>
            <a:r>
              <a:rPr lang="en-US" sz="7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conversão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7393781" y="3334792"/>
            <a:ext cx="1250156" cy="11162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Rastreamento incompleto na conta</a:t>
            </a:r>
            <a:endParaRPr lang="en-US" sz="650" dirty="0"/>
          </a:p>
        </p:txBody>
      </p:sp>
      <p:sp>
        <p:nvSpPr>
          <p:cNvPr id="28" name="Text 25"/>
          <p:cNvSpPr/>
          <p:nvPr/>
        </p:nvSpPr>
        <p:spPr>
          <a:xfrm>
            <a:off x="500063" y="4158472"/>
            <a:ext cx="2552691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8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Força: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 CPC caiu 47% (R$1,75 → R$0,92) com 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cliques crescendo +3,6%. Maior eficiência 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 menor custo.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295641" y="4158472"/>
            <a:ext cx="2552691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8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Próximo passo: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 zero conversões registradas. O rastreamento 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de conversões está incompleto em toda 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conta.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091219" y="4158472"/>
            <a:ext cx="2552719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8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Atenção: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 configurar acompanhamento de conversões 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Configurar conversões no Google Ads é a 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ação mais urgente desta conta.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00063" y="4822841"/>
            <a:ext cx="8143875" cy="108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Fonte: Google Ads — [PESQUISA] [INTERNACIONAL], período de 01/05/2026 a 31/05/2026.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14338"/>
            <a:ext cx="6799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3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TRIUNFO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641902" y="414338"/>
            <a:ext cx="2002036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Dispositivos e conversão · Maio 2026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00063" y="771525"/>
            <a:ext cx="8143875" cy="277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8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Celular segue dominante, conversão sem rastreamento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0063" y="1120704"/>
            <a:ext cx="6929438" cy="344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 maio o Google Ads não registrou conversões. O padrão de tráfego por dispositivo não foi exportado, porém o comportamento mobile-first da conta mantém-se.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0063" y="1758172"/>
            <a:ext cx="3258387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PRINCIPAL LEITURA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500063" y="1981414"/>
            <a:ext cx="3258387" cy="5406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0400"/>
              </a:lnSpc>
              <a:buNone/>
            </a:pPr>
            <a:r>
              <a:rPr lang="en-US" sz="4450" b="1" spc="-4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—</a:t>
            </a:r>
            <a:endParaRPr lang="en-US" sz="4450" dirty="0"/>
          </a:p>
        </p:txBody>
      </p:sp>
      <p:sp>
        <p:nvSpPr>
          <p:cNvPr id="9" name="Text 6"/>
          <p:cNvSpPr/>
          <p:nvPr/>
        </p:nvSpPr>
        <p:spPr>
          <a:xfrm>
            <a:off x="500063" y="2579201"/>
            <a:ext cx="2928938" cy="390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12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dados de dispositivo não disponíveis em maio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0063" y="3055823"/>
            <a:ext cx="3000375" cy="650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Em abril foram </a:t>
            </a:r>
            <a:r>
              <a:rPr lang="en-US" sz="850" b="1" dirty="0">
                <a:solidFill>
                  <a:srgbClr val="29422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2.042 cliques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 em celulares em abril, contra 480 em 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computadores e 25 em tablets. O comportamento 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o padrão de intenção internacional se mantém 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mobile-first.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0063" y="3792410"/>
            <a:ext cx="3258387" cy="436327"/>
          </a:xfrm>
          <a:prstGeom prst="rect">
            <a:avLst/>
          </a:prstGeom>
          <a:noFill/>
          <a:ln/>
        </p:spPr>
        <p:txBody>
          <a:bodyPr wrap="square" lIns="0" tIns="119126" rIns="0" bIns="0" rtlCol="0" anchor="t">
            <a:spAutoFit/>
          </a:bodyPr>
          <a:lstStyle/>
          <a:p>
            <a:pPr algn="l" indent="0" marL="0">
              <a:lnSpc>
                <a:spcPct val="102400"/>
              </a:lnSpc>
              <a:buNone/>
            </a:pPr>
            <a:r>
              <a:rPr lang="en-US" sz="900" b="1" dirty="0">
                <a:solidFill>
                  <a:srgbClr val="8B5A9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0%</a:t>
            </a:r>
            <a:r>
              <a:rPr lang="en-US" sz="900" b="1" dirty="0">
                <a:solidFill>
                  <a:srgbClr val="8B5A9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 de conversões registradas em maio. Rastreamento </a:t>
            </a:r>
            <a:r>
              <a:rPr lang="en-US" sz="900" b="1" dirty="0">
                <a:solidFill>
                  <a:srgbClr val="8B5A9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incompleto na conta.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144212" y="1758172"/>
            <a:ext cx="1603074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CLIQUES POR DISPOSITIVO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041952" y="1758172"/>
            <a:ext cx="1601986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Total Google Ads: 2.639 cliques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144212" y="1995701"/>
            <a:ext cx="9144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Celulares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172912" y="1999273"/>
            <a:ext cx="6143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—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01575" y="2013561"/>
            <a:ext cx="2013700" cy="128588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8029575" y="2009096"/>
            <a:ext cx="61436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144212" y="2245733"/>
            <a:ext cx="9144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Computadores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172912" y="2249305"/>
            <a:ext cx="6143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—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901575" y="2263592"/>
            <a:ext cx="2013700" cy="128588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8029575" y="2259127"/>
            <a:ext cx="61436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144212" y="2495764"/>
            <a:ext cx="9144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Tablets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172912" y="2499336"/>
            <a:ext cx="6143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—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5901575" y="2513623"/>
            <a:ext cx="2013700" cy="128588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8029575" y="2509158"/>
            <a:ext cx="61436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—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144212" y="2867239"/>
            <a:ext cx="139512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R$ 0,92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4144212" y="3138701"/>
            <a:ext cx="1395124" cy="235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CPC médio da campanha de pesquisa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5696499" y="2867239"/>
            <a:ext cx="139512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5696499" y="3138701"/>
            <a:ext cx="1395124" cy="235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conversões registradas em maio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7248785" y="2867239"/>
            <a:ext cx="139512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5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0%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7248785" y="3138701"/>
            <a:ext cx="1395124" cy="235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7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taxa de conversão rastreada no período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500063" y="4172759"/>
            <a:ext cx="2881052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1200"/>
              </a:lnSpc>
              <a:buNone/>
            </a:pP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A jornada é 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mobile-first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, mas </a:t>
            </a:r>
            <a:r>
              <a:rPr lang="en-US" sz="14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rastreamento precisa ser corrigido.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3738302" y="4172759"/>
            <a:ext cx="4905635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ação prioritária é configurar o acompanhamento de conversões no Google Ads. Sem esse dado, é impossível mensurar o retorno real do investimento de R$2.435 em maio.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00063" y="4937141"/>
            <a:ext cx="8143875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Fonte: Google Ads — período de 01/05/2026 a 31/05/2026.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14338"/>
            <a:ext cx="6799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3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TRIUNFO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083028" y="414338"/>
            <a:ext cx="1560909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Google Analytics · Maio 2026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00063" y="771525"/>
            <a:ext cx="8143875" cy="277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8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Tráfego cresceu; qualidade ainda a melhorar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0063" y="1120704"/>
            <a:ext cx="7215188" cy="344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 maio o site cresceu 9% em usuários ativos e 9% em eventos. A rejeição na página de Produtos subiu de 71,4% para 74,5%.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0063" y="1701022"/>
            <a:ext cx="1896666" cy="3220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350" b="1" spc="-2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—</a:t>
            </a:r>
            <a:endParaRPr lang="en-US" sz="2350" dirty="0"/>
          </a:p>
        </p:txBody>
      </p:sp>
      <p:sp>
        <p:nvSpPr>
          <p:cNvPr id="8" name="Text 5"/>
          <p:cNvSpPr/>
          <p:nvPr/>
        </p:nvSpPr>
        <p:spPr>
          <a:xfrm>
            <a:off x="500063" y="2108774"/>
            <a:ext cx="1896666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8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sessões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582466" y="1701022"/>
            <a:ext cx="1896666" cy="3220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350" b="1" spc="-2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2.582</a:t>
            </a:r>
            <a:endParaRPr lang="en-US" sz="2350" dirty="0"/>
          </a:p>
        </p:txBody>
      </p:sp>
      <p:sp>
        <p:nvSpPr>
          <p:cNvPr id="10" name="Text 7"/>
          <p:cNvSpPr/>
          <p:nvPr/>
        </p:nvSpPr>
        <p:spPr>
          <a:xfrm>
            <a:off x="2582466" y="2108774"/>
            <a:ext cx="1896666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8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usuários ativos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664869" y="1701022"/>
            <a:ext cx="1896666" cy="3220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350" b="1" spc="-2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—</a:t>
            </a:r>
            <a:endParaRPr lang="en-US" sz="2350" dirty="0"/>
          </a:p>
        </p:txBody>
      </p:sp>
      <p:sp>
        <p:nvSpPr>
          <p:cNvPr id="12" name="Text 9"/>
          <p:cNvSpPr/>
          <p:nvPr/>
        </p:nvSpPr>
        <p:spPr>
          <a:xfrm>
            <a:off x="4664869" y="2108774"/>
            <a:ext cx="1896666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8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visualizações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747272" y="1701022"/>
            <a:ext cx="1896666" cy="3220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350" b="1" spc="-2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11.213</a:t>
            </a:r>
            <a:endParaRPr lang="en-US" sz="2350" dirty="0"/>
          </a:p>
        </p:txBody>
      </p:sp>
      <p:sp>
        <p:nvSpPr>
          <p:cNvPr id="14" name="Text 11"/>
          <p:cNvSpPr/>
          <p:nvPr/>
        </p:nvSpPr>
        <p:spPr>
          <a:xfrm>
            <a:off x="6747272" y="2108774"/>
            <a:ext cx="1896666" cy="1408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2800"/>
              </a:lnSpc>
              <a:buNone/>
            </a:pPr>
            <a:r>
              <a:rPr lang="en-US" sz="8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eventos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00063" y="2865453"/>
            <a:ext cx="4189363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VARIAÇÃO VS. ABRIL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00063" y="3074408"/>
            <a:ext cx="121443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9422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Eventos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828800" y="3079766"/>
            <a:ext cx="5857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9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+9%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528888" y="3097625"/>
            <a:ext cx="2160538" cy="100013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500063" y="3278005"/>
            <a:ext cx="121443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9422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Usuários ativos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828800" y="3283362"/>
            <a:ext cx="5857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9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+9%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528888" y="3301222"/>
            <a:ext cx="2160538" cy="100013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500063" y="3481601"/>
            <a:ext cx="121443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9422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Sessões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828800" y="3486959"/>
            <a:ext cx="5857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9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—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528888" y="3504819"/>
            <a:ext cx="2160538" cy="100013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500063" y="3685198"/>
            <a:ext cx="1214438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9422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Visualizações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828800" y="3690556"/>
            <a:ext cx="58578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95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—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528888" y="3708416"/>
            <a:ext cx="2160538" cy="100013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5075188" y="2865453"/>
            <a:ext cx="356875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QUALIDADE DE TRÁFEGO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5075188" y="3088695"/>
            <a:ext cx="3568750" cy="468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0400"/>
              </a:lnSpc>
              <a:buNone/>
            </a:pPr>
            <a:r>
              <a:rPr lang="en-US" sz="145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Crescimento de volume </a:t>
            </a:r>
            <a:r>
              <a:rPr lang="en-US" sz="145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sem ganho de </a:t>
            </a:r>
            <a:r>
              <a:rPr lang="en-US" sz="145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qualidade</a:t>
            </a:r>
            <a:r>
              <a:rPr lang="en-US" sz="145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.</a:t>
            </a:r>
            <a:endParaRPr lang="en-US" sz="1450" dirty="0"/>
          </a:p>
        </p:txBody>
      </p:sp>
      <p:sp>
        <p:nvSpPr>
          <p:cNvPr id="30" name="Text 27"/>
          <p:cNvSpPr/>
          <p:nvPr/>
        </p:nvSpPr>
        <p:spPr>
          <a:xfrm>
            <a:off x="5075188" y="3628327"/>
            <a:ext cx="3568750" cy="488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Usuários cresceram 9%, mas rejeição na página de Produtos subiu para 74,5%. 82% do tráfego vem de CPC pago. Cada melhoria na página tem impacto direto no custo por contato.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075188" y="4237918"/>
            <a:ext cx="169865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300" b="1" dirty="0">
                <a:solidFill>
                  <a:srgbClr val="8B5A9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74,5%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075188" y="4466518"/>
            <a:ext cx="1698650" cy="1132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taxa de rejeição</a:t>
            </a:r>
            <a:endParaRPr lang="en-US" sz="650" dirty="0"/>
          </a:p>
        </p:txBody>
      </p:sp>
      <p:sp>
        <p:nvSpPr>
          <p:cNvPr id="33" name="Text 30"/>
          <p:cNvSpPr/>
          <p:nvPr/>
        </p:nvSpPr>
        <p:spPr>
          <a:xfrm>
            <a:off x="6945288" y="4237918"/>
            <a:ext cx="169865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3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15,5s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945288" y="4466518"/>
            <a:ext cx="1698650" cy="2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7600"/>
              </a:lnSpc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tempo médio de engajamento/usuário</a:t>
            </a:r>
            <a:endParaRPr lang="en-US" sz="650" dirty="0"/>
          </a:p>
        </p:txBody>
      </p:sp>
      <p:sp>
        <p:nvSpPr>
          <p:cNvPr id="35" name="Text 32"/>
          <p:cNvSpPr/>
          <p:nvPr/>
        </p:nvSpPr>
        <p:spPr>
          <a:xfrm>
            <a:off x="500063" y="4672822"/>
            <a:ext cx="2813493" cy="452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1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A maior alavanca é </a:t>
            </a:r>
            <a:r>
              <a:rPr lang="en-US" sz="11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otimizar a página de Produtos</a:t>
            </a:r>
            <a:r>
              <a:rPr lang="en-US" sz="11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.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3642168" y="4672822"/>
            <a:ext cx="5001769" cy="452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8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74,5% dos usuários saem sem interagir. Com 82% do tráfego vindo de CPC pago, otimizar esta página é a maior alavanca disponível. Fonte: Google Analytics — GA4 Triunfo, 01/05/2026 a 31/05/2026.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14338"/>
            <a:ext cx="6799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3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TRIUNFO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584752" y="414338"/>
            <a:ext cx="2059186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Post impulsionado · Maio 2026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00063" y="771525"/>
            <a:ext cx="8143875" cy="277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8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Post impulsionado gerou visitas ao perfil com CPC mínimo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0063" y="1120704"/>
            <a:ext cx="7000875" cy="344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 29/05 foi ativado um post impulsionado de Instagram com objetivo de visitas ao perfil. Operou por 3 dias e gerou alcance de 3.262 com CPC de R$0,22.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0063" y="1601009"/>
            <a:ext cx="1907381" cy="2940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10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3.631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00063" y="1973600"/>
            <a:ext cx="1907381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impressões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00063" y="2170054"/>
            <a:ext cx="1907381" cy="24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Impressões do post impulsionado em 3 dias de veiculação.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578894" y="1601009"/>
            <a:ext cx="1907381" cy="2940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1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168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2578894" y="1973600"/>
            <a:ext cx="1907381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cliques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578894" y="2170054"/>
            <a:ext cx="1907381" cy="24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Visitas ao perfil do Instagram no período.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657725" y="1601009"/>
            <a:ext cx="1907381" cy="2940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10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3.262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4657725" y="1973600"/>
            <a:ext cx="1907381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taxa de esse orçamento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4657725" y="2170054"/>
            <a:ext cx="1907381" cy="24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Alcance total do post impulsionado.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736556" y="1601009"/>
            <a:ext cx="1907381" cy="29401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8400"/>
              </a:lnSpc>
              <a:buNone/>
            </a:pPr>
            <a:r>
              <a:rPr lang="en-US" sz="21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R$ 37,66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6736556" y="1973600"/>
            <a:ext cx="1907381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custo total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736556" y="2170054"/>
            <a:ext cx="1907381" cy="241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Investimento total no post impulsionado.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500063" y="3022616"/>
            <a:ext cx="373074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EFICIÊNCIA DO POST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00063" y="3251216"/>
            <a:ext cx="96440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9422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Visitas ao perfil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1578769" y="3245858"/>
            <a:ext cx="6572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167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350294" y="3267289"/>
            <a:ext cx="1880508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500063" y="3494103"/>
            <a:ext cx="96440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9422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Alcance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1578769" y="3488745"/>
            <a:ext cx="6572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3.262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350294" y="3510176"/>
            <a:ext cx="1880508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500063" y="3736991"/>
            <a:ext cx="96440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9422D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CPC médio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578769" y="3731633"/>
            <a:ext cx="6572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lnSpc>
                <a:spcPct val="80000"/>
              </a:lnSpc>
              <a:buNone/>
            </a:pPr>
            <a:r>
              <a:rPr lang="en-US" sz="11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R$ 0,22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350294" y="3753064"/>
            <a:ext cx="1880508" cy="114300"/>
          </a:xfrm>
          <a:prstGeom prst="rect">
            <a:avLst/>
          </a:prstGeom>
          <a:solidFill>
            <a:srgbClr val="17311B">
              <a:alpha val="8000"/>
            </a:srgbClr>
          </a:solidFill>
          <a:ln/>
        </p:spPr>
      </p:sp>
      <p:sp>
        <p:nvSpPr>
          <p:cNvPr id="29" name="Text 26"/>
          <p:cNvSpPr/>
          <p:nvPr/>
        </p:nvSpPr>
        <p:spPr>
          <a:xfrm>
            <a:off x="500063" y="3974520"/>
            <a:ext cx="3730740" cy="413445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8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Leitura: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 CPC de R$0,22 é extremamente baixo para qualquer canal. </a:t>
            </a: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Objetivo era visitas ao perfil, não leads ou site.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4602277" y="3022616"/>
            <a:ext cx="4041660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b="1" spc="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PONTO DE ATENÇÃO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4602277" y="3160133"/>
            <a:ext cx="4041660" cy="484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0400"/>
              </a:lnSpc>
              <a:buNone/>
            </a:pPr>
            <a:r>
              <a:rPr lang="en-US" sz="150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Sem objetivo </a:t>
            </a:r>
            <a:r>
              <a:rPr lang="en-US" sz="150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comercial</a:t>
            </a:r>
            <a:r>
              <a:rPr lang="en-US" sz="150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 claro: </a:t>
            </a:r>
            <a:r>
              <a:rPr lang="en-US" sz="150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só alcance.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4602277" y="3715894"/>
            <a:ext cx="4041660" cy="488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0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post impulsionado não tem link para landing page nem geração de leads. Funciona como visibilidade de marca, mas não alimenta o funil comercial.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500063" y="4580846"/>
            <a:ext cx="2818628" cy="377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1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Recomendação: </a:t>
            </a:r>
            <a:r>
              <a:rPr lang="en-US" sz="11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redirecionar </a:t>
            </a:r>
            <a:r>
              <a:rPr lang="en-US" sz="11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engajamento</a:t>
            </a:r>
            <a:r>
              <a:rPr lang="en-US" sz="115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.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3633015" y="4580846"/>
            <a:ext cx="5010922" cy="377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para a campanha de leads (CA 01/26), onde cada real gasto tem objetivo comercial mensurável.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00063" y="5015889"/>
            <a:ext cx="81438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Fonte: Meta Ads — post impulsionado Instagram, período de 29/05/2026 a 31/05/2026.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0063" y="414338"/>
            <a:ext cx="6799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3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TRIUNFO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6909792" y="414338"/>
            <a:ext cx="173414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Próximo ciclo · Recomendações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500063" y="771525"/>
            <a:ext cx="8143875" cy="2777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6400"/>
              </a:lnSpc>
              <a:buNone/>
            </a:pPr>
            <a:r>
              <a:rPr lang="en-US" sz="1800" b="1" spc="-1" kern="0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Prioridades para o próximo ciclo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00063" y="1120704"/>
            <a:ext cx="7000875" cy="3445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7200"/>
              </a:lnSpc>
              <a:buNone/>
            </a:pPr>
            <a:r>
              <a:rPr lang="en-US" sz="9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 maio a eficiência melhorou no Google mas caiu no Meta. As quatro prioridades abaixo endereçam os pontos críticos identificados.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00063" y="1772459"/>
            <a:ext cx="585788" cy="3471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2750" b="1" spc="-2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</a:t>
            </a:r>
            <a:endParaRPr lang="en-US" sz="2750" dirty="0"/>
          </a:p>
        </p:txBody>
      </p:sp>
      <p:sp>
        <p:nvSpPr>
          <p:cNvPr id="8" name="Text 5"/>
          <p:cNvSpPr/>
          <p:nvPr/>
        </p:nvSpPr>
        <p:spPr>
          <a:xfrm>
            <a:off x="1243013" y="1772459"/>
            <a:ext cx="3221831" cy="192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2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Corrigir o rastreamento de conversões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243013" y="2021625"/>
            <a:ext cx="3221831" cy="452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8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Google Ads reporta zero conversões por configuração incompleta. Sem esse dado, é impossível saber o real retorno da campanha de pesquisa. É a ação mais urgente.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679156" y="1772459"/>
            <a:ext cx="585788" cy="3471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2750" b="1" spc="-2" kern="0" dirty="0">
                <a:solidFill>
                  <a:srgbClr val="8B5A9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</a:t>
            </a:r>
            <a:endParaRPr lang="en-US" sz="2750" dirty="0"/>
          </a:p>
        </p:txBody>
      </p:sp>
      <p:sp>
        <p:nvSpPr>
          <p:cNvPr id="11" name="Text 8"/>
          <p:cNvSpPr/>
          <p:nvPr/>
        </p:nvSpPr>
        <p:spPr>
          <a:xfrm>
            <a:off x="5422106" y="1772459"/>
            <a:ext cx="3221831" cy="192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2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Criar variações do Ad 02 – certificações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22106" y="2021625"/>
            <a:ext cx="3221831" cy="452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8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É o único criativo com leads. </a:t>
            </a:r>
            <a:r>
              <a:rPr lang="en-US" sz="800" b="1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Criar 2–3 variações com ângulos distintos</a:t>
            </a:r>
            <a:r>
              <a:rPr lang="en-US" sz="8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 xml:space="preserve"> (rastreabilidade, ESG, qualidade) </a:t>
            </a:r>
            <a:r>
              <a:rPr lang="en-US" sz="8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para testar e sustentar resultados.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500063" y="2872597"/>
            <a:ext cx="585788" cy="3471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2750" b="1" spc="-2" kern="0" dirty="0">
                <a:solidFill>
                  <a:srgbClr val="8B5A96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</a:t>
            </a:r>
            <a:endParaRPr lang="en-US" sz="2750" dirty="0"/>
          </a:p>
        </p:txBody>
      </p:sp>
      <p:sp>
        <p:nvSpPr>
          <p:cNvPr id="14" name="Text 11"/>
          <p:cNvSpPr/>
          <p:nvPr/>
        </p:nvSpPr>
        <p:spPr>
          <a:xfrm>
            <a:off x="1243013" y="2872597"/>
            <a:ext cx="3221831" cy="192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2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Otimizar a página de Produtos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243013" y="3121763"/>
            <a:ext cx="3221831" cy="452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8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74,5% dos visitantes saem sem interagir. Com 82% do tráfego vindo de CPC pago, cada melhoria tem impacto direto no custo por contato comercial.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679156" y="2872597"/>
            <a:ext cx="585788" cy="3471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72000"/>
              </a:lnSpc>
              <a:buNone/>
            </a:pPr>
            <a:r>
              <a:rPr lang="en-US" sz="2750" b="1" spc="-2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04</a:t>
            </a:r>
            <a:endParaRPr lang="en-US" sz="2750" dirty="0"/>
          </a:p>
        </p:txBody>
      </p:sp>
      <p:sp>
        <p:nvSpPr>
          <p:cNvPr id="17" name="Text 14"/>
          <p:cNvSpPr/>
          <p:nvPr/>
        </p:nvSpPr>
        <p:spPr>
          <a:xfrm>
            <a:off x="5422106" y="2872597"/>
            <a:ext cx="3221831" cy="1920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200" b="1" dirty="0">
                <a:solidFill>
                  <a:srgbClr val="17311B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Reavaliar mercados sem conversão (FR, DE, JP)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422106" y="3121763"/>
            <a:ext cx="3221831" cy="452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5600"/>
              </a:lnSpc>
              <a:buNone/>
            </a:pPr>
            <a:r>
              <a:rPr lang="en-US" sz="8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França, Alemanha e Japão consumiram R$248 sem gerar nenhum lead. Ou os criativos precisam de adaptação ou a verba deve ser realocada para EUA e Emirados.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00063" y="4072747"/>
            <a:ext cx="2953494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9600"/>
              </a:lnSpc>
              <a:buNone/>
            </a:pPr>
            <a:r>
              <a:rPr lang="en-US" sz="150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Objetivo: converter </a:t>
            </a:r>
            <a:r>
              <a:rPr lang="en-US" sz="150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tráfego </a:t>
            </a:r>
            <a:r>
              <a:rPr lang="en-US" sz="150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qualificado</a:t>
            </a:r>
            <a:r>
              <a:rPr lang="en-US" sz="1500" b="1" spc="-1" kern="0" dirty="0">
                <a:solidFill>
                  <a:srgbClr val="7C930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 xml:space="preserve"> em pipeline comercial real.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825032" y="4072747"/>
            <a:ext cx="4818906" cy="70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9422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Métricas de sucesso em junho: leads qualificados, CPL abaixo de R$200, zero campanha sem rastreamento de conversão e taxa de rejeição na página de Produtos abaixo de 70%.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00063" y="4851416"/>
            <a:ext cx="2709267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5F6F5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Fonte: Meta Ads, Google Ads e Google Analytics — síntese de maio de 2026.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2026-05-12T20:27:13Z</dcterms:created>
  <dcterms:modified xsi:type="dcterms:W3CDTF">2026-05-12T20:27:13Z</dcterms:modified>
</cp:coreProperties>
</file>