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3" y="385763"/>
            <a:ext cx="1500188" cy="52863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300788" y="385763"/>
            <a:ext cx="2286000" cy="461442"/>
          </a:xfrm>
          <a:prstGeom prst="rect">
            <a:avLst/>
          </a:prstGeom>
          <a:noFill/>
          <a:ln/>
        </p:spPr>
        <p:txBody>
          <a:bodyPr wrap="square" lIns="0" tIns="119126" rIns="0" bIns="0" rtlCol="0" anchor="t">
            <a:sp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Período analisado</a:t>
            </a:r>
            <a:r>
              <a:rPr lang="en-US" sz="9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r>
              <a:rPr lang="en-US" sz="900" b="1" dirty="0">
                <a:solidFill>
                  <a:srgbClr val="5F6F5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01/04/2026 — 30/04/2026</a:t>
            </a:r>
            <a:endParaRPr lang="en-US" sz="950" dirty="0"/>
          </a:p>
        </p:txBody>
      </p:sp>
      <p:sp>
        <p:nvSpPr>
          <p:cNvPr id="5" name="Text 1"/>
          <p:cNvSpPr/>
          <p:nvPr/>
        </p:nvSpPr>
        <p:spPr>
          <a:xfrm>
            <a:off x="557213" y="1700213"/>
            <a:ext cx="4818878" cy="845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2950" b="1" spc="-2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Relatório de </a:t>
            </a:r>
            <a:r>
              <a:rPr lang="en-US" sz="2950" b="1" spc="-2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Performance </a:t>
            </a:r>
            <a:r>
              <a:rPr lang="en-US" sz="2950" b="1" spc="-2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Digital</a:t>
            </a:r>
            <a:endParaRPr lang="en-US" sz="2950" dirty="0"/>
          </a:p>
        </p:txBody>
      </p:sp>
      <p:sp>
        <p:nvSpPr>
          <p:cNvPr id="6" name="Text 2"/>
          <p:cNvSpPr/>
          <p:nvPr/>
        </p:nvSpPr>
        <p:spPr>
          <a:xfrm>
            <a:off x="557213" y="2745432"/>
            <a:ext cx="4643438" cy="4880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150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Resultados de mídia paga, tráfego do site e engajamento para Triunfo.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5876153" y="2190452"/>
            <a:ext cx="2710635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2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TRIUNFO · ABRIL 2026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5876153" y="2499420"/>
            <a:ext cx="2710635" cy="650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1200" dirty="0">
                <a:solidFill>
                  <a:srgbClr val="17311B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Nova apresentação executiva construída a partir dos dados do PDF anexado.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57213" y="4262140"/>
            <a:ext cx="1959173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Fonte: relatório Triunfo — Abril 2026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7247334" y="4262140"/>
            <a:ext cx="1339453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Apresentação executiva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414338"/>
            <a:ext cx="67996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3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TRIUNFO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145536" y="414338"/>
            <a:ext cx="1498402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Visão executiva · Abril 2026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00063" y="771525"/>
            <a:ext cx="8143875" cy="277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1800" b="1" spc="-1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Abril ampliou escala, mas exige conversão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00063" y="1134991"/>
            <a:ext cx="7000875" cy="37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105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novo relatório mostra forte geração de visibilidade e tráfego: </a:t>
            </a:r>
            <a:r>
              <a:rPr lang="en-US" sz="10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337.163 impressões</a:t>
            </a:r>
            <a:r>
              <a:rPr lang="en-US" sz="105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e </a:t>
            </a:r>
            <a:r>
              <a:rPr lang="en-US" sz="10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9.179 cliques</a:t>
            </a:r>
            <a:r>
              <a:rPr lang="en-US" sz="105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com investimento consolidado em mídia paga.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0063" y="1976503"/>
            <a:ext cx="2533631" cy="3780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8400"/>
              </a:lnSpc>
              <a:buNone/>
            </a:pPr>
            <a:r>
              <a:rPr lang="en-US" sz="2750" b="1" spc="-2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R$ 9.477,87</a:t>
            </a:r>
            <a:endParaRPr lang="en-US" sz="2750" dirty="0"/>
          </a:p>
        </p:txBody>
      </p:sp>
      <p:sp>
        <p:nvSpPr>
          <p:cNvPr id="8" name="Text 5"/>
          <p:cNvSpPr/>
          <p:nvPr/>
        </p:nvSpPr>
        <p:spPr>
          <a:xfrm>
            <a:off x="500063" y="2454548"/>
            <a:ext cx="2533631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investimento total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0063" y="2676004"/>
            <a:ext cx="2533631" cy="274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80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Soma de Meta Ads, Google Ads e campanhas patrocinadas adicionais.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305156" y="1976503"/>
            <a:ext cx="2533659" cy="3780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8400"/>
              </a:lnSpc>
              <a:buNone/>
            </a:pPr>
            <a:r>
              <a:rPr lang="en-US" sz="2750" b="1" spc="-2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337.163</a:t>
            </a:r>
            <a:endParaRPr lang="en-US" sz="2750" dirty="0"/>
          </a:p>
        </p:txBody>
      </p:sp>
      <p:sp>
        <p:nvSpPr>
          <p:cNvPr id="11" name="Text 8"/>
          <p:cNvSpPr/>
          <p:nvPr/>
        </p:nvSpPr>
        <p:spPr>
          <a:xfrm>
            <a:off x="3305156" y="2454548"/>
            <a:ext cx="2533659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impressões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305156" y="2676004"/>
            <a:ext cx="2533659" cy="274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80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Exposição consolidada do ecossistema pago no período.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110278" y="1976503"/>
            <a:ext cx="2533631" cy="3780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8400"/>
              </a:lnSpc>
              <a:buNone/>
            </a:pPr>
            <a:r>
              <a:rPr lang="en-US" sz="2750" b="1" spc="-2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9.179</a:t>
            </a:r>
            <a:endParaRPr lang="en-US" sz="2750" dirty="0"/>
          </a:p>
        </p:txBody>
      </p:sp>
      <p:sp>
        <p:nvSpPr>
          <p:cNvPr id="14" name="Text 11"/>
          <p:cNvSpPr/>
          <p:nvPr/>
        </p:nvSpPr>
        <p:spPr>
          <a:xfrm>
            <a:off x="6110278" y="2454548"/>
            <a:ext cx="2533631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cliques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110278" y="2676004"/>
            <a:ext cx="2533631" cy="274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80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Tráfego total reportado nas frentes de mídia analisadas.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00063" y="3648140"/>
            <a:ext cx="3258387" cy="1164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155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 prioridade é transformar </a:t>
            </a:r>
            <a:r>
              <a:rPr lang="en-US" sz="155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alcance e cliques</a:t>
            </a:r>
            <a:r>
              <a:rPr lang="en-US" sz="155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em </a:t>
            </a:r>
            <a:r>
              <a:rPr lang="en-US" sz="155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contacto comercial.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4144212" y="3762440"/>
            <a:ext cx="2121275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 que funcionou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144212" y="3998184"/>
            <a:ext cx="2121275" cy="765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85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Google Ads e publicações patrocinadas geraram volume relevante com CPCs competitivos, enquanto Meta manteve alcance internacional qualificado.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522662" y="3762440"/>
            <a:ext cx="2121275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 ponto crítico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522662" y="3998184"/>
            <a:ext cx="2121275" cy="612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85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conversão reportada continua baixa frente ao tráfego, e as publicações patrocinadas não registaram cliques na landing page.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00063" y="4998309"/>
            <a:ext cx="8143875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Fonte: PDF Triunfo — período de 01/04/2026 a 30/04/2026.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414338"/>
            <a:ext cx="67996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3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TRIUNFO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259836" y="414338"/>
            <a:ext cx="1384102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Mix de canais · Abril 2026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00063" y="771525"/>
            <a:ext cx="8143875" cy="277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1800" b="1" spc="-1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 mix de canais teve papéis distintos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00063" y="1120704"/>
            <a:ext cx="6715125" cy="344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9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Meta Ads, Google Ads e campanhas patrocinadas adicionais atuaram em funções complementares: alcance, intenção ativa e engajamento de baixo custo.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0063" y="1934087"/>
            <a:ext cx="1571625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CANAL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2257425" y="1934087"/>
            <a:ext cx="2004994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INVESTIMENTO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448156" y="1934087"/>
            <a:ext cx="2005022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IMPRESSÕES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6638916" y="1934087"/>
            <a:ext cx="2004994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CLIQUES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500063" y="2235017"/>
            <a:ext cx="67687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Meta Ads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00063" y="2470761"/>
            <a:ext cx="1571625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alcance internacional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2257425" y="2210014"/>
            <a:ext cx="700088" cy="40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R$ 3.011,58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071813" y="2354675"/>
            <a:ext cx="1190606" cy="114300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4448156" y="2310919"/>
            <a:ext cx="700088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18.630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262544" y="2354675"/>
            <a:ext cx="1190634" cy="114300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6638916" y="2310919"/>
            <a:ext cx="700088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523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453303" y="2354675"/>
            <a:ext cx="1190606" cy="114300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500063" y="2806517"/>
            <a:ext cx="80903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Google Ads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00063" y="3042261"/>
            <a:ext cx="1571625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intenção de pesquisa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2257425" y="2781514"/>
            <a:ext cx="700088" cy="40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R$ 4.466,40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071813" y="2926175"/>
            <a:ext cx="1190606" cy="114300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4448156" y="2882419"/>
            <a:ext cx="700088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173.744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262544" y="2926175"/>
            <a:ext cx="1190634" cy="114300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6638916" y="2882419"/>
            <a:ext cx="700088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2.547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453303" y="2926175"/>
            <a:ext cx="1190606" cy="114300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500063" y="3378017"/>
            <a:ext cx="95369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Patrocinadas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00063" y="3613761"/>
            <a:ext cx="1571625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engajamento e tráfego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2257425" y="3353014"/>
            <a:ext cx="700088" cy="40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R$ 1.999,89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071813" y="3497675"/>
            <a:ext cx="1190606" cy="114300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4448156" y="3453919"/>
            <a:ext cx="700088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144.789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262544" y="3497675"/>
            <a:ext cx="1190634" cy="114300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6638916" y="3453919"/>
            <a:ext cx="700088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6.109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7453303" y="3497675"/>
            <a:ext cx="1190606" cy="114300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35" name="Text 32"/>
          <p:cNvSpPr/>
          <p:nvPr/>
        </p:nvSpPr>
        <p:spPr>
          <a:xfrm>
            <a:off x="500063" y="4158472"/>
            <a:ext cx="2798062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14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Google gera escala; </a:t>
            </a:r>
            <a:r>
              <a:rPr lang="en-US" sz="14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patrocinadas geram </a:t>
            </a:r>
            <a:r>
              <a:rPr lang="en-US" sz="14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cliques </a:t>
            </a:r>
            <a:r>
              <a:rPr lang="en-US" sz="14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baratos</a:t>
            </a:r>
            <a:r>
              <a:rPr lang="en-US" sz="14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.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3669599" y="4158472"/>
            <a:ext cx="4974338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leitura estratégica é combinar estes papéis: manter Google como motor de intenção, usar patrocinadas para volume e Meta para desenvolvimento de mercados internacionais qualificados.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500063" y="4922853"/>
            <a:ext cx="8143875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Fonte: PDF Triunfo — valores consolidados de mídia paga em abril de 2026.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414338"/>
            <a:ext cx="67996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3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TRIUNFO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497366" y="414338"/>
            <a:ext cx="114657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Meta Ads · Abril 2026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00063" y="771525"/>
            <a:ext cx="8143875" cy="277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1800" b="1" spc="-1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Meta Ads sustentou alcance internacional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00063" y="1120704"/>
            <a:ext cx="7000875" cy="344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9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campanha internacional gerou crescimento expressivo de exposição, alcance e cliques, mantendo frequência controlada em mercados prioritários.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0063" y="1758172"/>
            <a:ext cx="1896666" cy="3010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8400"/>
              </a:lnSpc>
              <a:buNone/>
            </a:pPr>
            <a:r>
              <a:rPr lang="en-US" sz="2150" b="1" spc="-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9.779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500063" y="2144911"/>
            <a:ext cx="1896666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alcance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00063" y="2357438"/>
            <a:ext cx="1896666" cy="125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800"/>
              </a:lnSpc>
              <a:buNone/>
            </a:pPr>
            <a:r>
              <a:rPr lang="en-US" sz="7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+251,51% versus o período anterior.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2582466" y="1758172"/>
            <a:ext cx="1896666" cy="3010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8400"/>
              </a:lnSpc>
              <a:buNone/>
            </a:pPr>
            <a:r>
              <a:rPr lang="en-US" sz="2150" b="1" spc="-1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18.630</a:t>
            </a:r>
            <a:endParaRPr lang="en-US" sz="2150" dirty="0"/>
          </a:p>
        </p:txBody>
      </p:sp>
      <p:sp>
        <p:nvSpPr>
          <p:cNvPr id="11" name="Text 8"/>
          <p:cNvSpPr/>
          <p:nvPr/>
        </p:nvSpPr>
        <p:spPr>
          <a:xfrm>
            <a:off x="2582466" y="2144911"/>
            <a:ext cx="1896666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impressões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2582466" y="2357438"/>
            <a:ext cx="1896666" cy="125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800"/>
              </a:lnSpc>
              <a:buNone/>
            </a:pPr>
            <a:r>
              <a:rPr lang="en-US" sz="7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+221,65% e frequência média de 1,91.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4664869" y="1758172"/>
            <a:ext cx="1896666" cy="3010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8400"/>
              </a:lnSpc>
              <a:buNone/>
            </a:pPr>
            <a:r>
              <a:rPr lang="en-US" sz="2150" b="1" spc="-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523</a:t>
            </a:r>
            <a:endParaRPr lang="en-US" sz="2150" dirty="0"/>
          </a:p>
        </p:txBody>
      </p:sp>
      <p:sp>
        <p:nvSpPr>
          <p:cNvPr id="14" name="Text 11"/>
          <p:cNvSpPr/>
          <p:nvPr/>
        </p:nvSpPr>
        <p:spPr>
          <a:xfrm>
            <a:off x="4664869" y="2144911"/>
            <a:ext cx="1896666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cliques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664869" y="2357438"/>
            <a:ext cx="1896666" cy="251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800"/>
              </a:lnSpc>
              <a:buNone/>
            </a:pPr>
            <a:r>
              <a:rPr lang="en-US" sz="7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+293,23% em cliques totais reportados.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6747272" y="1758172"/>
            <a:ext cx="1896666" cy="3010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8400"/>
              </a:lnSpc>
              <a:buNone/>
            </a:pPr>
            <a:r>
              <a:rPr lang="en-US" sz="2150" b="1" spc="-1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R$ 3.011,58</a:t>
            </a:r>
            <a:endParaRPr lang="en-US" sz="2150" dirty="0"/>
          </a:p>
        </p:txBody>
      </p:sp>
      <p:sp>
        <p:nvSpPr>
          <p:cNvPr id="17" name="Text 14"/>
          <p:cNvSpPr/>
          <p:nvPr/>
        </p:nvSpPr>
        <p:spPr>
          <a:xfrm>
            <a:off x="6747272" y="2144911"/>
            <a:ext cx="1896666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valor gasto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747272" y="2357438"/>
            <a:ext cx="1896666" cy="125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800"/>
              </a:lnSpc>
              <a:buNone/>
            </a:pPr>
            <a:r>
              <a:rPr lang="en-US" sz="7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CPM médio de R$ 161,65 no mês.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500063" y="3236928"/>
            <a:ext cx="3900488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EVOLUÇÃO VS. PERÍODO ANTERIOR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00063" y="3529822"/>
            <a:ext cx="107156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9422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Cliques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700213" y="3511962"/>
            <a:ext cx="64293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+293%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471738" y="3545895"/>
            <a:ext cx="1928813" cy="114300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500063" y="3797712"/>
            <a:ext cx="107156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9422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Alcance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700213" y="3779853"/>
            <a:ext cx="64293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+252%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2471738" y="3813786"/>
            <a:ext cx="1928813" cy="114300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500063" y="4065603"/>
            <a:ext cx="107156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9422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Impressões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700213" y="4047744"/>
            <a:ext cx="64293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+222%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2471738" y="4081676"/>
            <a:ext cx="1928813" cy="114300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500063" y="4333494"/>
            <a:ext cx="107156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9422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CPM médio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700213" y="4315634"/>
            <a:ext cx="64293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+48%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2471738" y="4349567"/>
            <a:ext cx="1928813" cy="114300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4743450" y="3236928"/>
            <a:ext cx="3900488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LEITURA EXECUTIVA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743450" y="3383375"/>
            <a:ext cx="3900488" cy="456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14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 escala cresceu sem sinal de </a:t>
            </a:r>
            <a:r>
              <a:rPr lang="en-US" sz="14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saturação </a:t>
            </a:r>
            <a:r>
              <a:rPr lang="en-US" sz="14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elevada</a:t>
            </a:r>
            <a:r>
              <a:rPr lang="en-US" sz="14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.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4743450" y="3953703"/>
            <a:ext cx="3900488" cy="488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90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frequência média de 1,91 sugere que a campanha ampliou o alcance sem exposição excessiva. O próximo passo é conectar esse alcance a criativos e destinos com maior intenção comercial.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743450" y="4606156"/>
            <a:ext cx="1864519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5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2,81%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4743450" y="4827612"/>
            <a:ext cx="1864519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CTR total reportado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6779419" y="4606156"/>
            <a:ext cx="1864519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5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R$ 5,76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6779419" y="4827612"/>
            <a:ext cx="1864519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CPC médio Meta Ads</a:t>
            </a:r>
            <a:endParaRPr lang="en-US" sz="650" dirty="0"/>
          </a:p>
        </p:txBody>
      </p:sp>
      <p:sp>
        <p:nvSpPr>
          <p:cNvPr id="39" name="Text 36"/>
          <p:cNvSpPr/>
          <p:nvPr/>
        </p:nvSpPr>
        <p:spPr>
          <a:xfrm>
            <a:off x="500063" y="4751403"/>
            <a:ext cx="8143875" cy="210741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Fonte: PDF Triunfo — Meta Ads, período de 01/04/2026 a 30/04/2026.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414338"/>
            <a:ext cx="67996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3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TRIUNFO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6759773" y="414338"/>
            <a:ext cx="1884164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Meta Ads · Plataformas · Abril 2026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00063" y="771525"/>
            <a:ext cx="8143875" cy="277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1800" b="1" spc="-1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Instagram liderou volume, Facebook eficiência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00063" y="1120704"/>
            <a:ext cx="6715125" cy="344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9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distribuição por plataforma mostra que Instagram concentrou maior escala de cliques e alcance, enquanto Facebook entregou CPC mais competitivo.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0063" y="1701022"/>
            <a:ext cx="1046559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5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Instagram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0063" y="1976056"/>
            <a:ext cx="104655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5F6F5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MAIOR VOLUME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3610440" y="1659945"/>
            <a:ext cx="768679" cy="3821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2100" b="1" spc="-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57,4%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3610440" y="2043922"/>
            <a:ext cx="76867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650" dirty="0">
                <a:solidFill>
                  <a:srgbClr val="5F6F5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DOS CLIQUES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500063" y="2315384"/>
            <a:ext cx="185380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00" b="1" spc="-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300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00063" y="2586847"/>
            <a:ext cx="1853803" cy="122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7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cliques reportados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2525316" y="2315384"/>
            <a:ext cx="185380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00" b="1" spc="-1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6.698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2525316" y="2586847"/>
            <a:ext cx="1853803" cy="122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7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pessoas alcançadas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500063" y="2830292"/>
            <a:ext cx="185380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00" b="1" spc="-1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R$ 6,66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00063" y="3101755"/>
            <a:ext cx="1853803" cy="122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7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CPC médio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2525316" y="2830292"/>
            <a:ext cx="185380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00" b="1" spc="-1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R$ 1.998,01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2525316" y="3101755"/>
            <a:ext cx="1853803" cy="122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7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valor gasto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4764881" y="1701022"/>
            <a:ext cx="1001911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5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Facebook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764881" y="1976056"/>
            <a:ext cx="100191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5F6F5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MAIOR EFICIÊNCIA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7837754" y="1659945"/>
            <a:ext cx="806183" cy="3821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2100" b="1" spc="-1" kern="0" dirty="0">
                <a:solidFill>
                  <a:srgbClr val="8B5A9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42,6%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7837754" y="2043922"/>
            <a:ext cx="806183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650" dirty="0">
                <a:solidFill>
                  <a:srgbClr val="5F6F5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DOS CLIQUES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4764881" y="2315384"/>
            <a:ext cx="185380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00" b="1" spc="-1" kern="0" dirty="0">
                <a:solidFill>
                  <a:srgbClr val="8B5A9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223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4764881" y="2586847"/>
            <a:ext cx="1853803" cy="122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7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cliques reportados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6790134" y="2315384"/>
            <a:ext cx="185380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00" b="1" spc="-1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3.428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790134" y="2586847"/>
            <a:ext cx="1853803" cy="122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7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pessoas alcançadas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4764881" y="2830292"/>
            <a:ext cx="185380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00" b="1" spc="-1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R$ 4,55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4764881" y="3101755"/>
            <a:ext cx="1853803" cy="122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7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CPC médio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790134" y="2830292"/>
            <a:ext cx="185380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00" b="1" spc="-1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R$ 1.013,57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6790134" y="3101755"/>
            <a:ext cx="1853803" cy="122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7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valor gasto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500063" y="3388063"/>
            <a:ext cx="2410681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5F6F5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DISTRIBUIÇÃO DOS CLIQUES EM META ADS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7995642" y="3388063"/>
            <a:ext cx="64829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5F6F5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TOTAL: 523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500063" y="3597018"/>
            <a:ext cx="8143875" cy="128588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34" name="Text 31"/>
          <p:cNvSpPr/>
          <p:nvPr/>
        </p:nvSpPr>
        <p:spPr>
          <a:xfrm>
            <a:off x="500063" y="3768468"/>
            <a:ext cx="111085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Instagram · 300 cliques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552730" y="3768468"/>
            <a:ext cx="109120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Facebook · 223 cliques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500063" y="4066719"/>
            <a:ext cx="2953494" cy="520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14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 escala veio do </a:t>
            </a:r>
            <a:r>
              <a:rPr lang="en-US" sz="14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Instagram</a:t>
            </a:r>
            <a:r>
              <a:rPr lang="en-US" sz="14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; a </a:t>
            </a:r>
            <a:r>
              <a:rPr lang="en-US" sz="14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eficiência veio do Facebook.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3825032" y="4066719"/>
            <a:ext cx="4818906" cy="520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recomendação é preservar Instagram para alcance e descoberta, mas usar o menor CPC do Facebook para testar mensagens de contacto e geração de leads com mais disciplina de custo.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500063" y="4630294"/>
            <a:ext cx="8143875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Fonte: PDF Triunfo — Resultado por Plataforma, período de 01/04/2026 a 30/04/2026.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414338"/>
            <a:ext cx="67996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3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TRIUNFO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6938367" y="414338"/>
            <a:ext cx="170557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Meta Ads · Criativos · Abril 2026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00063" y="771525"/>
            <a:ext cx="8143875" cy="277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1800" b="1" spc="-1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 criativo de origem venceu em cliques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00063" y="1120704"/>
            <a:ext cx="6715125" cy="344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9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Entre os principais anúncios de Meta Ads, a narrativa de origem e controlo do processo produtivo concentrou a maior resposta do público.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0063" y="1772459"/>
            <a:ext cx="3025657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CRIATIVO VENCEDOR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500063" y="2038564"/>
            <a:ext cx="3025657" cy="744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55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“Origin makes all the </a:t>
            </a:r>
            <a:r>
              <a:rPr lang="en-US" sz="155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difference”</a:t>
            </a:r>
            <a:r>
              <a:rPr lang="en-US" sz="155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liderou o </a:t>
            </a:r>
            <a:r>
              <a:rPr lang="en-US" sz="155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ranking de anúncios.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00063" y="2954080"/>
            <a:ext cx="3025657" cy="5014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2000"/>
              </a:lnSpc>
              <a:buNone/>
            </a:pPr>
            <a:r>
              <a:rPr lang="en-US" sz="4050" b="1" spc="-4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376</a:t>
            </a:r>
            <a:endParaRPr lang="en-US" sz="4050" dirty="0"/>
          </a:p>
        </p:txBody>
      </p:sp>
      <p:sp>
        <p:nvSpPr>
          <p:cNvPr id="10" name="Text 7"/>
          <p:cNvSpPr/>
          <p:nvPr/>
        </p:nvSpPr>
        <p:spPr>
          <a:xfrm>
            <a:off x="500063" y="3527003"/>
            <a:ext cx="302565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9422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cliques reportados no período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00063" y="3935983"/>
            <a:ext cx="141996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3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7.852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00063" y="4171727"/>
            <a:ext cx="1419960" cy="1132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6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alcance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2105760" y="3935983"/>
            <a:ext cx="141996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3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R$ 5,88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105760" y="4171727"/>
            <a:ext cx="1419960" cy="1132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6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CPC médio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3911482" y="1817108"/>
            <a:ext cx="1549887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ANÚNCIO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5561381" y="1817108"/>
            <a:ext cx="536479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CLIQUES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6197873" y="1817108"/>
            <a:ext cx="53650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CPC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6834392" y="1817108"/>
            <a:ext cx="53650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ALCANCE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7470911" y="1817108"/>
            <a:ext cx="53650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FREQ.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8107431" y="1817108"/>
            <a:ext cx="536479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CPM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3911482" y="2139386"/>
            <a:ext cx="1549887" cy="1045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60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Origin makes all the difference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3911482" y="2286809"/>
            <a:ext cx="1549887" cy="1045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60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when every step of...</a:t>
            </a:r>
            <a:endParaRPr lang="en-US" sz="600" dirty="0"/>
          </a:p>
        </p:txBody>
      </p:sp>
      <p:sp>
        <p:nvSpPr>
          <p:cNvPr id="23" name="Shape 20"/>
          <p:cNvSpPr/>
          <p:nvPr/>
        </p:nvSpPr>
        <p:spPr>
          <a:xfrm>
            <a:off x="3911482" y="2441377"/>
            <a:ext cx="1549887" cy="71438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5561381" y="2231445"/>
            <a:ext cx="53647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376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197873" y="2231445"/>
            <a:ext cx="53650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R$ 5,88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834392" y="2231445"/>
            <a:ext cx="53650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7.852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7470911" y="2231445"/>
            <a:ext cx="53650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1,67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8107431" y="2158222"/>
            <a:ext cx="536479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R$ 168,44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3911482" y="2753748"/>
            <a:ext cx="1549887" cy="1045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60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At Triunfo do Brasil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3911482" y="2901172"/>
            <a:ext cx="1549887" cy="1045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60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step of the production...</a:t>
            </a:r>
            <a:endParaRPr lang="en-US" sz="600" dirty="0"/>
          </a:p>
        </p:txBody>
      </p:sp>
      <p:sp>
        <p:nvSpPr>
          <p:cNvPr id="31" name="Shape 28"/>
          <p:cNvSpPr/>
          <p:nvPr/>
        </p:nvSpPr>
        <p:spPr>
          <a:xfrm>
            <a:off x="3911482" y="3055739"/>
            <a:ext cx="1549887" cy="71438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5561381" y="2845808"/>
            <a:ext cx="53647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119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6197873" y="2845808"/>
            <a:ext cx="53650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R$ 5,24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834392" y="2845808"/>
            <a:ext cx="53650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3.124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7470911" y="2845808"/>
            <a:ext cx="53650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1,50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8107431" y="2772584"/>
            <a:ext cx="536479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R$ 133,06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3911482" y="3368111"/>
            <a:ext cx="1549887" cy="1045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60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Organic. Natural. Versatile.</a:t>
            </a:r>
            <a:endParaRPr lang="en-US" sz="600" dirty="0"/>
          </a:p>
        </p:txBody>
      </p:sp>
      <p:sp>
        <p:nvSpPr>
          <p:cNvPr id="38" name="Text 35"/>
          <p:cNvSpPr/>
          <p:nvPr/>
        </p:nvSpPr>
        <p:spPr>
          <a:xfrm>
            <a:off x="3911482" y="3515534"/>
            <a:ext cx="1549887" cy="1045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60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ingredient. Endl...</a:t>
            </a:r>
            <a:endParaRPr lang="en-US" sz="600" dirty="0"/>
          </a:p>
        </p:txBody>
      </p:sp>
      <p:sp>
        <p:nvSpPr>
          <p:cNvPr id="39" name="Shape 36"/>
          <p:cNvSpPr/>
          <p:nvPr/>
        </p:nvSpPr>
        <p:spPr>
          <a:xfrm>
            <a:off x="3911482" y="3670102"/>
            <a:ext cx="1549887" cy="71438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40" name="Text 37"/>
          <p:cNvSpPr/>
          <p:nvPr/>
        </p:nvSpPr>
        <p:spPr>
          <a:xfrm>
            <a:off x="5561381" y="3460170"/>
            <a:ext cx="53647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28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6197873" y="3460170"/>
            <a:ext cx="53650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R$ 6,33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6834392" y="3460170"/>
            <a:ext cx="53650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537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7470911" y="3460170"/>
            <a:ext cx="53650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1,52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8107431" y="3460170"/>
            <a:ext cx="53647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R$ 216,77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500063" y="4265628"/>
            <a:ext cx="2958936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14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 mensagem de </a:t>
            </a:r>
            <a:r>
              <a:rPr lang="en-US" sz="14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origem</a:t>
            </a:r>
            <a:r>
              <a:rPr lang="en-US" sz="14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deve </a:t>
            </a:r>
            <a:r>
              <a:rPr lang="en-US" sz="14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orientar os próximos testes.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3816186" y="4265628"/>
            <a:ext cx="4827752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95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anúncio vencedor gerou aproximadamente 72% dos cliques entre os três principais criativos, indicando que rastreabilidade, controlo produtivo e procedência são argumentos centrais para escalar a comunicação.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500063" y="5015722"/>
            <a:ext cx="8143875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Fonte: PDF Triunfo — principais anúncios de Meta Ads, abril de 2026.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414338"/>
            <a:ext cx="67996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3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TRIUNFO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6341864" y="414338"/>
            <a:ext cx="2302073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Meta Ads · Público e mercados · Abril 2026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00063" y="771525"/>
            <a:ext cx="8143875" cy="277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1800" b="1" spc="-1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Dubai e público masculino concentraram resposta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00063" y="1120704"/>
            <a:ext cx="6929438" cy="344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9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campanha internacional teve forte concentração de cliques em homens e maior alcance em mercados dos Emirados, Estados Unidos, Canadá e Espanha.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0063" y="1729597"/>
            <a:ext cx="3258387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DISTRIBUIÇÃO POR GÉNERO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500063" y="2024276"/>
            <a:ext cx="3258387" cy="5531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0400"/>
              </a:lnSpc>
              <a:buNone/>
            </a:pPr>
            <a:r>
              <a:rPr lang="en-US" sz="4550" b="1" spc="-4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86,0%</a:t>
            </a:r>
            <a:endParaRPr lang="en-US" sz="4550" dirty="0"/>
          </a:p>
        </p:txBody>
      </p:sp>
      <p:sp>
        <p:nvSpPr>
          <p:cNvPr id="9" name="Text 6"/>
          <p:cNvSpPr/>
          <p:nvPr/>
        </p:nvSpPr>
        <p:spPr>
          <a:xfrm>
            <a:off x="500063" y="2663196"/>
            <a:ext cx="2786063" cy="190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115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dos cliques vieram de homens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00063" y="3116321"/>
            <a:ext cx="84296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9422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Homem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443038" y="3132395"/>
            <a:ext cx="1801062" cy="114300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3344112" y="3120786"/>
            <a:ext cx="41433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86,0%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00063" y="3466365"/>
            <a:ext cx="84296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9422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Mulher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1443038" y="3482439"/>
            <a:ext cx="1801062" cy="114300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3344112" y="3470830"/>
            <a:ext cx="41433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11,9%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00063" y="3816409"/>
            <a:ext cx="84296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9422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Desconhecido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1443038" y="3832482"/>
            <a:ext cx="1801062" cy="114300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3344112" y="3820874"/>
            <a:ext cx="41433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2,1%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500063" y="4168239"/>
            <a:ext cx="3258387" cy="559445"/>
          </a:xfrm>
          <a:prstGeom prst="rect">
            <a:avLst/>
          </a:prstGeom>
          <a:noFill/>
          <a:ln/>
        </p:spPr>
        <p:txBody>
          <a:bodyPr wrap="square" lIns="0" tIns="110617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85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concentração sugere oportunidade para mensagens B2B voltadas a compradores, distribuidores e decisores comerciais internacionais.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144212" y="1729597"/>
            <a:ext cx="1855589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REGIÕES COM MAIOR ALCANCE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6786563" y="1729597"/>
            <a:ext cx="1857375" cy="248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lnSpc>
                <a:spcPct val="99200"/>
              </a:lnSpc>
              <a:buNone/>
            </a:pPr>
            <a:r>
              <a:rPr lang="en-US" sz="7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Ranking por alcance reportado em Meta Ads.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4144212" y="2091919"/>
            <a:ext cx="143991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REGIÃO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5584124" y="2091919"/>
            <a:ext cx="1529907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ESCALA</a:t>
            </a:r>
            <a:endParaRPr lang="en-US" sz="650" dirty="0"/>
          </a:p>
        </p:txBody>
      </p:sp>
      <p:sp>
        <p:nvSpPr>
          <p:cNvPr id="24" name="Text 21"/>
          <p:cNvSpPr/>
          <p:nvPr/>
        </p:nvSpPr>
        <p:spPr>
          <a:xfrm>
            <a:off x="7114031" y="2091919"/>
            <a:ext cx="76493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650" b="1" spc="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ALCANCE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7878970" y="2091919"/>
            <a:ext cx="76496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650" b="1" spc="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CPM</a:t>
            </a:r>
            <a:endParaRPr lang="en-US" sz="650" dirty="0"/>
          </a:p>
        </p:txBody>
      </p:sp>
      <p:sp>
        <p:nvSpPr>
          <p:cNvPr id="26" name="Text 23"/>
          <p:cNvSpPr/>
          <p:nvPr/>
        </p:nvSpPr>
        <p:spPr>
          <a:xfrm>
            <a:off x="4144212" y="2306231"/>
            <a:ext cx="1439912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Dubai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5584124" y="2391956"/>
            <a:ext cx="1529907" cy="71438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7114031" y="2306231"/>
            <a:ext cx="76493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1.789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7878970" y="2306231"/>
            <a:ext cx="76496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17311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R$ 120,83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144212" y="2549119"/>
            <a:ext cx="1439912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Florida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5584124" y="2634844"/>
            <a:ext cx="1529907" cy="71438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7114031" y="2549119"/>
            <a:ext cx="76493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511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7878970" y="2549119"/>
            <a:ext cx="76496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17311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R$ 297,08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4144212" y="2792006"/>
            <a:ext cx="1439912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Ontario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5584124" y="2877731"/>
            <a:ext cx="1529907" cy="71438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36" name="Text 33"/>
          <p:cNvSpPr/>
          <p:nvPr/>
        </p:nvSpPr>
        <p:spPr>
          <a:xfrm>
            <a:off x="7114031" y="2792006"/>
            <a:ext cx="76493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480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7878970" y="2792006"/>
            <a:ext cx="76496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17311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R$ 168,47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4144212" y="3034894"/>
            <a:ext cx="1439912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Abu Dhabi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5584124" y="3120619"/>
            <a:ext cx="1529907" cy="71438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40" name="Text 37"/>
          <p:cNvSpPr/>
          <p:nvPr/>
        </p:nvSpPr>
        <p:spPr>
          <a:xfrm>
            <a:off x="7114031" y="3034894"/>
            <a:ext cx="76493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461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7878970" y="3034894"/>
            <a:ext cx="76496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17311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R$ 109,88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4144212" y="3277781"/>
            <a:ext cx="1439912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California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5584124" y="3363506"/>
            <a:ext cx="1529907" cy="71438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44" name="Text 41"/>
          <p:cNvSpPr/>
          <p:nvPr/>
        </p:nvSpPr>
        <p:spPr>
          <a:xfrm>
            <a:off x="7114031" y="3277781"/>
            <a:ext cx="76493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449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7878970" y="3277781"/>
            <a:ext cx="76496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17311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R$ 239,65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4144212" y="3520669"/>
            <a:ext cx="1439912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Cataluña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5584124" y="3606394"/>
            <a:ext cx="1529907" cy="71438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48" name="Text 45"/>
          <p:cNvSpPr/>
          <p:nvPr/>
        </p:nvSpPr>
        <p:spPr>
          <a:xfrm>
            <a:off x="7114031" y="3520669"/>
            <a:ext cx="76493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425</a:t>
            </a:r>
            <a:endParaRPr lang="en-US" sz="700" dirty="0"/>
          </a:p>
        </p:txBody>
      </p:sp>
      <p:sp>
        <p:nvSpPr>
          <p:cNvPr id="49" name="Text 46"/>
          <p:cNvSpPr/>
          <p:nvPr/>
        </p:nvSpPr>
        <p:spPr>
          <a:xfrm>
            <a:off x="7878970" y="3520669"/>
            <a:ext cx="76496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17311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R$ 100,84</a:t>
            </a:r>
            <a:endParaRPr lang="en-US" sz="750" dirty="0"/>
          </a:p>
        </p:txBody>
      </p:sp>
      <p:sp>
        <p:nvSpPr>
          <p:cNvPr id="50" name="Text 47"/>
          <p:cNvSpPr/>
          <p:nvPr/>
        </p:nvSpPr>
        <p:spPr>
          <a:xfrm>
            <a:off x="4144212" y="3763556"/>
            <a:ext cx="1439912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Sharjah</a:t>
            </a:r>
            <a:endParaRPr lang="en-US" sz="700" dirty="0"/>
          </a:p>
        </p:txBody>
      </p:sp>
      <p:sp>
        <p:nvSpPr>
          <p:cNvPr id="51" name="Shape 48"/>
          <p:cNvSpPr/>
          <p:nvPr/>
        </p:nvSpPr>
        <p:spPr>
          <a:xfrm>
            <a:off x="5584124" y="3849281"/>
            <a:ext cx="1529907" cy="71438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52" name="Text 49"/>
          <p:cNvSpPr/>
          <p:nvPr/>
        </p:nvSpPr>
        <p:spPr>
          <a:xfrm>
            <a:off x="7114031" y="3763556"/>
            <a:ext cx="76493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363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7878970" y="3763556"/>
            <a:ext cx="76496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17311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R$ 108,69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4144212" y="4006444"/>
            <a:ext cx="1439912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Madrid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5584124" y="4092169"/>
            <a:ext cx="1529907" cy="71438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56" name="Text 53"/>
          <p:cNvSpPr/>
          <p:nvPr/>
        </p:nvSpPr>
        <p:spPr>
          <a:xfrm>
            <a:off x="7114031" y="4006444"/>
            <a:ext cx="76493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294</a:t>
            </a:r>
            <a:endParaRPr lang="en-US" sz="700" dirty="0"/>
          </a:p>
        </p:txBody>
      </p:sp>
      <p:sp>
        <p:nvSpPr>
          <p:cNvPr id="57" name="Text 54"/>
          <p:cNvSpPr/>
          <p:nvPr/>
        </p:nvSpPr>
        <p:spPr>
          <a:xfrm>
            <a:off x="7878970" y="4006444"/>
            <a:ext cx="76496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17311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R$ 151,31</a:t>
            </a:r>
            <a:endParaRPr lang="en-US" sz="750" dirty="0"/>
          </a:p>
        </p:txBody>
      </p:sp>
      <p:sp>
        <p:nvSpPr>
          <p:cNvPr id="58" name="Text 55"/>
          <p:cNvSpPr/>
          <p:nvPr/>
        </p:nvSpPr>
        <p:spPr>
          <a:xfrm>
            <a:off x="500063" y="4651391"/>
            <a:ext cx="2813493" cy="480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Emirados combinam </a:t>
            </a:r>
            <a:r>
              <a:rPr lang="en-US" sz="12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escala e </a:t>
            </a:r>
            <a:r>
              <a:rPr lang="en-US" sz="12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eficiência</a:t>
            </a:r>
            <a:r>
              <a:rPr lang="en-US" sz="12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.</a:t>
            </a:r>
            <a:endParaRPr lang="en-US" sz="1200" dirty="0"/>
          </a:p>
        </p:txBody>
      </p:sp>
      <p:sp>
        <p:nvSpPr>
          <p:cNvPr id="59" name="Text 56"/>
          <p:cNvSpPr/>
          <p:nvPr/>
        </p:nvSpPr>
        <p:spPr>
          <a:xfrm>
            <a:off x="3642168" y="4651391"/>
            <a:ext cx="5001769" cy="480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85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Dubai lidera</a:t>
            </a:r>
            <a:r>
              <a:rPr lang="en-US" sz="90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o alcance e Abu Dhabi mantém CPM competitivo; a recomendação é </a:t>
            </a:r>
            <a:r>
              <a:rPr lang="en-US" sz="90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aprofundar estes mercados com criativos localizados e chamadas comerciais </a:t>
            </a:r>
            <a:r>
              <a:rPr lang="en-US" sz="90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diretas.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414338"/>
            <a:ext cx="67996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3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TRIUNFO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6068616" y="414338"/>
            <a:ext cx="2575322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Google Ads · Pesquisa internacional · Abril 2026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00063" y="771525"/>
            <a:ext cx="8143875" cy="277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1800" b="1" spc="-1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Google Ads captou intenção de pesquisa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00063" y="1120704"/>
            <a:ext cx="7000875" cy="344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9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campanha internacional de pesquisa gerou forte expansão de tráfego e exposição, com CPC competitivo e uma conversão reportada no período.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0063" y="1715309"/>
            <a:ext cx="4524561" cy="9778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1550" dirty="0">
                <a:solidFill>
                  <a:srgbClr val="17311B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 pesquisa entregou </a:t>
            </a:r>
            <a:r>
              <a:rPr lang="en-US" sz="145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2.547 cliques</a:t>
            </a:r>
            <a:r>
              <a:rPr lang="en-US" sz="1550" dirty="0">
                <a:solidFill>
                  <a:srgbClr val="17311B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e </a:t>
            </a:r>
            <a:r>
              <a:rPr lang="en-US" sz="1550" dirty="0">
                <a:solidFill>
                  <a:srgbClr val="17311B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aumentou a escala do funil, mas a conversão </a:t>
            </a:r>
            <a:r>
              <a:rPr lang="en-US" sz="1550" dirty="0">
                <a:solidFill>
                  <a:srgbClr val="17311B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ainda precisa acompanhar o volume de </a:t>
            </a:r>
            <a:r>
              <a:rPr lang="en-US" sz="1550" dirty="0">
                <a:solidFill>
                  <a:srgbClr val="17311B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visitas.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367524" y="1786747"/>
            <a:ext cx="3276386" cy="1157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72000"/>
              </a:lnSpc>
              <a:buNone/>
            </a:pPr>
            <a:r>
              <a:rPr lang="en-US" sz="9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173.744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367524" y="1973907"/>
            <a:ext cx="3276386" cy="1157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72000"/>
              </a:lnSpc>
              <a:buNone/>
            </a:pPr>
            <a:r>
              <a:rPr lang="en-US" sz="9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impressões no período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00063" y="2858309"/>
            <a:ext cx="125015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50" b="1" spc="-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2.547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500063" y="3151203"/>
            <a:ext cx="1250156" cy="1264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75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cliques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500063" y="3334792"/>
            <a:ext cx="1250156" cy="223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+2.498,98% vs. período anterior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1878806" y="2858309"/>
            <a:ext cx="125015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50" b="1" spc="-1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1,47%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1878806" y="3151203"/>
            <a:ext cx="1250156" cy="1264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75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CTR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1878806" y="3334792"/>
            <a:ext cx="1250156" cy="223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Taxa de cliques da campanha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3257550" y="2858309"/>
            <a:ext cx="125015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50" b="1" spc="-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R$ 1,75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3257550" y="3151203"/>
            <a:ext cx="1250156" cy="1264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75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CPC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3257550" y="3334792"/>
            <a:ext cx="1250156" cy="1116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-81,22% vs. período anterior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4636294" y="2858309"/>
            <a:ext cx="125015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50" b="1" spc="-1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R$ 25,71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4636294" y="3151203"/>
            <a:ext cx="1250156" cy="1264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75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CPM médio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4636294" y="3334792"/>
            <a:ext cx="1250156" cy="1116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 por mil impressões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6015038" y="2858309"/>
            <a:ext cx="125015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50" b="1" spc="-1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R$ 4.466,40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6015038" y="3151203"/>
            <a:ext cx="1250156" cy="1264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75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custo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6015038" y="3334792"/>
            <a:ext cx="1250156" cy="223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Investimento total em Google Ads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7393781" y="2858309"/>
            <a:ext cx="125015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50" b="1" spc="-1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</a:t>
            </a:r>
            <a:endParaRPr lang="en-US" sz="1550" dirty="0"/>
          </a:p>
        </p:txBody>
      </p:sp>
      <p:sp>
        <p:nvSpPr>
          <p:cNvPr id="26" name="Text 23"/>
          <p:cNvSpPr/>
          <p:nvPr/>
        </p:nvSpPr>
        <p:spPr>
          <a:xfrm>
            <a:off x="7393781" y="3151203"/>
            <a:ext cx="1250156" cy="1264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75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conversão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7393781" y="3334792"/>
            <a:ext cx="1250156" cy="1116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100% atribuída a celulares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500063" y="4158472"/>
            <a:ext cx="2552691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85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Força:</a:t>
            </a:r>
            <a:r>
              <a:rPr lang="en-US" sz="90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volume de pesquisa cresceu de </a:t>
            </a:r>
            <a:r>
              <a:rPr lang="en-US" sz="90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forma expressiva, com mais de 173 mil </a:t>
            </a:r>
            <a:r>
              <a:rPr lang="en-US" sz="90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impressões.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3295641" y="4158472"/>
            <a:ext cx="2552691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85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Eficiência:</a:t>
            </a:r>
            <a:r>
              <a:rPr lang="en-US" sz="90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o CPC de R$ 1,75 indica tráfego </a:t>
            </a:r>
            <a:r>
              <a:rPr lang="en-US" sz="90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pago competitivo para intenção </a:t>
            </a:r>
            <a:r>
              <a:rPr lang="en-US" sz="90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internacional.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091219" y="4158472"/>
            <a:ext cx="2552719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85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Atenção:</a:t>
            </a:r>
            <a:r>
              <a:rPr lang="en-US" sz="90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apenas 1 conversão reportada </a:t>
            </a:r>
            <a:r>
              <a:rPr lang="en-US" sz="90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reforça a necessidade de otimizar landing </a:t>
            </a:r>
            <a:r>
              <a:rPr lang="en-US" sz="90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page e tracking.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00063" y="4822841"/>
            <a:ext cx="8143875" cy="108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Fonte: PDF Triunfo — Google Ads, período de 01/04/2026 a 30/04/2026.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414338"/>
            <a:ext cx="67996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3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TRIUNFO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6641902" y="414338"/>
            <a:ext cx="2002036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Dispositivos e conversão · Abril 2026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00063" y="771525"/>
            <a:ext cx="8143875" cy="277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1800" b="1" spc="-1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Mobile domina, mas conversão ainda é crítica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00063" y="1120704"/>
            <a:ext cx="6929438" cy="344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9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tráfego de Google Ads foi majoritariamente mobile, e a única conversão reportada também veio de celular, reforçando a necessidade de otimizar a experiência neste dispositivo.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0063" y="1758172"/>
            <a:ext cx="3258387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PRINCIPAL LEITURA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500063" y="1981414"/>
            <a:ext cx="3258387" cy="5406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0400"/>
              </a:lnSpc>
              <a:buNone/>
            </a:pPr>
            <a:r>
              <a:rPr lang="en-US" sz="4450" b="1" spc="-4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80,2%</a:t>
            </a:r>
            <a:endParaRPr lang="en-US" sz="4450" dirty="0"/>
          </a:p>
        </p:txBody>
      </p:sp>
      <p:sp>
        <p:nvSpPr>
          <p:cNvPr id="9" name="Text 6"/>
          <p:cNvSpPr/>
          <p:nvPr/>
        </p:nvSpPr>
        <p:spPr>
          <a:xfrm>
            <a:off x="500063" y="2579201"/>
            <a:ext cx="2928938" cy="390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12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dos cliques de Google Ads vieram de celulares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0063" y="3055823"/>
            <a:ext cx="3000375" cy="650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90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Foram </a:t>
            </a:r>
            <a:r>
              <a:rPr lang="en-US" sz="850" b="1" dirty="0">
                <a:solidFill>
                  <a:srgbClr val="29422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2.042 cliques</a:t>
            </a:r>
            <a:r>
              <a:rPr lang="en-US" sz="90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em celulares, contra 480 em </a:t>
            </a:r>
            <a:r>
              <a:rPr lang="en-US" sz="90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computadores e 25 em tablets. O comportamento </a:t>
            </a:r>
            <a:r>
              <a:rPr lang="en-US" sz="90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indica que a jornada inicial acontece na palma da </a:t>
            </a:r>
            <a:r>
              <a:rPr lang="en-US" sz="90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mão.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00063" y="3792410"/>
            <a:ext cx="3258387" cy="436327"/>
          </a:xfrm>
          <a:prstGeom prst="rect">
            <a:avLst/>
          </a:prstGeom>
          <a:noFill/>
          <a:ln/>
        </p:spPr>
        <p:txBody>
          <a:bodyPr wrap="square" lIns="0" tIns="119126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900" b="1" dirty="0">
                <a:solidFill>
                  <a:srgbClr val="8B5A9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100%</a:t>
            </a:r>
            <a:r>
              <a:rPr lang="en-US" sz="900" b="1" dirty="0">
                <a:solidFill>
                  <a:srgbClr val="8B5A9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da conversão reportada foi atribuída a </a:t>
            </a:r>
            <a:r>
              <a:rPr lang="en-US" sz="900" b="1" dirty="0">
                <a:solidFill>
                  <a:srgbClr val="8B5A9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celulares.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144212" y="1758172"/>
            <a:ext cx="1603074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CLIQUES POR DISPOSITIVO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7041952" y="1758172"/>
            <a:ext cx="1601986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Total Google Ads: 2.547 cliques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144212" y="1995701"/>
            <a:ext cx="9144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Celulares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172912" y="1999273"/>
            <a:ext cx="6143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11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2.042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901575" y="2013561"/>
            <a:ext cx="2013700" cy="128588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8029575" y="2009096"/>
            <a:ext cx="61436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80,2%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144212" y="2245733"/>
            <a:ext cx="9144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Computadores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172912" y="2249305"/>
            <a:ext cx="6143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11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480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901575" y="2263592"/>
            <a:ext cx="2013700" cy="128588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8029575" y="2259127"/>
            <a:ext cx="61436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18,8%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144212" y="2495764"/>
            <a:ext cx="9144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Tablets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172912" y="2499336"/>
            <a:ext cx="6143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11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25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901575" y="2513623"/>
            <a:ext cx="2013700" cy="128588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8029575" y="2509158"/>
            <a:ext cx="61436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1,0%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4144212" y="2867239"/>
            <a:ext cx="139512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00" b="1" spc="-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R$ 1,75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4144212" y="3138701"/>
            <a:ext cx="1395124" cy="235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70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CPC médio da campanha de pesquisa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5696499" y="2867239"/>
            <a:ext cx="139512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00" b="1" spc="-1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5696499" y="3138701"/>
            <a:ext cx="1395124" cy="235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70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conversão total reportada no mês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7248785" y="2867239"/>
            <a:ext cx="139512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00" b="1" spc="-1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0,04%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7248785" y="3138701"/>
            <a:ext cx="1395124" cy="235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70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taxa aproximada de conversão sobre cliques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500063" y="4172759"/>
            <a:ext cx="2881052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14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 jornada é </a:t>
            </a:r>
            <a:r>
              <a:rPr lang="en-US" sz="14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mobile-first</a:t>
            </a:r>
            <a:r>
              <a:rPr lang="en-US" sz="14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, mas </a:t>
            </a:r>
            <a:r>
              <a:rPr lang="en-US" sz="14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 fricção continua alta.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3738302" y="4172759"/>
            <a:ext cx="4905635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95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 80,2% dos cliques em celular e apenas uma conversão, a prioridade é revisar velocidade, clareza da proposta, formulário, WhatsApp, idioma e rastreamento de eventos no ambiente mobile.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500063" y="4937141"/>
            <a:ext cx="8143875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Fonte: PDF Triunfo — Google Ads e conversão por dispositivo, período de 01/04/2026 a 30/04/2026.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414338"/>
            <a:ext cx="67996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3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TRIUNFO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083028" y="414338"/>
            <a:ext cx="1560909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Google Analytics · Abril 2026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00063" y="771525"/>
            <a:ext cx="8143875" cy="277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1800" b="1" spc="-1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Analytics mostra crescimento e rejeição elevada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00063" y="1120704"/>
            <a:ext cx="7215188" cy="344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9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site recebeu mais tráfego e gerou mais interações no período, mas a qualidade da navegação ainda exige atenção por causa da taxa de rejeição elevada.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0063" y="1701022"/>
            <a:ext cx="1896666" cy="3220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8400"/>
              </a:lnSpc>
              <a:buNone/>
            </a:pPr>
            <a:r>
              <a:rPr lang="en-US" sz="2350" b="1" spc="-2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6.022</a:t>
            </a:r>
            <a:endParaRPr lang="en-US" sz="2350" dirty="0"/>
          </a:p>
        </p:txBody>
      </p:sp>
      <p:sp>
        <p:nvSpPr>
          <p:cNvPr id="8" name="Text 5"/>
          <p:cNvSpPr/>
          <p:nvPr/>
        </p:nvSpPr>
        <p:spPr>
          <a:xfrm>
            <a:off x="500063" y="2108774"/>
            <a:ext cx="1896666" cy="140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85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sessões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2582466" y="1701022"/>
            <a:ext cx="1896666" cy="3220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8400"/>
              </a:lnSpc>
              <a:buNone/>
            </a:pPr>
            <a:r>
              <a:rPr lang="en-US" sz="2350" b="1" spc="-2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4.863</a:t>
            </a:r>
            <a:endParaRPr lang="en-US" sz="2350" dirty="0"/>
          </a:p>
        </p:txBody>
      </p:sp>
      <p:sp>
        <p:nvSpPr>
          <p:cNvPr id="10" name="Text 7"/>
          <p:cNvSpPr/>
          <p:nvPr/>
        </p:nvSpPr>
        <p:spPr>
          <a:xfrm>
            <a:off x="2582466" y="2108774"/>
            <a:ext cx="1896666" cy="140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85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usuários ativos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664869" y="1701022"/>
            <a:ext cx="1896666" cy="3220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8400"/>
              </a:lnSpc>
              <a:buNone/>
            </a:pPr>
            <a:r>
              <a:rPr lang="en-US" sz="2350" b="1" spc="-2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8.491</a:t>
            </a:r>
            <a:endParaRPr lang="en-US" sz="2350" dirty="0"/>
          </a:p>
        </p:txBody>
      </p:sp>
      <p:sp>
        <p:nvSpPr>
          <p:cNvPr id="12" name="Text 9"/>
          <p:cNvSpPr/>
          <p:nvPr/>
        </p:nvSpPr>
        <p:spPr>
          <a:xfrm>
            <a:off x="4664869" y="2108774"/>
            <a:ext cx="1896666" cy="140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85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visualizações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747272" y="1701022"/>
            <a:ext cx="1896666" cy="3220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8400"/>
              </a:lnSpc>
              <a:buNone/>
            </a:pPr>
            <a:r>
              <a:rPr lang="en-US" sz="2350" b="1" spc="-2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29.770</a:t>
            </a:r>
            <a:endParaRPr lang="en-US" sz="2350" dirty="0"/>
          </a:p>
        </p:txBody>
      </p:sp>
      <p:sp>
        <p:nvSpPr>
          <p:cNvPr id="14" name="Text 11"/>
          <p:cNvSpPr/>
          <p:nvPr/>
        </p:nvSpPr>
        <p:spPr>
          <a:xfrm>
            <a:off x="6747272" y="2108774"/>
            <a:ext cx="1896666" cy="140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85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eventos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00063" y="2865453"/>
            <a:ext cx="4189363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CRESCIMENTO REPORTADO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00063" y="3074408"/>
            <a:ext cx="121443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9422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Eventos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828800" y="3079766"/>
            <a:ext cx="5857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95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+93%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528888" y="3097625"/>
            <a:ext cx="2160538" cy="100013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500063" y="3278005"/>
            <a:ext cx="121443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9422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Usuários ativos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828800" y="3283362"/>
            <a:ext cx="5857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95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+76%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2528888" y="3301222"/>
            <a:ext cx="2160538" cy="100013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500063" y="3481601"/>
            <a:ext cx="121443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9422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Sessões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828800" y="3486959"/>
            <a:ext cx="5857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95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+70%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2528888" y="3504819"/>
            <a:ext cx="2160538" cy="100013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500063" y="3685198"/>
            <a:ext cx="121443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9422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Visualizações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828800" y="3690556"/>
            <a:ext cx="5857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95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+55%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2528888" y="3708416"/>
            <a:ext cx="2160538" cy="100013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5075188" y="2865453"/>
            <a:ext cx="356875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QUALIDADE DE TRÁFEGO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5075188" y="3088695"/>
            <a:ext cx="3568750" cy="468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0400"/>
              </a:lnSpc>
              <a:buNone/>
            </a:pPr>
            <a:r>
              <a:rPr lang="en-US" sz="1450" b="1" spc="-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Crescimento de volume ainda não </a:t>
            </a:r>
            <a:r>
              <a:rPr lang="en-US" sz="1450" b="1" spc="-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significa </a:t>
            </a:r>
            <a:r>
              <a:rPr lang="en-US" sz="1450" b="1" spc="-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maior profundidade</a:t>
            </a:r>
            <a:r>
              <a:rPr lang="en-US" sz="1450" b="1" spc="-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.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5075188" y="3628327"/>
            <a:ext cx="3568750" cy="488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90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navegação cresce, mas a rejeição elevada indica necessidade de alinhar promessa dos anúncios, velocidade, conteúdo inicial e chamadas de contacto.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075188" y="4237918"/>
            <a:ext cx="169865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300" b="1" dirty="0">
                <a:solidFill>
                  <a:srgbClr val="8B5A9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86,98%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5075188" y="4466518"/>
            <a:ext cx="1698650" cy="1132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6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taxa de rejeição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6945288" y="4237918"/>
            <a:ext cx="169865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3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8s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945288" y="4466518"/>
            <a:ext cx="1698650" cy="226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6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tempo médio de engajamento por sessão</a:t>
            </a:r>
            <a:endParaRPr lang="en-US" sz="650" dirty="0"/>
          </a:p>
        </p:txBody>
      </p:sp>
      <p:sp>
        <p:nvSpPr>
          <p:cNvPr id="35" name="Text 32"/>
          <p:cNvSpPr/>
          <p:nvPr/>
        </p:nvSpPr>
        <p:spPr>
          <a:xfrm>
            <a:off x="500063" y="4672822"/>
            <a:ext cx="2813493" cy="452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15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 próximo ganho vem da </a:t>
            </a:r>
            <a:r>
              <a:rPr lang="en-US" sz="115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experiência pós-clique</a:t>
            </a:r>
            <a:r>
              <a:rPr lang="en-US" sz="115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.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3642168" y="4672822"/>
            <a:ext cx="5001769" cy="452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85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 tráfego em alta, o foco deve migrar para landing pages mais objetivas, tracking de eventos comerciais e redução de fricção no primeiro contacto. Fonte: PDF Triunfo — Google Analytics, abril de 2026.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414338"/>
            <a:ext cx="67996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3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TRIUNFO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6584752" y="414338"/>
            <a:ext cx="2059186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Publicações patrocinadas · Abril 2026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00063" y="771525"/>
            <a:ext cx="8143875" cy="277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1800" b="1" spc="-1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Publicações patrocinadas geraram tráfego barato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00063" y="1120704"/>
            <a:ext cx="7000875" cy="344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9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secção adicional do relatório mostra alto volume de cliques e engajamento, com custo por clique significativamente baixo, mas sem avanço reportado para a landing page.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0063" y="1601009"/>
            <a:ext cx="1907381" cy="2940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8400"/>
              </a:lnSpc>
              <a:buNone/>
            </a:pPr>
            <a:r>
              <a:rPr lang="en-US" sz="2100" b="1" spc="-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144.789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00063" y="1973600"/>
            <a:ext cx="1907381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impressões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00063" y="2170054"/>
            <a:ext cx="1907381" cy="241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Volume de exposição das publicações patrocinadas no período.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2578894" y="1601009"/>
            <a:ext cx="1907381" cy="2940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8400"/>
              </a:lnSpc>
              <a:buNone/>
            </a:pPr>
            <a:r>
              <a:rPr lang="en-US" sz="2100" b="1" spc="-1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6.109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2578894" y="1973600"/>
            <a:ext cx="1907381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cliques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2578894" y="2170054"/>
            <a:ext cx="1907381" cy="241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Maior volume de cliques entre as frentes analisadas.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4657725" y="1601009"/>
            <a:ext cx="1907381" cy="2940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8400"/>
              </a:lnSpc>
              <a:buNone/>
            </a:pPr>
            <a:r>
              <a:rPr lang="en-US" sz="2100" b="1" spc="-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58,86%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4657725" y="1973600"/>
            <a:ext cx="1907381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taxa de engajamento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657725" y="2170054"/>
            <a:ext cx="1907381" cy="241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Indicador de interação reportado na campanha.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736556" y="1601009"/>
            <a:ext cx="1907381" cy="2940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8400"/>
              </a:lnSpc>
              <a:buNone/>
            </a:pPr>
            <a:r>
              <a:rPr lang="en-US" sz="2100" b="1" spc="-1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R$ 1.999,89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6736556" y="1973600"/>
            <a:ext cx="1907381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custo total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736556" y="2170054"/>
            <a:ext cx="1907381" cy="241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Investimento da frente patrocinada adicional.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500063" y="3022616"/>
            <a:ext cx="373074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EFICIÊNCIA DE TRÁFEGO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500063" y="3251216"/>
            <a:ext cx="96440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9422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Cliques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578769" y="3245858"/>
            <a:ext cx="6572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11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6.109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350294" y="3267289"/>
            <a:ext cx="1880508" cy="114300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500063" y="3494103"/>
            <a:ext cx="96440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9422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Impressões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578769" y="3488745"/>
            <a:ext cx="6572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11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144.789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350294" y="3510176"/>
            <a:ext cx="1880508" cy="114300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500063" y="3736991"/>
            <a:ext cx="96440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9422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CPC médio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578769" y="3731633"/>
            <a:ext cx="6572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11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R$ 0,33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2350294" y="3753064"/>
            <a:ext cx="1880508" cy="114300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500063" y="3974520"/>
            <a:ext cx="3730740" cy="413445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85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Leitura:</a:t>
            </a:r>
            <a:r>
              <a:rPr lang="en-US" sz="90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a frente patrocinada entrega tráfego barato e volume, </a:t>
            </a:r>
            <a:r>
              <a:rPr lang="en-US" sz="90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funcionando como acelerador de topo e meio de funil.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4602277" y="3022616"/>
            <a:ext cx="404166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PONTO CRÍTICO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4602277" y="3160133"/>
            <a:ext cx="4041660" cy="484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0400"/>
              </a:lnSpc>
              <a:buNone/>
            </a:pPr>
            <a:r>
              <a:rPr lang="en-US" sz="1500" b="1" spc="-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Muito clique, mas </a:t>
            </a:r>
            <a:r>
              <a:rPr lang="en-US" sz="1500" b="1" spc="-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zero clique</a:t>
            </a:r>
            <a:r>
              <a:rPr lang="en-US" sz="1500" b="1" spc="-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na landing </a:t>
            </a:r>
            <a:r>
              <a:rPr lang="en-US" sz="1500" b="1" spc="-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page.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4602277" y="3715894"/>
            <a:ext cx="4041660" cy="488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90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desempenho indica boa capacidade de gerar interação dentro da plataforma, mas a ausência de cliques para a landing page limita o potencial de conversão comercial e de mensuração.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00063" y="4580846"/>
            <a:ext cx="2818628" cy="377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5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 oportunidade está em </a:t>
            </a:r>
            <a:r>
              <a:rPr lang="en-US" sz="115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converter </a:t>
            </a:r>
            <a:r>
              <a:rPr lang="en-US" sz="115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engajamento</a:t>
            </a:r>
            <a:r>
              <a:rPr lang="en-US" sz="115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.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3633015" y="4580846"/>
            <a:ext cx="5010922" cy="377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Manter a frente pelo baixo custo de tráfego e incluir chamadas diretas e UTMs para transformar interação em visita qualificada.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500063" y="5015889"/>
            <a:ext cx="81438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Fonte: PDF Triunfo — secção de publicações patrocinadas, período de abril de 2026.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414338"/>
            <a:ext cx="67996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3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TRIUNFO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6909792" y="414338"/>
            <a:ext cx="1734145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Próximo ciclo · Recomendações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00063" y="771525"/>
            <a:ext cx="8143875" cy="277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1800" b="1" spc="-1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Prioridades para o próximo ciclo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00063" y="1120704"/>
            <a:ext cx="7000875" cy="344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9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escala conquistada em abril deve ser convertida em aprendizagem comercial: menos dispersão, mais rastreamento, destinos melhores e testes orientados por intenção.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0063" y="1772459"/>
            <a:ext cx="585788" cy="3471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2000"/>
              </a:lnSpc>
              <a:buNone/>
            </a:pPr>
            <a:r>
              <a:rPr lang="en-US" sz="2750" b="1" spc="-2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01</a:t>
            </a:r>
            <a:endParaRPr lang="en-US" sz="2750" dirty="0"/>
          </a:p>
        </p:txBody>
      </p:sp>
      <p:sp>
        <p:nvSpPr>
          <p:cNvPr id="8" name="Text 5"/>
          <p:cNvSpPr/>
          <p:nvPr/>
        </p:nvSpPr>
        <p:spPr>
          <a:xfrm>
            <a:off x="1243013" y="1772459"/>
            <a:ext cx="3221831" cy="192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2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Corrigir o funil de conversão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43013" y="2021625"/>
            <a:ext cx="3221831" cy="452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85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Auditar formulários, eventos e metas para garantir que cliques de Google, Meta e publicações patrocinadas sejam medidos até ao contacto comercial.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679156" y="1772459"/>
            <a:ext cx="585788" cy="3471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2000"/>
              </a:lnSpc>
              <a:buNone/>
            </a:pPr>
            <a:r>
              <a:rPr lang="en-US" sz="2750" b="1" spc="-2" kern="0" dirty="0">
                <a:solidFill>
                  <a:srgbClr val="8B5A9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02</a:t>
            </a:r>
            <a:endParaRPr lang="en-US" sz="2750" dirty="0"/>
          </a:p>
        </p:txBody>
      </p:sp>
      <p:sp>
        <p:nvSpPr>
          <p:cNvPr id="11" name="Text 8"/>
          <p:cNvSpPr/>
          <p:nvPr/>
        </p:nvSpPr>
        <p:spPr>
          <a:xfrm>
            <a:off x="5422106" y="1772459"/>
            <a:ext cx="3221831" cy="192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2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Criar landing pages por intenção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22106" y="2021625"/>
            <a:ext cx="3221831" cy="452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85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Separar páginas para </a:t>
            </a:r>
            <a:r>
              <a:rPr lang="en-US" sz="8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exportação, distribuição e ingredientes orgânicos</a:t>
            </a:r>
            <a:r>
              <a:rPr lang="en-US" sz="85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, reduzindo rejeição e aumentando </a:t>
            </a:r>
            <a:r>
              <a:rPr lang="en-US" sz="85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relevância por mercado.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00063" y="2872597"/>
            <a:ext cx="585788" cy="3471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2000"/>
              </a:lnSpc>
              <a:buNone/>
            </a:pPr>
            <a:r>
              <a:rPr lang="en-US" sz="2750" b="1" spc="-2" kern="0" dirty="0">
                <a:solidFill>
                  <a:srgbClr val="8B5A9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03</a:t>
            </a:r>
            <a:endParaRPr lang="en-US" sz="2750" dirty="0"/>
          </a:p>
        </p:txBody>
      </p:sp>
      <p:sp>
        <p:nvSpPr>
          <p:cNvPr id="14" name="Text 11"/>
          <p:cNvSpPr/>
          <p:nvPr/>
        </p:nvSpPr>
        <p:spPr>
          <a:xfrm>
            <a:off x="1243013" y="2872597"/>
            <a:ext cx="3221831" cy="192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2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Escalar criativos de origem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243013" y="3121763"/>
            <a:ext cx="3221831" cy="452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85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Usar a narrativa vencedora de procedência, controlo produtivo e rastreabilidade como base para novas variações por país e segmento.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679156" y="2872597"/>
            <a:ext cx="585788" cy="3471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2000"/>
              </a:lnSpc>
              <a:buNone/>
            </a:pPr>
            <a:r>
              <a:rPr lang="en-US" sz="2750" b="1" spc="-2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04</a:t>
            </a:r>
            <a:endParaRPr lang="en-US" sz="2750" dirty="0"/>
          </a:p>
        </p:txBody>
      </p:sp>
      <p:sp>
        <p:nvSpPr>
          <p:cNvPr id="17" name="Text 14"/>
          <p:cNvSpPr/>
          <p:nvPr/>
        </p:nvSpPr>
        <p:spPr>
          <a:xfrm>
            <a:off x="5422106" y="2872597"/>
            <a:ext cx="3221831" cy="192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2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Realocar verba por eficiência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22106" y="3121763"/>
            <a:ext cx="3221831" cy="452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85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Manter Google como captura de intenção, explorar Facebook pelo menor CPC e priorizar Emirados onde alcance e CPM apresentaram melhor combinação.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00063" y="4072747"/>
            <a:ext cx="2953494" cy="700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500" b="1" spc="-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Objetivo: transformar </a:t>
            </a:r>
            <a:r>
              <a:rPr lang="en-US" sz="1500" b="1" spc="-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tráfego </a:t>
            </a:r>
            <a:r>
              <a:rPr lang="en-US" sz="1500" b="1" spc="-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barato</a:t>
            </a:r>
            <a:r>
              <a:rPr lang="en-US" sz="1500" b="1" spc="-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em pipeline real.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825032" y="4072747"/>
            <a:ext cx="4818906" cy="700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próximo ciclo deve ser avaliado por qualidade de lead, taxa de conversão da página e custo por contacto, não apenas por cliques. A disciplina de tracking será o principal fator para decidir onde escalar investimento.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00063" y="4851416"/>
            <a:ext cx="2709267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Fonte: síntese executiva a partir do PDF Triunfo — Abril 2026.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2026-05-12T20:27:13Z</dcterms:created>
  <dcterms:modified xsi:type="dcterms:W3CDTF">2026-05-12T20:27:13Z</dcterms:modified>
</cp:coreProperties>
</file>