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32E14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32E14"/>
                </a:solidFill>
                <a:latin typeface="Arial"/>
              </a:rPr>
              <a:t>Investimento por canal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Investimento (R$)</c:v>
                </c:pt>
              </c:strCache>
            </c:strRef>
          </c:tx>
          <c:spPr>
            <a:solidFill>
              <a:srgbClr val="A5C4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5C44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32E1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9595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Meta Ads</c:v>
                  </c:pt>
                  <c:pt idx="1">
                    <c:v>Google Ads</c:v>
                  </c:pt>
                  <c:pt idx="2">
                    <c:v>Post IG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1997.98</c:v>
                </c:pt>
                <c:pt idx="1">
                  <c:v>2435.02</c:v>
                </c:pt>
                <c:pt idx="2">
                  <c:v>37.66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D1D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eav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4160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TRÁFEGO PAGO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457200" y="43708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D1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 2026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1737360" y="4562856"/>
            <a:ext cx="416052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532120" y="4507992"/>
            <a:ext cx="118872" cy="118872"/>
          </a:xfrm>
          <a:prstGeom prst="ellipse">
            <a:avLst/>
          </a:prstGeom>
          <a:solidFill>
            <a:srgbClr val="EFEFE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0" y="4507992"/>
            <a:ext cx="118872" cy="118872"/>
          </a:xfrm>
          <a:prstGeom prst="ellipse">
            <a:avLst/>
          </a:prstGeom>
          <a:solidFill>
            <a:srgbClr val="A5C441"/>
          </a:solidFill>
          <a:ln/>
        </p:spPr>
      </p:sp>
      <p:sp>
        <p:nvSpPr>
          <p:cNvPr id="8" name="Shape 5"/>
          <p:cNvSpPr/>
          <p:nvPr/>
        </p:nvSpPr>
        <p:spPr>
          <a:xfrm>
            <a:off x="5897880" y="4507992"/>
            <a:ext cx="118872" cy="118872"/>
          </a:xfrm>
          <a:prstGeom prst="ellipse">
            <a:avLst/>
          </a:prstGeom>
          <a:solidFill>
            <a:srgbClr val="132E14"/>
          </a:solidFill>
          <a:ln/>
        </p:spPr>
      </p:sp>
      <p:pic>
        <p:nvPicPr>
          <p:cNvPr id="9" name="Image 1" descr="/home/claude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4297680"/>
            <a:ext cx="155448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vert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256032"/>
            <a:ext cx="50292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31352" y="1325880"/>
            <a:ext cx="0" cy="3200400"/>
          </a:xfrm>
          <a:prstGeom prst="line">
            <a:avLst/>
          </a:prstGeom>
          <a:noFill/>
          <a:ln w="12700">
            <a:solidFill>
              <a:srgbClr val="132E14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476488" y="4526280"/>
            <a:ext cx="118872" cy="118872"/>
          </a:xfrm>
          <a:prstGeom prst="ellipse">
            <a:avLst/>
          </a:prstGeom>
          <a:solidFill>
            <a:srgbClr val="EFEFEF"/>
          </a:solidFill>
          <a:ln/>
        </p:spPr>
      </p:sp>
      <p:sp>
        <p:nvSpPr>
          <p:cNvPr id="5" name="Shape 2"/>
          <p:cNvSpPr/>
          <p:nvPr/>
        </p:nvSpPr>
        <p:spPr>
          <a:xfrm>
            <a:off x="8476488" y="4690872"/>
            <a:ext cx="118872" cy="118872"/>
          </a:xfrm>
          <a:prstGeom prst="ellipse">
            <a:avLst/>
          </a:prstGeom>
          <a:solidFill>
            <a:srgbClr val="A5C441"/>
          </a:solidFill>
          <a:ln/>
        </p:spPr>
      </p:sp>
      <p:sp>
        <p:nvSpPr>
          <p:cNvPr id="6" name="Shape 3"/>
          <p:cNvSpPr/>
          <p:nvPr/>
        </p:nvSpPr>
        <p:spPr>
          <a:xfrm>
            <a:off x="8476488" y="4855464"/>
            <a:ext cx="118872" cy="118872"/>
          </a:xfrm>
          <a:prstGeom prst="ellipse">
            <a:avLst/>
          </a:prstGeom>
          <a:solidFill>
            <a:srgbClr val="132E14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201168"/>
            <a:ext cx="7772400" cy="777240"/>
          </a:xfrm>
          <a:prstGeom prst="rect">
            <a:avLst/>
          </a:prstGeom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spc="100" kern="0" dirty="0">
                <a:ln w="19050">
                  <a:solidFill>
                    <a:srgbClr val="A5C441"/>
                  </a:solidFill>
                </a:ln>
                <a:solidFill>
                  <a:srgbClr val="A5C4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ADS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292608" y="1051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 2026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92608" y="146304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</a:t>
            </a:r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Investimento: </a:t>
            </a:r>
            <a:pPr algn="l" indent="0" marL="0">
              <a:buNone/>
            </a:pPr>
            <a:r>
              <a:rPr lang="en-US" sz="1300" b="1" dirty="0">
                <a:solidFill>
                  <a:srgbClr val="A5C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R$ 1.997,98</a:t>
            </a:r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(-34% vs. abril)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92608" y="184708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</a:t>
            </a:r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gerados: </a:t>
            </a:r>
            <a:pPr algn="l" indent="0" marL="0">
              <a:buNone/>
            </a:pPr>
            <a:r>
              <a:rPr lang="en-US" sz="1300" b="1" dirty="0">
                <a:solidFill>
                  <a:srgbClr val="A5C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(15 em abril, -40%)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92608" y="223113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</a:t>
            </a:r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CPL médio: </a:t>
            </a:r>
            <a:pPr algn="l" indent="0" marL="0">
              <a:buNone/>
            </a:pPr>
            <a:r>
              <a:rPr lang="en-US" sz="1300" b="1" dirty="0">
                <a:solidFill>
                  <a:srgbClr val="A5C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R$ 222,00</a:t>
            </a:r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(R$ 200 em abril, +10%)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92608" y="261518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</a:t>
            </a:r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Alcance: </a:t>
            </a:r>
            <a:pPr algn="l" indent="0" marL="0">
              <a:buNone/>
            </a:pPr>
            <a:r>
              <a:rPr lang="en-US" sz="1300" b="1" dirty="0">
                <a:solidFill>
                  <a:srgbClr val="A5C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6.833</a:t>
            </a:r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(-30% vs. abril)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92608" y="299923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</a:t>
            </a:r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Instagram: </a:t>
            </a:r>
            <a:pPr algn="l" indent="0" marL="0">
              <a:buNone/>
            </a:pPr>
            <a:r>
              <a:rPr lang="en-US" sz="1300" b="1" dirty="0">
                <a:solidFill>
                  <a:srgbClr val="A5C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leads · CPL R$ 187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92608" y="338328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 </a:t>
            </a:r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Facebook: </a:t>
            </a:r>
            <a:pPr algn="l" indent="0" marL="0">
              <a:buNone/>
            </a:pPr>
            <a:r>
              <a:rPr lang="en-US" sz="1300" b="1" dirty="0">
                <a:solidFill>
                  <a:srgbClr val="A5C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leads · CPL R$ 291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92608" y="41148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D1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verba caiu 34% e os leads acompanharam a queda. O CPL subiu 10%, indicando leve perda de eficiência. O criativo </a:t>
            </a:r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02 – certificações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D1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foi o único a gerar leads no período (100% das conversões), reforçando a narrativa de credibilidade como argumento central.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vert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256032"/>
            <a:ext cx="50292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31352" y="1325880"/>
            <a:ext cx="0" cy="3200400"/>
          </a:xfrm>
          <a:prstGeom prst="line">
            <a:avLst/>
          </a:prstGeom>
          <a:noFill/>
          <a:ln w="12700">
            <a:solidFill>
              <a:srgbClr val="132E14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476488" y="4526280"/>
            <a:ext cx="118872" cy="118872"/>
          </a:xfrm>
          <a:prstGeom prst="ellipse">
            <a:avLst/>
          </a:prstGeom>
          <a:solidFill>
            <a:srgbClr val="EFEFEF"/>
          </a:solidFill>
          <a:ln/>
        </p:spPr>
      </p:sp>
      <p:sp>
        <p:nvSpPr>
          <p:cNvPr id="5" name="Shape 2"/>
          <p:cNvSpPr/>
          <p:nvPr/>
        </p:nvSpPr>
        <p:spPr>
          <a:xfrm>
            <a:off x="8476488" y="4690872"/>
            <a:ext cx="118872" cy="118872"/>
          </a:xfrm>
          <a:prstGeom prst="ellipse">
            <a:avLst/>
          </a:prstGeom>
          <a:solidFill>
            <a:srgbClr val="A5C441"/>
          </a:solidFill>
          <a:ln/>
        </p:spPr>
      </p:sp>
      <p:sp>
        <p:nvSpPr>
          <p:cNvPr id="6" name="Shape 3"/>
          <p:cNvSpPr/>
          <p:nvPr/>
        </p:nvSpPr>
        <p:spPr>
          <a:xfrm>
            <a:off x="8476488" y="4855464"/>
            <a:ext cx="118872" cy="118872"/>
          </a:xfrm>
          <a:prstGeom prst="ellipse">
            <a:avLst/>
          </a:prstGeom>
          <a:solidFill>
            <a:srgbClr val="132E14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201168"/>
            <a:ext cx="7772400" cy="777240"/>
          </a:xfrm>
          <a:prstGeom prst="rect">
            <a:avLst/>
          </a:prstGeom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spc="100" kern="0" dirty="0">
                <a:ln w="19050">
                  <a:solidFill>
                    <a:srgbClr val="A5C441"/>
                  </a:solidFill>
                </a:ln>
                <a:solidFill>
                  <a:srgbClr val="A5C4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ADS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292608" y="1051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 2026 · Pesquisa internacional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92608" y="146304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</a:t>
            </a:r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Investimento: </a:t>
            </a:r>
            <a:pPr algn="l" indent="0" marL="0">
              <a:buNone/>
            </a:pPr>
            <a:r>
              <a:rPr lang="en-US" sz="1300" b="1" dirty="0">
                <a:solidFill>
                  <a:srgbClr val="A5C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R$ 2.435,02</a:t>
            </a:r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(-45% vs. abril)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92608" y="184708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🖱️  </a:t>
            </a:r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Cliques: </a:t>
            </a:r>
            <a:pPr algn="l" indent="0" marL="0">
              <a:buNone/>
            </a:pPr>
            <a:r>
              <a:rPr lang="en-US" sz="1300" b="1" dirty="0">
                <a:solidFill>
                  <a:srgbClr val="A5C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2.639</a:t>
            </a:r>
            <a:pPr algn="l" indent="0" marL="0">
              <a:buNone/>
            </a:pPr>
            <a:r>
              <a:rPr lang="en-US" sz="1200" b="1" dirty="0">
                <a:solidFill>
                  <a:srgbClr val="A5C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(+3,6% vs. abril)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92608" y="223113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💸  </a:t>
            </a:r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CPC médio: </a:t>
            </a:r>
            <a:pPr algn="l" indent="0" marL="0">
              <a:buNone/>
            </a:pPr>
            <a:r>
              <a:rPr lang="en-US" sz="1300" b="1" dirty="0">
                <a:solidFill>
                  <a:srgbClr val="A5C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R$ 0,92</a:t>
            </a:r>
            <a:pPr algn="l" indent="0" marL="0">
              <a:buNone/>
            </a:pPr>
            <a:r>
              <a:rPr lang="en-US" sz="1200" b="1" dirty="0">
                <a:solidFill>
                  <a:srgbClr val="A5C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(R$ 1,75 em abril, -47%)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92608" y="261518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</a:t>
            </a:r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CTR: </a:t>
            </a:r>
            <a:pPr algn="l" indent="0" marL="0">
              <a:buNone/>
            </a:pPr>
            <a:r>
              <a:rPr lang="en-US" sz="1300" b="1" dirty="0">
                <a:solidFill>
                  <a:srgbClr val="A5C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1,79%</a:t>
            </a:r>
            <a:pPr algn="l" indent="0" marL="0">
              <a:buNone/>
            </a:pPr>
            <a:r>
              <a:rPr lang="en-US" sz="1200" b="1" dirty="0">
                <a:solidFill>
                  <a:srgbClr val="A5C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(1,47% em abril)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92608" y="299923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👁️  </a:t>
            </a:r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Impressões: </a:t>
            </a:r>
            <a:pPr algn="l" indent="0" marL="0">
              <a:buNone/>
            </a:pPr>
            <a:r>
              <a:rPr lang="en-US" sz="1300" b="1" dirty="0">
                <a:solidFill>
                  <a:srgbClr val="A5C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147.448</a:t>
            </a:r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(-15% vs. abril)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92608" y="338328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</a:t>
            </a:r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Conversões rastreadas: </a:t>
            </a:r>
            <a:pPr algn="l" indent="0" marL="0">
              <a:buNone/>
            </a:pPr>
            <a:r>
              <a:rPr lang="en-US" sz="1300" b="1" dirty="0">
                <a:solidFill>
                  <a:srgbClr val="A5C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(rastreamento incompleto)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92608" y="41148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➡️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D1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menos verba, o Google entregou mais cliques e um CPC 47% menor, sinal de tráfego mais qualificado. O ponto crítico é o </a:t>
            </a:r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rastreamento de conversões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D1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 conta segue sem registrar conversões, o que impede medir o retorno real do investimento.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vert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256032"/>
            <a:ext cx="50292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31352" y="1325880"/>
            <a:ext cx="0" cy="3200400"/>
          </a:xfrm>
          <a:prstGeom prst="line">
            <a:avLst/>
          </a:prstGeom>
          <a:noFill/>
          <a:ln w="12700">
            <a:solidFill>
              <a:srgbClr val="132E14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476488" y="4526280"/>
            <a:ext cx="118872" cy="118872"/>
          </a:xfrm>
          <a:prstGeom prst="ellipse">
            <a:avLst/>
          </a:prstGeom>
          <a:solidFill>
            <a:srgbClr val="EFEFEF"/>
          </a:solidFill>
          <a:ln/>
        </p:spPr>
      </p:sp>
      <p:sp>
        <p:nvSpPr>
          <p:cNvPr id="5" name="Shape 2"/>
          <p:cNvSpPr/>
          <p:nvPr/>
        </p:nvSpPr>
        <p:spPr>
          <a:xfrm>
            <a:off x="8476488" y="4690872"/>
            <a:ext cx="118872" cy="118872"/>
          </a:xfrm>
          <a:prstGeom prst="ellipse">
            <a:avLst/>
          </a:prstGeom>
          <a:solidFill>
            <a:srgbClr val="A5C441"/>
          </a:solidFill>
          <a:ln/>
        </p:spPr>
      </p:sp>
      <p:sp>
        <p:nvSpPr>
          <p:cNvPr id="6" name="Shape 3"/>
          <p:cNvSpPr/>
          <p:nvPr/>
        </p:nvSpPr>
        <p:spPr>
          <a:xfrm>
            <a:off x="8476488" y="4855464"/>
            <a:ext cx="118872" cy="118872"/>
          </a:xfrm>
          <a:prstGeom prst="ellipse">
            <a:avLst/>
          </a:prstGeom>
          <a:solidFill>
            <a:srgbClr val="132E14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201168"/>
            <a:ext cx="7772400" cy="777240"/>
          </a:xfrm>
          <a:prstGeom prst="rect">
            <a:avLst/>
          </a:prstGeom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spc="100" kern="0" dirty="0">
                <a:ln w="19050">
                  <a:solidFill>
                    <a:srgbClr val="A5C441"/>
                  </a:solidFill>
                </a:ln>
                <a:solidFill>
                  <a:srgbClr val="A5C4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VISÃO GERAL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292608" y="10515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e tráfego do site · Maio 2026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292608" y="1508760"/>
          <a:ext cx="38404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4480560" y="14813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(Google Analytics)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480560" y="18745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</a:t>
            </a:r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Usuários ativos: </a:t>
            </a:r>
            <a:pPr algn="l" indent="0" marL="0">
              <a:buNone/>
            </a:pPr>
            <a:r>
              <a:rPr lang="en-US" sz="1300" b="1" dirty="0">
                <a:solidFill>
                  <a:srgbClr val="A5C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2.582</a:t>
            </a:r>
            <a:pPr algn="l" indent="0" marL="0">
              <a:buNone/>
            </a:pPr>
            <a:r>
              <a:rPr lang="en-US" sz="1200" b="1" dirty="0">
                <a:solidFill>
                  <a:srgbClr val="A5C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(+9%)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480560" y="22402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 </a:t>
            </a:r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Eventos: </a:t>
            </a:r>
            <a:pPr algn="l" indent="0" marL="0">
              <a:buNone/>
            </a:pPr>
            <a:r>
              <a:rPr lang="en-US" sz="1300" b="1" dirty="0">
                <a:solidFill>
                  <a:srgbClr val="A5C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11.213</a:t>
            </a:r>
            <a:pPr algn="l" indent="0" marL="0">
              <a:buNone/>
            </a:pPr>
            <a:r>
              <a:rPr lang="en-US" sz="1200" b="1" dirty="0">
                <a:solidFill>
                  <a:srgbClr val="A5C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(+9%)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480560" y="26060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 </a:t>
            </a:r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Engajamento médio: </a:t>
            </a:r>
            <a:pPr algn="l" indent="0" marL="0">
              <a:buNone/>
            </a:pPr>
            <a:r>
              <a:rPr lang="en-US" sz="1300" b="1" dirty="0">
                <a:solidFill>
                  <a:srgbClr val="A5C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15,5s</a:t>
            </a:r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(-8%)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480560" y="297180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🚪  </a:t>
            </a:r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Rejeição (Produtos): </a:t>
            </a:r>
            <a:pPr algn="l" indent="0" marL="0">
              <a:buNone/>
            </a:pPr>
            <a:r>
              <a:rPr lang="en-US" sz="1300" b="1" dirty="0">
                <a:solidFill>
                  <a:srgbClr val="A5C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74,5%</a:t>
            </a:r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(era 71,4%)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480560" y="3520440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132E14"/>
          </a:solidFill>
          <a:ln/>
        </p:spPr>
      </p:sp>
      <p:sp>
        <p:nvSpPr>
          <p:cNvPr id="16" name="Text 12"/>
          <p:cNvSpPr/>
          <p:nvPr/>
        </p:nvSpPr>
        <p:spPr>
          <a:xfrm>
            <a:off x="4617720" y="35204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total no mês:  </a:t>
            </a:r>
            <a:pPr algn="l" indent="0" marL="0">
              <a:buNone/>
            </a:pPr>
            <a:r>
              <a:rPr lang="en-US" sz="1300" b="1" dirty="0">
                <a:solidFill>
                  <a:srgbClr val="A5C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R$ 4.470,66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92608" y="41148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D1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e Meta concentraram quase todo o investimento. O site cresceu em tráfego, mas 74,5% dos usuários saem da página de Produtos sem interagir. Como 82% das visitas vêm de mídia paga, otimizar essa página é a maior alavanca para converter o tráfego em contato comercial.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vert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256032"/>
            <a:ext cx="50292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31352" y="1325880"/>
            <a:ext cx="0" cy="3200400"/>
          </a:xfrm>
          <a:prstGeom prst="line">
            <a:avLst/>
          </a:prstGeom>
          <a:noFill/>
          <a:ln w="12700">
            <a:solidFill>
              <a:srgbClr val="132E14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476488" y="4526280"/>
            <a:ext cx="118872" cy="118872"/>
          </a:xfrm>
          <a:prstGeom prst="ellipse">
            <a:avLst/>
          </a:prstGeom>
          <a:solidFill>
            <a:srgbClr val="EFEFEF"/>
          </a:solidFill>
          <a:ln/>
        </p:spPr>
      </p:sp>
      <p:sp>
        <p:nvSpPr>
          <p:cNvPr id="5" name="Shape 2"/>
          <p:cNvSpPr/>
          <p:nvPr/>
        </p:nvSpPr>
        <p:spPr>
          <a:xfrm>
            <a:off x="8476488" y="4690872"/>
            <a:ext cx="118872" cy="118872"/>
          </a:xfrm>
          <a:prstGeom prst="ellipse">
            <a:avLst/>
          </a:prstGeom>
          <a:solidFill>
            <a:srgbClr val="A5C441"/>
          </a:solidFill>
          <a:ln/>
        </p:spPr>
      </p:sp>
      <p:sp>
        <p:nvSpPr>
          <p:cNvPr id="6" name="Shape 3"/>
          <p:cNvSpPr/>
          <p:nvPr/>
        </p:nvSpPr>
        <p:spPr>
          <a:xfrm>
            <a:off x="8476488" y="4855464"/>
            <a:ext cx="118872" cy="118872"/>
          </a:xfrm>
          <a:prstGeom prst="ellipse">
            <a:avLst/>
          </a:prstGeom>
          <a:solidFill>
            <a:srgbClr val="132E14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201168"/>
            <a:ext cx="7772400" cy="777240"/>
          </a:xfrm>
          <a:prstGeom prst="rect">
            <a:avLst/>
          </a:prstGeom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spc="100" kern="0" dirty="0">
                <a:ln w="19050">
                  <a:solidFill>
                    <a:srgbClr val="A5C441"/>
                  </a:solidFill>
                </a:ln>
                <a:solidFill>
                  <a:srgbClr val="A5C4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Próximos passos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365760" y="11887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Rastreamento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499616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A5C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1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o acompanhamento de conversões no Google Ads — é a ação mais urgente, sem ela não há como medir retorno.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1828800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A5C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1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pixel e eventos no Meta para garantir leitura correta dos leads.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226771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Criativos (Meta)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2578608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A5C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1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Escalar o Ad 02 – certificações, único criativo com conversão, criando variações por ângulo (rastreabilidade, qualidade, ESG).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2907792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A5C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1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Aposentar criativos sem leads e concentrar verba nos que performam.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5760" y="334670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Site e mercados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3657600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A5C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1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Otimizar a página de Produtos para reduzir a rejeição de 74,5% e aproveitar o tráfego pago.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3986784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A5C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1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Reavaliar mercados sem conversão (França, Alemanha, Japão) e realocar verba para EUA e Emirados.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Triunfo — Tráfego Pago — Maio 2026</dc:title>
  <dc:subject>PptxGenJS Presentation</dc:subject>
  <dc:creator>PptxGenJS</dc:creator>
  <cp:lastModifiedBy>PptxGenJS</cp:lastModifiedBy>
  <cp:revision>1</cp:revision>
  <dcterms:created xsi:type="dcterms:W3CDTF">2026-06-17T12:56:56Z</dcterms:created>
  <dcterms:modified xsi:type="dcterms:W3CDTF">2026-06-17T12:56:56Z</dcterms:modified>
</cp:coreProperties>
</file>