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3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1177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o objetivo destes 14 dias não era escalar, era voltar a gerar lead e passar a enxergar de onde ele vem. As duas coisas aconteceram.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perguntarem sobre o zero: nenhum lead foi descartado. Eles ainda não passaram pela etapa de qualificação comercial, e o ciclo desse mercado é de meses.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perguntarem por que o Google gerou poucos leads: o Google não vende volume, vende intenção. E ainda está no início, com clique caro e verba pequena.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Antecipar a queda de volume aqui evita que ela seja lida como piora daqui a duas semanas.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Recomendação técnica: caminho B. Mas a escolha é da diretoria, e o objetivo do slide é que ela escolha ciente do que abre mão. Não estamos pedindo mais verba.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perguntarem por que ainda não está pronto: a prioridade foi reativar a geração de leads, que estava zerada. Escolha de sequência, não esquecimento. E a planilha garante que nada se perdeu no meio.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pedindo a decisão de verba. É a única coisa que depende deles hoje.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822960"/>
            <a:ext cx="228600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33172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Tráfego Pago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777240" y="3035808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B8C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de Julho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822960" y="40233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C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e Meta Ads  |  </a:t>
            </a:r>
            <a:r>
              <a:rPr lang="en-US" sz="1500" dirty="0" err="1">
                <a:solidFill>
                  <a:srgbClr val="C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Reestruturação</a:t>
            </a:r>
            <a:r>
              <a:rPr lang="en-US" sz="1500" dirty="0">
                <a:solidFill>
                  <a:srgbClr val="C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dirty="0" err="1">
                <a:solidFill>
                  <a:srgbClr val="C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</a:t>
            </a:r>
            <a:r>
              <a:rPr lang="en-US" sz="1500" dirty="0">
                <a:solidFill>
                  <a:srgbClr val="C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leads e o que </a:t>
            </a:r>
            <a:r>
              <a:rPr lang="en-US" sz="1500" dirty="0" err="1">
                <a:solidFill>
                  <a:srgbClr val="C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</a:t>
            </a:r>
            <a:r>
              <a:rPr lang="en-US" sz="1500" dirty="0">
                <a:solidFill>
                  <a:srgbClr val="C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C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</a:t>
            </a:r>
            <a:r>
              <a:rPr lang="en-US" sz="1500" dirty="0">
                <a:solidFill>
                  <a:srgbClr val="C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C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</a:t>
            </a:r>
            <a:r>
              <a:rPr lang="en-US" sz="1500" dirty="0">
                <a:solidFill>
                  <a:srgbClr val="C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C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4663440"/>
            <a:ext cx="457200" cy="27432"/>
          </a:xfrm>
          <a:prstGeom prst="rect">
            <a:avLst/>
          </a:prstGeom>
          <a:solidFill>
            <a:srgbClr val="B8C037"/>
          </a:solidFill>
          <a:ln w="12700">
            <a:solidFill>
              <a:srgbClr val="B8C03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937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8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à Diretoria  •  Dados de plataforma: 01 a 14/07/2026  •  Leads consolidados até 13/07/2026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atual: validação controlada. Os números seguem com ressalva até a conclusão do rastreamento e o retorno de qualificação do comercial.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C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EXECUTIVO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máquina voltou a girar. Agora a fronteira é qualidade.</a:t>
            </a:r>
            <a:endParaRPr lang="en-US" sz="2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384048"/>
            <a:ext cx="777240" cy="374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609344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58368" y="2231136"/>
            <a:ext cx="23865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registrados em 13 dias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(33 vindos de mídia paga)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33756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29000" y="1609344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R$ 4.112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3447288" y="2231136"/>
            <a:ext cx="23865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investidos no período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(Google + Meta)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2648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1609344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78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R$ 57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236208" y="2231136"/>
            <a:ext cx="23865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lead nos EUA no Meta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(frente mais eficiente)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915400" y="146304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06840" y="1609344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C6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9025128" y="2231136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registrados como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qualificados até o momento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3127248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132E14"/>
          </a:solidFill>
          <a:ln w="12700">
            <a:solidFill>
              <a:srgbClr val="132E1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329184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>
              <a:lnSpc>
                <a:spcPts val="1900"/>
              </a:lnSpc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volume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deixou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13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entraram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leads do que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agora é fit: a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parte dos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contatos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comprador industrial.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gerou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V3,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r>
              <a:rPr lang="en-US" sz="14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</a:t>
            </a:r>
            <a:r>
              <a:rPr lang="en-US" sz="14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zero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significa "ainda não avaliado", não "lead ruim".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8640" y="4572000"/>
            <a:ext cx="53949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Motivo de celebração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reconstruída e legível por país e por canal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leads restabelecida nos dois mercados prioritários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de cada contato rastreada pela primeira vez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17920" y="4572000"/>
            <a:ext cx="53949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8C6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precisa ser validado a seguir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dos leads: formulário V3 no ar desde hoje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Qualificação: depende do retorno do comercial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Alocação da verba: decisão que precisamos da diretoria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Google Ads, Meta Ads e planilha de controle de leads, adotada como fonte primária verificada.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C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POR FRENTE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verba foi e o que ela produziu</a:t>
            </a:r>
            <a:endParaRPr lang="en-US" sz="2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384048"/>
            <a:ext cx="777240" cy="374904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949440" cy="2743200"/>
        </p:xfrm>
        <a:graphic>
          <a:graphicData uri="http://schemas.openxmlformats.org/drawingml/2006/table">
            <a:tbl>
              <a:tblPr/>
              <a:tblGrid>
                <a:gridCol w="1554480"/>
                <a:gridCol w="1234440"/>
                <a:gridCol w="685800"/>
                <a:gridCol w="1371600"/>
                <a:gridCol w="210312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por lead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E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• EUA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R$ 1.365,80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R$ 56,91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Frente mais eficiente do período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• Alemanha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R$ 1.148,06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R$ 191,34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alto e menor engajamento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• EUA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R$ 1.100,62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amostra pequena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 ativa, clique a R$ 8,09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• Alemanha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R$ 498,20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insuficiente para concluir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R$ 4.112,68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Mais 7 contatos por outros canais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726680" y="1508760"/>
            <a:ext cx="3886200" cy="3200400"/>
          </a:xfrm>
          <a:prstGeom prst="roundRect">
            <a:avLst>
              <a:gd name="adj" fmla="val 2286"/>
            </a:avLst>
          </a:prstGeom>
          <a:solidFill>
            <a:srgbClr val="132E14"/>
          </a:solidFill>
          <a:ln w="12700">
            <a:solidFill>
              <a:srgbClr val="132E14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001000" y="1719072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8C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contato "sem origem" também é campanha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8001000" y="2487168"/>
            <a:ext cx="3337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 alemã Malkmus Holistic entrou duas vezes na base: pelo formulário do Meta e, no mesmo dia, como mensagem direta no WhatsApp. O telefone é o mesmo.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comercial recebeu esse contato como se tivesse surgido do nada. Ele veio da campanha.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exatamente esse rastro que a empresa passa a ter agora.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66928" y="4910328"/>
            <a:ext cx="137160" cy="137160"/>
          </a:xfrm>
          <a:prstGeom prst="ellipse">
            <a:avLst/>
          </a:prstGeom>
          <a:solidFill>
            <a:srgbClr val="B8C037"/>
          </a:solidFill>
          <a:ln w="12700">
            <a:solidFill>
              <a:srgbClr val="B8C03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8680" y="4818888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EUA responderam melhor nos dois canais. A Alemanha custa mais caro e demora mais: no Google, o clique alemão sai a R$ 27,68 contra R$ 8,09 nos EUA.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66928" y="5385816"/>
            <a:ext cx="137160" cy="137160"/>
          </a:xfrm>
          <a:prstGeom prst="ellipse">
            <a:avLst/>
          </a:prstGeom>
          <a:solidFill>
            <a:srgbClr val="B8C037"/>
          </a:solidFill>
          <a:ln w="12700">
            <a:solidFill>
              <a:srgbClr val="B8C03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68680" y="5294376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Meta traz volume rápido porque o formulário é nativo e tem baixa fricção. O Google traz o comprador que está procurando fornecedor, mas com custo por clique </a:t>
            </a:r>
            <a:r>
              <a:rPr lang="en-US" sz="1200" dirty="0" err="1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1200" dirty="0" smtClean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alto </a:t>
            </a: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volume menor.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66928" y="5861304"/>
            <a:ext cx="137160" cy="137160"/>
          </a:xfrm>
          <a:prstGeom prst="ellipse">
            <a:avLst/>
          </a:prstGeom>
          <a:solidFill>
            <a:srgbClr val="B8C037"/>
          </a:solidFill>
          <a:ln w="12700">
            <a:solidFill>
              <a:srgbClr val="B8C03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68680" y="5769864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por lead do Google ainda não é legível: 3 leads são amostra pequena demais para virar número de gestão.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Google Ads (01 a 14/07) e Meta Ads (03 a 14/07). Leads contados na planilha de controle, lead a lead.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7083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C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DOS LEADS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5703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 smtClean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alto, fit </a:t>
            </a:r>
            <a:r>
              <a:rPr lang="en-US" sz="2900" b="1" dirty="0" err="1" smtClean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baixo</a:t>
            </a:r>
            <a:r>
              <a:rPr lang="en-US" sz="2900" b="1" dirty="0" smtClean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endParaRPr lang="en-US" sz="2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384048"/>
            <a:ext cx="777240" cy="374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60934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C6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58368" y="2231136"/>
            <a:ext cx="33467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leads pagos têm email corporativo próprio (6 de 33)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97680" y="14630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0" y="160934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C6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407408" y="2231136"/>
            <a:ext cx="33467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declararam estar "apenas explorando" no formulário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046720" y="14630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160934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78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156448" y="2231136"/>
            <a:ext cx="33467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contatos com sinal real de comprador industrial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31089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2735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7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 •  formulário que rodou em julho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36118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Desenhado de propósito para gerar volume rápido e reativar a captação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exigência de email corporativo e sem verificação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Cumpriu o objetivo: 30 leads em 11 dias. O preço foi perfil baixo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17920" y="31089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32E14"/>
          </a:solidFill>
          <a:ln w="12700">
            <a:solidFill>
              <a:srgbClr val="132E1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92240" y="32735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C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 •  no ar desde 14 de julho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92240" y="36118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corporativo obrigatório, com verificação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contato sem empresa e preenchimento automatizado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volume de leads vai cair. Isso é esperado e desejado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67836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5285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3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a partir de agora.  </a:t>
            </a:r>
            <a:r>
              <a:rPr lang="en-US" sz="125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Trocamos volume por perfil. Nas próximas semanas a quantidade de leads deve cair e a proporção de empresas reais deve subir. O indicador que passa a valer não é quantos leads chegam, e sim quantos o comercial consegue trabalhar. Vamos comparar V2 e V3 lado a lado na próxima revisão.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Contatos com fit já identificados: Green Truth / Zingi Beverages (EUA), Malkmus Holistic (Alemanha), Oliver Wildheart (EUA), Natural Nirvana e Afriorganics (EUA).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C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VERBA: O TRADEOFF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181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R$ 7.000 por mês: o que essa verba permite escolher</a:t>
            </a:r>
            <a:endParaRPr lang="en-US" sz="2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384048"/>
            <a:ext cx="777240" cy="3749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4447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verba é a mesma nos três caminhos abaixo. O que muda é o que ela entrega, e o que ela deixa de entregar. Não existe caminho que cubra tudo.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2852928"/>
        </p:xfrm>
        <a:graphic>
          <a:graphicData uri="http://schemas.openxmlformats.org/drawingml/2006/table">
            <a:tbl>
              <a:tblPr/>
              <a:tblGrid>
                <a:gridCol w="2468880"/>
                <a:gridCol w="4297680"/>
                <a:gridCol w="4297680"/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Caminho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entrega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não entrega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E1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Espalhar nos 7 países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Presença simbólica em todos os mercados. Cada país fica com cerca de R$ 33 por dia, o que compra de 1 a 4 cliques por dia.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e conclusão em qualquer mercado. Nenhum país gera dado suficiente para decidir nada.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Concentrar em EUA e Alemanha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reais e leitura por país. Foi o caminho que produziu os 40 leads de julho, com custo por lead conhecido em cada frente.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dos outros cinco mercados nesta fase. Eles entram quando houver verba ou quando um mercado se provar.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Comprar tráfego barato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Muitos cliques e visitas ao site por pouco dinheiro. Números grandes de audiência.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Lead. Clique não é contato comercial: enche o site de visitas e não coloca ninguém na mesa do comercial.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983480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" y="51206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3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um mercado gerar conclusão, a faixa estimada é: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EUA no Meta: R$ 2.000 a R$ 3.000/mês  •  EUA no Google: acima de R$ 8.000/mês  •  Alemanha: custo por lead 3x maior que o dos EUA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217920" y="4983480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132E14"/>
          </a:solidFill>
          <a:ln w="12700">
            <a:solidFill>
              <a:srgbClr val="132E1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46520" y="51206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B8C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 não é o único gargalo.  </a:t>
            </a:r>
            <a:r>
              <a:rPr lang="en-US" sz="1100" dirty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EUA, perdemos 23% das buscas por limite de orçamento. O restante se perde por competitividade de leilão, que se resolve com anúncio e página melhores, não com mais dinheiro.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Faixas estimadas a partir do custo por clique e do custo por lead reais de julho. Amostra de 14 dias: servem para dimensionar ordem de grandeza, não como orçamento fechado.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C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já está no ar e o que entra na sequência</a:t>
            </a:r>
            <a:endParaRPr lang="en-US" sz="2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384048"/>
            <a:ext cx="777240" cy="374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0876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9164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funcionando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08483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no ar, com formulário ativo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nativo do Meta captando leads diretamente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de controle recebendo 100% dos leads, com origem, campanha e anúncio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lead se perde hoje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7920" y="150876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67836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169164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C6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na sequência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92240" y="208483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de conversão do Google: devolve à plataforma a leitura do lead e permite otimização automática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e CAPI do Meta na landing page: liberam retargeting de quem visitou e não converteu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dos dois afeta a captação atual de leads. Afetam a eficiência da otimização daqui para frente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411480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132E14"/>
          </a:solidFill>
          <a:ln w="12700">
            <a:solidFill>
              <a:srgbClr val="132E1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42976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C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nesta ordem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8680" y="4681728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 estava sem gerar leads. A decisão foi reativar a captação primeiro e instrumentar em seguida, em vez de deixar a operação parada por mais semanas esperando a instrumentação completa. Foi uma escolha consciente de sequência, e ela funcionou: os leads voltaram e nenhum deles se perdeu, porque a captura pela planilha cobre a lacuna.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ainda falta não impede vender. Impede o algoritmo de otimizar sozinho e impede o retargeting. São ganhos de eficiência da próxima fase, e estão no plano dos próximos 14 dias.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Meta opera hoje com formulário nativo, que não depende de pixel para captar o lead. A instrumentação completa entra na próxima janela.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457200"/>
            <a:ext cx="1280160" cy="612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C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14 DIAS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plano e a decisão que precisamos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B8C037"/>
          </a:solidFill>
          <a:ln w="12700">
            <a:solidFill>
              <a:srgbClr val="B8C03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8562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880" y="175564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Concluir a instrumentação de rastreamento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25880" y="208483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FC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de conversão no Google e pixel na página: otimização automática e retargeting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B8C037"/>
          </a:solidFill>
          <a:ln w="12700">
            <a:solidFill>
              <a:srgbClr val="B8C0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7249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25880" y="262432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o formulário V3 por 14 dias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25880" y="295351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FC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se o perfil sobe quando o volume cai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B8C037"/>
          </a:solidFill>
          <a:ln w="12700">
            <a:solidFill>
              <a:srgbClr val="B8C0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5935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25880" y="349300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Estabelecer o retorno do comercial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25880" y="382219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FC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saber quais leads viram oportunidade, qualidade continua sendo estimativa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" y="4389120"/>
            <a:ext cx="502920" cy="502920"/>
          </a:xfrm>
          <a:prstGeom prst="ellipse">
            <a:avLst/>
          </a:prstGeom>
          <a:solidFill>
            <a:srgbClr val="B8C037"/>
          </a:solidFill>
          <a:ln w="12700">
            <a:solidFill>
              <a:srgbClr val="B8C03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446227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325880" y="436168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Ajustar a alocação entre EUA e Alemanha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325880" y="469087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FC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Alemanha custa 3x mais por lead. Decidir se sustenta ou se concentra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686800" y="1737360"/>
            <a:ext cx="2926080" cy="2377440"/>
          </a:xfrm>
          <a:prstGeom prst="roundRect">
            <a:avLst>
              <a:gd name="adj" fmla="val 3077"/>
            </a:avLst>
          </a:prstGeom>
          <a:solidFill>
            <a:srgbClr val="B8C037"/>
          </a:solidFill>
          <a:ln w="12700">
            <a:solidFill>
              <a:srgbClr val="B8C0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915400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3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decisão que pedimos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915400" y="2331720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3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A, B ou C do slide de verba.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3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recomendação técnica é B: concentrar em EUA e Alemanha até um mercado se provar.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40080" y="5349240"/>
            <a:ext cx="10972800" cy="777240"/>
          </a:xfrm>
          <a:prstGeom prst="roundRect">
            <a:avLst>
              <a:gd name="adj" fmla="val 7059"/>
            </a:avLst>
          </a:prstGeom>
          <a:solidFill>
            <a:srgbClr val="1D3E1F"/>
          </a:solidFill>
          <a:ln w="12700">
            <a:solidFill>
              <a:srgbClr val="1D3E1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" y="54864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C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da próxima fase: sair de leads que chegam para leads que o comercial consegue trabalhar.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revisão ao fim de julho de 2026, com os primeiros dados do formulário V3 e do rastreamento completo.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1690</Words>
  <Application>Microsoft Office PowerPoint</Application>
  <PresentationFormat>Widescreen</PresentationFormat>
  <Paragraphs>158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Triunfo do Brasil — Tráfego Pago — Resultados de Julho</dc:title>
  <dc:subject>PptxGenJS Presentation</dc:subject>
  <dc:creator>Gabriel</dc:creator>
  <cp:lastModifiedBy>Gabriel Pauletto Reszka</cp:lastModifiedBy>
  <cp:revision>2</cp:revision>
  <dcterms:created xsi:type="dcterms:W3CDTF">2026-07-14T21:10:35Z</dcterms:created>
  <dcterms:modified xsi:type="dcterms:W3CDTF">2026-07-14T21:24:28Z</dcterms:modified>
</cp:coreProperties>
</file>