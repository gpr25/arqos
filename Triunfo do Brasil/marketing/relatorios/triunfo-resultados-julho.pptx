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3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37627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objetivo destes 14 dias não era escalar. Era voltar a gerar lead e passar a enxergar de onde ele vem. As duas coisas aconteceram.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sobre o zero: nenhum lead foi descartado. Eles ainda não passaram pela etapa de qualificação comercial, e o ciclo desse mercado é de meses.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por que a instrumentação não está pronta: a prioridade foi reativar a geração de leads, que estava zerada. Escolha consciente de sequência, e a planilha garantiu que nada se perdeu no caminho.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por que o Google gerou poucos leads: o Google não vende volume, vende intenção. E está no início, com clique caro, verba pequena e ainda sem tag para otimizar.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Antecipar aqui que o volume vai cair evita que a queda das próximas semanas seja lida como piora.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do slide não é pedir verba. É que a diretoria escolha ciente do que abre mão. Recomendação: caminho C, EUA como mercado único, peso no Meta (CPL validado em R$ 57) e Google em presença mínima até a tag entrar. A Alemanha não é descartada, é adiada. O 23% vem da coluna de parcela de impressões perdida por orçamento no Google 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pedindo a decisão de verba. É a única coisa que depende deles hoje.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822960"/>
            <a:ext cx="228600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2331720"/>
            <a:ext cx="9144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Tráfego Pago</a:t>
            </a:r>
            <a:endParaRPr lang="en-US" sz="4600" dirty="0"/>
          </a:p>
        </p:txBody>
      </p:sp>
      <p:sp>
        <p:nvSpPr>
          <p:cNvPr id="4" name="Text 1"/>
          <p:cNvSpPr/>
          <p:nvPr/>
        </p:nvSpPr>
        <p:spPr>
          <a:xfrm>
            <a:off x="777240" y="3035808"/>
            <a:ext cx="9144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B8C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de Julho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822960" y="402336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8D2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 e Meta Ads  |  Reestruturação, primeiros leads e o que ainda precisa ser validado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663440"/>
            <a:ext cx="457200" cy="27432"/>
          </a:xfrm>
          <a:prstGeom prst="rect">
            <a:avLst/>
          </a:prstGeom>
          <a:solidFill>
            <a:srgbClr val="B8C037"/>
          </a:solidFill>
          <a:ln w="12700">
            <a:solidFill>
              <a:srgbClr val="B8C03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49377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smtClean="0">
                <a:solidFill>
                  <a:srgbClr val="678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</a:t>
            </a:r>
            <a:r>
              <a:rPr lang="en-US" sz="1200" dirty="0">
                <a:solidFill>
                  <a:srgbClr val="678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plataforma: 01 a 14/07/2026  •  Leads consolidados até 13/07/2026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822960" y="526397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</a:t>
            </a:r>
            <a:r>
              <a:rPr lang="en-US" sz="12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</a:t>
            </a:r>
            <a:r>
              <a:rPr lang="en-US" sz="12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r>
              <a:rPr lang="en-US" sz="12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controlada</a:t>
            </a:r>
            <a:r>
              <a:rPr lang="en-US" sz="12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</a:t>
            </a:r>
            <a:r>
              <a:rPr lang="en-US" sz="12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</a:t>
            </a:r>
            <a:r>
              <a:rPr lang="en-US" sz="12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seguem</a:t>
            </a:r>
            <a:r>
              <a:rPr lang="en-US" sz="12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 </a:t>
            </a:r>
            <a:r>
              <a:rPr lang="en-US" sz="12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ressalva</a:t>
            </a:r>
            <a:r>
              <a:rPr lang="en-US" sz="12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</a:t>
            </a:r>
            <a:r>
              <a:rPr lang="en-US" sz="12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2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r>
              <a:rPr lang="en-US" sz="12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12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rastreamento</a:t>
            </a:r>
            <a:r>
              <a:rPr lang="en-US" sz="12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o </a:t>
            </a:r>
            <a:r>
              <a:rPr lang="en-US" sz="12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</a:t>
            </a:r>
            <a:r>
              <a:rPr lang="en-US" sz="12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qualificação</a:t>
            </a:r>
            <a:r>
              <a:rPr lang="en-US" sz="12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12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r>
              <a:rPr lang="en-US" sz="12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8C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 EXECUTIVO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32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máquina voltou a girar. Agora a fronteira é qualidade.</a:t>
            </a:r>
            <a:endParaRPr lang="en-US" sz="29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384048"/>
            <a:ext cx="777240" cy="3749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2F4EF"/>
          </a:solidFill>
          <a:ln w="12700">
            <a:solidFill>
              <a:srgbClr val="F2F4E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63624"/>
            <a:ext cx="2423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32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658368" y="2194560"/>
            <a:ext cx="238658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registrados em 13 dias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(33 vindos de mídia paga)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337560" y="14173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2F4EF"/>
          </a:solidFill>
          <a:ln w="12700">
            <a:solidFill>
              <a:srgbClr val="F2F4E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429000" y="1563624"/>
            <a:ext cx="2423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32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R$ 4.112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447288" y="2194560"/>
            <a:ext cx="238658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investidos no período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(Google + Meta)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126480" y="14173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2F4EF"/>
          </a:solidFill>
          <a:ln w="12700">
            <a:solidFill>
              <a:srgbClr val="F2F4E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17920" y="1563624"/>
            <a:ext cx="2423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78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R$ 57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6236208" y="2194560"/>
            <a:ext cx="238658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por lead nos EUA no Meta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(frente mais eficiente)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915400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F2F4EF"/>
          </a:solidFill>
          <a:ln w="12700">
            <a:solidFill>
              <a:srgbClr val="F2F4E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06840" y="1563624"/>
            <a:ext cx="2514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8C6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9025128" y="2194560"/>
            <a:ext cx="247802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</a:t>
            </a:r>
            <a:r>
              <a:rPr lang="en-US" sz="1050" b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registrados</a:t>
            </a:r>
            <a:r>
              <a:rPr lang="en-US" sz="1050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como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qualificados até o momento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48640" y="30632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32E14"/>
          </a:solidFill>
          <a:ln w="12700">
            <a:solidFill>
              <a:srgbClr val="132E1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8680" y="3218688"/>
            <a:ext cx="104241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volume deixou de ser o </a:t>
            </a:r>
            <a:r>
              <a:rPr lang="en-US" sz="13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r>
              <a:rPr lang="en-US" sz="13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3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</a:t>
            </a:r>
            <a:r>
              <a:rPr lang="en-US" sz="13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dias entraram mais leads do que em qualquer mês do histórico da conta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3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melhoria</a:t>
            </a:r>
            <a:r>
              <a:rPr lang="en-US" sz="13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agora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</a:t>
            </a:r>
            <a:r>
              <a:rPr lang="en-US" sz="13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fit: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parte dos contatos ainda não é comprador industrial. Isso já foi identificado e já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gerou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</a:t>
            </a:r>
            <a:r>
              <a:rPr lang="en-US" sz="13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acima significa "ainda não avaliado", não "lead ruim": </a:t>
            </a:r>
            <a:r>
              <a:rPr lang="en-US" sz="13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maioria</a:t>
            </a:r>
            <a:r>
              <a:rPr lang="en-US" sz="13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dos leads </a:t>
            </a:r>
            <a:r>
              <a:rPr lang="en-US" sz="13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ainda</a:t>
            </a:r>
            <a:r>
              <a:rPr lang="en-US" sz="13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r>
              <a:rPr lang="en-US" sz="13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passou pela etapa de qualificação, e o ciclo de venda deste mercado é medido em meses.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48640" y="4709160"/>
            <a:ext cx="53949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32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Motivo de celebração</a:t>
            </a:r>
            <a:endParaRPr lang="en-US" sz="130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endParaRPr lang="en-US" sz="1200" dirty="0" smtClean="0">
              <a:solidFill>
                <a:srgbClr val="2B33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 err="1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</a:t>
            </a:r>
            <a:r>
              <a:rPr lang="en-US" sz="12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reconstruída e legível por país e por canal</a:t>
            </a:r>
            <a:endParaRPr lang="en-US" sz="130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Geração de leads restabelecida nos dois mercados</a:t>
            </a:r>
            <a:endParaRPr lang="en-US" sz="130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de cada contato rastreada pela primeira vez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17920" y="4709160"/>
            <a:ext cx="53949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8C6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 ser validado a seguir</a:t>
            </a:r>
            <a:endParaRPr lang="en-US" sz="130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endParaRPr lang="en-US" sz="1200" dirty="0" smtClean="0">
              <a:solidFill>
                <a:srgbClr val="2B33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 err="1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r>
              <a:rPr lang="en-US" sz="12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leads: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formulário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(Meta) 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teste por 14 dias</a:t>
            </a:r>
            <a:endParaRPr lang="en-US" sz="130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Qualificação: depende do retorno do comercial</a:t>
            </a:r>
            <a:endParaRPr lang="en-US" sz="1300" dirty="0"/>
          </a:p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Alocação da verba: decisão que pedimos à diretoria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Google Ads, Meta Ads e planilha de controle de leads, adotada como fonte primária verificada.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8C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FOI FEITO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32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frentes reconstruídas em julho</a:t>
            </a:r>
            <a:endParaRPr lang="en-US" sz="29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384048"/>
            <a:ext cx="777240" cy="3749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36192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2F4EF"/>
          </a:solidFill>
          <a:ln w="12700">
            <a:solidFill>
              <a:srgbClr val="F2F4E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1755648"/>
            <a:ext cx="502920" cy="502920"/>
          </a:xfrm>
          <a:prstGeom prst="ellipse">
            <a:avLst/>
          </a:prstGeom>
          <a:solidFill>
            <a:srgbClr val="132E14"/>
          </a:solidFill>
          <a:ln w="12700">
            <a:solidFill>
              <a:srgbClr val="132E1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181965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C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2359152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2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2724912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5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Campanhas separadas por país (EUA e Alemanha), rede de </a:t>
            </a:r>
            <a:r>
              <a:rPr lang="en-US" sz="115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</a:t>
            </a:r>
            <a:r>
              <a:rPr lang="en-US" sz="115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</a:t>
            </a:r>
            <a:r>
              <a:rPr lang="en-US" sz="115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(Google), </a:t>
            </a:r>
            <a:r>
              <a:rPr lang="en-US" sz="115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idioma inglês e segmentação por presença no país. Antes, mercados e idiomas rodavam juntos, o que impedia ler qualquer país isoladamente.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15968" y="1536192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2F4EF"/>
          </a:solidFill>
          <a:ln w="12700">
            <a:solidFill>
              <a:srgbClr val="F2F4E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90288" y="1755648"/>
            <a:ext cx="502920" cy="502920"/>
          </a:xfrm>
          <a:prstGeom prst="ellipse">
            <a:avLst/>
          </a:prstGeom>
          <a:solidFill>
            <a:srgbClr val="132E14"/>
          </a:solidFill>
          <a:ln w="12700">
            <a:solidFill>
              <a:srgbClr val="132E1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90288" y="181965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C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90288" y="2359152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2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590288" y="2724912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5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nova no ar e formulário instantâneo no Meta, ambos alimentando uma planilha única de controle. O comercial acompanha lead a lead, com etapa e responsável.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083296" y="1536192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2F4EF"/>
          </a:solidFill>
          <a:ln w="12700">
            <a:solidFill>
              <a:srgbClr val="F2F4E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57616" y="1755648"/>
            <a:ext cx="502920" cy="502920"/>
          </a:xfrm>
          <a:prstGeom prst="ellipse">
            <a:avLst/>
          </a:prstGeom>
          <a:solidFill>
            <a:srgbClr val="132E14"/>
          </a:solidFill>
          <a:ln w="12700">
            <a:solidFill>
              <a:srgbClr val="132E1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57616" y="181965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C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357616" y="2359152"/>
            <a:ext cx="2926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32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Medição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357616" y="2724912"/>
            <a:ext cx="2971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5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lead passa a carregar sua origem: campanha, conjunto e anúncio. É a primeira vez que a empresa consegue dizer de onde veio um contato.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4389120"/>
            <a:ext cx="11064240" cy="1783080"/>
          </a:xfrm>
          <a:prstGeom prst="roundRect">
            <a:avLst>
              <a:gd name="adj" fmla="val 4103"/>
            </a:avLst>
          </a:prstGeom>
          <a:solidFill>
            <a:srgbClr val="132E14"/>
          </a:solidFill>
          <a:ln w="12700">
            <a:solidFill>
              <a:srgbClr val="132E1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68680" y="4544568"/>
            <a:ext cx="10424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8C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entra na sequência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868680" y="489204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lnSpc>
                <a:spcPts val="155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conta </a:t>
            </a:r>
            <a:r>
              <a:rPr lang="en-US" sz="11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estava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</a:t>
            </a:r>
            <a:r>
              <a:rPr lang="en-US" sz="115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dificuldades</a:t>
            </a:r>
            <a:r>
              <a:rPr lang="en-US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15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</a:t>
            </a:r>
            <a:r>
              <a:rPr lang="en-US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leads. A decisão foi reativar a captação primeiro e instrumentar em seguida, em vez de manter a operação parada esperando a instrumentação completa. Foi uma escolha de sequência, e funcionou: os leads voltaram e nenhum se perdeu, porque a planilha cobre a lacuna.</a:t>
            </a:r>
            <a:endParaRPr lang="en-US" sz="1150" dirty="0"/>
          </a:p>
          <a:p>
            <a:pPr marL="0" indent="0" algn="just">
              <a:lnSpc>
                <a:spcPts val="1550"/>
              </a:lnSpc>
              <a:buNone/>
            </a:pPr>
            <a:endParaRPr lang="en-US" sz="1150" dirty="0"/>
          </a:p>
          <a:p>
            <a:pPr marL="0" indent="0" algn="just">
              <a:lnSpc>
                <a:spcPts val="155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Faltam a tag de conversão no Google e o pixel na landing page. Nenhum dos dois impede captar lead nem vender: eles liberam a </a:t>
            </a:r>
            <a:r>
              <a:rPr lang="en-US" sz="11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retargeting, ganhos de eficiência já no plano dos próximos 14 dias.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Meta opera hoje com formulário nativo, que capta o lead sem depender de pixel. Reestruturação executada entre 03 e 06 de julho de 2026.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8C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POR FRENTE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32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verba foi e o que ela produziu</a:t>
            </a:r>
            <a:endParaRPr lang="en-US" sz="29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384048"/>
            <a:ext cx="777240" cy="374904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6949440" cy="3072384"/>
        </p:xfrm>
        <a:graphic>
          <a:graphicData uri="http://schemas.openxmlformats.org/drawingml/2006/table">
            <a:tbl>
              <a:tblPr/>
              <a:tblGrid>
                <a:gridCol w="1554480"/>
                <a:gridCol w="1234440"/>
                <a:gridCol w="685800"/>
                <a:gridCol w="1371600"/>
                <a:gridCol w="2103120"/>
              </a:tblGrid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por lead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1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• EUA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R$ 1.365,80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R$ 56,91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Frente mais eficiente do período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• Alemanha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R$ 1.148,06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R$ 191,34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alto e menor engajamento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• EUA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R$ 1.100,62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amostra pequena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 ativa, clique a R$ 8,09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• Alemanha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R$ 498,20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insuficiente para concluir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R$ 4.112,68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Mais 7 contatos por outros canais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7726680" y="1508760"/>
            <a:ext cx="3886200" cy="3291840"/>
          </a:xfrm>
          <a:prstGeom prst="roundRect">
            <a:avLst>
              <a:gd name="adj" fmla="val 2222"/>
            </a:avLst>
          </a:prstGeom>
          <a:solidFill>
            <a:srgbClr val="132E14"/>
          </a:solidFill>
          <a:ln w="12700">
            <a:solidFill>
              <a:srgbClr val="132E14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8001000" y="1719072"/>
            <a:ext cx="333756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B8C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contato "sem origem" também é campanha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8001000" y="2468880"/>
            <a:ext cx="33375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lnSpc>
                <a:spcPts val="1600"/>
              </a:lnSpc>
              <a:buNone/>
            </a:pPr>
            <a:r>
              <a:rPr lang="en-US" sz="115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alemã Malkmus Holistic entrou duas vezes na base: pelo formulário do Meta e, no mesmo dia, por mensagem direta no WhatsApp. O telefone é o mesmo.</a:t>
            </a:r>
            <a:endParaRPr lang="en-US" sz="1150" dirty="0"/>
          </a:p>
          <a:p>
            <a:pPr marL="0" indent="0" algn="just">
              <a:lnSpc>
                <a:spcPts val="1600"/>
              </a:lnSpc>
              <a:buNone/>
            </a:pPr>
            <a:endParaRPr lang="en-US" sz="1150" dirty="0"/>
          </a:p>
          <a:p>
            <a:pPr marL="0" indent="0" algn="just">
              <a:lnSpc>
                <a:spcPts val="1600"/>
              </a:lnSpc>
              <a:buNone/>
            </a:pPr>
            <a:r>
              <a:rPr lang="en-US" sz="115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comercial recebeu esse </a:t>
            </a:r>
            <a:r>
              <a:rPr lang="en-US" sz="1150" dirty="0" err="1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</a:t>
            </a:r>
            <a:r>
              <a:rPr lang="en-US" sz="115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</a:t>
            </a:r>
            <a:r>
              <a:rPr lang="en-US" sz="1150" dirty="0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exata</a:t>
            </a:r>
            <a:r>
              <a:rPr lang="en-US" sz="1150" dirty="0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noção</a:t>
            </a:r>
            <a:r>
              <a:rPr lang="en-US" sz="1150" dirty="0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50" dirty="0" err="1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150" dirty="0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</a:t>
            </a:r>
            <a:r>
              <a:rPr lang="en-US" sz="1150" dirty="0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</a:t>
            </a:r>
            <a:r>
              <a:rPr lang="en-US" sz="1150" dirty="0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chegou</a:t>
            </a:r>
            <a:r>
              <a:rPr lang="en-US" sz="1150" dirty="0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150" dirty="0" err="1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Temos</a:t>
            </a:r>
            <a:r>
              <a:rPr lang="en-US" sz="1150" dirty="0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</a:t>
            </a:r>
            <a:r>
              <a:rPr lang="en-US" sz="1150" dirty="0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150" dirty="0" err="1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confirmação</a:t>
            </a:r>
            <a:r>
              <a:rPr lang="en-US" sz="1150" dirty="0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que </a:t>
            </a:r>
            <a:r>
              <a:rPr lang="en-US" sz="1150" dirty="0" err="1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</a:t>
            </a:r>
            <a:r>
              <a:rPr lang="en-US" sz="1150" dirty="0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veio da campanha.</a:t>
            </a:r>
            <a:endParaRPr lang="en-US" sz="1150" dirty="0"/>
          </a:p>
          <a:p>
            <a:pPr marL="0" indent="0" algn="just">
              <a:lnSpc>
                <a:spcPts val="1600"/>
              </a:lnSpc>
              <a:buNone/>
            </a:pPr>
            <a:endParaRPr lang="en-US" sz="1150" dirty="0"/>
          </a:p>
          <a:p>
            <a:pPr marL="0" indent="0" algn="just">
              <a:lnSpc>
                <a:spcPts val="1600"/>
              </a:lnSpc>
              <a:buNone/>
            </a:pPr>
            <a:r>
              <a:rPr lang="en-US" sz="115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esse rastro que a empresa passa a ter agora.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566928" y="5120640"/>
            <a:ext cx="137160" cy="137160"/>
          </a:xfrm>
          <a:prstGeom prst="ellipse">
            <a:avLst/>
          </a:prstGeom>
          <a:solidFill>
            <a:srgbClr val="B8C037"/>
          </a:solidFill>
          <a:ln w="12700">
            <a:solidFill>
              <a:srgbClr val="B8C03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8680" y="5038344"/>
            <a:ext cx="10744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EUA responderam melhor nos dois canais: no Google, o clique alemão sai a R$ 27,68 contra R$ 8,09.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66928" y="5522976"/>
            <a:ext cx="137160" cy="137160"/>
          </a:xfrm>
          <a:prstGeom prst="ellipse">
            <a:avLst/>
          </a:prstGeom>
          <a:solidFill>
            <a:srgbClr val="B8C037"/>
          </a:solidFill>
          <a:ln w="12700">
            <a:solidFill>
              <a:srgbClr val="B8C03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68680" y="5440680"/>
            <a:ext cx="10744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Meta traz volume rápido pelo formulário nativo; o Google traz quem já procura fornecedor.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66928" y="5925312"/>
            <a:ext cx="137160" cy="137160"/>
          </a:xfrm>
          <a:prstGeom prst="ellipse">
            <a:avLst/>
          </a:prstGeom>
          <a:solidFill>
            <a:srgbClr val="B8C037"/>
          </a:solidFill>
          <a:ln w="12700">
            <a:solidFill>
              <a:srgbClr val="B8C03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68680" y="5843016"/>
            <a:ext cx="10744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 por lead do Google ainda não é legível: 3 leads são amostra pequena para número de gestão.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Google Ads (01 a 14/07) e Meta Ads (03 a 14/07). Leads contados na planilha de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b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primeiros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14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diária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rodou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mensal.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terminou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baseada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nesses 14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é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fechado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8C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DOS LEADS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32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alto, perfil ainda distante do comprador industrial</a:t>
            </a:r>
            <a:endParaRPr lang="en-US" sz="29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384048"/>
            <a:ext cx="777240" cy="3749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2F4EF"/>
          </a:solidFill>
          <a:ln w="12700">
            <a:solidFill>
              <a:srgbClr val="F2F4E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563624"/>
            <a:ext cx="33832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8C6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658368" y="2194560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leads pagos têm email corporativo próprio (6 de 33)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297680" y="141732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2F4EF"/>
          </a:solidFill>
          <a:ln w="12700">
            <a:solidFill>
              <a:srgbClr val="F2F4E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389120" y="1563624"/>
            <a:ext cx="33832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8C6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4407408" y="2194560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declararam estar "apenas explorando" no formulário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046720" y="141732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2F4EF"/>
          </a:solidFill>
          <a:ln w="12700">
            <a:solidFill>
              <a:srgbClr val="F2F4E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1563624"/>
            <a:ext cx="33832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678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156448" y="2194560"/>
            <a:ext cx="33467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contatos com sinal real de comprador industrial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48640" y="306324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F2F4EF"/>
          </a:solidFill>
          <a:ln w="12700">
            <a:solidFill>
              <a:srgbClr val="F2F4E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21868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E7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  •  formulário que rodou em julho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2960" y="3566160"/>
            <a:ext cx="48463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Desenhado de propósito para gerar volume e reativar a captação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 err="1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Permissão</a:t>
            </a:r>
            <a:r>
              <a:rPr lang="en-US" sz="12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dirty="0" err="1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</a:t>
            </a:r>
            <a:r>
              <a:rPr lang="en-US" sz="12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email 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sem verificação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Cumpriu o objetivo: 30 leads em 11 dias. O preço foi o perfil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17920" y="3063240"/>
            <a:ext cx="5394960" cy="1691640"/>
          </a:xfrm>
          <a:prstGeom prst="roundRect">
            <a:avLst>
              <a:gd name="adj" fmla="val 4324"/>
            </a:avLst>
          </a:prstGeom>
          <a:solidFill>
            <a:srgbClr val="132E14"/>
          </a:solidFill>
          <a:ln w="12700">
            <a:solidFill>
              <a:srgbClr val="132E1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92240" y="3218688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C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  •  no ar desde 14 de julho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92240" y="3493008"/>
            <a:ext cx="48463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</a:t>
            </a:r>
            <a:r>
              <a:rPr lang="en-US" sz="12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corporativo obrigatório, com </a:t>
            </a:r>
            <a:r>
              <a:rPr lang="en-US" sz="1200" dirty="0" err="1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</a:t>
            </a:r>
            <a:r>
              <a:rPr lang="en-US" sz="1200" dirty="0" err="1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</a:t>
            </a:r>
            <a:r>
              <a:rPr lang="en-US" sz="12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200" dirty="0" err="1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segmentação</a:t>
            </a:r>
            <a:r>
              <a:rPr lang="en-US" sz="12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200" dirty="0" err="1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</a:t>
            </a:r>
            <a:r>
              <a:rPr lang="en-US" sz="12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solicitado</a:t>
            </a:r>
            <a:r>
              <a:rPr lang="en-US" sz="12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opcionalmente</a:t>
            </a:r>
            <a:r>
              <a:rPr lang="en-US" sz="12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informar</a:t>
            </a:r>
            <a:r>
              <a:rPr lang="en-US" sz="12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site da </a:t>
            </a:r>
            <a:r>
              <a:rPr lang="en-US" sz="1200" dirty="0" err="1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</a:t>
            </a:r>
            <a:endParaRPr lang="en-US" sz="1200" dirty="0">
              <a:solidFill>
                <a:srgbClr val="DDE3D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 </a:t>
            </a:r>
            <a:r>
              <a:rPr lang="en-US" sz="12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 sem empresa e preenchimento automatizado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FontTx/>
              <a:buChar char="•"/>
            </a:pPr>
            <a:r>
              <a:rPr lang="en-US" sz="12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volume de leads </a:t>
            </a:r>
            <a:r>
              <a:rPr lang="en-US" sz="1200" dirty="0" err="1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</a:t>
            </a:r>
            <a:r>
              <a:rPr lang="en-US" sz="12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cair</a:t>
            </a:r>
            <a:r>
              <a:rPr lang="en-US" sz="12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200" dirty="0" err="1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</a:t>
            </a:r>
            <a:r>
              <a:rPr lang="en-US" sz="12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é </a:t>
            </a:r>
            <a:r>
              <a:rPr lang="en-US" sz="1200" dirty="0" err="1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esperado</a:t>
            </a:r>
            <a:r>
              <a:rPr lang="en-US" sz="12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200" dirty="0" err="1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desejado</a:t>
            </a:r>
            <a:endParaRPr lang="en-US" sz="1200" dirty="0">
              <a:solidFill>
                <a:srgbClr val="DDE3D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en-US" sz="1200" dirty="0" smtClean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4983480"/>
            <a:ext cx="110642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67836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513892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just">
              <a:lnSpc>
                <a:spcPts val="1700"/>
              </a:lnSpc>
            </a:pPr>
            <a:r>
              <a:rPr lang="en-US" sz="1200" b="1" dirty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</a:t>
            </a:r>
            <a:r>
              <a:rPr lang="en-US" sz="1200" b="1" dirty="0" err="1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</a:t>
            </a:r>
            <a:r>
              <a:rPr lang="en-US" sz="1200" b="1" dirty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200" b="1" dirty="0" err="1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partir</a:t>
            </a:r>
            <a:r>
              <a:rPr lang="en-US" sz="1200" b="1" dirty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b="1" dirty="0" smtClean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agora: </a:t>
            </a:r>
            <a:r>
              <a:rPr lang="en-US" sz="1200" dirty="0" err="1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trocamos</a:t>
            </a:r>
            <a:r>
              <a:rPr lang="en-US" sz="12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 a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real do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mês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um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primeiros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14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As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mudanças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devem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significativamente</a:t>
            </a:r>
            <a:r>
              <a:rPr lang="en-US" sz="12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de leads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próximas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desenho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performance. O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valer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é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quantos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leads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chegam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 sim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quantos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consegue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trabalhar</a:t>
            </a:r>
            <a:r>
              <a:rPr lang="en-US" sz="12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0" indent="0">
              <a:lnSpc>
                <a:spcPts val="1700"/>
              </a:lnSpc>
              <a:buNone/>
            </a:pP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Contatos com fit já identificados: Green Truth / Zingi Beverages (EUA), Malkmus Holistic (Alemanha), Oliver Wildheart, Natural Nirvana e Afriorganics (EUA).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8C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VERBA: O TRADEOFF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32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R$ 7.000 por mês: o que essa verba permite escolher</a:t>
            </a:r>
            <a:endParaRPr lang="en-US" sz="29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384048"/>
            <a:ext cx="777240" cy="3749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41732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verba é a mesma nos três caminhos. O que muda é o que ela entrega e do que ela abre mão. Não existe caminho que cubra tudo ao mesmo tempo.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5709992"/>
              </p:ext>
            </p:extLst>
          </p:nvPr>
        </p:nvGraphicFramePr>
        <p:xfrm>
          <a:off x="548640" y="1874520"/>
          <a:ext cx="11064240" cy="2926080"/>
        </p:xfrm>
        <a:graphic>
          <a:graphicData uri="http://schemas.openxmlformats.org/drawingml/2006/table">
            <a:tbl>
              <a:tblPr/>
              <a:tblGrid>
                <a:gridCol w="2651760"/>
                <a:gridCol w="4206240"/>
                <a:gridCol w="4206240"/>
              </a:tblGrid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Caminho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entrega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1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que abre mão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E1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 Sete países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Presença em todos os mercados-alvo. Cada país fica com cerca de R$ 33 por dia, o que compra de 1 a 4 cliques </a:t>
                      </a:r>
                      <a:r>
                        <a:rPr lang="en-US" sz="1050" dirty="0" err="1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diários</a:t>
                      </a:r>
                      <a:r>
                        <a:rPr lang="en-US" sz="1050" dirty="0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Cliques, </a:t>
                      </a:r>
                      <a:r>
                        <a:rPr lang="en-US" sz="1050" dirty="0" err="1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r>
                        <a:rPr lang="en-US" sz="1050" dirty="0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leads.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conclusão. Nenhum país acumula volume para dizer o que funciona, e a leitura se </a:t>
                      </a:r>
                      <a:r>
                        <a:rPr lang="en-US" sz="1050" dirty="0" err="1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dilui</a:t>
                      </a:r>
                      <a:r>
                        <a:rPr lang="en-US" sz="1050" dirty="0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</a:t>
                      </a:r>
                      <a:r>
                        <a:rPr lang="en-US" sz="1050" baseline="0" dirty="0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50" baseline="0" dirty="0" err="1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r>
                        <a:rPr lang="en-US" sz="1050" baseline="0" dirty="0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50" baseline="0" dirty="0" err="1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temos</a:t>
                      </a:r>
                      <a:r>
                        <a:rPr lang="en-US" sz="1050" baseline="0" dirty="0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dados para </a:t>
                      </a:r>
                      <a:r>
                        <a:rPr lang="en-US" sz="1050" baseline="0" dirty="0" err="1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entender</a:t>
                      </a:r>
                      <a:r>
                        <a:rPr lang="en-US" sz="1050" baseline="0" dirty="0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e </a:t>
                      </a:r>
                      <a:r>
                        <a:rPr lang="en-US" sz="1050" baseline="0" dirty="0" err="1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otimizar</a:t>
                      </a:r>
                      <a:r>
                        <a:rPr lang="en-US" sz="1050" baseline="0" dirty="0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50" baseline="0" dirty="0" err="1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</a:t>
                      </a:r>
                      <a:r>
                        <a:rPr lang="en-US" sz="1050" baseline="0" dirty="0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50" baseline="0" dirty="0" err="1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anúncios</a:t>
                      </a:r>
                      <a:r>
                        <a:rPr lang="en-US" sz="1050" baseline="0" dirty="0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Dois países, dois canais (situação atual)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reais e leitura por país. Foi este caminho que produziu os 40 leads de julho.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 profundidade. A verba se divide em quatro frentes, e nenhuma atinge o volume que as plataformas pedem para otimizar sozinhas.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C. </a:t>
                      </a:r>
                      <a:r>
                        <a:rPr lang="en-US" sz="1050" b="1" dirty="0" err="1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Concentrar</a:t>
                      </a:r>
                      <a:r>
                        <a:rPr lang="en-US" sz="1050" b="1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050" b="1" dirty="0" err="1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nos</a:t>
                      </a:r>
                      <a:r>
                        <a:rPr lang="en-US" sz="1050" b="1" dirty="0" smtClean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EUA (</a:t>
                      </a:r>
                      <a:r>
                        <a:rPr lang="en-US" sz="1050" b="1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recomendação técnica)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 inteira no mercado que melhor respondeu, no canal de custo por lead já validado. Atinge volume de aprendizado e permite concluir em semanas.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n-US" sz="1050" dirty="0">
                          <a:solidFill>
                            <a:srgbClr val="2B33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Alemanha e dos demais mercados nesta fase. Eles voltam quando os EUA se provarem ou com verba adicional.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0292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2F4EF"/>
          </a:solidFill>
          <a:ln w="12700">
            <a:solidFill>
              <a:srgbClr val="F2F4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516636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</a:t>
            </a:r>
            <a:r>
              <a:rPr lang="en-US" sz="1100" b="1" dirty="0" err="1" smtClean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concentrar</a:t>
            </a:r>
            <a:r>
              <a:rPr lang="en-US" sz="1100" b="1" dirty="0" smtClean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</a:t>
            </a:r>
            <a:r>
              <a:rPr lang="en-US" sz="11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plataformas só </a:t>
            </a:r>
            <a:r>
              <a:rPr lang="en-US" sz="11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otimizam</a:t>
            </a:r>
            <a:r>
              <a:rPr lang="en-US" sz="11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realmente</a:t>
            </a:r>
            <a:r>
              <a:rPr lang="en-US" sz="11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1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partir de um volume mínimo de leads </a:t>
            </a:r>
            <a:r>
              <a:rPr lang="en-US" sz="11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1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</a:t>
            </a:r>
            <a:r>
              <a:rPr lang="en-US" sz="11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100" dirty="0" err="1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geralmente</a:t>
            </a:r>
            <a:r>
              <a:rPr lang="en-US" sz="11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50 </a:t>
            </a:r>
            <a:r>
              <a:rPr lang="en-US" sz="1100" dirty="0" err="1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conversões</a:t>
            </a:r>
            <a:r>
              <a:rPr lang="en-US" sz="11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</a:t>
            </a:r>
            <a:r>
              <a:rPr lang="en-US" sz="11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</a:t>
            </a:r>
            <a:r>
              <a:rPr lang="en-US" sz="11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 </a:t>
            </a:r>
            <a:r>
              <a:rPr lang="en-US" sz="1100" dirty="0" err="1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</a:t>
            </a:r>
            <a:r>
              <a:rPr lang="en-US" sz="11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</a:t>
            </a:r>
            <a:r>
              <a:rPr lang="en-US" sz="11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Repartida em quatro frentes, nenhuma </a:t>
            </a:r>
            <a:r>
              <a:rPr lang="en-US" sz="1100" dirty="0" err="1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chega</a:t>
            </a:r>
            <a:r>
              <a:rPr lang="en-US" sz="11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lá</a:t>
            </a:r>
            <a:r>
              <a:rPr lang="en-US" sz="11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100" dirty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mercado, com a verba inteira, </a:t>
            </a:r>
            <a:r>
              <a:rPr lang="en-US" sz="11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</a:t>
            </a:r>
            <a:r>
              <a:rPr lang="en-US" sz="1100" dirty="0" err="1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</a:t>
            </a:r>
            <a:r>
              <a:rPr lang="en-US" sz="11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</a:t>
            </a:r>
            <a:r>
              <a:rPr lang="en-US" sz="1100" dirty="0" smtClean="0">
                <a:solidFill>
                  <a:srgbClr val="2B33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217920" y="50292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132E14"/>
          </a:solidFill>
          <a:ln w="12700">
            <a:solidFill>
              <a:srgbClr val="132E14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446520" y="516636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lnSpc>
                <a:spcPts val="1500"/>
              </a:lnSpc>
              <a:buNone/>
            </a:pPr>
            <a:r>
              <a:rPr lang="en-US" sz="1100" b="1" dirty="0" err="1">
                <a:solidFill>
                  <a:srgbClr val="B8C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</a:t>
            </a:r>
            <a:r>
              <a:rPr lang="en-US" sz="1100" b="1" dirty="0">
                <a:solidFill>
                  <a:srgbClr val="B8C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 smtClean="0">
                <a:solidFill>
                  <a:srgbClr val="B8C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concreto</a:t>
            </a:r>
            <a:r>
              <a:rPr lang="en-US" sz="1100" b="1" dirty="0" smtClean="0">
                <a:solidFill>
                  <a:srgbClr val="B8C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</a:t>
            </a:r>
            <a:r>
              <a:rPr lang="en-US" sz="1100" dirty="0">
                <a:solidFill>
                  <a:srgbClr val="DDE3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EUA, em 23% das buscas relevantes a campanha nem chega a disputar o leilão, por limite de orçamento. Não é só qualidade de anúncio: é verba disponível e tempo de aprendizado acumulado. Concentrar acelera os dois.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primeiros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14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diária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rodou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teto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mensal. 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b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baseada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clique e no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lead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reais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julho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14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dados. Serve para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orientar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fechado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b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E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457200"/>
            <a:ext cx="1280160" cy="6126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8C0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14 DIAS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40080" y="8686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e a decisão que precisamos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B8C037"/>
          </a:solidFill>
          <a:ln w="12700">
            <a:solidFill>
              <a:srgbClr val="B8C03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90195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32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25880" y="180136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Concluir a instrumentação de rastreamento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325880" y="2130552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AFC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de conversão no Google e pixel na página: otimização automática e retargeting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502920" cy="502920"/>
          </a:xfrm>
          <a:prstGeom prst="ellipse">
            <a:avLst/>
          </a:prstGeom>
          <a:solidFill>
            <a:srgbClr val="B8C037"/>
          </a:solidFill>
          <a:ln w="12700">
            <a:solidFill>
              <a:srgbClr val="B8C03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277063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32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325880" y="267004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o formulário V3 por 14 dias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325880" y="2999232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AFC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se o perfil sobe quando o volume cai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40080" y="3566160"/>
            <a:ext cx="502920" cy="502920"/>
          </a:xfrm>
          <a:prstGeom prst="ellipse">
            <a:avLst/>
          </a:prstGeom>
          <a:solidFill>
            <a:srgbClr val="B8C037"/>
          </a:solidFill>
          <a:ln w="12700">
            <a:solidFill>
              <a:srgbClr val="B8C03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363931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32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325880" y="353872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Alimentar</a:t>
            </a:r>
            <a:r>
              <a:rPr lang="en-US" sz="1500" b="1" dirty="0" smtClean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</a:t>
            </a: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retorno do comercial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325880" y="3867912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AFC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saber quais leads viram oportunidade, qualidade segue sendo estimativa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0080" y="4434840"/>
            <a:ext cx="502920" cy="502920"/>
          </a:xfrm>
          <a:prstGeom prst="ellipse">
            <a:avLst/>
          </a:prstGeom>
          <a:solidFill>
            <a:srgbClr val="B8C037"/>
          </a:solidFill>
          <a:ln w="12700">
            <a:solidFill>
              <a:srgbClr val="B8C03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450799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32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325880" y="440740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a decisão de verba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325880" y="4736592"/>
            <a:ext cx="7132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AFC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Concentrar nos EUA ou manter as frentes atuais: definição da diretoria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778240" y="1783080"/>
            <a:ext cx="2834640" cy="1965960"/>
          </a:xfrm>
          <a:prstGeom prst="roundRect">
            <a:avLst>
              <a:gd name="adj" fmla="val 3721"/>
            </a:avLst>
          </a:prstGeom>
          <a:solidFill>
            <a:srgbClr val="B8C037"/>
          </a:solidFill>
          <a:ln w="12700">
            <a:solidFill>
              <a:srgbClr val="B8C03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006840" y="194767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32E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decisão que pedimos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006840" y="2331720"/>
            <a:ext cx="23774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A, B ou C do slide de verba.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recomendação técnica é C: concentrar </a:t>
            </a:r>
            <a:r>
              <a:rPr lang="en-US" sz="1150" dirty="0" err="1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</a:t>
            </a:r>
            <a:r>
              <a:rPr lang="en-US" sz="1150" dirty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smtClean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EUA, </a:t>
            </a:r>
            <a:r>
              <a:rPr lang="en-US" sz="1150" dirty="0" err="1" smtClean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</a:t>
            </a:r>
            <a:r>
              <a:rPr lang="en-US" sz="1150" dirty="0" smtClean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 smtClean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</a:t>
            </a:r>
            <a:r>
              <a:rPr lang="en-US" sz="1150" dirty="0" smtClean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 smtClean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</a:t>
            </a:r>
            <a:r>
              <a:rPr lang="en-US" sz="1150" dirty="0" smtClean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50" dirty="0">
                <a:solidFill>
                  <a:srgbClr val="132E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o mercado se provar.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40080" y="5394960"/>
            <a:ext cx="10972800" cy="731520"/>
          </a:xfrm>
          <a:prstGeom prst="roundRect">
            <a:avLst>
              <a:gd name="adj" fmla="val 7500"/>
            </a:avLst>
          </a:prstGeom>
          <a:solidFill>
            <a:srgbClr val="1D3E1F"/>
          </a:solidFill>
          <a:ln w="12700">
            <a:solidFill>
              <a:srgbClr val="1D3E1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4400" y="5513832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8C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da próxima fase: sair de leads que chegam para leads que o comercial </a:t>
            </a:r>
            <a:r>
              <a:rPr lang="en-US" sz="1400" b="1" dirty="0" err="1">
                <a:solidFill>
                  <a:srgbClr val="B8C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consegue</a:t>
            </a:r>
            <a:r>
              <a:rPr lang="en-US" sz="1400" b="1" dirty="0">
                <a:solidFill>
                  <a:srgbClr val="B8C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rgbClr val="B8C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trabalhar</a:t>
            </a:r>
            <a:r>
              <a:rPr lang="en-US" sz="1400" b="1" dirty="0" smtClean="0">
                <a:solidFill>
                  <a:srgbClr val="B8C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00" b="1" dirty="0" err="1" smtClean="0">
                <a:solidFill>
                  <a:srgbClr val="B8C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</a:t>
            </a:r>
            <a:r>
              <a:rPr lang="en-US" sz="1400" b="1" dirty="0" smtClean="0">
                <a:solidFill>
                  <a:srgbClr val="B8C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rgbClr val="B8C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r>
              <a:rPr lang="en-US" sz="1400" b="1" dirty="0" smtClean="0">
                <a:solidFill>
                  <a:srgbClr val="B8C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volume.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548640" y="6382512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 err="1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</a:t>
            </a:r>
            <a:r>
              <a:rPr lang="en-US" sz="900" i="1" dirty="0" err="1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</a:t>
            </a:r>
            <a:r>
              <a:rPr lang="en-US" sz="900" i="1" dirty="0" smtClean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Agosto de </a:t>
            </a:r>
            <a:r>
              <a:rPr lang="en-US" sz="900" i="1" dirty="0">
                <a:solidFill>
                  <a:srgbClr val="6E7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2026, com os primeiros dados do formulário V3 e do rastreamento completo.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1791</Words>
  <Application>Microsoft Office PowerPoint</Application>
  <PresentationFormat>Widescreen</PresentationFormat>
  <Paragraphs>161</Paragraphs>
  <Slides>7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Triunfo do Brasil — Tráfego Pago — Resultados de Julho</dc:title>
  <dc:subject>PptxGenJS Presentation</dc:subject>
  <dc:creator>Gabriel</dc:creator>
  <cp:lastModifiedBy>Gabriel Pauletto Reszka</cp:lastModifiedBy>
  <cp:revision>6</cp:revision>
  <dcterms:created xsi:type="dcterms:W3CDTF">2026-07-15T12:15:21Z</dcterms:created>
  <dcterms:modified xsi:type="dcterms:W3CDTF">2026-07-15T15:34:22Z</dcterms:modified>
</cp:coreProperties>
</file>