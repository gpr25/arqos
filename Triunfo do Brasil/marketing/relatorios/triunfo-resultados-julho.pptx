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6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objetivo destes 14 dias não era escalar. Era voltar a gerar lead e passar a enxergar de onde ele vem. As duas coisas aconteceram.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sobre o zero: nenhum lead foi descartado. Eles ainda não passaram pela etapa de qualificação comercial, e o ciclo desse mercado é de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a instrumentação não está pronta: a prioridade foi reativar a geração de leads, que estava zerada. Escolha consciente de sequência, e a planilha garantiu que nada se perdeu no caminho.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o Google gerou poucos leads: o Google não vende volume, vende intenção. E está no início, com clique caro, verba pequena e ainda sem tag para otimizar.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aqui que o volume vai cair evita que a queda das próximas semanas seja lida como piora.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do slide não é pedir verba. É que a diretoria escolha ciente do que abre mão. Recomendação: caminho C, EUA como mercado único, peso no Meta (CPL validado em R$ 57) e Google em presença mínima até a tag entrar. A Alemanha não é descartada, é adiada. O 23% vem da coluna de parcela de impressões perdida por orçamento no Google 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a decisão de verba. É a única coisa que depende deles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22960"/>
            <a:ext cx="228600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1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Tráfego Pago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77240" y="3035808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Julho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e Meta Ads  |  Reestruturação, primeiros leads e o que ainda precisa ser validado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663440"/>
            <a:ext cx="457200" cy="27432"/>
          </a:xfrm>
          <a:prstGeom prst="rect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78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plataforma: 01 a </a:t>
            </a:r>
            <a:r>
              <a:rPr lang="en-US" sz="1200" dirty="0" smtClean="0">
                <a:solidFill>
                  <a:srgbClr val="678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21/07/2026  </a:t>
            </a:r>
            <a:r>
              <a:rPr lang="en-US" sz="1200" dirty="0" smtClean="0">
                <a:solidFill>
                  <a:srgbClr val="678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Leads consolidados até 21/07/2026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22960" y="526397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seguem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2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máquina voltou a girar. Agora a fronteira é qualidade.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156362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19456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registrados em 21 dias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(54 leads no total)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429000" y="156362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R$ 5.434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447288" y="219456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investidos no período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+ Meta)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217920" y="156362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78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R$ 56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36208" y="219456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 nos EUA no Meta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(frente mais eficiente)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15400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9006840" y="156362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025128" y="21945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</a:t>
            </a:r>
            <a:r>
              <a:rPr lang="en-US" sz="1050" b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qualificados até o momento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68680" y="3218688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deixou de ser o problema: em 21 dias entraram mais leads do que em qualquer mês do histórico da conta. A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a maior parte dos contatos ainda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industrial. Isso já foi identificado e já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gerou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V3, no ar desde 14/07, com a primeira leitura no slide de perfil. O zero acima significa "ainda não avaliado", não "lead ruim": a maioria dos leads ainda não passou pela etapa de qualificação, e o ciclo de venda deste mercado é medido em meses.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70916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celebração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endParaRPr lang="en-US" sz="1200" dirty="0" smtClean="0">
              <a:solidFill>
                <a:srgbClr val="2B33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reconstruída e legível por país e por canal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 restabelecida nos dois mercados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de cada contato rastreada pela primeira vez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0" y="470916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ser validado a seguir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endParaRPr lang="en-US" sz="1200" dirty="0" smtClean="0">
              <a:solidFill>
                <a:srgbClr val="2B33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leads: V3 no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Qualificação: depende do retorno do comercial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da verba: decisão que pedimos à diretoria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Ads, Meta Ads e planilha de controle de leads, adotada como fonte primária verificada.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FEITO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frentes reconstruídas em julho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55648"/>
            <a:ext cx="502920" cy="502920"/>
          </a:xfrm>
          <a:prstGeom prst="ellipse">
            <a:avLst/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19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591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72491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separadas por país (EUA e Alemanha), rede de </a:t>
            </a:r>
            <a:r>
              <a:rPr lang="en-US" sz="1150" dirty="0" err="1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r>
              <a:rPr lang="en-US" sz="11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15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(Google), </a:t>
            </a:r>
            <a:r>
              <a:rPr lang="en-US" sz="11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inglês e segmentação por presença no país. Antes, mercados e idiomas rodavam juntos, o que impedia ler qualquer país isoladamente.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1536192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1755648"/>
            <a:ext cx="502920" cy="502920"/>
          </a:xfrm>
          <a:prstGeom prst="ellipse">
            <a:avLst/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1819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0288" y="23591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90288" y="272491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nova no ar e formulário instantâneo no Meta, ambos alimentando uma planilha única de controle. O comercial acompanha lead a lead, com etapa e responsável.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83296" y="1536192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57616" y="1755648"/>
            <a:ext cx="502920" cy="502920"/>
          </a:xfrm>
          <a:prstGeom prst="ellipse">
            <a:avLst/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57616" y="1819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57616" y="23591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357616" y="272491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 passa a carregar sua origem: campanha, conjunto e anúncio. É a primeira vez que a empresa consegue dizer de onde veio um contato.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891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454456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na sequência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estava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leads. A decisão foi reativar a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volume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 instrumentar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seguida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uma escolha de sequência, e funcionou: os leads voltaram e nenhum se perdeu, porque a planilha cobre a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que o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traqueamento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 algn="just">
              <a:lnSpc>
                <a:spcPts val="1550"/>
              </a:lnSpc>
              <a:buNone/>
            </a:pPr>
            <a:endParaRPr lang="en-US" sz="1150" dirty="0"/>
          </a:p>
          <a:p>
            <a:pPr marL="0" indent="0" algn="just">
              <a:lnSpc>
                <a:spcPts val="1550"/>
              </a:lnSpc>
              <a:buNone/>
            </a:pP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na landing page.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direcionado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Meta à LP, mas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agora.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 opera hoje com formulário nativo, que capta o lead sem depender de pixel. Reestruturação executada entre 03 e 06 de julho de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POR FRENTE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verba foi e o que ela produziu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3072384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685800"/>
                <a:gridCol w="1371600"/>
                <a:gridCol w="210312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• EUA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R$ 1.844,73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R$ 55,90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mais eficiente do período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• Alemanha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R$ 1.307,25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R$ 217,88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alto e menor engajamento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• EUA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R$ 1.689,96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R$ 337,99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ativa, clique a R$ 6,90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• Alemanha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R$ 592,36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lead. Volume insuficiente e caro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R$ 5.434,30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10 contatos por outros canais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26680" y="150876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8001000" y="17190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contato "sem origem" também é campanha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001000" y="246888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alemã Malkmus Holistic entrou duas vezes na base: pelo formulário do Meta e, no mesmo dia, por mensagem direta no WhatsApp. O telefone é o mesmo.</a:t>
            </a:r>
            <a:endParaRPr lang="en-US" sz="1150" dirty="0"/>
          </a:p>
          <a:p>
            <a:pPr marL="0" indent="0" algn="just">
              <a:lnSpc>
                <a:spcPts val="1600"/>
              </a:lnSpc>
              <a:buNone/>
            </a:pPr>
            <a:endParaRPr lang="en-US" sz="1150" dirty="0"/>
          </a:p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comercial recebeu esse </a:t>
            </a:r>
            <a:r>
              <a:rPr lang="en-US" sz="115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noção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que </a:t>
            </a:r>
            <a:r>
              <a:rPr lang="en-US" sz="115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r>
              <a:rPr lang="en-US" sz="115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veio da campanha.</a:t>
            </a:r>
            <a:endParaRPr lang="en-US" sz="1150" dirty="0"/>
          </a:p>
          <a:p>
            <a:pPr marL="0" indent="0" algn="just">
              <a:lnSpc>
                <a:spcPts val="1600"/>
              </a:lnSpc>
              <a:buNone/>
            </a:pPr>
            <a:endParaRPr lang="en-US" sz="1150" dirty="0"/>
          </a:p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rastro que a empresa passa a ter agora.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66928" y="5120640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868680" y="5038344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EUA responderam melhor nos dois canais: no Google, o clique alemão sai a R$ 24,68 contra R$ 6,90.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" y="5522976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68680" y="544068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 traz volume rápido pelo formulário nativo; o Google traz quem já procura fornecedor.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5925312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868680" y="58430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lead do Google ainda não é legível: 5 leads são amostra pequena para número de gestão.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 (01 a 22/07) e Meta Ads (03 a 21/07). Leads contados na planilha de controle. Nos primeiros 14 dias a verba diária rodou de propósito acima do teto mensal; a partir de 15/07 foi reduzida à metade. Leitura orienta a escolha, não é orçamento fechado.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DOS LEADS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alto, </a:t>
            </a:r>
            <a:r>
              <a:rPr lang="en-US" sz="2800" b="1" dirty="0" err="1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r>
              <a:rPr lang="en-US" sz="28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</a:t>
            </a:r>
            <a:r>
              <a:rPr lang="en-US" sz="2800" b="1" dirty="0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r>
              <a:rPr lang="en-US" sz="2800" b="1" dirty="0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direcionado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15636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19456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leads pagos têm email corporativo próprio (11 de 44)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389120" y="15636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407408" y="219456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declararam estar "apenas explorando" no formulário (24 de 39 no Meta)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4672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138160" y="15636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67836C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156448" y="2194560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com sinal real de comprador industrial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22960" y="3145083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 •  formulário que </a:t>
            </a:r>
            <a:r>
              <a:rPr lang="en-US" sz="1300" b="1" dirty="0" err="1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rodou</a:t>
            </a:r>
            <a:r>
              <a:rPr lang="en-US" sz="1300" b="1" dirty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300" b="1" dirty="0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</a:t>
            </a:r>
            <a:r>
              <a:rPr lang="en-US" sz="1300" b="1" dirty="0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quinzena</a:t>
            </a:r>
            <a:r>
              <a:rPr lang="en-US" sz="1300" b="1" dirty="0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b="1" dirty="0" err="1" smtClean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3566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Desenhado de propósito para gerar volume e reativar a captação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 </a:t>
            </a: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sem verificação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Cumpriu o objetivo: 27 leads </a:t>
            </a:r>
            <a:r>
              <a:rPr lang="en-US" sz="1200" dirty="0" err="1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EUA,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Meta, </a:t>
            </a: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12 dias. O preço foi o perfil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3063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92240" y="31409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 •  no ar desde 14 de julho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3419403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solicitado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opcionalmente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site da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>
              <a:solidFill>
                <a:srgbClr val="DDE3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sem empresa e preenchimento automatizado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leitura em 7 dias: o volume caiu e o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subiu</a:t>
            </a: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</a:t>
            </a:r>
            <a:r>
              <a:rPr lang="en-US" sz="11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200" dirty="0" smtClean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6783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22960" y="513892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ts val="1700"/>
              </a:lnSpc>
            </a:pPr>
            <a:r>
              <a:rPr lang="en-US" sz="1200" b="1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V3 respondeu em 7 dias. No mesmo conjunto dos EUA, o custo por lead subiu de R$ 50,58 para R$ 79,82 (+58%), mas a fatia de contatos com email de domínio próprio saltou de 15% para 83%, e a de quem declara intenção imediata ou nas próximas semanas foi de 7% para 50%. Na prática: o lead com email corporativo ficou 3,6 vezes mais barato e o lead quente, 4,3 vezes. São 6 leads em 7 dias, então é direção e ainda não série. O indicador que passa a valer não é quantos leads chegam, e sim quantos o comercial consegue trabalhar.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com fit já identificados: Green Truth / Zingi Beverages, Oliver Wildheart, Natural Nirvana, Afriorganics (EUA), Malkmus Holistic (Alemanha) e, já pelo V3: American Shaman CBD, Afristocks e Saffyre LLC (EUA).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VERBA: O TRADEOFF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R$ 7.000 por mês: o que essa verba permite escolher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 é a mesma nos três caminhos. O que muda é o que ela entrega e do que ela abre mão. Não existe caminho que cubra tudo ao mesmo tempo.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60630"/>
              </p:ext>
            </p:extLst>
          </p:nvPr>
        </p:nvGraphicFramePr>
        <p:xfrm>
          <a:off x="548640" y="1874520"/>
          <a:ext cx="11064240" cy="292608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que abre mão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Sete países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 em todos os mercados-alvo. Cada país fica com cerca de R$ 33 por dia, o que compra de 1 a 4 cliques </a:t>
                      </a:r>
                      <a:r>
                        <a:rPr lang="en-US" sz="1050" dirty="0" err="1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diários</a:t>
                      </a:r>
                      <a:r>
                        <a:rPr lang="en-US" sz="105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1050" b="1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Cliques, </a:t>
                      </a:r>
                      <a:r>
                        <a:rPr lang="en-US" sz="1050" b="1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1050" b="1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leads.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conclusão. Nenhum país acumula volume para dizer o que funciona, e a leitura se </a:t>
                      </a:r>
                      <a:r>
                        <a:rPr lang="en-US" sz="105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dilui</a:t>
                      </a:r>
                      <a:r>
                        <a:rPr lang="en-US" sz="105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temos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dados para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aseline="0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anúncios</a:t>
                      </a:r>
                      <a:r>
                        <a:rPr lang="en-US" sz="1050" baseline="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Dois países, dois canais (situação atual)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reais e leitura por país. Foi este caminho que produziu os 49 leads de </a:t>
                      </a:r>
                      <a:r>
                        <a:rPr lang="en-US" sz="1050" dirty="0" err="1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julho</a:t>
                      </a:r>
                      <a:r>
                        <a:rPr lang="en-US" sz="1050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profundidade. A verba se divide em quatro frentes, e nenhuma atinge o volume que as plataformas pedem para otimizar sozinhas.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</a:t>
                      </a:r>
                      <a:r>
                        <a:rPr lang="en-US" sz="1050" b="1" dirty="0" err="1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Concentrar</a:t>
                      </a: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</a:t>
                      </a:r>
                      <a:r>
                        <a:rPr lang="en-US" sz="1050" b="1" dirty="0" smtClean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EUA (</a:t>
                      </a: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 técnica)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 inteira no mercado que melhor respondeu, no canal de custo por lead já validado. Atinge volume de aprendizado e permite concluir em semanas.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Alemanha e dos demais mercados nesta fase. A Alemanha consumiu 26% do Google para 9% dos cliques e 42% do Meta para 14% dos leads. Eles voltam quando os EUA se provarem ou com verba adicional.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77240" y="5166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</a:t>
            </a:r>
            <a:r>
              <a:rPr lang="en-US" sz="1100" b="1" dirty="0" err="1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</a:t>
            </a:r>
            <a:r>
              <a:rPr lang="en-US" sz="1100" b="1" dirty="0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plataformas só </a:t>
            </a:r>
            <a:r>
              <a:rPr lang="en-US" sz="1100" dirty="0" err="1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otimizam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um volume mínimo de leads </a:t>
            </a:r>
            <a:r>
              <a:rPr lang="en-US" sz="1100" dirty="0" err="1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conversões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Repartida em quatro frentes, nenhuma </a:t>
            </a:r>
            <a:r>
              <a:rPr lang="en-US" sz="1100" dirty="0" err="1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mercado, com a verba inteira, 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r>
              <a:rPr lang="en-US" sz="11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446520" y="5166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100" b="1" dirty="0" err="1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concreto:  Nos EUA, em 18% das buscas relevantes a campanha nem chega a disputar o leilão, por limite de orçamento. Na Alemanha esse número é 57%. Não é só qualidade de anúncio: é verba disponível e tempo de aprendizado. Concentrar acelera os dois.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14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rodou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</a:t>
            </a: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mensal. 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clique e no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14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dados. Serve para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900" i="1" dirty="0" smtClean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57200"/>
            <a:ext cx="128016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14 DIAS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e a decisão que precisamos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19019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013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 do Google concluído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generate_lead</a:t>
            </a: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ativo como conversão principal desde 16/07. Pixel do Meta na página segue adiado por conflito no contêiner de tags e não impede captar lead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40080" y="2770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26700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o V3 em agosto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29992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fecha em R$ 50/dia no Meta e R$ 70/dia no Google para respeitar o teto do mês. Em agosto o formulário fica congelado e a verba volta ao patamar que gerou a série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4008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5880" y="35387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Alimentar</a:t>
            </a:r>
            <a:r>
              <a:rPr lang="en-US" sz="15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do comercial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38679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quais leads viram oportunidade, qualidade segue sendo estimativa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507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25880" y="44074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 decisão de verba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25880" y="47365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nos EUA ou manter as frentes atuais: definição da diretoria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78240" y="1783080"/>
            <a:ext cx="2834640" cy="1965960"/>
          </a:xfrm>
          <a:prstGeom prst="roundRect">
            <a:avLst>
              <a:gd name="adj" fmla="val 3721"/>
            </a:avLst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006840" y="1947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que pedimos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06840" y="2331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A, B ou C do slide de verba.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 técnica é C: concentrar </a:t>
            </a:r>
            <a:r>
              <a:rPr lang="en-US" sz="1150" dirty="0" err="1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EUA, </a:t>
            </a:r>
            <a:r>
              <a:rPr lang="en-US" sz="1150" dirty="0" err="1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150" dirty="0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r>
              <a:rPr lang="en-US" sz="1150" dirty="0" smtClean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mercado se provar.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5394960"/>
            <a:ext cx="10972800" cy="731520"/>
          </a:xfrm>
          <a:prstGeom prst="roundRect">
            <a:avLst>
              <a:gd name="adj" fmla="val 7500"/>
            </a:avLst>
          </a:prstGeom>
          <a:solidFill>
            <a:srgbClr val="1D3E1F"/>
          </a:solidFill>
          <a:ln w="12700">
            <a:solidFill>
              <a:srgbClr val="1D3E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914400" y="5513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da próxima fase: sair de leads que chegam para leads que o comercial </a:t>
            </a:r>
            <a:r>
              <a:rPr lang="en-US" sz="1400" b="1" dirty="0" err="1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</a:t>
            </a:r>
            <a:r>
              <a:rPr lang="en-US" sz="1400" b="1" dirty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</a:t>
            </a:r>
            <a:r>
              <a:rPr lang="en-US" sz="1400" b="1" dirty="0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b="1" dirty="0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r>
              <a:rPr lang="en-US" sz="1400" b="1" dirty="0" smtClean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volume.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revisão no início de setembro de 2026, com o primeiro mês fechado inteiramente sob o formulário V3.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1977</Words>
  <Application>Microsoft Office PowerPoint</Application>
  <PresentationFormat>Widescreen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Triunfo do Brasil — Tráfego Pago — Resultados de Julho</dc:title>
  <dc:subject>PptxGenJS Presentation</dc:subject>
  <dc:creator>Gabriel</dc:creator>
  <cp:lastModifiedBy>Gabriel Pauletto Reszka</cp:lastModifiedBy>
  <cp:revision>9</cp:revision>
  <dcterms:created xsi:type="dcterms:W3CDTF">2026-07-15T12:15:21Z</dcterms:created>
  <dcterms:modified xsi:type="dcterms:W3CDTF">2026-07-22T17:51:37Z</dcterms:modified>
</cp:coreProperties>
</file>