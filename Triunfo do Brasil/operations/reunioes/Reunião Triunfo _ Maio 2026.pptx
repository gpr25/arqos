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 Black"/>
      <p:bold r:id="rId13"/>
      <p:boldItalic r:id="rId14"/>
    </p:embeddedFon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hcx5Pg9mW+j7kDs8WvpthVUws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Black-bold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font" Target="fonts/MontserratBlack-boldItalic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Dados de quem nos acompanha no Instagram.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eedfdf89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aeedfdf89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Dados de quem nos acompanha no Instagram.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0b9fb02b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e0b9fb02b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2087c633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e2087c633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Dados gerais de conteúdo orgânico e patrocinado.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4a85d50f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a4a85d50f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Abrir quadro Asana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3512400"/>
          </a:xfrm>
          <a:prstGeom prst="rect">
            <a:avLst/>
          </a:prstGeom>
          <a:solidFill>
            <a:srgbClr val="132E14"/>
          </a:solidFill>
          <a:ln cap="flat" cmpd="sng" w="9525">
            <a:solidFill>
              <a:srgbClr val="A5C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 amt="19000"/>
          </a:blip>
          <a:srcRect b="0" l="0" r="0" t="0"/>
          <a:stretch/>
        </p:blipFill>
        <p:spPr>
          <a:xfrm rot="-5400000">
            <a:off x="1333113" y="-4326706"/>
            <a:ext cx="6477774" cy="9200450"/>
          </a:xfrm>
          <a:prstGeom prst="rect">
            <a:avLst/>
          </a:prstGeom>
          <a:solidFill>
            <a:srgbClr val="132E14"/>
          </a:solidFill>
          <a:ln cap="flat" cmpd="sng" w="9525">
            <a:solidFill>
              <a:srgbClr val="A5C44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" name="Google Shape;56;p1"/>
          <p:cNvSpPr txBox="1"/>
          <p:nvPr/>
        </p:nvSpPr>
        <p:spPr>
          <a:xfrm>
            <a:off x="611747" y="2269350"/>
            <a:ext cx="5085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REUNIÃO TRIUNFO</a:t>
            </a:r>
            <a:endParaRPr b="0" i="0" sz="4000" u="none" cap="none" strike="noStrike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74125" y="4047225"/>
            <a:ext cx="4398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18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Abril 2026 </a:t>
            </a:r>
            <a:endParaRPr b="0" i="0" sz="1800" u="none" cap="none" strike="noStrike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8" name="Google Shape;58;p1"/>
          <p:cNvCxnSpPr/>
          <p:nvPr/>
        </p:nvCxnSpPr>
        <p:spPr>
          <a:xfrm flipH="1" rot="10800000">
            <a:off x="-14576" y="4458675"/>
            <a:ext cx="56232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1"/>
          <p:cNvSpPr/>
          <p:nvPr/>
        </p:nvSpPr>
        <p:spPr>
          <a:xfrm>
            <a:off x="5644250" y="4408725"/>
            <a:ext cx="126000" cy="1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5823794" y="4408725"/>
            <a:ext cx="126000" cy="126300"/>
          </a:xfrm>
          <a:prstGeom prst="ellipse">
            <a:avLst/>
          </a:prstGeom>
          <a:solidFill>
            <a:srgbClr val="A5C441"/>
          </a:solidFill>
          <a:ln cap="flat" cmpd="sng" w="9525">
            <a:solidFill>
              <a:srgbClr val="A5C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6003338" y="4408725"/>
            <a:ext cx="126000" cy="126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2777" y="3919438"/>
            <a:ext cx="2022175" cy="10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3"/>
          <p:cNvCxnSpPr>
            <a:endCxn id="68" idx="2"/>
          </p:cNvCxnSpPr>
          <p:nvPr/>
        </p:nvCxnSpPr>
        <p:spPr>
          <a:xfrm>
            <a:off x="8772905" y="1249020"/>
            <a:ext cx="4200" cy="3293700"/>
          </a:xfrm>
          <a:prstGeom prst="straightConnector1">
            <a:avLst/>
          </a:prstGeom>
          <a:noFill/>
          <a:ln cap="flat" cmpd="sng" w="9525">
            <a:solidFill>
              <a:srgbClr val="132E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 rot="5400000">
            <a:off x="8719055" y="4545570"/>
            <a:ext cx="116100" cy="11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 rot="5400000">
            <a:off x="8719055" y="4692300"/>
            <a:ext cx="116100" cy="110400"/>
          </a:xfrm>
          <a:prstGeom prst="ellipse">
            <a:avLst/>
          </a:prstGeom>
          <a:solidFill>
            <a:srgbClr val="A5C441"/>
          </a:solidFill>
          <a:ln cap="flat" cmpd="sng" w="9525">
            <a:solidFill>
              <a:srgbClr val="A5C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 rot="5400000">
            <a:off x="8719055" y="4839030"/>
            <a:ext cx="116100" cy="110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8094672" y="315525"/>
            <a:ext cx="1364868" cy="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267000" y="278550"/>
            <a:ext cx="3519749" cy="3998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9050">
                  <a:solidFill>
                    <a:srgbClr val="A5C44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"/>
              </a:rPr>
              <a:t>INSTAGRAM</a:t>
            </a:r>
          </a:p>
        </p:txBody>
      </p:sp>
      <p:sp>
        <p:nvSpPr>
          <p:cNvPr id="73" name="Google Shape;73;p3"/>
          <p:cNvSpPr txBox="1"/>
          <p:nvPr/>
        </p:nvSpPr>
        <p:spPr>
          <a:xfrm>
            <a:off x="194400" y="778600"/>
            <a:ext cx="8215800" cy="3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 u="sng">
                <a:solidFill>
                  <a:srgbClr val="1D1D20"/>
                </a:solidFill>
                <a:highlight>
                  <a:srgbClr val="FFFFFF"/>
                </a:highlight>
              </a:rPr>
              <a:t>Maio</a:t>
            </a:r>
            <a:r>
              <a:rPr b="1" i="0" lang="pt-BR" sz="1300" u="sng" cap="none" strike="noStrike">
                <a:solidFill>
                  <a:srgbClr val="1D1D2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2026</a:t>
            </a:r>
            <a:endParaRPr b="1" i="0" sz="1100" u="none" cap="none" strike="noStrike">
              <a:solidFill>
                <a:srgbClr val="132E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📈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Alcance orgânico: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100">
                <a:solidFill>
                  <a:srgbClr val="A5C441"/>
                </a:solidFill>
              </a:rPr>
              <a:t>2993</a:t>
            </a:r>
            <a:r>
              <a:rPr b="1" i="0" lang="pt-BR" sz="1100" u="none" cap="none" strike="noStrike">
                <a:solidFill>
                  <a:srgbClr val="A5C441"/>
                </a:solidFill>
              </a:rPr>
              <a:t> (</a:t>
            </a:r>
            <a:r>
              <a:rPr b="1" i="0" lang="pt-BR" sz="1100" u="none" cap="none" strike="noStrike">
                <a:solidFill>
                  <a:srgbClr val="A5C441"/>
                </a:solidFill>
                <a:latin typeface="Arial"/>
                <a:ea typeface="Arial"/>
                <a:cs typeface="Arial"/>
                <a:sym typeface="Arial"/>
              </a:rPr>
              <a:t>+110,8%)</a:t>
            </a:r>
            <a:endParaRPr b="1" i="0" sz="1100" u="none" cap="none" strike="noStrike">
              <a:solidFill>
                <a:srgbClr val="A5C44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💬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Interações: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100">
                <a:solidFill>
                  <a:srgbClr val="A5C441"/>
                </a:solidFill>
              </a:rPr>
              <a:t>446</a:t>
            </a:r>
            <a:r>
              <a:rPr b="1" i="0" lang="pt-BR" sz="1100" u="none" cap="none" strike="noStrike">
                <a:solidFill>
                  <a:srgbClr val="A5C441"/>
                </a:solidFill>
              </a:rPr>
              <a:t> (</a:t>
            </a:r>
            <a:r>
              <a:rPr b="1" lang="pt-BR" sz="1100">
                <a:solidFill>
                  <a:srgbClr val="A5C441"/>
                </a:solidFill>
              </a:rPr>
              <a:t>+66,4%</a:t>
            </a:r>
            <a:r>
              <a:rPr b="1" i="0" lang="pt-BR" sz="1100" u="none" cap="none" strike="noStrike">
                <a:solidFill>
                  <a:srgbClr val="A5C441"/>
                </a:solidFill>
              </a:rPr>
              <a:t>)</a:t>
            </a:r>
            <a:endParaRPr b="1" i="0" sz="1100" u="none" cap="none" strike="noStrike">
              <a:solidFill>
                <a:srgbClr val="A5C44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➕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Seguidores: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100" u="none" cap="none" strike="noStrike">
                <a:solidFill>
                  <a:srgbClr val="A5C441"/>
                </a:solidFill>
              </a:rPr>
              <a:t>saldo de </a:t>
            </a:r>
            <a:r>
              <a:rPr b="1" i="0" lang="pt-BR" sz="1100" u="none" cap="none" strike="noStrike">
                <a:solidFill>
                  <a:srgbClr val="A5C44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lang="pt-BR" sz="1100">
                <a:solidFill>
                  <a:srgbClr val="A5C441"/>
                </a:solidFill>
              </a:rPr>
              <a:t>39</a:t>
            </a:r>
            <a:r>
              <a:rPr b="1" i="0" lang="pt-BR" sz="1100" u="none" cap="none" strike="noStrike">
                <a:solidFill>
                  <a:srgbClr val="A5C44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100" u="none" cap="none" strike="noStrike">
              <a:solidFill>
                <a:srgbClr val="A5C4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👀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Visualizações orgânicas: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100">
                <a:solidFill>
                  <a:srgbClr val="A5C441"/>
                </a:solidFill>
              </a:rPr>
              <a:t>11.089</a:t>
            </a:r>
            <a:r>
              <a:rPr b="1" i="0" lang="pt-BR" sz="1100" u="none" cap="none" strike="noStrike">
                <a:solidFill>
                  <a:srgbClr val="A5C441"/>
                </a:solidFill>
              </a:rPr>
              <a:t> </a:t>
            </a:r>
            <a:r>
              <a:rPr b="1" i="0" lang="pt-BR" sz="1100" u="none" cap="none" strike="noStrike">
                <a:solidFill>
                  <a:srgbClr val="A5C44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pt-BR" sz="1100">
                <a:solidFill>
                  <a:srgbClr val="A5C441"/>
                </a:solidFill>
              </a:rPr>
              <a:t>+71,5%</a:t>
            </a:r>
            <a:r>
              <a:rPr b="1" i="0" lang="pt-BR" sz="1100" u="none" cap="none" strike="noStrike">
                <a:solidFill>
                  <a:srgbClr val="A5C44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b="1" i="0" sz="1100" u="none" cap="none" strike="noStrike">
              <a:solidFill>
                <a:srgbClr val="A5C4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🔗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do perfil (visitas e cliques):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100" u="none" cap="none" strike="noStrike">
                <a:solidFill>
                  <a:srgbClr val="A5C441"/>
                </a:solidFill>
              </a:rPr>
              <a:t>3</a:t>
            </a:r>
            <a:r>
              <a:rPr b="1" lang="pt-BR" sz="1100">
                <a:solidFill>
                  <a:srgbClr val="A5C441"/>
                </a:solidFill>
              </a:rPr>
              <a:t>48</a:t>
            </a:r>
            <a:r>
              <a:rPr b="1" i="0" lang="pt-BR" sz="1100" u="none" cap="none" strike="noStrike">
                <a:solidFill>
                  <a:srgbClr val="A5C441"/>
                </a:solidFill>
              </a:rPr>
              <a:t> (</a:t>
            </a:r>
            <a:r>
              <a:rPr b="1" lang="pt-BR" sz="1100">
                <a:solidFill>
                  <a:srgbClr val="A5C441"/>
                </a:solidFill>
              </a:rPr>
              <a:t>300 no mês passado</a:t>
            </a:r>
            <a:r>
              <a:rPr b="1" i="0" lang="pt-BR" sz="1100" u="none" cap="none" strike="noStrike">
                <a:solidFill>
                  <a:srgbClr val="A5C441"/>
                </a:solidFill>
              </a:rPr>
              <a:t>) </a:t>
            </a:r>
            <a:endParaRPr b="1" i="0" sz="1100" u="none" cap="none" strike="noStrike">
              <a:solidFill>
                <a:srgbClr val="A5C44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📪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Volume de postagens: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pt-BR" sz="1100">
                <a:solidFill>
                  <a:schemeClr val="dk1"/>
                </a:solidFill>
              </a:rPr>
              <a:t>4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reels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pt-BR" sz="1100">
                <a:solidFill>
                  <a:schemeClr val="dk1"/>
                </a:solidFill>
              </a:rPr>
              <a:t>3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162250" y="3929375"/>
            <a:ext cx="60582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O Instagram evoluiu de forma positiva em alcance e visibilidade, mostrando maior capacidade de distribuição do conteúdo</a:t>
            </a:r>
            <a:r>
              <a:rPr lang="pt-BR" sz="1100">
                <a:solidFill>
                  <a:schemeClr val="dk1"/>
                </a:solidFill>
              </a:rPr>
              <a:t> e o conteúdo também foi mais eficaz em despertar interesse e interações em relação aos meses passados.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g3aeedfdf89a_0_4"/>
          <p:cNvCxnSpPr>
            <a:endCxn id="80" idx="2"/>
          </p:cNvCxnSpPr>
          <p:nvPr/>
        </p:nvCxnSpPr>
        <p:spPr>
          <a:xfrm>
            <a:off x="8772905" y="1249020"/>
            <a:ext cx="4200" cy="3293700"/>
          </a:xfrm>
          <a:prstGeom prst="straightConnector1">
            <a:avLst/>
          </a:prstGeom>
          <a:noFill/>
          <a:ln cap="flat" cmpd="sng" w="9525">
            <a:solidFill>
              <a:srgbClr val="132E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g3aeedfdf89a_0_4"/>
          <p:cNvSpPr/>
          <p:nvPr/>
        </p:nvSpPr>
        <p:spPr>
          <a:xfrm rot="5400000">
            <a:off x="8719055" y="4545570"/>
            <a:ext cx="116100" cy="11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aeedfdf89a_0_4"/>
          <p:cNvSpPr/>
          <p:nvPr/>
        </p:nvSpPr>
        <p:spPr>
          <a:xfrm rot="5400000">
            <a:off x="8719055" y="4692300"/>
            <a:ext cx="116100" cy="110400"/>
          </a:xfrm>
          <a:prstGeom prst="ellipse">
            <a:avLst/>
          </a:prstGeom>
          <a:solidFill>
            <a:srgbClr val="A5C441"/>
          </a:solidFill>
          <a:ln cap="flat" cmpd="sng" w="9525">
            <a:solidFill>
              <a:srgbClr val="A5C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aeedfdf89a_0_4"/>
          <p:cNvSpPr/>
          <p:nvPr/>
        </p:nvSpPr>
        <p:spPr>
          <a:xfrm rot="5400000">
            <a:off x="8719055" y="4839030"/>
            <a:ext cx="116100" cy="110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g3aeedfdf89a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8094672" y="315525"/>
            <a:ext cx="1364868" cy="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aeedfdf89a_0_4"/>
          <p:cNvSpPr/>
          <p:nvPr/>
        </p:nvSpPr>
        <p:spPr>
          <a:xfrm>
            <a:off x="267000" y="278550"/>
            <a:ext cx="3519749" cy="3998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9050">
                  <a:solidFill>
                    <a:srgbClr val="A5C44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"/>
              </a:rPr>
              <a:t>INSTAGRAM</a:t>
            </a:r>
          </a:p>
        </p:txBody>
      </p:sp>
      <p:sp>
        <p:nvSpPr>
          <p:cNvPr id="85" name="Google Shape;85;g3aeedfdf89a_0_4"/>
          <p:cNvSpPr txBox="1"/>
          <p:nvPr/>
        </p:nvSpPr>
        <p:spPr>
          <a:xfrm>
            <a:off x="158800" y="979950"/>
            <a:ext cx="740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300" u="none" cap="none" strike="noStrike">
                <a:solidFill>
                  <a:srgbClr val="1D1D2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Conteúdo de destaque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aeedfdf89a_0_4"/>
          <p:cNvSpPr txBox="1"/>
          <p:nvPr/>
        </p:nvSpPr>
        <p:spPr>
          <a:xfrm>
            <a:off x="5239875" y="2455850"/>
            <a:ext cx="2459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➡️</a:t>
            </a:r>
            <a:r>
              <a:rPr lang="pt-BR" sz="1200">
                <a:solidFill>
                  <a:schemeClr val="dk1"/>
                </a:solidFill>
              </a:rPr>
              <a:t>2,5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mil visualizações e +5 seguidores (praticamente o dobro do melhor conteúdo do m</a:t>
            </a:r>
            <a:r>
              <a:rPr lang="pt-BR" sz="1200">
                <a:solidFill>
                  <a:schemeClr val="dk1"/>
                </a:solidFill>
              </a:rPr>
              <a:t>ês passado)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g3aeedfdf89a_0_4" title="Captura de tela 2026-06-16 1501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17250"/>
            <a:ext cx="4419601" cy="3049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g3e0b9fb02b3_0_14"/>
          <p:cNvCxnSpPr>
            <a:endCxn id="93" idx="2"/>
          </p:cNvCxnSpPr>
          <p:nvPr/>
        </p:nvCxnSpPr>
        <p:spPr>
          <a:xfrm>
            <a:off x="8772905" y="1249020"/>
            <a:ext cx="4200" cy="3293700"/>
          </a:xfrm>
          <a:prstGeom prst="straightConnector1">
            <a:avLst/>
          </a:prstGeom>
          <a:noFill/>
          <a:ln cap="flat" cmpd="sng" w="9525">
            <a:solidFill>
              <a:srgbClr val="132E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g3e0b9fb02b3_0_14"/>
          <p:cNvSpPr/>
          <p:nvPr/>
        </p:nvSpPr>
        <p:spPr>
          <a:xfrm rot="5400000">
            <a:off x="8719055" y="4545570"/>
            <a:ext cx="116100" cy="11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e0b9fb02b3_0_14"/>
          <p:cNvSpPr/>
          <p:nvPr/>
        </p:nvSpPr>
        <p:spPr>
          <a:xfrm rot="5400000">
            <a:off x="8719055" y="4692300"/>
            <a:ext cx="116100" cy="110400"/>
          </a:xfrm>
          <a:prstGeom prst="ellipse">
            <a:avLst/>
          </a:prstGeom>
          <a:solidFill>
            <a:srgbClr val="A5C441"/>
          </a:solidFill>
          <a:ln cap="flat" cmpd="sng" w="9525">
            <a:solidFill>
              <a:srgbClr val="A5C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e0b9fb02b3_0_14"/>
          <p:cNvSpPr/>
          <p:nvPr/>
        </p:nvSpPr>
        <p:spPr>
          <a:xfrm rot="5400000">
            <a:off x="8719055" y="4839030"/>
            <a:ext cx="116100" cy="110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g3e0b9fb02b3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8094672" y="315525"/>
            <a:ext cx="1364868" cy="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e0b9fb02b3_0_14"/>
          <p:cNvSpPr/>
          <p:nvPr/>
        </p:nvSpPr>
        <p:spPr>
          <a:xfrm>
            <a:off x="276200" y="121575"/>
            <a:ext cx="6441556" cy="46767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9050">
                  <a:solidFill>
                    <a:srgbClr val="A5C44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"/>
              </a:rPr>
              <a:t>E-MAIL MARKETING/NEWSLETTER</a:t>
            </a:r>
          </a:p>
        </p:txBody>
      </p:sp>
      <p:sp>
        <p:nvSpPr>
          <p:cNvPr id="98" name="Google Shape;98;g3e0b9fb02b3_0_14"/>
          <p:cNvSpPr txBox="1"/>
          <p:nvPr/>
        </p:nvSpPr>
        <p:spPr>
          <a:xfrm>
            <a:off x="420475" y="1678200"/>
            <a:ext cx="3454200" cy="1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Envios: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</a:t>
            </a:r>
            <a:r>
              <a:rPr lang="pt-BR" sz="1100">
                <a:solidFill>
                  <a:schemeClr val="dk1"/>
                </a:solidFill>
              </a:rPr>
              <a:t>11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Abertos: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r>
              <a:rPr lang="pt-BR" sz="1100">
                <a:solidFill>
                  <a:schemeClr val="dk1"/>
                </a:solidFill>
              </a:rPr>
              <a:t>47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Clicados: </a:t>
            </a:r>
            <a:r>
              <a:rPr lang="pt-BR" sz="1100">
                <a:solidFill>
                  <a:schemeClr val="dk1"/>
                </a:solidFill>
              </a:rPr>
              <a:t>29</a:t>
            </a:r>
            <a:b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Campanhas: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>
                <a:solidFill>
                  <a:schemeClr val="dk1"/>
                </a:solidFill>
              </a:rPr>
              <a:t>2</a:t>
            </a:r>
            <a:b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1D1D2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e0b9fb02b3_0_14"/>
          <p:cNvSpPr txBox="1"/>
          <p:nvPr/>
        </p:nvSpPr>
        <p:spPr>
          <a:xfrm>
            <a:off x="3570725" y="1678200"/>
            <a:ext cx="3734700" cy="21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➡️ </a:t>
            </a:r>
            <a:r>
              <a:rPr lang="pt-BR" sz="1100">
                <a:solidFill>
                  <a:schemeClr val="dk1"/>
                </a:solidFill>
              </a:rPr>
              <a:t>As campanhas de e-mail realizadas em maio apresentaram alta taxa de entrega e geraram engajamento da base, reforçando a relevância desse canal para o relacionamento com clientes e prospects.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Os resultados também indicam oportunidades de otimização para ampliar o alcance e a interação das próximas campanhas.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g3e2087c6331_3_0"/>
          <p:cNvCxnSpPr>
            <a:endCxn id="105" idx="2"/>
          </p:cNvCxnSpPr>
          <p:nvPr/>
        </p:nvCxnSpPr>
        <p:spPr>
          <a:xfrm>
            <a:off x="8772905" y="1249020"/>
            <a:ext cx="4200" cy="3293700"/>
          </a:xfrm>
          <a:prstGeom prst="straightConnector1">
            <a:avLst/>
          </a:prstGeom>
          <a:noFill/>
          <a:ln cap="flat" cmpd="sng" w="9525">
            <a:solidFill>
              <a:srgbClr val="132E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g3e2087c6331_3_0"/>
          <p:cNvSpPr/>
          <p:nvPr/>
        </p:nvSpPr>
        <p:spPr>
          <a:xfrm rot="5400000">
            <a:off x="8719055" y="4545570"/>
            <a:ext cx="116100" cy="11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e2087c6331_3_0"/>
          <p:cNvSpPr/>
          <p:nvPr/>
        </p:nvSpPr>
        <p:spPr>
          <a:xfrm rot="5400000">
            <a:off x="8719055" y="4692300"/>
            <a:ext cx="116100" cy="110400"/>
          </a:xfrm>
          <a:prstGeom prst="ellipse">
            <a:avLst/>
          </a:prstGeom>
          <a:solidFill>
            <a:srgbClr val="A5C441"/>
          </a:solidFill>
          <a:ln cap="flat" cmpd="sng" w="9525">
            <a:solidFill>
              <a:srgbClr val="A5C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e2087c6331_3_0"/>
          <p:cNvSpPr/>
          <p:nvPr/>
        </p:nvSpPr>
        <p:spPr>
          <a:xfrm rot="5400000">
            <a:off x="8719055" y="4839030"/>
            <a:ext cx="116100" cy="110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e2087c6331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8094672" y="315525"/>
            <a:ext cx="1364868" cy="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e2087c6331_3_0"/>
          <p:cNvSpPr/>
          <p:nvPr/>
        </p:nvSpPr>
        <p:spPr>
          <a:xfrm>
            <a:off x="152400" y="152401"/>
            <a:ext cx="3021899" cy="44432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9050">
                  <a:solidFill>
                    <a:srgbClr val="A5C44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"/>
              </a:rPr>
              <a:t>LINKEDIN</a:t>
            </a:r>
          </a:p>
        </p:txBody>
      </p:sp>
      <p:sp>
        <p:nvSpPr>
          <p:cNvPr id="110" name="Google Shape;110;g3e2087c6331_3_0"/>
          <p:cNvSpPr txBox="1"/>
          <p:nvPr/>
        </p:nvSpPr>
        <p:spPr>
          <a:xfrm>
            <a:off x="204250" y="615825"/>
            <a:ext cx="5831400" cy="4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1D1D2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D1D20"/>
              </a:buClr>
              <a:buSzPts val="1200"/>
              <a:buFont typeface="Arial"/>
              <a:buChar char="●"/>
            </a:pPr>
            <a:r>
              <a:rPr b="0" i="0" lang="pt-BR" sz="1200" u="none" cap="none" strike="noStrike">
                <a:solidFill>
                  <a:srgbClr val="1D1D2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Impressões: </a:t>
            </a:r>
            <a:r>
              <a:rPr lang="pt-BR" sz="1200">
                <a:solidFill>
                  <a:srgbClr val="A5C441"/>
                </a:solidFill>
              </a:rPr>
              <a:t>2588</a:t>
            </a:r>
            <a:r>
              <a:rPr b="0" i="0" lang="pt-BR" sz="1200" u="none" cap="none" strike="noStrike">
                <a:solidFill>
                  <a:srgbClr val="A5C44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lang="pt-BR" sz="1200">
                <a:solidFill>
                  <a:srgbClr val="A5C441"/>
                </a:solidFill>
              </a:rPr>
              <a:t>1601 no mês passado</a:t>
            </a:r>
            <a:r>
              <a:rPr b="0" i="0" lang="pt-BR" sz="1200" u="none" cap="none" strike="noStrike">
                <a:solidFill>
                  <a:srgbClr val="A5C44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A5C44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20"/>
              </a:buClr>
              <a:buSzPts val="1200"/>
              <a:buFont typeface="Arial"/>
              <a:buChar char="●"/>
            </a:pPr>
            <a:r>
              <a:rPr b="0" i="0" lang="pt-BR" sz="1200" u="none" cap="none" strike="noStrike">
                <a:solidFill>
                  <a:srgbClr val="1D1D2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Reações: </a:t>
            </a:r>
            <a:r>
              <a:rPr lang="pt-BR" sz="1200">
                <a:solidFill>
                  <a:srgbClr val="A5C441"/>
                </a:solidFill>
              </a:rPr>
              <a:t>111 </a:t>
            </a:r>
            <a:r>
              <a:rPr b="1" lang="pt-BR" sz="1200">
                <a:solidFill>
                  <a:srgbClr val="A5C441"/>
                </a:solidFill>
              </a:rPr>
              <a:t>(+113,5%)</a:t>
            </a:r>
            <a:endParaRPr b="1" i="0" sz="1300" u="none" cap="none" strike="noStrike">
              <a:solidFill>
                <a:srgbClr val="A5C441"/>
              </a:solidFill>
              <a:highlight>
                <a:srgbClr val="FFFFFF"/>
              </a:highlight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20"/>
              </a:buClr>
              <a:buSzPts val="1200"/>
              <a:buFont typeface="Arial"/>
              <a:buChar char="●"/>
            </a:pPr>
            <a:r>
              <a:rPr b="0" i="0" lang="pt-BR" sz="1200" u="none" cap="none" strike="noStrike">
                <a:solidFill>
                  <a:srgbClr val="1D1D2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Novos seguidores: </a:t>
            </a:r>
            <a:r>
              <a:rPr b="0" i="0" lang="pt-BR" sz="1200" u="none" cap="none" strike="noStrike">
                <a:solidFill>
                  <a:srgbClr val="A5C44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pt-BR" sz="1200">
                <a:solidFill>
                  <a:srgbClr val="A5C441"/>
                </a:solidFill>
                <a:highlight>
                  <a:srgbClr val="FFFFFF"/>
                </a:highlight>
              </a:rPr>
              <a:t>19</a:t>
            </a:r>
            <a:r>
              <a:rPr lang="pt-BR" sz="1200">
                <a:solidFill>
                  <a:srgbClr val="67836C"/>
                </a:solidFill>
                <a:highlight>
                  <a:srgbClr val="FFFFFF"/>
                </a:highlight>
              </a:rPr>
              <a:t> 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</a:rPr>
              <a:t>(-34,5%)</a:t>
            </a:r>
            <a:r>
              <a:rPr b="1" i="0" lang="pt-BR" sz="1200" u="none" cap="none" strike="noStrike">
                <a:solidFill>
                  <a:srgbClr val="FF0000"/>
                </a:solidFill>
                <a:highlight>
                  <a:srgbClr val="FFFFFF"/>
                </a:highlight>
              </a:rPr>
              <a:t> </a:t>
            </a:r>
            <a:endParaRPr b="1" i="0" sz="1200" u="none" cap="none" strike="noStrike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20"/>
              </a:buClr>
              <a:buSzPts val="1200"/>
              <a:buFont typeface="Arial"/>
              <a:buChar char="●"/>
            </a:pPr>
            <a:r>
              <a:rPr b="0" i="0" lang="pt-BR" sz="1200" u="none" cap="none" strike="noStrike">
                <a:solidFill>
                  <a:srgbClr val="1D1D2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Visitantes únicos: </a:t>
            </a:r>
            <a:r>
              <a:rPr lang="pt-BR" sz="1200">
                <a:solidFill>
                  <a:srgbClr val="FF0000"/>
                </a:solidFill>
              </a:rPr>
              <a:t>63</a:t>
            </a:r>
            <a:r>
              <a:rPr b="0" i="0" lang="pt-BR" sz="1200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pt-BR" sz="1200">
                <a:solidFill>
                  <a:srgbClr val="FF0000"/>
                </a:solidFill>
              </a:rPr>
              <a:t>-26,7</a:t>
            </a:r>
            <a:r>
              <a:rPr b="1" i="0" lang="pt-BR" sz="1200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%)</a:t>
            </a:r>
            <a:endParaRPr b="1" i="0" sz="1200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20"/>
              </a:buClr>
              <a:buSzPts val="1200"/>
              <a:buFont typeface="Arial"/>
              <a:buChar char="●"/>
            </a:pPr>
            <a:r>
              <a:rPr b="0" i="0" lang="pt-BR" sz="1200" u="none" cap="none" strike="noStrike">
                <a:solidFill>
                  <a:srgbClr val="1D1D2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Visualizações da página: </a:t>
            </a:r>
            <a:r>
              <a:rPr lang="pt-BR" sz="1200">
                <a:solidFill>
                  <a:srgbClr val="FF0000"/>
                </a:solidFill>
                <a:highlight>
                  <a:srgbClr val="FFFFFF"/>
                </a:highlight>
              </a:rPr>
              <a:t>140</a:t>
            </a:r>
            <a:r>
              <a:rPr b="0" i="0" lang="pt-BR" sz="12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(-</a:t>
            </a:r>
            <a:r>
              <a:rPr b="1" lang="pt-BR" sz="1200">
                <a:solidFill>
                  <a:srgbClr val="FF0000"/>
                </a:solidFill>
                <a:highlight>
                  <a:srgbClr val="FFFFFF"/>
                </a:highlight>
              </a:rPr>
              <a:t>15,2</a:t>
            </a:r>
            <a:r>
              <a:rPr b="1" i="0" lang="pt-BR" sz="12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%)</a:t>
            </a:r>
            <a:endParaRPr b="1" i="0" sz="1200" u="none" cap="none" strike="noStrike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Usuários alcançados</a:t>
            </a:r>
            <a:r>
              <a:rPr b="0" i="0" lang="pt-BR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t-BR" sz="1200" u="none" cap="none" strike="noStrike">
                <a:solidFill>
                  <a:srgbClr val="6AA84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200" u="none" cap="none" strike="noStrike">
                <a:solidFill>
                  <a:srgbClr val="A5C44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1367 </a:t>
            </a:r>
            <a:r>
              <a:rPr b="1" i="0" lang="pt-BR" sz="1200" u="none" cap="none" strike="noStrike">
                <a:solidFill>
                  <a:srgbClr val="A5C441"/>
                </a:solidFill>
                <a:highlight>
                  <a:srgbClr val="FFFFFF"/>
                </a:highlight>
              </a:rPr>
              <a:t>(847 n</a:t>
            </a:r>
            <a:r>
              <a:rPr b="1" lang="pt-BR" sz="1200">
                <a:solidFill>
                  <a:srgbClr val="A5C441"/>
                </a:solidFill>
                <a:highlight>
                  <a:srgbClr val="FFFFFF"/>
                </a:highlight>
              </a:rPr>
              <a:t>o mês passado)</a:t>
            </a:r>
            <a:endParaRPr b="1" i="0" sz="1200" u="none" cap="none" strike="noStrike">
              <a:solidFill>
                <a:srgbClr val="A5C44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2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1D1D2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💡 Conclusão:</a:t>
            </a:r>
            <a:endParaRPr b="0" i="0" sz="1200" u="none" cap="none" strike="noStrike">
              <a:solidFill>
                <a:srgbClr val="1D1D2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/>
              <a:t>No LinkedIn, maio apresentou crescimento significativo de engajamento e aumento do alcance das publicações. O número de impressões também cresceu de forma relevante e, apesar da redução no ritmo de aquisição de seguidores e nas visitas à página, os resultados demonstram maior visibilidade e interação com os conteúdos publicados.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4a85d50f4_0_81"/>
          <p:cNvCxnSpPr>
            <a:endCxn id="116" idx="2"/>
          </p:cNvCxnSpPr>
          <p:nvPr/>
        </p:nvCxnSpPr>
        <p:spPr>
          <a:xfrm>
            <a:off x="8772905" y="1249020"/>
            <a:ext cx="4200" cy="3293700"/>
          </a:xfrm>
          <a:prstGeom prst="straightConnector1">
            <a:avLst/>
          </a:prstGeom>
          <a:noFill/>
          <a:ln cap="flat" cmpd="sng" w="9525">
            <a:solidFill>
              <a:srgbClr val="132E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g3a4a85d50f4_0_81"/>
          <p:cNvSpPr/>
          <p:nvPr/>
        </p:nvSpPr>
        <p:spPr>
          <a:xfrm rot="5400000">
            <a:off x="8719055" y="4545570"/>
            <a:ext cx="116100" cy="11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a4a85d50f4_0_81"/>
          <p:cNvSpPr/>
          <p:nvPr/>
        </p:nvSpPr>
        <p:spPr>
          <a:xfrm rot="5400000">
            <a:off x="8719055" y="4692300"/>
            <a:ext cx="116100" cy="110400"/>
          </a:xfrm>
          <a:prstGeom prst="ellipse">
            <a:avLst/>
          </a:prstGeom>
          <a:solidFill>
            <a:srgbClr val="A5C441"/>
          </a:solidFill>
          <a:ln cap="flat" cmpd="sng" w="9525">
            <a:solidFill>
              <a:srgbClr val="A5C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a4a85d50f4_0_81"/>
          <p:cNvSpPr/>
          <p:nvPr/>
        </p:nvSpPr>
        <p:spPr>
          <a:xfrm rot="5400000">
            <a:off x="8719055" y="4839030"/>
            <a:ext cx="116100" cy="110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g3a4a85d50f4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8094672" y="315525"/>
            <a:ext cx="1364868" cy="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a4a85d50f4_0_81"/>
          <p:cNvSpPr/>
          <p:nvPr/>
        </p:nvSpPr>
        <p:spPr>
          <a:xfrm>
            <a:off x="352475" y="115850"/>
            <a:ext cx="3641344" cy="59281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9050">
                  <a:solidFill>
                    <a:srgbClr val="A5C44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"/>
              </a:rPr>
              <a:t>Próximos passos</a:t>
            </a:r>
          </a:p>
        </p:txBody>
      </p:sp>
      <p:sp>
        <p:nvSpPr>
          <p:cNvPr id="121" name="Google Shape;121;g3a4a85d50f4_0_81"/>
          <p:cNvSpPr txBox="1"/>
          <p:nvPr/>
        </p:nvSpPr>
        <p:spPr>
          <a:xfrm>
            <a:off x="401625" y="1413875"/>
            <a:ext cx="15501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a4a85d50f4_0_81"/>
          <p:cNvSpPr txBox="1"/>
          <p:nvPr/>
        </p:nvSpPr>
        <p:spPr>
          <a:xfrm>
            <a:off x="352475" y="1216050"/>
            <a:ext cx="7223400" cy="22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a4a85d50f4_0_81"/>
          <p:cNvSpPr txBox="1"/>
          <p:nvPr/>
        </p:nvSpPr>
        <p:spPr>
          <a:xfrm>
            <a:off x="222700" y="474300"/>
            <a:ext cx="8499300" cy="4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Instagram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</a:rPr>
              <a:t>Manter a frequência de publicações, priorizando formatos que ampliam alcance e engajamento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Priorizar posts mais leves, visuais e interativos para estimular comentários, respostas e compartilhamentos.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Trabalhar temas com maior identificação e apelo de comportamento, bem-estar e naturalidade.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2. E-mail Marketing 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</a:rPr>
              <a:t>Manter a regularidade dos envios para fortalecer o relacionamento com a base.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</a:rPr>
              <a:t>Aprimorar segmentação, assuntos e chamadas para ação para aumentar taxas de abertura e interação.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</a:rPr>
              <a:t>Expandir o uso do canal para divulgação de conteúdos estratégicos e fortalecimento da marca. 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3. LinkedIn 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</a:rPr>
              <a:t>Desenvolver pautas que incentivem visitas ao perfil e fortaleçam a percepção da marca junto ao público profissional.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Priorizar formatos que gerem mais interação, como perguntas, comparativos e aplicações práticas.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</a:rPr>
              <a:t>Buscar maior consistência na atração de novos seguidores. 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7836C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199" y="152400"/>
            <a:ext cx="422112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0"/>
          <p:cNvSpPr txBox="1"/>
          <p:nvPr/>
        </p:nvSpPr>
        <p:spPr>
          <a:xfrm>
            <a:off x="3964500" y="2040150"/>
            <a:ext cx="51795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5500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OBRIGADA</a:t>
            </a:r>
            <a:endParaRPr b="0" i="0" sz="5500" u="none" cap="none" strike="noStrike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30" name="Google Shape;1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8138" y="2730275"/>
            <a:ext cx="1992225" cy="5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