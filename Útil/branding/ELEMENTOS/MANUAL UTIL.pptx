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8484"/>
    <a:srgbClr val="293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3EDA3-3F34-4DA5-8E35-47C836059204}" type="datetimeFigureOut">
              <a:rPr lang="pt-BR" smtClean="0"/>
              <a:t>05/04/2024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7855-01A3-4FC7-802A-ABDC8F7DA3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2161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3EDA3-3F34-4DA5-8E35-47C836059204}" type="datetimeFigureOut">
              <a:rPr lang="pt-BR" smtClean="0"/>
              <a:t>05/04/2024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7855-01A3-4FC7-802A-ABDC8F7DA3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986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3EDA3-3F34-4DA5-8E35-47C836059204}" type="datetimeFigureOut">
              <a:rPr lang="pt-BR" smtClean="0"/>
              <a:t>05/04/2024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7855-01A3-4FC7-802A-ABDC8F7DA3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569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3EDA3-3F34-4DA5-8E35-47C836059204}" type="datetimeFigureOut">
              <a:rPr lang="pt-BR" smtClean="0"/>
              <a:t>05/04/2024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7855-01A3-4FC7-802A-ABDC8F7DA3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4658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3EDA3-3F34-4DA5-8E35-47C836059204}" type="datetimeFigureOut">
              <a:rPr lang="pt-BR" smtClean="0"/>
              <a:t>05/04/2024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7855-01A3-4FC7-802A-ABDC8F7DA3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6478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3EDA3-3F34-4DA5-8E35-47C836059204}" type="datetimeFigureOut">
              <a:rPr lang="pt-BR" smtClean="0"/>
              <a:t>05/04/2024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7855-01A3-4FC7-802A-ABDC8F7DA3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087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3EDA3-3F34-4DA5-8E35-47C836059204}" type="datetimeFigureOut">
              <a:rPr lang="pt-BR" smtClean="0"/>
              <a:t>05/04/2024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7855-01A3-4FC7-802A-ABDC8F7DA3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8626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3EDA3-3F34-4DA5-8E35-47C836059204}" type="datetimeFigureOut">
              <a:rPr lang="pt-BR" smtClean="0"/>
              <a:t>05/04/2024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7855-01A3-4FC7-802A-ABDC8F7DA3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8549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3EDA3-3F34-4DA5-8E35-47C836059204}" type="datetimeFigureOut">
              <a:rPr lang="pt-BR" smtClean="0"/>
              <a:t>05/04/2024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7855-01A3-4FC7-802A-ABDC8F7DA3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2484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3EDA3-3F34-4DA5-8E35-47C836059204}" type="datetimeFigureOut">
              <a:rPr lang="pt-BR" smtClean="0"/>
              <a:t>05/04/2024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7855-01A3-4FC7-802A-ABDC8F7DA3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6305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3EDA3-3F34-4DA5-8E35-47C836059204}" type="datetimeFigureOut">
              <a:rPr lang="pt-BR" smtClean="0"/>
              <a:t>05/04/2024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7855-01A3-4FC7-802A-ABDC8F7DA3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584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E3EDA3-3F34-4DA5-8E35-47C836059204}" type="datetimeFigureOut">
              <a:rPr lang="pt-BR" smtClean="0"/>
              <a:t>05/04/2024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27855-01A3-4FC7-802A-ABDC8F7DA3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5890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9168" y="1870852"/>
            <a:ext cx="3531836" cy="2437537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6245450" y="4728518"/>
            <a:ext cx="496288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900" b="1" spc="300" dirty="0" smtClean="0">
                <a:solidFill>
                  <a:srgbClr val="29389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MANUAL DE IDENTIDADE VISUAL</a:t>
            </a:r>
            <a:endParaRPr lang="pt-BR" sz="1900" b="1" spc="300" dirty="0">
              <a:solidFill>
                <a:srgbClr val="29389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250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1202719" y="2314161"/>
            <a:ext cx="4728524" cy="1985318"/>
            <a:chOff x="1705227" y="2672360"/>
            <a:chExt cx="2677299" cy="1367843"/>
          </a:xfrm>
        </p:grpSpPr>
        <p:sp>
          <p:nvSpPr>
            <p:cNvPr id="3" name="CaixaDeTexto 2"/>
            <p:cNvSpPr txBox="1"/>
            <p:nvPr/>
          </p:nvSpPr>
          <p:spPr>
            <a:xfrm>
              <a:off x="1705227" y="2672360"/>
              <a:ext cx="2281881" cy="3578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3500" i="1" dirty="0" smtClean="0">
                  <a:solidFill>
                    <a:schemeClr val="bg1"/>
                  </a:solidFill>
                  <a:latin typeface="Montserrat Medium" pitchFamily="2" charset="0"/>
                  <a:cs typeface="Poppins SemiBold" panose="00000700000000000000" pitchFamily="2" charset="0"/>
                </a:rPr>
                <a:t>Facilitando</a:t>
              </a:r>
              <a:endParaRPr lang="pt-BR" sz="3500" i="1" dirty="0">
                <a:solidFill>
                  <a:schemeClr val="bg1"/>
                </a:solidFill>
                <a:latin typeface="Montserrat Medium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" name="CaixaDeTexto 4"/>
            <p:cNvSpPr txBox="1"/>
            <p:nvPr/>
          </p:nvSpPr>
          <p:spPr>
            <a:xfrm>
              <a:off x="1705228" y="3011879"/>
              <a:ext cx="2281881" cy="3492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3500" i="1" dirty="0" smtClean="0">
                  <a:solidFill>
                    <a:schemeClr val="bg1"/>
                  </a:solidFill>
                  <a:latin typeface="Montserrat Black" pitchFamily="2" charset="0"/>
                  <a:cs typeface="Poppins SemiBold" panose="00000700000000000000" pitchFamily="2" charset="0"/>
                </a:rPr>
                <a:t>sua rotina</a:t>
              </a:r>
              <a:r>
                <a:rPr lang="pt-BR" sz="2500" i="1" dirty="0" smtClean="0">
                  <a:solidFill>
                    <a:schemeClr val="bg1"/>
                  </a:solidFill>
                  <a:latin typeface="Montserrat Medium" pitchFamily="2" charset="0"/>
                  <a:cs typeface="Poppins SemiBold" panose="00000700000000000000" pitchFamily="2" charset="0"/>
                </a:rPr>
                <a:t>,</a:t>
              </a:r>
              <a:endParaRPr lang="pt-BR" sz="2500" i="1" dirty="0">
                <a:solidFill>
                  <a:schemeClr val="bg1"/>
                </a:solidFill>
                <a:latin typeface="Montserrat Medium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6" name="CaixaDeTexto 5"/>
            <p:cNvSpPr txBox="1"/>
            <p:nvPr/>
          </p:nvSpPr>
          <p:spPr>
            <a:xfrm>
              <a:off x="1705228" y="3357286"/>
              <a:ext cx="2677298" cy="3492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3500" i="1" dirty="0" smtClean="0">
                  <a:solidFill>
                    <a:schemeClr val="bg1"/>
                  </a:solidFill>
                  <a:latin typeface="Montserrat Medium" pitchFamily="2" charset="0"/>
                  <a:cs typeface="Poppins SemiBold" panose="00000700000000000000" pitchFamily="2" charset="0"/>
                </a:rPr>
                <a:t>tornando tudo</a:t>
              </a:r>
              <a:endParaRPr lang="pt-BR" sz="3500" i="1" dirty="0">
                <a:solidFill>
                  <a:schemeClr val="bg1"/>
                </a:solidFill>
                <a:latin typeface="Montserrat Medium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" name="CaixaDeTexto 6"/>
            <p:cNvSpPr txBox="1"/>
            <p:nvPr/>
          </p:nvSpPr>
          <p:spPr>
            <a:xfrm>
              <a:off x="1705228" y="3690917"/>
              <a:ext cx="2281881" cy="3492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3500" i="1" dirty="0" smtClean="0">
                  <a:solidFill>
                    <a:schemeClr val="bg1"/>
                  </a:solidFill>
                  <a:latin typeface="Montserrat Black" pitchFamily="2" charset="0"/>
                  <a:cs typeface="Poppins SemiBold" panose="00000700000000000000" pitchFamily="2" charset="0"/>
                </a:rPr>
                <a:t>mais útil.</a:t>
              </a:r>
              <a:endParaRPr lang="pt-BR" sz="3500" i="1" dirty="0">
                <a:solidFill>
                  <a:schemeClr val="bg1"/>
                </a:solidFill>
                <a:latin typeface="Montserrat Medium" pitchFamily="2" charset="0"/>
                <a:cs typeface="Poppins SemiBold" panose="00000700000000000000" pitchFamily="2" charset="0"/>
              </a:endParaRPr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5535827" y="948811"/>
            <a:ext cx="583239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O manual de marca da </a:t>
            </a:r>
            <a:r>
              <a:rPr lang="pt-BR" b="1" dirty="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Útil</a:t>
            </a:r>
            <a:r>
              <a:rPr lang="pt-BR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 </a:t>
            </a:r>
            <a:r>
              <a:rPr lang="pt-BR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tem como </a:t>
            </a:r>
            <a:r>
              <a:rPr lang="pt-BR" dirty="0" smtClean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objetivo oferecer </a:t>
            </a:r>
            <a:r>
              <a:rPr lang="pt-BR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suporte para a gestão da marca </a:t>
            </a:r>
            <a:r>
              <a:rPr lang="pt-BR" dirty="0" smtClean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em diversos </a:t>
            </a:r>
            <a:r>
              <a:rPr lang="pt-BR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aspectos, com ênfase na </a:t>
            </a:r>
            <a:r>
              <a:rPr lang="pt-BR" dirty="0" smtClean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simplicidade a </a:t>
            </a:r>
            <a:r>
              <a:rPr lang="pt-BR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aplicação como </a:t>
            </a:r>
            <a:r>
              <a:rPr lang="pt-BR" dirty="0" smtClean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fundamento.</a:t>
            </a:r>
          </a:p>
          <a:p>
            <a:pPr algn="just"/>
            <a:endParaRPr lang="pt-BR" dirty="0" smtClean="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algn="just"/>
            <a:r>
              <a:rPr lang="pt-BR" dirty="0" smtClean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É </a:t>
            </a:r>
            <a:r>
              <a:rPr lang="pt-BR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uma fonte de referência para profissionais </a:t>
            </a:r>
            <a:r>
              <a:rPr lang="pt-BR" dirty="0" smtClean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de marketing</a:t>
            </a:r>
            <a:r>
              <a:rPr lang="pt-BR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 comunicação, negócios e </a:t>
            </a:r>
            <a:r>
              <a:rPr lang="pt-BR" dirty="0" smtClean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todos aqueles </a:t>
            </a:r>
            <a:r>
              <a:rPr lang="pt-BR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responsáveis pela administração </a:t>
            </a:r>
            <a:r>
              <a:rPr lang="pt-BR" dirty="0" smtClean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da marca</a:t>
            </a:r>
            <a:r>
              <a:rPr lang="pt-BR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. Este manual é uma </a:t>
            </a:r>
            <a:r>
              <a:rPr lang="pt-BR" dirty="0" smtClean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ferramenta essencial </a:t>
            </a:r>
            <a:r>
              <a:rPr lang="pt-BR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no desenvolvimento de </a:t>
            </a:r>
            <a:r>
              <a:rPr lang="pt-BR" dirty="0" smtClean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estratégias para </a:t>
            </a:r>
            <a:r>
              <a:rPr lang="pt-BR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comunicar a marca, seus produtos </a:t>
            </a:r>
            <a:r>
              <a:rPr lang="pt-BR" dirty="0" smtClean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e serviços</a:t>
            </a:r>
            <a:r>
              <a:rPr lang="pt-BR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 mantendo uma coerência visual</a:t>
            </a:r>
            <a:r>
              <a:rPr lang="pt-BR" dirty="0" smtClean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.</a:t>
            </a:r>
          </a:p>
          <a:p>
            <a:pPr algn="just"/>
            <a:endParaRPr lang="pt-BR" dirty="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algn="just"/>
            <a:r>
              <a:rPr lang="pt-BR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As informações consolidadas neste </a:t>
            </a:r>
            <a:r>
              <a:rPr lang="pt-BR" dirty="0" smtClean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guia também </a:t>
            </a:r>
            <a:r>
              <a:rPr lang="pt-BR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são fundamentais para </a:t>
            </a:r>
            <a:r>
              <a:rPr lang="pt-BR" dirty="0" smtClean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compreender nosso </a:t>
            </a:r>
            <a:r>
              <a:rPr lang="pt-BR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posicionamento e </a:t>
            </a:r>
            <a:r>
              <a:rPr lang="pt-BR" dirty="0" smtClean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essência, estabelecendo </a:t>
            </a:r>
            <a:r>
              <a:rPr lang="pt-BR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uma harmonia entre </a:t>
            </a:r>
            <a:r>
              <a:rPr lang="pt-BR" dirty="0" smtClean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a linguagem </a:t>
            </a:r>
            <a:r>
              <a:rPr lang="pt-BR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visual da </a:t>
            </a:r>
            <a:r>
              <a:rPr lang="pt-BR" b="1" dirty="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Útil</a:t>
            </a:r>
            <a:r>
              <a:rPr lang="pt-BR" b="1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.</a:t>
            </a:r>
            <a:endParaRPr lang="pt-BR" dirty="0">
              <a:solidFill>
                <a:schemeClr val="bg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013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123569" y="6367849"/>
            <a:ext cx="502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03</a:t>
            </a:r>
            <a:endParaRPr lang="pt-BR" dirty="0">
              <a:solidFill>
                <a:schemeClr val="bg1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316" y="3451654"/>
            <a:ext cx="3426679" cy="283924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773316" y="609600"/>
            <a:ext cx="42732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spc="300" dirty="0" smtClean="0">
                <a:solidFill>
                  <a:srgbClr val="293893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VERSÃO PREFERENCIAL</a:t>
            </a:r>
            <a:endParaRPr lang="pt-BR" sz="2000" spc="300" dirty="0">
              <a:solidFill>
                <a:srgbClr val="293893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1773317" y="1125040"/>
            <a:ext cx="440506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300" dirty="0">
                <a:solidFill>
                  <a:srgbClr val="848484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A marca é o elemento central de uma </a:t>
            </a:r>
            <a:r>
              <a:rPr lang="pt-BR" sz="1300" dirty="0" smtClean="0">
                <a:solidFill>
                  <a:srgbClr val="848484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Identidade Visual</a:t>
            </a:r>
            <a:r>
              <a:rPr lang="pt-BR" sz="1300" dirty="0">
                <a:solidFill>
                  <a:srgbClr val="848484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. Quando bem utilizada, proporciona </a:t>
            </a:r>
            <a:r>
              <a:rPr lang="pt-BR" sz="1300" dirty="0" smtClean="0">
                <a:solidFill>
                  <a:srgbClr val="848484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um reconhecimento </a:t>
            </a:r>
            <a:r>
              <a:rPr lang="pt-BR" sz="1300" dirty="0">
                <a:solidFill>
                  <a:srgbClr val="848484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eficaz de qualquer produto </a:t>
            </a:r>
            <a:r>
              <a:rPr lang="pt-BR" sz="1300" dirty="0" smtClean="0">
                <a:solidFill>
                  <a:srgbClr val="848484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no menor </a:t>
            </a:r>
            <a:r>
              <a:rPr lang="pt-BR" sz="1300" dirty="0">
                <a:solidFill>
                  <a:srgbClr val="848484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tempo de leitura e espaço</a:t>
            </a:r>
            <a:r>
              <a:rPr lang="pt-BR" sz="1300" dirty="0" smtClean="0">
                <a:solidFill>
                  <a:srgbClr val="848484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 algn="just"/>
            <a:endParaRPr lang="pt-BR" sz="1300" dirty="0">
              <a:solidFill>
                <a:srgbClr val="848484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just"/>
            <a:r>
              <a:rPr lang="pt-BR" sz="1300" dirty="0">
                <a:solidFill>
                  <a:srgbClr val="848484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A assinatura principal é formada pela união </a:t>
            </a:r>
            <a:r>
              <a:rPr lang="pt-BR" sz="1300" dirty="0" smtClean="0">
                <a:solidFill>
                  <a:srgbClr val="848484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do </a:t>
            </a:r>
            <a:r>
              <a:rPr lang="pt-BR" sz="1300" dirty="0" err="1" smtClean="0">
                <a:solidFill>
                  <a:srgbClr val="848484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lettering</a:t>
            </a:r>
            <a:r>
              <a:rPr lang="pt-BR" sz="1300" dirty="0" smtClean="0">
                <a:solidFill>
                  <a:srgbClr val="848484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pt-BR" sz="1300" dirty="0">
                <a:solidFill>
                  <a:srgbClr val="848484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“Útil” + a </a:t>
            </a:r>
            <a:r>
              <a:rPr lang="pt-BR" sz="1300" dirty="0" err="1">
                <a:solidFill>
                  <a:srgbClr val="848484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tagline</a:t>
            </a:r>
            <a:r>
              <a:rPr lang="pt-BR" sz="1300" dirty="0">
                <a:solidFill>
                  <a:srgbClr val="848484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“Utilidades”, e seu </a:t>
            </a:r>
            <a:r>
              <a:rPr lang="pt-BR" sz="1300" dirty="0" smtClean="0">
                <a:solidFill>
                  <a:srgbClr val="848484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uso deve </a:t>
            </a:r>
            <a:r>
              <a:rPr lang="pt-BR" sz="1300" dirty="0">
                <a:solidFill>
                  <a:srgbClr val="848484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ser priorizado sempre que possível.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7214409" y="609600"/>
            <a:ext cx="42732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spc="300" dirty="0" smtClean="0">
                <a:solidFill>
                  <a:srgbClr val="293893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CORES</a:t>
            </a:r>
            <a:endParaRPr lang="pt-BR" sz="2000" spc="300" dirty="0">
              <a:solidFill>
                <a:srgbClr val="293893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7214409" y="1125040"/>
            <a:ext cx="350301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300" dirty="0" smtClean="0">
                <a:solidFill>
                  <a:srgbClr val="848484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Prioritariamente, a marca deve ser aplicada com suas cores institucionais e sobre fundo branco, sempre respeitando as proporções e alinhamentos entre todos os seus elementos.</a:t>
            </a:r>
            <a:endParaRPr lang="pt-BR" sz="1300" dirty="0">
              <a:solidFill>
                <a:srgbClr val="848484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271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204</Words>
  <Application>Microsoft Office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3" baseType="lpstr">
      <vt:lpstr>Arial</vt:lpstr>
      <vt:lpstr>Calibri</vt:lpstr>
      <vt:lpstr>Calibri Light</vt:lpstr>
      <vt:lpstr>Montserrat Black</vt:lpstr>
      <vt:lpstr>Montserrat Medium</vt:lpstr>
      <vt:lpstr>Poppins ExtraBold</vt:lpstr>
      <vt:lpstr>Poppins Light</vt:lpstr>
      <vt:lpstr>Poppins Medium</vt:lpstr>
      <vt:lpstr>Poppins SemiBold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Mateus Alonso</dc:creator>
  <cp:lastModifiedBy>Mateus Alonso</cp:lastModifiedBy>
  <cp:revision>7</cp:revision>
  <dcterms:created xsi:type="dcterms:W3CDTF">2024-04-05T18:39:30Z</dcterms:created>
  <dcterms:modified xsi:type="dcterms:W3CDTF">2024-04-05T19:49:25Z</dcterms:modified>
</cp:coreProperties>
</file>