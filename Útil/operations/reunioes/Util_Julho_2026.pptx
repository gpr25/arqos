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Descoberta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042"/>
              </a:solidFill>
              <a:effectLst/>
            </c:spPr>
          </c:dPt>
          <c:dPt>
            <c:idx val="1"/>
            <c:bubble3D val="0"/>
            <c:spPr>
              <a:solidFill>
                <a:srgbClr val="6E8B7C"/>
              </a:solidFill>
              <a:effectLst/>
            </c:spPr>
          </c:dPt>
          <c:dPt>
            <c:idx val="2"/>
            <c:bubble3D val="0"/>
            <c:spPr>
              <a:solidFill>
                <a:srgbClr val="C9A24B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Google Maps (celular)</c:v>
                </c:pt>
                <c:pt idx="1">
                  <c:v>Pesquisa Google (celular)</c:v>
                </c:pt>
                <c:pt idx="2">
                  <c:v>Pesquisa Google (PC)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17</c:v>
                </c:pt>
                <c:pt idx="2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150">
              <a:solidFill>
                <a:srgbClr val="2E2A26"/>
              </a:solidFill>
              <a:latin typeface="Calibri"/>
              <a:cs typeface="Calibri"/>
            </a:defRPr>
          </a:pPr>
          <a:endParaRPr lang="pt-B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902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Frase de entrada: 'Junho foi um mes de ajuste consciente. Gastamos menos de proposito, e a conta ficou mais eficiente.' Nao prometer venda. O objetivo do encontro e mostrar o que cresceu, alinhar quanto investir e ela escolher UM objetivo. Os tres chips sao os pontos que voce quer que ela leve na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Lidere pela eficiencia e pela descoberta no Google, numeros que so sobem. Ordem: 1) CTR subiu e clique ficou mais barato: a conta rende mais por real. 2) Primeiras mensagens diretas de anuncio (de 1 para 3), contato com intencao. 3) O grafico mostra como a regiao acha a loja no Google: 71% pelo Maps no celular, gente perto querendo achar a loja. 4) Publico certo: Parana, mulheres, buscas por shopping e lojas. Nao mostrar queda de verba nem de alcance neste slide. Se ELA perguntar por que gastamos menos: 'reduzi de proposito e criei reserva de teste; a eficiencia melhorou'. NAO citar percentuais anuais do Google (+611% etc): comparam com base zero de 2025. Usar so numeros absolutos de junho.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unica: concentrar no Meta e o unico caminho viavel com este orcamento. TikTok: 'da para manter presenca organica postando, mas pagar la agora nao e viavel, o minimo e cerca de 13x o orcamento do canal. Fica para quando houver verba dedicada.' Imposto Meta 2026 (~12 a 13% na fatura): confianca media, confirmar na fatura, so mencionar se ela perguntar de valor liquido. Nao entrar em jargao. Se ela perguntar 'por que nao Google/Mercado Livre tambem': mesma resposta, cada canal abaixo do minimo nao aprende.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ELA escolhe a verba. Nao escolha por ela. Diga: 'os dois funcionam, muda o tamanho do resultado'. Frase-chave: 'R$1.000 e o dobro da verba, mas projeta cerca de 1,5x o resultado, nao 2x, porque o publico local satura. Por isso a projecao e conservadora.' Se ela topar R$1.200, some ~15% na coluna indicada. Barra inferior e a sua protecao: deixa explicito que nao e promessa de venda. Se ela puxar venda, repita isso sem dar numero.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Peca a decisao de forma leve: 'o que prova pra voce que esta funcionando: seguidores, engajamento, mensagens ou visitas?' Qualquer uma das quatro a conta atual ja move, entao voce assume como norte e entrega, sem prometer venda. Reforce que a parte tecnica ja esta feita: so falta ela escolher objetivo e verba. Encerrar com: 'com isso definido, julho ja comeca no lugar certo.'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61520" cy="1783080"/>
          </a:xfrm>
          <a:prstGeom prst="roundRect">
            <a:avLst>
              <a:gd name="adj" fmla="val 1026"/>
            </a:avLst>
          </a:prstGeom>
          <a:solidFill>
            <a:srgbClr val="E7E8D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34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500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ÚTIL UTILIDADES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Resultados de Junho e</a:t>
            </a:r>
            <a:endParaRPr lang="en-US" sz="4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Plano de Ação para Julho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Tráfego Pago  ·  Meta Ads </a:t>
            </a:r>
            <a:r>
              <a:rPr lang="en-US" sz="1600" dirty="0" smtClean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Google Meu </a:t>
            </a:r>
            <a:r>
              <a:rPr lang="en-US" sz="1600" dirty="0" err="1" smtClean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r>
              <a:rPr lang="en-US" sz="1600" dirty="0" smtClean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Junho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3492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5504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Conta mais eficiente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5989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e CPC melhoraram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36008" y="53492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5504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Primeiras mensagens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64608" y="5989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para 3 no mês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49056" y="53492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77656" y="5504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Público local </a:t>
            </a:r>
            <a:r>
              <a:rPr lang="en-US" sz="1600" b="1" dirty="0" err="1" smtClean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correto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77656" y="5989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Paraná, 91% mulheres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Resultados de Junho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ficou mais eficiente e a loja apareceu mais no Google.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6F1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1051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6,85%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28529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(engajamento)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+6,9%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47872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6F1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105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30752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R$0,13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3730752" y="28529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clique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730752" y="3108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-9,2%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55664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6F1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181051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38544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/>
          <p:nvPr/>
        </p:nvSpPr>
        <p:spPr>
          <a:xfrm>
            <a:off x="6638544" y="28529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diretas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638544" y="3108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no mês anterior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63456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6F1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4624" y="181051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46336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R$0,17</a:t>
            </a:r>
            <a:endParaRPr lang="en-US" sz="3200" dirty="0"/>
          </a:p>
        </p:txBody>
      </p:sp>
      <p:sp>
        <p:nvSpPr>
          <p:cNvPr id="22" name="Text 16"/>
          <p:cNvSpPr/>
          <p:nvPr/>
        </p:nvSpPr>
        <p:spPr>
          <a:xfrm>
            <a:off x="9546336" y="28529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/ visita ao perfil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546336" y="3108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acharam a Útil no Google (junho)</a:t>
            </a:r>
            <a:endParaRPr lang="en-US" sz="15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57200" y="3931920"/>
          <a:ext cx="56692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9"/>
          <p:cNvSpPr/>
          <p:nvPr/>
        </p:nvSpPr>
        <p:spPr>
          <a:xfrm>
            <a:off x="6492240" y="3611880"/>
            <a:ext cx="5029200" cy="2880360"/>
          </a:xfrm>
          <a:prstGeom prst="roundRect">
            <a:avLst>
              <a:gd name="adj" fmla="val 2540"/>
            </a:avLst>
          </a:prstGeom>
          <a:solidFill>
            <a:srgbClr val="F6F1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3822192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7804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Quem estamos alcançando</a:t>
            </a:r>
            <a:endParaRPr lang="en-US" sz="15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8272" y="4343400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14032" y="42702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2.943 pessoas viram o perfil da loja no Google em junho</a:t>
            </a:r>
            <a:endParaRPr lang="en-US" sz="125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8272" y="4892040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114032" y="481888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94,6% do alcance no Paraná: público da região, não de fora</a:t>
            </a:r>
            <a:endParaRPr lang="en-US" sz="12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8272" y="5440680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114032" y="5367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91,2% mulheres, coerente com casa, decoração e utilidades</a:t>
            </a:r>
            <a:endParaRPr lang="en-US" sz="125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8272" y="5989320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114032" y="591616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Buscas que mais acharam a loja: shopping, lojas, util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Onde colocar a verba agora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orçamento atual, concentrar vence espalhar. E aqui está o porquê.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B8504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47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princípio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canal tem uma verba mínima para o algoritmo aprender e entregar de forma estável.</a:t>
            </a:r>
            <a:endParaRPr lang="en-US" sz="1450" b="1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Espalhar R$750 entre </a:t>
            </a:r>
            <a:r>
              <a:rPr lang="en-US" sz="14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+ </a:t>
            </a:r>
            <a:r>
              <a:rPr lang="en-US" sz="14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</a:t>
            </a:r>
            <a:r>
              <a:rPr lang="en-US" sz="14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r>
              <a:rPr lang="en-US" sz="14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Google </a:t>
            </a:r>
            <a:r>
              <a:rPr lang="en-US" sz="14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4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</a:t>
            </a:r>
            <a:r>
              <a:rPr lang="en-US" sz="14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Livre)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 cada canal abaixo do próprio mínimo ao mesmo tempo.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não é </a:t>
            </a:r>
            <a:r>
              <a:rPr lang="en-US" sz="14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de </a:t>
            </a:r>
            <a:r>
              <a:rPr lang="en-US" sz="14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4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é </a:t>
            </a:r>
            <a:r>
              <a:rPr lang="en-US" sz="14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virtualmente</a:t>
            </a:r>
            <a:r>
              <a:rPr lang="en-US" sz="14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nada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todos, porque nenhum junta dado suficiente para melhorar.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" y="4846320"/>
            <a:ext cx="46634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0749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64208" y="4956048"/>
            <a:ext cx="3703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no Meta coloca a verba inteira acima do mínimo, num canal que já funciona e tem histórico.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26364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o mercado mostra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263640" y="2240280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6F1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92240" y="2359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Meta aprende bem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2715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 smtClean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r>
              <a:rPr lang="en-US" sz="1250" dirty="0" smtClean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 smtClean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</a:t>
            </a:r>
            <a:r>
              <a:rPr lang="en-US" sz="1250" dirty="0" smtClean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R$15/dia</a:t>
            </a: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Abaixo de R$10/dia, trava.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92240" y="31363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</a:t>
            </a:r>
            <a:r>
              <a:rPr lang="en-US" sz="1050" i="1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i="1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</a:t>
            </a:r>
            <a:r>
              <a:rPr lang="en-US" sz="1050" i="1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r>
              <a:rPr lang="en-US" sz="1050" i="1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050" i="1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63640" y="3557016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6F1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92240" y="36758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TikTok exige ~R$110/dia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92240" y="40325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grupo de anúncio. Hoje o canal tem R$8/dia: não roda.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92240" y="4453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</a:t>
            </a:r>
            <a:r>
              <a:rPr lang="en-US" sz="1050" i="1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r>
              <a:rPr lang="en-US" sz="1050" i="1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</a:t>
            </a:r>
            <a:r>
              <a:rPr lang="en-US" sz="1050" i="1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050" i="1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63640" y="4873752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6F1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492240" y="49926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Espalhar destrói dado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49224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canal abaixo do mínimo não sai da fase de aprendizado.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492240" y="57698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</a:t>
            </a:r>
            <a:r>
              <a:rPr lang="en-US" sz="1050" i="1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leilão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Quanto</a:t>
            </a:r>
            <a:r>
              <a:rPr lang="en-US" sz="30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000" b="1" dirty="0" smtClean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investor: </a:t>
            </a:r>
            <a:r>
              <a:rPr lang="en-US" sz="30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dois caminhos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</a:t>
            </a:r>
            <a:r>
              <a:rPr lang="en-US" sz="1500" i="1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500" i="1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Dobrar a verba não dobra o resultado: o público local satura.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6F1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73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Cenário atual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R$500</a:t>
            </a:r>
            <a:r>
              <a:rPr lang="en-US" sz="1400" dirty="0">
                <a:solidFill>
                  <a:srgbClr val="7A73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 /mês  (~</a:t>
            </a:r>
            <a:r>
              <a:rPr lang="en-US" sz="1400" dirty="0" smtClean="0">
                <a:solidFill>
                  <a:srgbClr val="7A73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R$15/</a:t>
            </a:r>
            <a:r>
              <a:rPr lang="en-US" sz="1400" dirty="0" err="1" smtClean="0">
                <a:solidFill>
                  <a:srgbClr val="7A73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dia</a:t>
            </a:r>
            <a:r>
              <a:rPr lang="en-US" sz="1400" dirty="0">
                <a:solidFill>
                  <a:srgbClr val="7A73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)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ao perfil / mês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~2.400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3749040"/>
            <a:ext cx="4709160" cy="0"/>
          </a:xfrm>
          <a:prstGeom prst="line">
            <a:avLst/>
          </a:prstGeom>
          <a:noFill/>
          <a:ln w="9525">
            <a:solidFill>
              <a:srgbClr val="DED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904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/ mês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0" y="39044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~20 a 26 mil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" y="4407408"/>
            <a:ext cx="4709160" cy="0"/>
          </a:xfrm>
          <a:prstGeom prst="line">
            <a:avLst/>
          </a:prstGeom>
          <a:noFill/>
          <a:ln w="9525">
            <a:solidFill>
              <a:srgbClr val="DED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5628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/ mês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57600" y="45628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8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~3 a 6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60120" y="5065776"/>
            <a:ext cx="4709160" cy="0"/>
          </a:xfrm>
          <a:prstGeom prst="line">
            <a:avLst/>
          </a:prstGeom>
          <a:noFill/>
          <a:ln w="9525">
            <a:solidFill>
              <a:srgbClr val="DED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64592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B8504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55480" y="148132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6E8B7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55480" y="14813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874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Cenário indicado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22860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R$1.000</a:t>
            </a:r>
            <a:r>
              <a:rPr lang="en-US" sz="1400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 /mês  (~R$33/dia)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67512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ao perfil / mês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7260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~3.500 a 4.000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75120" y="3749040"/>
            <a:ext cx="4709160" cy="0"/>
          </a:xfrm>
          <a:prstGeom prst="line">
            <a:avLst/>
          </a:prstGeom>
          <a:noFill/>
          <a:ln w="9525">
            <a:solidFill>
              <a:srgbClr val="9A4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904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/ mês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372600" y="39044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~32 a 40 mil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675120" y="4407408"/>
            <a:ext cx="4709160" cy="0"/>
          </a:xfrm>
          <a:prstGeom prst="line">
            <a:avLst/>
          </a:prstGeom>
          <a:noFill/>
          <a:ln w="9525">
            <a:solidFill>
              <a:srgbClr val="9A4A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45628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/ mês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72600" y="45628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~6 a 10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675120" y="5065776"/>
            <a:ext cx="4709160" cy="0"/>
          </a:xfrm>
          <a:prstGeom prst="line">
            <a:avLst/>
          </a:prstGeom>
          <a:noFill/>
          <a:ln w="9525">
            <a:solidFill>
              <a:srgbClr val="9A4A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8521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007608"/>
            <a:ext cx="365760" cy="3657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371600" y="58521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canal constrói audiência e </a:t>
            </a:r>
            <a:r>
              <a:rPr lang="en-US" sz="1250" b="1" dirty="0" err="1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</a:t>
            </a:r>
            <a:r>
              <a:rPr lang="en-US" sz="1250" b="1" dirty="0" smtClean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250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projeção é hipótese calibrada no </a:t>
            </a:r>
            <a:r>
              <a:rPr lang="en-US" sz="1250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r>
              <a:rPr lang="en-US" sz="1250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</a:t>
            </a:r>
            <a:r>
              <a:rPr lang="en-US" sz="1250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</a:t>
            </a:r>
            <a:r>
              <a:rPr lang="en-US" sz="1250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</a:t>
            </a:r>
            <a:r>
              <a:rPr lang="en-US" sz="1250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250" dirty="0" err="1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r>
              <a:rPr lang="en-US" sz="1250" dirty="0" smtClean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Plano de Julho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</a:t>
            </a:r>
            <a:r>
              <a:rPr lang="en-US" sz="1500" i="1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15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smtClean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</a:t>
            </a:r>
            <a:r>
              <a:rPr lang="en-US" sz="1500" i="1" dirty="0" err="1" smtClean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destrava</a:t>
            </a:r>
            <a:r>
              <a:rPr lang="en-US" sz="1500" i="1" dirty="0" smtClean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ciclo.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B8504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01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 smtClean="0">
                <a:solidFill>
                  <a:srgbClr val="FFFFFF"/>
                </a:solidFill>
                <a:latin typeface="Bookman Old Style" pitchFamily="34" charset="0"/>
              </a:rPr>
              <a:t>Qual</a:t>
            </a:r>
            <a:r>
              <a:rPr lang="en-US" b="1" dirty="0" smtClean="0">
                <a:solidFill>
                  <a:srgbClr val="FFFFFF"/>
                </a:solidFill>
                <a:latin typeface="Bookman Old Style" pitchFamily="34" charset="0"/>
              </a:rPr>
              <a:t> é o </a:t>
            </a:r>
            <a:r>
              <a:rPr lang="en-US" b="1" dirty="0" err="1" smtClean="0">
                <a:solidFill>
                  <a:srgbClr val="FFFFFF"/>
                </a:solidFill>
                <a:latin typeface="Bookman Old Style" pitchFamily="34" charset="0"/>
              </a:rPr>
              <a:t>objetivo</a:t>
            </a:r>
            <a:r>
              <a:rPr lang="en-US" b="1" dirty="0" smtClean="0">
                <a:solidFill>
                  <a:srgbClr val="FFFFFF"/>
                </a:solidFill>
                <a:latin typeface="Bookman Old Style" pitchFamily="34" charset="0"/>
              </a:rPr>
              <a:t> principal?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sinal de sucesso do mês: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92608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926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 </a:t>
            </a:r>
            <a:r>
              <a:rPr lang="en-US" sz="1250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de perfil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70332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 </a:t>
            </a:r>
            <a:r>
              <a:rPr lang="en-US" sz="1250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interações e alcance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14400" y="448056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48056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 </a:t>
            </a:r>
            <a:r>
              <a:rPr lang="en-US" sz="1250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com intenção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14400" y="525780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2578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ao perfil  </a:t>
            </a:r>
            <a:r>
              <a:rPr lang="en-US" sz="1250" dirty="0">
                <a:solidFill>
                  <a:srgbClr val="7A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ao perfil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5508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Cada</a:t>
            </a:r>
            <a:r>
              <a:rPr lang="en-US" sz="1600" b="1" dirty="0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600" b="1" dirty="0" err="1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objetivo</a:t>
            </a:r>
            <a:r>
              <a:rPr lang="en-US" sz="1600" b="1" dirty="0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tem </a:t>
            </a:r>
            <a:r>
              <a:rPr lang="en-US" sz="1600" b="1" dirty="0" err="1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custos</a:t>
            </a:r>
            <a:r>
              <a:rPr lang="en-US" sz="1600" b="1" dirty="0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e </a:t>
            </a:r>
            <a:r>
              <a:rPr lang="en-US" sz="1600" b="1" dirty="0" err="1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resultados</a:t>
            </a:r>
            <a:r>
              <a:rPr lang="en-US" sz="1600" b="1" dirty="0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600" b="1" dirty="0" err="1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diferentes</a:t>
            </a:r>
            <a:endParaRPr lang="en-US" sz="16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23113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20840" y="223113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objetivo único acima</a:t>
            </a:r>
            <a:endParaRPr lang="en-US" sz="13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73405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0840" y="272948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verba: R$500 ou R$1.000/mês</a:t>
            </a:r>
            <a:endParaRPr lang="en-US" sz="13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23697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20840" y="323240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foco no </a:t>
            </a:r>
            <a:r>
              <a:rPr lang="en-US" sz="1350" dirty="0" smtClean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</a:t>
            </a:r>
            <a:r>
              <a:rPr lang="en-US" sz="1350" dirty="0" err="1" smtClean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</a:t>
            </a:r>
            <a:r>
              <a:rPr lang="en-US" sz="1350" dirty="0" smtClean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 smtClean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r>
              <a:rPr lang="en-US" sz="1350" dirty="0" smtClean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orgânico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55080" y="3886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</a:t>
            </a:r>
            <a:r>
              <a:rPr lang="en-US" sz="1600" b="1" dirty="0" err="1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já</a:t>
            </a:r>
            <a:r>
              <a:rPr lang="en-US" sz="1600" b="1" dirty="0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600" b="1" dirty="0" err="1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foi</a:t>
            </a:r>
            <a:r>
              <a:rPr lang="en-US" sz="1600" b="1" dirty="0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600" b="1" dirty="0" err="1" smtClean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alterado</a:t>
            </a:r>
            <a:endParaRPr lang="en-US" sz="16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3425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20840" y="427024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r>
              <a:rPr lang="en-US" sz="13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os 3 anúncios que mais performam, centralizando a verba</a:t>
            </a:r>
            <a:endParaRPr lang="en-US" sz="13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90118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20840" y="483717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da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rotatividade curta de criativo</a:t>
            </a:r>
            <a:endParaRPr lang="en-US" sz="13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5468112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20840" y="540410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da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durante a pausa de </a:t>
            </a:r>
            <a:r>
              <a:rPr lang="en-US" sz="13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r>
              <a:rPr lang="en-US" sz="13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3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</a:t>
            </a:r>
            <a:r>
              <a:rPr lang="en-US" sz="13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3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r>
              <a:rPr lang="en-US" sz="13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reserve.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6355080" y="5989320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8F3B30"/>
          </a:solidFill>
          <a:ln/>
        </p:spPr>
      </p:sp>
      <p:sp>
        <p:nvSpPr>
          <p:cNvPr id="31" name="Text 22"/>
          <p:cNvSpPr/>
          <p:nvPr/>
        </p:nvSpPr>
        <p:spPr>
          <a:xfrm>
            <a:off x="6583680" y="5989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travo Curitiba + Instagram e fixo o boleto em 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r>
              <a:rPr lang="en-US" sz="12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1056</Words>
  <Application>Microsoft Office PowerPoint</Application>
  <PresentationFormat>Widescreen</PresentationFormat>
  <Paragraphs>97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Útil Utilidades — Resultados Junho e Plano Julho 2026</dc:title>
  <dc:subject>PptxGenJS Presentation</dc:subject>
  <dc:creator>Gabriel Pauletto</dc:creator>
  <cp:lastModifiedBy>Gabriel Pauletto Reszka</cp:lastModifiedBy>
  <cp:revision>3</cp:revision>
  <dcterms:created xsi:type="dcterms:W3CDTF">2026-07-01T23:07:22Z</dcterms:created>
  <dcterms:modified xsi:type="dcterms:W3CDTF">2026-07-01T23:19:51Z</dcterms:modified>
</cp:coreProperties>
</file>